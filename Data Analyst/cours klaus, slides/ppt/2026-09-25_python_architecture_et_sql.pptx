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5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13DD64E-06F6-43EB-B6CE-983A5EA4380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50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E4ACE63-A710-4350-8D92-F091F23F35C5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50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C1E2320-278C-47C2-8E9C-DD39A4F65E62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51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0C20424-0BA9-4578-9DAC-5692FCCF099F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51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F6B8872-9CF1-4214-BAD8-2D83B980729A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51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183F381-2BFE-4DE3-8B05-2C1812B6179C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51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2B75AE3-ABEA-4160-9382-A74496860D5F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52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F5DF5C1-3BD1-4A7C-A0CC-6A4E88818E21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52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EEBED32-AF16-4E60-A63F-A0BD9CD241EC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52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AFAAB55-D747-441B-B46E-5CCBDF1FCA49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53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95CE8BF-1D6D-42EC-AF73-015E66935BB0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53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407EE25-18AD-4CD2-889D-8BCE6A5693F7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53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70335EF-647A-43A7-891A-215335F42DCF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54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4743F9A-CE6D-4A1D-8EEA-58CCFD3271A4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54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31C8668-7E73-40F9-B0FD-A9F5A1EC27F1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54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046C42B-DDFC-4B39-A54B-8C9A33821441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54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DFC7E26-C8F4-4240-90EC-B9443E826189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55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04D147D-C434-49E9-BA8E-AA865976F2C2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55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A9390D5-A77B-4278-A58F-82E05F9CA141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55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FFABCC8-117F-42FE-A64A-09D2FE0A0BE6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56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E33ABD7-30E9-4BA1-A062-3FB10372B641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56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3C08595-A27D-4B5F-921C-5EECFF17AC02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56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A410E7A-9F6C-4F8A-8EA9-624D88B59F4A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57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F924D2B-5EC9-48F0-8B30-FE09884D32FA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57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025E49B-182C-4C50-B2A2-ACD9E12D0B29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57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0ADCCCF-DA9F-4B86-A275-15DA80E80707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1374AB4-4BA4-479E-93F1-E579B17037F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F493059-7AC3-46F1-BEE1-7BDAD0BC3E4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AB1523D-08AE-428D-A4F5-4EF88BB9A13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4D89E00-BFB5-4F93-94F0-F5CC9EFEDC7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00FF058-6559-42CD-9353-C1C8765CAC7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4E1133B-BA43-4D53-ADB2-521A1CE9A35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7CA23C4-7E44-4874-B420-7D1D839CE97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E20FB1D-1B76-4D46-95D0-FB1A7D9C8C2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7D30F6C-65A5-45FE-A19F-C32C58A93CD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7CD809D-3736-49E2-990C-7790ADFEDC1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B19A3F8-A13A-4C2D-8329-6E50002C145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../lab/gaussian/README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hyperlink" Target="../lab/gaussian/README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hyperlink" Target="../lab/gaussian/README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hyperlink" Target="../lab/gaussian/README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hyperlink" Target="../lab/gaussian/README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hyperlink" Target="../lab/gaussian/README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hyperlink" Target="../lab/gaussian/README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hyperlink" Target="../lab/gaussian/snippets/README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hyperlink" Target="../lab/sql/README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hyperlink" Target="../lab/sql/README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hyperlink" Target="../lab/csv_examples/04_CSV_types_missing_values_FR.ipynb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hyperlink" Target="../lab/csv_examples/04_CSV_types_missing_values_FR.ipynb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hyperlink" Target="../lab/csv_examples/API_REFERENCE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1"/>
          <p:cNvSpPr/>
          <p:nvPr/>
        </p:nvSpPr>
        <p:spPr>
          <a:xfrm>
            <a:off x="0" y="0"/>
            <a:ext cx="12197520" cy="685728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Box 2"/>
          <p:cNvSpPr/>
          <p:nvPr/>
        </p:nvSpPr>
        <p:spPr>
          <a:xfrm>
            <a:off x="777240" y="731520"/>
            <a:ext cx="106063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1700" strike="noStrike" u="none">
                <a:solidFill>
                  <a:srgbClr val="b8dce8"/>
                </a:solidFill>
                <a:effectLst/>
                <a:uFillTx/>
                <a:latin typeface="Aptos"/>
              </a:rPr>
              <a:t>25 SEPTEMBRE 2026 · OLIVIER DELRIEU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Rectangle 3"/>
          <p:cNvSpPr/>
          <p:nvPr/>
        </p:nvSpPr>
        <p:spPr>
          <a:xfrm>
            <a:off x="795600" y="1508760"/>
            <a:ext cx="913680" cy="54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4"/>
          <p:cNvSpPr/>
          <p:nvPr/>
        </p:nvSpPr>
        <p:spPr>
          <a:xfrm>
            <a:off x="777240" y="1920240"/>
            <a:ext cx="10606320" cy="19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42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Python : deux ateliers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5"/>
          <p:cNvSpPr/>
          <p:nvPr/>
        </p:nvSpPr>
        <p:spPr>
          <a:xfrm>
            <a:off x="777240" y="4389120"/>
            <a:ext cx="1060632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700" strike="noStrike" u="none">
                <a:solidFill>
                  <a:srgbClr val="dce8ee"/>
                </a:solidFill>
                <a:effectLst/>
                <a:uFillTx/>
                <a:latin typeface="Aptos"/>
              </a:rPr>
              <a:t>I · Concevoir un projet de simulation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700" strike="noStrike" u="none">
                <a:solidFill>
                  <a:srgbClr val="dce8ee"/>
                </a:solidFill>
                <a:effectLst/>
                <a:uFillTx/>
                <a:latin typeface="Aptos"/>
              </a:rPr>
              <a:t>II · CSV, valeurs manquantes et SQL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6"/>
          <p:cNvSpPr/>
          <p:nvPr/>
        </p:nvSpPr>
        <p:spPr>
          <a:xfrm>
            <a:off x="731520" y="6510600"/>
            <a:ext cx="896040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1000" strike="noStrike" u="none">
                <a:solidFill>
                  <a:srgbClr val="b8dce8"/>
                </a:solidFill>
                <a:effectLst/>
                <a:uFillTx/>
                <a:latin typeface="Aptos"/>
              </a:rPr>
              <a:t>PYTHON  /  OLIVIER DELRIEU  /  25.09.2026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7"/>
          <p:cNvSpPr/>
          <p:nvPr/>
        </p:nvSpPr>
        <p:spPr>
          <a:xfrm>
            <a:off x="10607040" y="6483240"/>
            <a:ext cx="867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1100" strike="noStrike" u="none">
                <a:solidFill>
                  <a:srgbClr val="b8dce8"/>
                </a:solidFill>
                <a:effectLst/>
                <a:uFillTx/>
                <a:latin typeface="Aptos"/>
              </a:rPr>
              <a:t>1 / 25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1"/>
          <p:cNvSpPr/>
          <p:nvPr/>
        </p:nvSpPr>
        <p:spPr>
          <a:xfrm>
            <a:off x="658440" y="292680"/>
            <a:ext cx="10880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12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PLAN DU COURS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2"/>
          <p:cNvSpPr/>
          <p:nvPr/>
        </p:nvSpPr>
        <p:spPr>
          <a:xfrm>
            <a:off x="658440" y="822960"/>
            <a:ext cx="108806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Deux parties indépendantes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ectangle 3"/>
          <p:cNvSpPr/>
          <p:nvPr/>
        </p:nvSpPr>
        <p:spPr>
          <a:xfrm>
            <a:off x="676800" y="1600200"/>
            <a:ext cx="10834920" cy="2232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Rectangle 4"/>
          <p:cNvSpPr/>
          <p:nvPr/>
        </p:nvSpPr>
        <p:spPr>
          <a:xfrm>
            <a:off x="731520" y="2148840"/>
            <a:ext cx="5257080" cy="315396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Rectangle 5"/>
          <p:cNvSpPr/>
          <p:nvPr/>
        </p:nvSpPr>
        <p:spPr>
          <a:xfrm>
            <a:off x="731520" y="2148840"/>
            <a:ext cx="49680" cy="315396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6"/>
          <p:cNvSpPr/>
          <p:nvPr/>
        </p:nvSpPr>
        <p:spPr>
          <a:xfrm>
            <a:off x="932760" y="2377440"/>
            <a:ext cx="4799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18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I · PROJET GAUSSIEN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7"/>
          <p:cNvSpPr/>
          <p:nvPr/>
        </p:nvSpPr>
        <p:spPr>
          <a:xfrm>
            <a:off x="932760" y="3090600"/>
            <a:ext cx="479988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5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Lire les exigences.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5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Reprendre la structure de Rectangle.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5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Créer le projet.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ectangle 8"/>
          <p:cNvSpPr/>
          <p:nvPr/>
        </p:nvSpPr>
        <p:spPr>
          <a:xfrm>
            <a:off x="6217920" y="2148840"/>
            <a:ext cx="5257080" cy="315396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Rectangle 9"/>
          <p:cNvSpPr/>
          <p:nvPr/>
        </p:nvSpPr>
        <p:spPr>
          <a:xfrm>
            <a:off x="6217920" y="2148840"/>
            <a:ext cx="49680" cy="315396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10"/>
          <p:cNvSpPr/>
          <p:nvPr/>
        </p:nvSpPr>
        <p:spPr>
          <a:xfrm>
            <a:off x="6419160" y="2377440"/>
            <a:ext cx="4799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1800" strike="noStrike" u="none">
                <a:solidFill>
                  <a:srgbClr val="b66d3a"/>
                </a:solidFill>
                <a:effectLst/>
                <a:uFillTx/>
                <a:latin typeface="Aptos"/>
              </a:rPr>
              <a:t>II · CSV, SQL ET PYTHON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11"/>
          <p:cNvSpPr/>
          <p:nvPr/>
        </p:nvSpPr>
        <p:spPr>
          <a:xfrm>
            <a:off x="6419160" y="3090600"/>
            <a:ext cx="479988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5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Lire les fichiers et les types.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5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Traiter les valeurs manquantes.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5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Interroger et modifier la base.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ectangle 12"/>
          <p:cNvSpPr/>
          <p:nvPr/>
        </p:nvSpPr>
        <p:spPr>
          <a:xfrm>
            <a:off x="749880" y="5596200"/>
            <a:ext cx="45000" cy="5846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13"/>
          <p:cNvSpPr/>
          <p:nvPr/>
        </p:nvSpPr>
        <p:spPr>
          <a:xfrm>
            <a:off x="951120" y="5577840"/>
            <a:ext cx="102862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Chaque partie a ses propres données, fichiers et résultat attendu.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14"/>
          <p:cNvSpPr/>
          <p:nvPr/>
        </p:nvSpPr>
        <p:spPr>
          <a:xfrm>
            <a:off x="731520" y="6510600"/>
            <a:ext cx="896040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25.09.2026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15"/>
          <p:cNvSpPr/>
          <p:nvPr/>
        </p:nvSpPr>
        <p:spPr>
          <a:xfrm>
            <a:off x="10607040" y="6483240"/>
            <a:ext cx="867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2 / 25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1"/>
          <p:cNvSpPr/>
          <p:nvPr/>
        </p:nvSpPr>
        <p:spPr>
          <a:xfrm>
            <a:off x="0" y="0"/>
            <a:ext cx="12197520" cy="685728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Box 2"/>
          <p:cNvSpPr/>
          <p:nvPr/>
        </p:nvSpPr>
        <p:spPr>
          <a:xfrm>
            <a:off x="777240" y="731520"/>
            <a:ext cx="106063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1700" strike="noStrike" u="none">
                <a:solidFill>
                  <a:srgbClr val="b8dce8"/>
                </a:solidFill>
                <a:effectLst/>
                <a:uFillTx/>
                <a:latin typeface="Aptos"/>
              </a:rPr>
              <a:t>PARTIE I · PROJET GAUSSIEN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Rectangle 3"/>
          <p:cNvSpPr/>
          <p:nvPr/>
        </p:nvSpPr>
        <p:spPr>
          <a:xfrm>
            <a:off x="795600" y="1508760"/>
            <a:ext cx="913680" cy="54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4"/>
          <p:cNvSpPr/>
          <p:nvPr/>
        </p:nvSpPr>
        <p:spPr>
          <a:xfrm>
            <a:off x="777240" y="1920240"/>
            <a:ext cx="10606320" cy="19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42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Concevoir votre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42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projet Python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5"/>
          <p:cNvSpPr/>
          <p:nvPr/>
        </p:nvSpPr>
        <p:spPr>
          <a:xfrm>
            <a:off x="777240" y="4389120"/>
            <a:ext cx="1060632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700" strike="noStrike" u="none">
                <a:solidFill>
                  <a:srgbClr val="dce8ee"/>
                </a:solidFill>
                <a:effectLst/>
                <a:uFillTx/>
                <a:latin typeface="Aptos"/>
              </a:rPr>
              <a:t>Six exigences pour simuler deux groupes.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700" strike="noStrike" u="none">
                <a:solidFill>
                  <a:srgbClr val="dce8ee"/>
                </a:solidFill>
                <a:effectLst/>
                <a:uFillTx/>
                <a:latin typeface="Aptos"/>
              </a:rPr>
              <a:t>Reprendre l’organisation du projet Rectangle.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6"/>
          <p:cNvSpPr/>
          <p:nvPr/>
        </p:nvSpPr>
        <p:spPr>
          <a:xfrm>
            <a:off x="731520" y="6510600"/>
            <a:ext cx="896040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1000" strike="noStrike" u="none">
                <a:solidFill>
                  <a:srgbClr val="b8dce8"/>
                </a:solidFill>
                <a:effectLst/>
                <a:uFillTx/>
                <a:latin typeface="Aptos"/>
              </a:rPr>
              <a:t>PARTIE I  /  OLIVIER DELRIEU  /  25.09.2026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7"/>
          <p:cNvSpPr/>
          <p:nvPr/>
        </p:nvSpPr>
        <p:spPr>
          <a:xfrm>
            <a:off x="10607040" y="6483240"/>
            <a:ext cx="867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1100" strike="noStrike" u="none">
                <a:solidFill>
                  <a:srgbClr val="b8dce8"/>
                </a:solidFill>
                <a:effectLst/>
                <a:uFillTx/>
                <a:latin typeface="Aptos"/>
              </a:rPr>
              <a:t>3 / 25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/>
          <p:cNvSpPr/>
          <p:nvPr/>
        </p:nvSpPr>
        <p:spPr>
          <a:xfrm>
            <a:off x="658440" y="292680"/>
            <a:ext cx="10880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12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I · PROJET GAUSSIEN · EXIGENCES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2"/>
          <p:cNvSpPr/>
          <p:nvPr/>
        </p:nvSpPr>
        <p:spPr>
          <a:xfrm>
            <a:off x="658440" y="822960"/>
            <a:ext cx="108806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1 · Simuler deux groupes gaussiens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ectangle 3"/>
          <p:cNvSpPr/>
          <p:nvPr/>
        </p:nvSpPr>
        <p:spPr>
          <a:xfrm>
            <a:off x="676800" y="1600200"/>
            <a:ext cx="10834920" cy="2232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TextBox 4"/>
          <p:cNvSpPr/>
          <p:nvPr/>
        </p:nvSpPr>
        <p:spPr>
          <a:xfrm>
            <a:off x="731520" y="1710000"/>
            <a:ext cx="10789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13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Exigences du projet : lab/gaussian/README.md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ectangle 5"/>
          <p:cNvSpPr/>
          <p:nvPr/>
        </p:nvSpPr>
        <p:spPr>
          <a:xfrm>
            <a:off x="731520" y="2148840"/>
            <a:ext cx="5257080" cy="315396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Rectangle 6"/>
          <p:cNvSpPr/>
          <p:nvPr/>
        </p:nvSpPr>
        <p:spPr>
          <a:xfrm>
            <a:off x="731520" y="2148840"/>
            <a:ext cx="49680" cy="315396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Box 7"/>
          <p:cNvSpPr/>
          <p:nvPr/>
        </p:nvSpPr>
        <p:spPr>
          <a:xfrm>
            <a:off x="932760" y="2377440"/>
            <a:ext cx="4799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18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GROUPE 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8"/>
          <p:cNvSpPr/>
          <p:nvPr/>
        </p:nvSpPr>
        <p:spPr>
          <a:xfrm>
            <a:off x="932760" y="3090600"/>
            <a:ext cx="479988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5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Moyenne : 100.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5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Écart-type : 18.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5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Part des observations : 60 %.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Rectangle 9"/>
          <p:cNvSpPr/>
          <p:nvPr/>
        </p:nvSpPr>
        <p:spPr>
          <a:xfrm>
            <a:off x="6217920" y="2148840"/>
            <a:ext cx="5257080" cy="315396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Rectangle 10"/>
          <p:cNvSpPr/>
          <p:nvPr/>
        </p:nvSpPr>
        <p:spPr>
          <a:xfrm>
            <a:off x="6217920" y="2148840"/>
            <a:ext cx="49680" cy="315396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Box 11"/>
          <p:cNvSpPr/>
          <p:nvPr/>
        </p:nvSpPr>
        <p:spPr>
          <a:xfrm>
            <a:off x="6419160" y="2377440"/>
            <a:ext cx="4799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1800" strike="noStrike" u="none">
                <a:solidFill>
                  <a:srgbClr val="b66d3a"/>
                </a:solidFill>
                <a:effectLst/>
                <a:uFillTx/>
                <a:latin typeface="Aptos"/>
              </a:rPr>
              <a:t>GROUPE B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12"/>
          <p:cNvSpPr/>
          <p:nvPr/>
        </p:nvSpPr>
        <p:spPr>
          <a:xfrm>
            <a:off x="6419160" y="3090600"/>
            <a:ext cx="479988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5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Moyenne : 106.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5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Écart-type : 24.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5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Part des observations : 40 %.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ectangle 13"/>
          <p:cNvSpPr/>
          <p:nvPr/>
        </p:nvSpPr>
        <p:spPr>
          <a:xfrm>
            <a:off x="749880" y="5596200"/>
            <a:ext cx="45000" cy="5846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TextBox 14"/>
          <p:cNvSpPr/>
          <p:nvPr/>
        </p:nvSpPr>
        <p:spPr>
          <a:xfrm>
            <a:off x="951120" y="5577840"/>
            <a:ext cx="102862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2 000 observations, graine aléatoire (seed) 404. Paramètres modifiables dans le script de lancement.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15"/>
          <p:cNvSpPr/>
          <p:nvPr/>
        </p:nvSpPr>
        <p:spPr>
          <a:xfrm>
            <a:off x="731520" y="6510600"/>
            <a:ext cx="896040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PARTIE I  /  OLIVIER DELRIEU  /  25.09.2026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16"/>
          <p:cNvSpPr/>
          <p:nvPr/>
        </p:nvSpPr>
        <p:spPr>
          <a:xfrm>
            <a:off x="10607040" y="6483240"/>
            <a:ext cx="867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4 / 25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Box 1"/>
          <p:cNvSpPr/>
          <p:nvPr/>
        </p:nvSpPr>
        <p:spPr>
          <a:xfrm>
            <a:off x="658440" y="292680"/>
            <a:ext cx="10880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12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I · PROJET GAUSSIEN · EXIGENCES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2"/>
          <p:cNvSpPr/>
          <p:nvPr/>
        </p:nvSpPr>
        <p:spPr>
          <a:xfrm>
            <a:off x="658440" y="822960"/>
            <a:ext cx="108806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2 · Produire un dataframe avec les groupes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Rectangle 3"/>
          <p:cNvSpPr/>
          <p:nvPr/>
        </p:nvSpPr>
        <p:spPr>
          <a:xfrm>
            <a:off x="676800" y="1600200"/>
            <a:ext cx="10834920" cy="2232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Box 4"/>
          <p:cNvSpPr/>
          <p:nvPr/>
        </p:nvSpPr>
        <p:spPr>
          <a:xfrm>
            <a:off x="731520" y="1710000"/>
            <a:ext cx="10789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13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Exigences du projet : lab/gaussian/README.md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ectangle 5"/>
          <p:cNvSpPr/>
          <p:nvPr/>
        </p:nvSpPr>
        <p:spPr>
          <a:xfrm>
            <a:off x="731520" y="2148840"/>
            <a:ext cx="2902680" cy="6073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6"/>
          <p:cNvSpPr/>
          <p:nvPr/>
        </p:nvSpPr>
        <p:spPr>
          <a:xfrm>
            <a:off x="841320" y="2176200"/>
            <a:ext cx="270576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19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ÉLÉMENT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Rectangle 7"/>
          <p:cNvSpPr/>
          <p:nvPr/>
        </p:nvSpPr>
        <p:spPr>
          <a:xfrm>
            <a:off x="3657600" y="2148840"/>
            <a:ext cx="7794720" cy="6073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Box 8"/>
          <p:cNvSpPr/>
          <p:nvPr/>
        </p:nvSpPr>
        <p:spPr>
          <a:xfrm>
            <a:off x="3767400" y="2176200"/>
            <a:ext cx="759780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19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RÉSULTAT ATTENDU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Rectangle 9"/>
          <p:cNvSpPr/>
          <p:nvPr/>
        </p:nvSpPr>
        <p:spPr>
          <a:xfrm>
            <a:off x="731520" y="2779920"/>
            <a:ext cx="2902680" cy="6073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TextBox 10"/>
          <p:cNvSpPr/>
          <p:nvPr/>
        </p:nvSpPr>
        <p:spPr>
          <a:xfrm>
            <a:off x="841320" y="2807280"/>
            <a:ext cx="270576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Lignes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Rectangle 11"/>
          <p:cNvSpPr/>
          <p:nvPr/>
        </p:nvSpPr>
        <p:spPr>
          <a:xfrm>
            <a:off x="3657600" y="2779920"/>
            <a:ext cx="7794720" cy="6073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TextBox 12"/>
          <p:cNvSpPr/>
          <p:nvPr/>
        </p:nvSpPr>
        <p:spPr>
          <a:xfrm>
            <a:off x="3767400" y="2807280"/>
            <a:ext cx="759780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Une observation par ligne : 2 000 au total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Rectangle 13"/>
          <p:cNvSpPr/>
          <p:nvPr/>
        </p:nvSpPr>
        <p:spPr>
          <a:xfrm>
            <a:off x="731520" y="3410640"/>
            <a:ext cx="2902680" cy="6073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TextBox 14"/>
          <p:cNvSpPr/>
          <p:nvPr/>
        </p:nvSpPr>
        <p:spPr>
          <a:xfrm>
            <a:off x="841320" y="3438000"/>
            <a:ext cx="270576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value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Rectangle 15"/>
          <p:cNvSpPr/>
          <p:nvPr/>
        </p:nvSpPr>
        <p:spPr>
          <a:xfrm>
            <a:off x="3657600" y="3410640"/>
            <a:ext cx="7794720" cy="6073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TextBox 16"/>
          <p:cNvSpPr/>
          <p:nvPr/>
        </p:nvSpPr>
        <p:spPr>
          <a:xfrm>
            <a:off x="3767400" y="3438000"/>
            <a:ext cx="759780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Valeur numérique simulée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Rectangle 17"/>
          <p:cNvSpPr/>
          <p:nvPr/>
        </p:nvSpPr>
        <p:spPr>
          <a:xfrm>
            <a:off x="731520" y="4041720"/>
            <a:ext cx="2902680" cy="6073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Box 18"/>
          <p:cNvSpPr/>
          <p:nvPr/>
        </p:nvSpPr>
        <p:spPr>
          <a:xfrm>
            <a:off x="841320" y="4069080"/>
            <a:ext cx="270576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component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Rectangle 19"/>
          <p:cNvSpPr/>
          <p:nvPr/>
        </p:nvSpPr>
        <p:spPr>
          <a:xfrm>
            <a:off x="3657600" y="4041720"/>
            <a:ext cx="7794720" cy="6073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TextBox 20"/>
          <p:cNvSpPr/>
          <p:nvPr/>
        </p:nvSpPr>
        <p:spPr>
          <a:xfrm>
            <a:off x="3767400" y="4069080"/>
            <a:ext cx="759780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Groupe d’origine : A ou B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Rectangle 21"/>
          <p:cNvSpPr/>
          <p:nvPr/>
        </p:nvSpPr>
        <p:spPr>
          <a:xfrm>
            <a:off x="731520" y="4672440"/>
            <a:ext cx="2902680" cy="6073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Box 22"/>
          <p:cNvSpPr/>
          <p:nvPr/>
        </p:nvSpPr>
        <p:spPr>
          <a:xfrm>
            <a:off x="841320" y="4700160"/>
            <a:ext cx="270576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Effectifs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Rectangle 23"/>
          <p:cNvSpPr/>
          <p:nvPr/>
        </p:nvSpPr>
        <p:spPr>
          <a:xfrm>
            <a:off x="3657600" y="4672440"/>
            <a:ext cx="7794720" cy="6073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TextBox 24"/>
          <p:cNvSpPr/>
          <p:nvPr/>
        </p:nvSpPr>
        <p:spPr>
          <a:xfrm>
            <a:off x="3767400" y="4700160"/>
            <a:ext cx="759780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1 200 observations de A et 800 de B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Rectangle 25"/>
          <p:cNvSpPr/>
          <p:nvPr/>
        </p:nvSpPr>
        <p:spPr>
          <a:xfrm>
            <a:off x="749880" y="5596200"/>
            <a:ext cx="45000" cy="5846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TextBox 26"/>
          <p:cNvSpPr/>
          <p:nvPr/>
        </p:nvSpPr>
        <p:spPr>
          <a:xfrm>
            <a:off x="951120" y="5577840"/>
            <a:ext cx="102862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Chaque observation vient de A ou de B. Réunir les valeurs, sans additionner les deux tirages.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27"/>
          <p:cNvSpPr/>
          <p:nvPr/>
        </p:nvSpPr>
        <p:spPr>
          <a:xfrm>
            <a:off x="731520" y="6510600"/>
            <a:ext cx="896040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PARTIE I  /  OLIVIER DELRIEU  /  25.09.2026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28"/>
          <p:cNvSpPr/>
          <p:nvPr/>
        </p:nvSpPr>
        <p:spPr>
          <a:xfrm>
            <a:off x="10607040" y="6483240"/>
            <a:ext cx="867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5 / 25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1"/>
          <p:cNvSpPr/>
          <p:nvPr/>
        </p:nvSpPr>
        <p:spPr>
          <a:xfrm>
            <a:off x="658440" y="292680"/>
            <a:ext cx="10880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12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I · PROJET GAUSSIEN · EXIGENCES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2"/>
          <p:cNvSpPr/>
          <p:nvPr/>
        </p:nvSpPr>
        <p:spPr>
          <a:xfrm>
            <a:off x="658440" y="822960"/>
            <a:ext cx="108806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3 · Organiser le calcul avec une classe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Rectangle 3"/>
          <p:cNvSpPr/>
          <p:nvPr/>
        </p:nvSpPr>
        <p:spPr>
          <a:xfrm>
            <a:off x="676800" y="1600200"/>
            <a:ext cx="10834920" cy="2232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TextBox 4"/>
          <p:cNvSpPr/>
          <p:nvPr/>
        </p:nvSpPr>
        <p:spPr>
          <a:xfrm>
            <a:off x="731520" y="1710000"/>
            <a:ext cx="10789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13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Exigences du projet : lab/gaussian/README.md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Rectangle 5"/>
          <p:cNvSpPr/>
          <p:nvPr/>
        </p:nvSpPr>
        <p:spPr>
          <a:xfrm>
            <a:off x="731520" y="2148840"/>
            <a:ext cx="5257080" cy="315396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Rectangle 6"/>
          <p:cNvSpPr/>
          <p:nvPr/>
        </p:nvSpPr>
        <p:spPr>
          <a:xfrm>
            <a:off x="731520" y="2148840"/>
            <a:ext cx="49680" cy="315396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TextBox 7"/>
          <p:cNvSpPr/>
          <p:nvPr/>
        </p:nvSpPr>
        <p:spPr>
          <a:xfrm>
            <a:off x="932760" y="2377440"/>
            <a:ext cx="4799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18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CHAQUE OBJET CONSERVE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8"/>
          <p:cNvSpPr/>
          <p:nvPr/>
        </p:nvSpPr>
        <p:spPr>
          <a:xfrm>
            <a:off x="932760" y="3090600"/>
            <a:ext cx="479988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5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Ses paramètres de simulation.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5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Son dernier dataframe.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5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Ses données propres.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Rectangle 9"/>
          <p:cNvSpPr/>
          <p:nvPr/>
        </p:nvSpPr>
        <p:spPr>
          <a:xfrm>
            <a:off x="6217920" y="2148840"/>
            <a:ext cx="5257080" cy="315396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Rectangle 10"/>
          <p:cNvSpPr/>
          <p:nvPr/>
        </p:nvSpPr>
        <p:spPr>
          <a:xfrm>
            <a:off x="6217920" y="2148840"/>
            <a:ext cx="49680" cy="315396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Box 11"/>
          <p:cNvSpPr/>
          <p:nvPr/>
        </p:nvSpPr>
        <p:spPr>
          <a:xfrm>
            <a:off x="6419160" y="2377440"/>
            <a:ext cx="4799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1800" strike="noStrike" u="none">
                <a:solidFill>
                  <a:srgbClr val="b66d3a"/>
                </a:solidFill>
                <a:effectLst/>
                <a:uFillTx/>
                <a:latin typeface="Aptos"/>
              </a:rPr>
              <a:t>SES MÉTHODES PERMETTENT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12"/>
          <p:cNvSpPr/>
          <p:nvPr/>
        </p:nvSpPr>
        <p:spPr>
          <a:xfrm>
            <a:off x="6419160" y="3090600"/>
            <a:ext cx="479988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5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De produire le dataframe.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5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De renvoyer ce dataframe.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5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De renvoyer les trois figures.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Rectangle 13"/>
          <p:cNvSpPr/>
          <p:nvPr/>
        </p:nvSpPr>
        <p:spPr>
          <a:xfrm>
            <a:off x="749880" y="5596200"/>
            <a:ext cx="45000" cy="5846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TextBox 14"/>
          <p:cNvSpPr/>
          <p:nvPr/>
        </p:nvSpPr>
        <p:spPr>
          <a:xfrm>
            <a:off x="951120" y="5577840"/>
            <a:ext cx="102862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Les fonctions tirent et assemblent les valeurs. Le module de la classe les importe.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15"/>
          <p:cNvSpPr/>
          <p:nvPr/>
        </p:nvSpPr>
        <p:spPr>
          <a:xfrm>
            <a:off x="731520" y="6510600"/>
            <a:ext cx="896040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PARTIE I  /  OLIVIER DELRIEU  /  25.09.2026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16"/>
          <p:cNvSpPr/>
          <p:nvPr/>
        </p:nvSpPr>
        <p:spPr>
          <a:xfrm>
            <a:off x="10607040" y="6483240"/>
            <a:ext cx="867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6 / 25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Box 1"/>
          <p:cNvSpPr/>
          <p:nvPr/>
        </p:nvSpPr>
        <p:spPr>
          <a:xfrm>
            <a:off x="658440" y="292680"/>
            <a:ext cx="10880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12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I · PROJET GAUSSIEN · EXIGENCES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2"/>
          <p:cNvSpPr/>
          <p:nvPr/>
        </p:nvSpPr>
        <p:spPr>
          <a:xfrm>
            <a:off x="658440" y="822960"/>
            <a:ext cx="108806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4 · Reprendre l’organisation de Rectangle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Rectangle 3"/>
          <p:cNvSpPr/>
          <p:nvPr/>
        </p:nvSpPr>
        <p:spPr>
          <a:xfrm>
            <a:off x="676800" y="1600200"/>
            <a:ext cx="10834920" cy="2232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TextBox 4"/>
          <p:cNvSpPr/>
          <p:nvPr/>
        </p:nvSpPr>
        <p:spPr>
          <a:xfrm>
            <a:off x="731520" y="1710000"/>
            <a:ext cx="10789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13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Exigences du projet : lab/gaussian/README.md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Rectangle 5"/>
          <p:cNvSpPr/>
          <p:nvPr/>
        </p:nvSpPr>
        <p:spPr>
          <a:xfrm>
            <a:off x="731520" y="2148840"/>
            <a:ext cx="2994120" cy="6073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TextBox 6"/>
          <p:cNvSpPr/>
          <p:nvPr/>
        </p:nvSpPr>
        <p:spPr>
          <a:xfrm>
            <a:off x="841320" y="2176200"/>
            <a:ext cx="279720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19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ÉLÉMENT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Rectangle 7"/>
          <p:cNvSpPr/>
          <p:nvPr/>
        </p:nvSpPr>
        <p:spPr>
          <a:xfrm>
            <a:off x="3749040" y="2148840"/>
            <a:ext cx="7702920" cy="6073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TextBox 8"/>
          <p:cNvSpPr/>
          <p:nvPr/>
        </p:nvSpPr>
        <p:spPr>
          <a:xfrm>
            <a:off x="3858840" y="2176200"/>
            <a:ext cx="750636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19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RÔLE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Rectangle 9"/>
          <p:cNvSpPr/>
          <p:nvPr/>
        </p:nvSpPr>
        <p:spPr>
          <a:xfrm>
            <a:off x="731520" y="2779920"/>
            <a:ext cx="2994120" cy="6073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TextBox 10"/>
          <p:cNvSpPr/>
          <p:nvPr/>
        </p:nvSpPr>
        <p:spPr>
          <a:xfrm>
            <a:off x="841320" y="2807280"/>
            <a:ext cx="279720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Paquet local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Rectangle 11"/>
          <p:cNvSpPr/>
          <p:nvPr/>
        </p:nvSpPr>
        <p:spPr>
          <a:xfrm>
            <a:off x="3749040" y="2779920"/>
            <a:ext cx="7702920" cy="6073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TextBox 12"/>
          <p:cNvSpPr/>
          <p:nvPr/>
        </p:nvSpPr>
        <p:spPr>
          <a:xfrm>
            <a:off x="3858840" y="2807280"/>
            <a:ext cx="750636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Dossier avec __init__.py et une graine commune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Rectangle 13"/>
          <p:cNvSpPr/>
          <p:nvPr/>
        </p:nvSpPr>
        <p:spPr>
          <a:xfrm>
            <a:off x="731520" y="3410640"/>
            <a:ext cx="2994120" cy="6073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TextBox 14"/>
          <p:cNvSpPr/>
          <p:nvPr/>
        </p:nvSpPr>
        <p:spPr>
          <a:xfrm>
            <a:off x="841320" y="3438000"/>
            <a:ext cx="279720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Modules du paquet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Rectangle 15"/>
          <p:cNvSpPr/>
          <p:nvPr/>
        </p:nvSpPr>
        <p:spPr>
          <a:xfrm>
            <a:off x="3749040" y="3410640"/>
            <a:ext cx="7702920" cy="6073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TextBox 16"/>
          <p:cNvSpPr/>
          <p:nvPr/>
        </p:nvSpPr>
        <p:spPr>
          <a:xfrm>
            <a:off x="3858840" y="3438000"/>
            <a:ext cx="750636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Un pour la classe, un pour les fonctions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Rectangle 17"/>
          <p:cNvSpPr/>
          <p:nvPr/>
        </p:nvSpPr>
        <p:spPr>
          <a:xfrm>
            <a:off x="731520" y="4041720"/>
            <a:ext cx="2994120" cy="6073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TextBox 18"/>
          <p:cNvSpPr/>
          <p:nvPr/>
        </p:nvSpPr>
        <p:spPr>
          <a:xfrm>
            <a:off x="841320" y="4069080"/>
            <a:ext cx="279720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Lanceur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Rectangle 19"/>
          <p:cNvSpPr/>
          <p:nvPr/>
        </p:nvSpPr>
        <p:spPr>
          <a:xfrm>
            <a:off x="3749040" y="4041720"/>
            <a:ext cx="7702920" cy="6073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TextBox 20"/>
          <p:cNvSpPr/>
          <p:nvPr/>
        </p:nvSpPr>
        <p:spPr>
          <a:xfrm>
            <a:off x="3858840" y="4069080"/>
            <a:ext cx="750636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Importe la classe, choisit les paramètres et affiche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Rectangle 21"/>
          <p:cNvSpPr/>
          <p:nvPr/>
        </p:nvSpPr>
        <p:spPr>
          <a:xfrm>
            <a:off x="731520" y="4672440"/>
            <a:ext cx="2994120" cy="6073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Box 22"/>
          <p:cNvSpPr/>
          <p:nvPr/>
        </p:nvSpPr>
        <p:spPr>
          <a:xfrm>
            <a:off x="841320" y="4700160"/>
            <a:ext cx="279720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Tests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Rectangle 23"/>
          <p:cNvSpPr/>
          <p:nvPr/>
        </p:nvSpPr>
        <p:spPr>
          <a:xfrm>
            <a:off x="3749040" y="4672440"/>
            <a:ext cx="7702920" cy="6073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TextBox 24"/>
          <p:cNvSpPr/>
          <p:nvPr/>
        </p:nvSpPr>
        <p:spPr>
          <a:xfrm>
            <a:off x="3858840" y="4700160"/>
            <a:ext cx="750636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Importent la même classe que le lanceur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Rectangle 25"/>
          <p:cNvSpPr/>
          <p:nvPr/>
        </p:nvSpPr>
        <p:spPr>
          <a:xfrm>
            <a:off x="749880" y="5596200"/>
            <a:ext cx="45000" cy="5846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" name="TextBox 26"/>
          <p:cNvSpPr/>
          <p:nvPr/>
        </p:nvSpPr>
        <p:spPr>
          <a:xfrm>
            <a:off x="951120" y="5577840"/>
            <a:ext cx="102862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Importer le paquet ne lance ni tirage ni affichage. Les noms restent à votre choix.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27"/>
          <p:cNvSpPr/>
          <p:nvPr/>
        </p:nvSpPr>
        <p:spPr>
          <a:xfrm>
            <a:off x="731520" y="6510600"/>
            <a:ext cx="896040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PARTIE I  /  OLIVIER DELRIEU  /  25.09.2026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28"/>
          <p:cNvSpPr/>
          <p:nvPr/>
        </p:nvSpPr>
        <p:spPr>
          <a:xfrm>
            <a:off x="10607040" y="6483240"/>
            <a:ext cx="867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7 / 25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extBox 1"/>
          <p:cNvSpPr/>
          <p:nvPr/>
        </p:nvSpPr>
        <p:spPr>
          <a:xfrm>
            <a:off x="658440" y="292680"/>
            <a:ext cx="10880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12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I · PROJET GAUSSIEN · EXIGENCES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2"/>
          <p:cNvSpPr/>
          <p:nvPr/>
        </p:nvSpPr>
        <p:spPr>
          <a:xfrm>
            <a:off x="658440" y="822960"/>
            <a:ext cx="108806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5 · Produire trois graphiques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Rectangle 3"/>
          <p:cNvSpPr/>
          <p:nvPr/>
        </p:nvSpPr>
        <p:spPr>
          <a:xfrm>
            <a:off x="676800" y="1600200"/>
            <a:ext cx="10834920" cy="2232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5" name="TextBox 4"/>
          <p:cNvSpPr/>
          <p:nvPr/>
        </p:nvSpPr>
        <p:spPr>
          <a:xfrm>
            <a:off x="731520" y="1710000"/>
            <a:ext cx="10789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13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Exigences du projet : lab/gaussian/README.md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Rectangle 5"/>
          <p:cNvSpPr/>
          <p:nvPr/>
        </p:nvSpPr>
        <p:spPr>
          <a:xfrm>
            <a:off x="731520" y="2148840"/>
            <a:ext cx="3908160" cy="708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TextBox 6"/>
          <p:cNvSpPr/>
          <p:nvPr/>
        </p:nvSpPr>
        <p:spPr>
          <a:xfrm>
            <a:off x="841320" y="2176200"/>
            <a:ext cx="37116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19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GRAPHIQUE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Rectangle 7"/>
          <p:cNvSpPr/>
          <p:nvPr/>
        </p:nvSpPr>
        <p:spPr>
          <a:xfrm>
            <a:off x="4663440" y="2148840"/>
            <a:ext cx="6788880" cy="708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" name="TextBox 8"/>
          <p:cNvSpPr/>
          <p:nvPr/>
        </p:nvSpPr>
        <p:spPr>
          <a:xfrm>
            <a:off x="4773240" y="2176200"/>
            <a:ext cx="65919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19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CE QU’IL DOIT MONTRER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Rectangle 9"/>
          <p:cNvSpPr/>
          <p:nvPr/>
        </p:nvSpPr>
        <p:spPr>
          <a:xfrm>
            <a:off x="731520" y="2880360"/>
            <a:ext cx="3908160" cy="708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TextBox 10"/>
          <p:cNvSpPr/>
          <p:nvPr/>
        </p:nvSpPr>
        <p:spPr>
          <a:xfrm>
            <a:off x="841320" y="2907720"/>
            <a:ext cx="37116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Histogrammes A et B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Rectangle 11"/>
          <p:cNvSpPr/>
          <p:nvPr/>
        </p:nvSpPr>
        <p:spPr>
          <a:xfrm>
            <a:off x="4663440" y="2880360"/>
            <a:ext cx="6788880" cy="708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3" name="TextBox 12"/>
          <p:cNvSpPr/>
          <p:nvPr/>
        </p:nvSpPr>
        <p:spPr>
          <a:xfrm>
            <a:off x="4773240" y="2907720"/>
            <a:ext cx="65919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Les formes des deux groupes superposées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Rectangle 13"/>
          <p:cNvSpPr/>
          <p:nvPr/>
        </p:nvSpPr>
        <p:spPr>
          <a:xfrm>
            <a:off x="731520" y="3611880"/>
            <a:ext cx="3908160" cy="708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5" name="TextBox 14"/>
          <p:cNvSpPr/>
          <p:nvPr/>
        </p:nvSpPr>
        <p:spPr>
          <a:xfrm>
            <a:off x="841320" y="3639240"/>
            <a:ext cx="37116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Histogramme du mélange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Rectangle 15"/>
          <p:cNvSpPr/>
          <p:nvPr/>
        </p:nvSpPr>
        <p:spPr>
          <a:xfrm>
            <a:off x="4663440" y="3611880"/>
            <a:ext cx="6788880" cy="708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7" name="TextBox 16"/>
          <p:cNvSpPr/>
          <p:nvPr/>
        </p:nvSpPr>
        <p:spPr>
          <a:xfrm>
            <a:off x="4773240" y="3639240"/>
            <a:ext cx="65919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Toutes les valeurs, sans distinguer A et B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Rectangle 17"/>
          <p:cNvSpPr/>
          <p:nvPr/>
        </p:nvSpPr>
        <p:spPr>
          <a:xfrm>
            <a:off x="731520" y="4343400"/>
            <a:ext cx="3908160" cy="708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TextBox 18"/>
          <p:cNvSpPr/>
          <p:nvPr/>
        </p:nvSpPr>
        <p:spPr>
          <a:xfrm>
            <a:off x="841320" y="4370760"/>
            <a:ext cx="37116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Boîtes à moustaches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Rectangle 19"/>
          <p:cNvSpPr/>
          <p:nvPr/>
        </p:nvSpPr>
        <p:spPr>
          <a:xfrm>
            <a:off x="4663440" y="4343400"/>
            <a:ext cx="6788880" cy="708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" name="TextBox 20"/>
          <p:cNvSpPr/>
          <p:nvPr/>
        </p:nvSpPr>
        <p:spPr>
          <a:xfrm>
            <a:off x="4773240" y="4370760"/>
            <a:ext cx="6591960" cy="38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Les médianes et dispersions de A et B, et A</a:t>
            </a:r>
            <a:r>
              <a:rPr b="0" lang="en-US" sz="1500" strike="noStrike" u="none">
                <a:solidFill>
                  <a:srgbClr val="203645"/>
                </a:solidFill>
                <a:effectLst/>
                <a:uFillTx/>
                <a:latin typeface="Bitstream Vera Serif"/>
              </a:rPr>
              <a:t>U</a:t>
            </a: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B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Rectangle 21"/>
          <p:cNvSpPr/>
          <p:nvPr/>
        </p:nvSpPr>
        <p:spPr>
          <a:xfrm>
            <a:off x="749880" y="5596200"/>
            <a:ext cx="45000" cy="5846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TextBox 22"/>
          <p:cNvSpPr/>
          <p:nvPr/>
        </p:nvSpPr>
        <p:spPr>
          <a:xfrm>
            <a:off x="951120" y="5577840"/>
            <a:ext cx="102862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Trois figures du premier objet, depuis le même dataframe. Histogrammes en densité ; axes et groupes nommés.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23"/>
          <p:cNvSpPr/>
          <p:nvPr/>
        </p:nvSpPr>
        <p:spPr>
          <a:xfrm>
            <a:off x="731520" y="6510600"/>
            <a:ext cx="896040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PARTIE I  /  OLIVIER DELRIEU  /  25.09.2026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24"/>
          <p:cNvSpPr/>
          <p:nvPr/>
        </p:nvSpPr>
        <p:spPr>
          <a:xfrm>
            <a:off x="10607040" y="6483240"/>
            <a:ext cx="867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8 / 25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extBox 1"/>
          <p:cNvSpPr/>
          <p:nvPr/>
        </p:nvSpPr>
        <p:spPr>
          <a:xfrm>
            <a:off x="658440" y="292680"/>
            <a:ext cx="10880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12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I · PROJET GAUSSIEN · EXIGENCES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2"/>
          <p:cNvSpPr/>
          <p:nvPr/>
        </p:nvSpPr>
        <p:spPr>
          <a:xfrm>
            <a:off x="658440" y="822960"/>
            <a:ext cx="108806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6 · Reproduire et comparer deux simulations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Rectangle 3"/>
          <p:cNvSpPr/>
          <p:nvPr/>
        </p:nvSpPr>
        <p:spPr>
          <a:xfrm>
            <a:off x="676800" y="1600200"/>
            <a:ext cx="10834920" cy="2232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" name="TextBox 4"/>
          <p:cNvSpPr/>
          <p:nvPr/>
        </p:nvSpPr>
        <p:spPr>
          <a:xfrm>
            <a:off x="731520" y="1710000"/>
            <a:ext cx="10789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13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Exigences du projet : lab/gaussian/README.md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Rectangle 5"/>
          <p:cNvSpPr/>
          <p:nvPr/>
        </p:nvSpPr>
        <p:spPr>
          <a:xfrm>
            <a:off x="731520" y="2148840"/>
            <a:ext cx="5257080" cy="315396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Rectangle 6"/>
          <p:cNvSpPr/>
          <p:nvPr/>
        </p:nvSpPr>
        <p:spPr>
          <a:xfrm>
            <a:off x="731520" y="2148840"/>
            <a:ext cx="49680" cy="315396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2" name="TextBox 7"/>
          <p:cNvSpPr/>
          <p:nvPr/>
        </p:nvSpPr>
        <p:spPr>
          <a:xfrm>
            <a:off x="932760" y="2377440"/>
            <a:ext cx="4799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18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REPRODUIRE UN RÉSULTAT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8"/>
          <p:cNvSpPr/>
          <p:nvPr/>
        </p:nvSpPr>
        <p:spPr>
          <a:xfrm>
            <a:off x="932760" y="3090600"/>
            <a:ext cx="479988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5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Mêmes paramètres et même graine :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5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retrouver les mêmes valeurs.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5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Les figures réutilisent le tirage.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Rectangle 9"/>
          <p:cNvSpPr/>
          <p:nvPr/>
        </p:nvSpPr>
        <p:spPr>
          <a:xfrm>
            <a:off x="6217920" y="2148840"/>
            <a:ext cx="5257080" cy="315396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5" name="Rectangle 10"/>
          <p:cNvSpPr/>
          <p:nvPr/>
        </p:nvSpPr>
        <p:spPr>
          <a:xfrm>
            <a:off x="6217920" y="2148840"/>
            <a:ext cx="49680" cy="315396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6" name="TextBox 11"/>
          <p:cNvSpPr/>
          <p:nvPr/>
        </p:nvSpPr>
        <p:spPr>
          <a:xfrm>
            <a:off x="6419160" y="2377440"/>
            <a:ext cx="4799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1800" strike="noStrike" u="none">
                <a:solidFill>
                  <a:srgbClr val="b66d3a"/>
                </a:solidFill>
                <a:effectLst/>
                <a:uFillTx/>
                <a:latin typeface="Aptos"/>
              </a:rPr>
              <a:t>GARDER DEUX OBJETS DISTINCTS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Box 12"/>
          <p:cNvSpPr/>
          <p:nvPr/>
        </p:nvSpPr>
        <p:spPr>
          <a:xfrm>
            <a:off x="6419160" y="3090600"/>
            <a:ext cx="479988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5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Second objet : 30 % de A.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5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Écart-type de B : 30.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5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600 A et 1 400 B.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5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Premier objet inchangé.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Rectangle 13"/>
          <p:cNvSpPr/>
          <p:nvPr/>
        </p:nvSpPr>
        <p:spPr>
          <a:xfrm>
            <a:off x="749880" y="5596200"/>
            <a:ext cx="45000" cy="5846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" name="TextBox 14"/>
          <p:cNvSpPr/>
          <p:nvPr/>
        </p:nvSpPr>
        <p:spPr>
          <a:xfrm>
            <a:off x="951120" y="5577840"/>
            <a:ext cx="102862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Garder les autres paramètres pour le second objet. Comparer les tirages dans le même environnement.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15"/>
          <p:cNvSpPr/>
          <p:nvPr/>
        </p:nvSpPr>
        <p:spPr>
          <a:xfrm>
            <a:off x="731520" y="6510600"/>
            <a:ext cx="896040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PARTIE I  /  OLIVIER DELRIEU  /  25.09.2026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16"/>
          <p:cNvSpPr/>
          <p:nvPr/>
        </p:nvSpPr>
        <p:spPr>
          <a:xfrm>
            <a:off x="10607040" y="6483240"/>
            <a:ext cx="867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9 / 25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TextBox 1"/>
          <p:cNvSpPr/>
          <p:nvPr/>
        </p:nvSpPr>
        <p:spPr>
          <a:xfrm>
            <a:off x="658440" y="292680"/>
            <a:ext cx="10880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12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I · PROJET GAUSSIEN · EXIGENCES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Box 2"/>
          <p:cNvSpPr/>
          <p:nvPr/>
        </p:nvSpPr>
        <p:spPr>
          <a:xfrm>
            <a:off x="658440" y="822960"/>
            <a:ext cx="108806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Présenter un projet qui fonctionne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Rectangle 3"/>
          <p:cNvSpPr/>
          <p:nvPr/>
        </p:nvSpPr>
        <p:spPr>
          <a:xfrm>
            <a:off x="676800" y="1600200"/>
            <a:ext cx="10834920" cy="2232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5" name="TextBox 4"/>
          <p:cNvSpPr/>
          <p:nvPr/>
        </p:nvSpPr>
        <p:spPr>
          <a:xfrm>
            <a:off x="731520" y="1710000"/>
            <a:ext cx="10789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13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Exigences du projet : lab/gaussian/README.md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Rectangle 5"/>
          <p:cNvSpPr/>
          <p:nvPr/>
        </p:nvSpPr>
        <p:spPr>
          <a:xfrm>
            <a:off x="731520" y="2148840"/>
            <a:ext cx="5257080" cy="315396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7" name="Rectangle 6"/>
          <p:cNvSpPr/>
          <p:nvPr/>
        </p:nvSpPr>
        <p:spPr>
          <a:xfrm>
            <a:off x="731520" y="2148840"/>
            <a:ext cx="49680" cy="315396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8" name="TextBox 7"/>
          <p:cNvSpPr/>
          <p:nvPr/>
        </p:nvSpPr>
        <p:spPr>
          <a:xfrm>
            <a:off x="932760" y="2377440"/>
            <a:ext cx="4799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18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À FOURNIR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8"/>
          <p:cNvSpPr/>
          <p:nvPr/>
        </p:nvSpPr>
        <p:spPr>
          <a:xfrm>
            <a:off x="932760" y="3090600"/>
            <a:ext cx="479988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5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Modules et script de lancement.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5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Dossier tests/.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5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Dépendances et court README.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Rectangle 9"/>
          <p:cNvSpPr/>
          <p:nvPr/>
        </p:nvSpPr>
        <p:spPr>
          <a:xfrm>
            <a:off x="6217920" y="2148840"/>
            <a:ext cx="5257080" cy="315396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1" name="Rectangle 10"/>
          <p:cNvSpPr/>
          <p:nvPr/>
        </p:nvSpPr>
        <p:spPr>
          <a:xfrm>
            <a:off x="6217920" y="2148840"/>
            <a:ext cx="49680" cy="315396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2" name="TextBox 11"/>
          <p:cNvSpPr/>
          <p:nvPr/>
        </p:nvSpPr>
        <p:spPr>
          <a:xfrm>
            <a:off x="6419160" y="2377440"/>
            <a:ext cx="4799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1800" strike="noStrike" u="none">
                <a:solidFill>
                  <a:srgbClr val="b66d3a"/>
                </a:solidFill>
                <a:effectLst/>
                <a:uFillTx/>
                <a:latin typeface="Aptos"/>
              </a:rPr>
              <a:t>À MONTRER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12"/>
          <p:cNvSpPr/>
          <p:nvPr/>
        </p:nvSpPr>
        <p:spPr>
          <a:xfrm>
            <a:off x="6419160" y="3090600"/>
            <a:ext cx="479988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5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Effectifs des deux objets.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5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Trois figures du premier.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5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Tests réussis et imports expliqués.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Rectangle 13"/>
          <p:cNvSpPr/>
          <p:nvPr/>
        </p:nvSpPr>
        <p:spPr>
          <a:xfrm>
            <a:off x="749880" y="5596200"/>
            <a:ext cx="45000" cy="5846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5" name="TextBox 14"/>
          <p:cNvSpPr/>
          <p:nvPr/>
        </p:nvSpPr>
        <p:spPr>
          <a:xfrm>
            <a:off x="951120" y="5577840"/>
            <a:ext cx="102862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Le README donne les commandes pour lancer le projet et ses tests depuis le terminal.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Box 15"/>
          <p:cNvSpPr/>
          <p:nvPr/>
        </p:nvSpPr>
        <p:spPr>
          <a:xfrm>
            <a:off x="731520" y="6510600"/>
            <a:ext cx="896040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PARTIE I  /  OLIVIER DELRIEU  /  25.09.2026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16"/>
          <p:cNvSpPr/>
          <p:nvPr/>
        </p:nvSpPr>
        <p:spPr>
          <a:xfrm>
            <a:off x="10607040" y="6483240"/>
            <a:ext cx="867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10 / 25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extBox 1"/>
          <p:cNvSpPr/>
          <p:nvPr/>
        </p:nvSpPr>
        <p:spPr>
          <a:xfrm>
            <a:off x="658440" y="292680"/>
            <a:ext cx="10880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12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I · PROJET GAUSSIEN · EXIGENCES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Box 2"/>
          <p:cNvSpPr/>
          <p:nvPr/>
        </p:nvSpPr>
        <p:spPr>
          <a:xfrm>
            <a:off x="658440" y="822960"/>
            <a:ext cx="108806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Trois scripts pour les opérations de base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Rectangle 3"/>
          <p:cNvSpPr/>
          <p:nvPr/>
        </p:nvSpPr>
        <p:spPr>
          <a:xfrm>
            <a:off x="676800" y="1600200"/>
            <a:ext cx="10834920" cy="2232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1" name="TextBox 4"/>
          <p:cNvSpPr/>
          <p:nvPr/>
        </p:nvSpPr>
        <p:spPr>
          <a:xfrm>
            <a:off x="731520" y="1710000"/>
            <a:ext cx="10789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13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Scripts et commandes : lab/gaussian/snippets/README.md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Rectangle 5"/>
          <p:cNvSpPr/>
          <p:nvPr/>
        </p:nvSpPr>
        <p:spPr>
          <a:xfrm>
            <a:off x="731520" y="2148840"/>
            <a:ext cx="4914360" cy="708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3" name="TextBox 6"/>
          <p:cNvSpPr/>
          <p:nvPr/>
        </p:nvSpPr>
        <p:spPr>
          <a:xfrm>
            <a:off x="841320" y="2176200"/>
            <a:ext cx="47174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19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SCRIPT FOURNI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Rectangle 7"/>
          <p:cNvSpPr/>
          <p:nvPr/>
        </p:nvSpPr>
        <p:spPr>
          <a:xfrm>
            <a:off x="5669280" y="2148840"/>
            <a:ext cx="5782680" cy="708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5" name="TextBox 8"/>
          <p:cNvSpPr/>
          <p:nvPr/>
        </p:nvSpPr>
        <p:spPr>
          <a:xfrm>
            <a:off x="5779080" y="2176200"/>
            <a:ext cx="55861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19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OPÉRATION ILLUSTRÉE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Rectangle 9"/>
          <p:cNvSpPr/>
          <p:nvPr/>
        </p:nvSpPr>
        <p:spPr>
          <a:xfrm>
            <a:off x="731520" y="2880360"/>
            <a:ext cx="4914360" cy="708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7" name="TextBox 10"/>
          <p:cNvSpPr/>
          <p:nvPr/>
        </p:nvSpPr>
        <p:spPr>
          <a:xfrm>
            <a:off x="841320" y="2907720"/>
            <a:ext cx="47174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01_draw_values.py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Rectangle 11"/>
          <p:cNvSpPr/>
          <p:nvPr/>
        </p:nvSpPr>
        <p:spPr>
          <a:xfrm>
            <a:off x="5669280" y="2880360"/>
            <a:ext cx="5782680" cy="708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9" name="TextBox 12"/>
          <p:cNvSpPr/>
          <p:nvPr/>
        </p:nvSpPr>
        <p:spPr>
          <a:xfrm>
            <a:off x="5779080" y="2907720"/>
            <a:ext cx="55861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Tirer les valeurs d’une loi normale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Rectangle 13"/>
          <p:cNvSpPr/>
          <p:nvPr/>
        </p:nvSpPr>
        <p:spPr>
          <a:xfrm>
            <a:off x="731520" y="3611880"/>
            <a:ext cx="4914360" cy="708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1" name="TextBox 14"/>
          <p:cNvSpPr/>
          <p:nvPr/>
        </p:nvSpPr>
        <p:spPr>
          <a:xfrm>
            <a:off x="841320" y="3639240"/>
            <a:ext cx="47174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02_build_dataframe.py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Rectangle 15"/>
          <p:cNvSpPr/>
          <p:nvPr/>
        </p:nvSpPr>
        <p:spPr>
          <a:xfrm>
            <a:off x="5669280" y="3611880"/>
            <a:ext cx="5782680" cy="708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3" name="TextBox 16"/>
          <p:cNvSpPr/>
          <p:nvPr/>
        </p:nvSpPr>
        <p:spPr>
          <a:xfrm>
            <a:off x="5779080" y="3639240"/>
            <a:ext cx="55861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Créer un dataframe à partir de valeurs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Rectangle 17"/>
          <p:cNvSpPr/>
          <p:nvPr/>
        </p:nvSpPr>
        <p:spPr>
          <a:xfrm>
            <a:off x="731520" y="4343400"/>
            <a:ext cx="4914360" cy="708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5" name="TextBox 18"/>
          <p:cNvSpPr/>
          <p:nvPr/>
        </p:nvSpPr>
        <p:spPr>
          <a:xfrm>
            <a:off x="841320" y="4370760"/>
            <a:ext cx="47174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03_plot_distributions.py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Rectangle 19"/>
          <p:cNvSpPr/>
          <p:nvPr/>
        </p:nvSpPr>
        <p:spPr>
          <a:xfrm>
            <a:off x="5669280" y="4343400"/>
            <a:ext cx="5782680" cy="70812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7" name="TextBox 20"/>
          <p:cNvSpPr/>
          <p:nvPr/>
        </p:nvSpPr>
        <p:spPr>
          <a:xfrm>
            <a:off x="5779080" y="4370760"/>
            <a:ext cx="55861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Histogramme, boîte et courbe cumulée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Rectangle 21"/>
          <p:cNvSpPr/>
          <p:nvPr/>
        </p:nvSpPr>
        <p:spPr>
          <a:xfrm>
            <a:off x="749880" y="5596200"/>
            <a:ext cx="45000" cy="5846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9" name="TextBox 22"/>
          <p:cNvSpPr/>
          <p:nvPr/>
        </p:nvSpPr>
        <p:spPr>
          <a:xfrm>
            <a:off x="951120" y="5577840"/>
            <a:ext cx="102862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Exemples à adapter. La courbe cumulée est une aide, pas une nouvelle exigence du projet.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Box 23"/>
          <p:cNvSpPr/>
          <p:nvPr/>
        </p:nvSpPr>
        <p:spPr>
          <a:xfrm>
            <a:off x="731520" y="6510600"/>
            <a:ext cx="896040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PARTIE I  /  OLIVIER DELRIEU  /  25.09.2026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Box 24"/>
          <p:cNvSpPr/>
          <p:nvPr/>
        </p:nvSpPr>
        <p:spPr>
          <a:xfrm>
            <a:off x="10607040" y="6483240"/>
            <a:ext cx="867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11 / 25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Rectangle 1"/>
          <p:cNvSpPr/>
          <p:nvPr/>
        </p:nvSpPr>
        <p:spPr>
          <a:xfrm>
            <a:off x="0" y="0"/>
            <a:ext cx="12197520" cy="685728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3" name="TextBox 2"/>
          <p:cNvSpPr/>
          <p:nvPr/>
        </p:nvSpPr>
        <p:spPr>
          <a:xfrm>
            <a:off x="777240" y="731520"/>
            <a:ext cx="106063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1700" strike="noStrike" u="none">
                <a:solidFill>
                  <a:srgbClr val="b8dce8"/>
                </a:solidFill>
                <a:effectLst/>
                <a:uFillTx/>
                <a:latin typeface="Aptos"/>
              </a:rPr>
              <a:t>PARTIE II · CSV, SQL ET PYTHON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Rectangle 3"/>
          <p:cNvSpPr/>
          <p:nvPr/>
        </p:nvSpPr>
        <p:spPr>
          <a:xfrm>
            <a:off x="795600" y="1508760"/>
            <a:ext cx="913680" cy="54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5" name="TextBox 4"/>
          <p:cNvSpPr/>
          <p:nvPr/>
        </p:nvSpPr>
        <p:spPr>
          <a:xfrm>
            <a:off x="777240" y="1920240"/>
            <a:ext cx="10606320" cy="19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42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Lire des CSV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42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et utiliser SQL depuis Python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Box 5"/>
          <p:cNvSpPr/>
          <p:nvPr/>
        </p:nvSpPr>
        <p:spPr>
          <a:xfrm>
            <a:off x="777240" y="4389120"/>
            <a:ext cx="1060632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700" strike="noStrike" u="none">
                <a:solidFill>
                  <a:srgbClr val="dce8ee"/>
                </a:solidFill>
                <a:effectLst/>
                <a:uFillTx/>
                <a:latin typeface="Aptos"/>
              </a:rPr>
              <a:t>Un autre exemple : des clients et leurs commandes.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700" strike="noStrike" u="none">
                <a:solidFill>
                  <a:srgbClr val="dce8ee"/>
                </a:solidFill>
                <a:effectLst/>
                <a:uFillTx/>
                <a:latin typeface="Aptos"/>
              </a:rPr>
              <a:t>Lire les types, garder le sens du manque, utiliser SQLite.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Box 6"/>
          <p:cNvSpPr/>
          <p:nvPr/>
        </p:nvSpPr>
        <p:spPr>
          <a:xfrm>
            <a:off x="731520" y="6510600"/>
            <a:ext cx="896040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1000" strike="noStrike" u="none">
                <a:solidFill>
                  <a:srgbClr val="b8dce8"/>
                </a:solidFill>
                <a:effectLst/>
                <a:uFillTx/>
                <a:latin typeface="Aptos"/>
              </a:rPr>
              <a:t>PARTIE II  /  OLIVIER DELRIEU  /  25.09.2026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Box 7"/>
          <p:cNvSpPr/>
          <p:nvPr/>
        </p:nvSpPr>
        <p:spPr>
          <a:xfrm>
            <a:off x="10607040" y="6483240"/>
            <a:ext cx="867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1100" strike="noStrike" u="none">
                <a:solidFill>
                  <a:srgbClr val="b8dce8"/>
                </a:solidFill>
                <a:effectLst/>
                <a:uFillTx/>
                <a:latin typeface="Aptos"/>
              </a:rPr>
              <a:t>12 / 25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TextBox 1"/>
          <p:cNvSpPr/>
          <p:nvPr/>
        </p:nvSpPr>
        <p:spPr>
          <a:xfrm>
            <a:off x="658440" y="292680"/>
            <a:ext cx="10881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</a:pPr>
            <a:r>
              <a:rPr b="1" lang="en-US" sz="1200" strike="noStrike" u="none">
                <a:solidFill>
                  <a:srgbClr val="744830"/>
                </a:solidFill>
                <a:effectLst/>
                <a:uFillTx/>
                <a:latin typeface="Aptos"/>
              </a:rPr>
              <a:t>II · CSV ET SQLITE · EXEMPLES ET EXERCICE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Box 2"/>
          <p:cNvSpPr/>
          <p:nvPr/>
        </p:nvSpPr>
        <p:spPr>
          <a:xfrm>
            <a:off x="658440" y="822960"/>
            <a:ext cx="10881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Suivre les cinq scripts dans l’ordre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Rectangle 3"/>
          <p:cNvSpPr/>
          <p:nvPr/>
        </p:nvSpPr>
        <p:spPr>
          <a:xfrm>
            <a:off x="676800" y="1600200"/>
            <a:ext cx="10835280" cy="226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2" name="TextBox 4"/>
          <p:cNvSpPr/>
          <p:nvPr/>
        </p:nvSpPr>
        <p:spPr>
          <a:xfrm>
            <a:off x="731520" y="1710000"/>
            <a:ext cx="10789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</a:pPr>
            <a:r>
              <a:rPr b="0" lang="en-US" sz="13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Consignes : lab/sql/README.md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Rectangle 5"/>
          <p:cNvSpPr/>
          <p:nvPr/>
        </p:nvSpPr>
        <p:spPr>
          <a:xfrm>
            <a:off x="731520" y="2148840"/>
            <a:ext cx="4182840" cy="50256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4" name="TextBox 6"/>
          <p:cNvSpPr/>
          <p:nvPr/>
        </p:nvSpPr>
        <p:spPr>
          <a:xfrm>
            <a:off x="841320" y="2176200"/>
            <a:ext cx="398628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</a:pPr>
            <a:r>
              <a:rPr b="1" lang="en-US" sz="19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SCRIPT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Rectangle 7"/>
          <p:cNvSpPr/>
          <p:nvPr/>
        </p:nvSpPr>
        <p:spPr>
          <a:xfrm>
            <a:off x="4937760" y="2148840"/>
            <a:ext cx="6514920" cy="50256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6" name="TextBox 8"/>
          <p:cNvSpPr/>
          <p:nvPr/>
        </p:nvSpPr>
        <p:spPr>
          <a:xfrm>
            <a:off x="5047560" y="2176200"/>
            <a:ext cx="631800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</a:pPr>
            <a:r>
              <a:rPr b="1" lang="en-US" sz="19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RÔLE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Rectangle 9"/>
          <p:cNvSpPr/>
          <p:nvPr/>
        </p:nvSpPr>
        <p:spPr>
          <a:xfrm>
            <a:off x="731520" y="2674800"/>
            <a:ext cx="4182840" cy="50256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8" name="TextBox 10"/>
          <p:cNvSpPr/>
          <p:nvPr/>
        </p:nvSpPr>
        <p:spPr>
          <a:xfrm>
            <a:off x="841320" y="2702160"/>
            <a:ext cx="398628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01_create_csv.py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Rectangle 11"/>
          <p:cNvSpPr/>
          <p:nvPr/>
        </p:nvSpPr>
        <p:spPr>
          <a:xfrm>
            <a:off x="4937760" y="2674800"/>
            <a:ext cx="6514920" cy="50256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0" name="TextBox 12"/>
          <p:cNvSpPr/>
          <p:nvPr/>
        </p:nvSpPr>
        <p:spPr>
          <a:xfrm>
            <a:off x="5047560" y="2702160"/>
            <a:ext cx="631800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Créer les deux CSV fictifs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Rectangle 13"/>
          <p:cNvSpPr/>
          <p:nvPr/>
        </p:nvSpPr>
        <p:spPr>
          <a:xfrm>
            <a:off x="731520" y="3200400"/>
            <a:ext cx="4182840" cy="50256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2" name="TextBox 14"/>
          <p:cNvSpPr/>
          <p:nvPr/>
        </p:nvSpPr>
        <p:spPr>
          <a:xfrm>
            <a:off x="841320" y="3227760"/>
            <a:ext cx="398628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02_read_csv.py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Rectangle 15"/>
          <p:cNvSpPr/>
          <p:nvPr/>
        </p:nvSpPr>
        <p:spPr>
          <a:xfrm>
            <a:off x="4937760" y="3200400"/>
            <a:ext cx="6514920" cy="50256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4" name="TextBox 16"/>
          <p:cNvSpPr/>
          <p:nvPr/>
        </p:nvSpPr>
        <p:spPr>
          <a:xfrm>
            <a:off x="5047560" y="3227760"/>
            <a:ext cx="631800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Lire et décrire les deux tables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Rectangle 17"/>
          <p:cNvSpPr/>
          <p:nvPr/>
        </p:nvSpPr>
        <p:spPr>
          <a:xfrm>
            <a:off x="731520" y="3726360"/>
            <a:ext cx="4182840" cy="50256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6" name="TextBox 18"/>
          <p:cNvSpPr/>
          <p:nvPr/>
        </p:nvSpPr>
        <p:spPr>
          <a:xfrm>
            <a:off x="841320" y="3753720"/>
            <a:ext cx="398628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03_create_database.py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Rectangle 19"/>
          <p:cNvSpPr/>
          <p:nvPr/>
        </p:nvSpPr>
        <p:spPr>
          <a:xfrm>
            <a:off x="4937760" y="3726360"/>
            <a:ext cx="6514920" cy="50256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8" name="TextBox 20"/>
          <p:cNvSpPr/>
          <p:nvPr/>
        </p:nvSpPr>
        <p:spPr>
          <a:xfrm>
            <a:off x="5047560" y="3753720"/>
            <a:ext cx="631800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Recréer les tables et importer les lignes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Rectangle 21"/>
          <p:cNvSpPr/>
          <p:nvPr/>
        </p:nvSpPr>
        <p:spPr>
          <a:xfrm>
            <a:off x="731520" y="4251960"/>
            <a:ext cx="4182840" cy="50256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0" name="TextBox 22"/>
          <p:cNvSpPr/>
          <p:nvPr/>
        </p:nvSpPr>
        <p:spPr>
          <a:xfrm>
            <a:off x="841320" y="4279320"/>
            <a:ext cx="398628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04_select_data.py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Rectangle 23"/>
          <p:cNvSpPr/>
          <p:nvPr/>
        </p:nvSpPr>
        <p:spPr>
          <a:xfrm>
            <a:off x="4937760" y="4251960"/>
            <a:ext cx="6514920" cy="50256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2" name="TextBox 24"/>
          <p:cNvSpPr/>
          <p:nvPr/>
        </p:nvSpPr>
        <p:spPr>
          <a:xfrm>
            <a:off x="5047560" y="4279320"/>
            <a:ext cx="631800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Compléter les requêtes SQL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Rectangle 25"/>
          <p:cNvSpPr/>
          <p:nvPr/>
        </p:nvSpPr>
        <p:spPr>
          <a:xfrm>
            <a:off x="731520" y="4777920"/>
            <a:ext cx="4182840" cy="50256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4" name="TextBox 26"/>
          <p:cNvSpPr/>
          <p:nvPr/>
        </p:nvSpPr>
        <p:spPr>
          <a:xfrm>
            <a:off x="841320" y="4805280"/>
            <a:ext cx="398628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05_modify_data.py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Rectangle 27"/>
          <p:cNvSpPr/>
          <p:nvPr/>
        </p:nvSpPr>
        <p:spPr>
          <a:xfrm>
            <a:off x="4937760" y="4777920"/>
            <a:ext cx="6514920" cy="50256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6" name="TextBox 28"/>
          <p:cNvSpPr/>
          <p:nvPr/>
        </p:nvSpPr>
        <p:spPr>
          <a:xfrm>
            <a:off x="5047560" y="4805280"/>
            <a:ext cx="631800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Enregistrer et vérifier les modifications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Rectangle 29"/>
          <p:cNvSpPr/>
          <p:nvPr/>
        </p:nvSpPr>
        <p:spPr>
          <a:xfrm>
            <a:off x="749880" y="5596200"/>
            <a:ext cx="45360" cy="585000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8" name="TextBox 30"/>
          <p:cNvSpPr/>
          <p:nvPr/>
        </p:nvSpPr>
        <p:spPr>
          <a:xfrm>
            <a:off x="951120" y="5577840"/>
            <a:ext cx="1028664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Terminal, avec le Python du cours : python -m pip install pandas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901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sqlite3 est normalement fourni avec Python. Aucun serveur à installer.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Box 31"/>
          <p:cNvSpPr/>
          <p:nvPr/>
        </p:nvSpPr>
        <p:spPr>
          <a:xfrm>
            <a:off x="731520" y="6510600"/>
            <a:ext cx="896076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PARTIE II  /  OLIVIER DELRIEU  /  25.09.2026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Box 32"/>
          <p:cNvSpPr/>
          <p:nvPr/>
        </p:nvSpPr>
        <p:spPr>
          <a:xfrm>
            <a:off x="10607040" y="6483240"/>
            <a:ext cx="868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13 / 25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TextBox 1"/>
          <p:cNvSpPr/>
          <p:nvPr/>
        </p:nvSpPr>
        <p:spPr>
          <a:xfrm>
            <a:off x="658440" y="292680"/>
            <a:ext cx="10880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1200" strike="noStrike" u="none">
                <a:solidFill>
                  <a:srgbClr val="744830"/>
                </a:solidFill>
                <a:effectLst/>
                <a:uFillTx/>
                <a:latin typeface="Aptos"/>
              </a:rPr>
              <a:t>II · CSV ET SQL · DONNÉES FICTIVES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Box 2"/>
          <p:cNvSpPr/>
          <p:nvPr/>
        </p:nvSpPr>
        <p:spPr>
          <a:xfrm>
            <a:off x="658440" y="822960"/>
            <a:ext cx="108806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Deux CSV : des clients et leurs commandes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Rectangle 3"/>
          <p:cNvSpPr/>
          <p:nvPr/>
        </p:nvSpPr>
        <p:spPr>
          <a:xfrm>
            <a:off x="676800" y="1600200"/>
            <a:ext cx="10834920" cy="2232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4" name="TextBox 4"/>
          <p:cNvSpPr/>
          <p:nvPr/>
        </p:nvSpPr>
        <p:spPr>
          <a:xfrm>
            <a:off x="731520" y="1710000"/>
            <a:ext cx="10789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13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Fichier complet : lab/sql/README.md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Rectangle 5"/>
          <p:cNvSpPr/>
          <p:nvPr/>
        </p:nvSpPr>
        <p:spPr>
          <a:xfrm>
            <a:off x="731520" y="2148840"/>
            <a:ext cx="5257080" cy="315396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6" name="Rectangle 6"/>
          <p:cNvSpPr/>
          <p:nvPr/>
        </p:nvSpPr>
        <p:spPr>
          <a:xfrm>
            <a:off x="731520" y="2148840"/>
            <a:ext cx="49680" cy="315396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7" name="TextBox 7"/>
          <p:cNvSpPr/>
          <p:nvPr/>
        </p:nvSpPr>
        <p:spPr>
          <a:xfrm>
            <a:off x="932760" y="2377440"/>
            <a:ext cx="4799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18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CUSTOMERS · 12 LIGNES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Box 8"/>
          <p:cNvSpPr/>
          <p:nvPr/>
        </p:nvSpPr>
        <p:spPr>
          <a:xfrm>
            <a:off x="932760" y="3090600"/>
            <a:ext cx="479988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5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Une ligne = un client.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5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id, name, age, city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5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Exemple d’identifiant : 001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Rectangle 9"/>
          <p:cNvSpPr/>
          <p:nvPr/>
        </p:nvSpPr>
        <p:spPr>
          <a:xfrm>
            <a:off x="6217920" y="2148840"/>
            <a:ext cx="5257080" cy="315396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0" name="Rectangle 10"/>
          <p:cNvSpPr/>
          <p:nvPr/>
        </p:nvSpPr>
        <p:spPr>
          <a:xfrm>
            <a:off x="6217920" y="2148840"/>
            <a:ext cx="49680" cy="315396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1" name="TextBox 11"/>
          <p:cNvSpPr/>
          <p:nvPr/>
        </p:nvSpPr>
        <p:spPr>
          <a:xfrm>
            <a:off x="6419160" y="2377440"/>
            <a:ext cx="4799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1" lang="en-US" sz="1800" strike="noStrike" u="none">
                <a:solidFill>
                  <a:srgbClr val="b66d3a"/>
                </a:solidFill>
                <a:effectLst/>
                <a:uFillTx/>
                <a:latin typeface="Aptos"/>
              </a:rPr>
              <a:t>ORDERS · 12 LIGNES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Box 12"/>
          <p:cNvSpPr/>
          <p:nvPr/>
        </p:nvSpPr>
        <p:spPr>
          <a:xfrm>
            <a:off x="6419160" y="3090600"/>
            <a:ext cx="479988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5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Une ligne = une commande.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5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customer_id désigne le client.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5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Plusieurs commandes possibles.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Rectangle 13"/>
          <p:cNvSpPr/>
          <p:nvPr/>
        </p:nvSpPr>
        <p:spPr>
          <a:xfrm>
            <a:off x="749880" y="5596200"/>
            <a:ext cx="45000" cy="5846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4" name="TextBox 14"/>
          <p:cNvSpPr/>
          <p:nvPr/>
        </p:nvSpPr>
        <p:spPr>
          <a:xfrm>
            <a:off x="951120" y="5577840"/>
            <a:ext cx="102862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Dans cet exemple, chaque commande porte sur un seul produit.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Box 15"/>
          <p:cNvSpPr/>
          <p:nvPr/>
        </p:nvSpPr>
        <p:spPr>
          <a:xfrm>
            <a:off x="731520" y="6510600"/>
            <a:ext cx="896040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PARTIE II  /  OLIVIER DELRIEU  /  25.09.2026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Box 16"/>
          <p:cNvSpPr/>
          <p:nvPr/>
        </p:nvSpPr>
        <p:spPr>
          <a:xfrm>
            <a:off x="10607040" y="6483240"/>
            <a:ext cx="867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14 / 25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TextBox 17"/>
          <p:cNvSpPr/>
          <p:nvPr/>
        </p:nvSpPr>
        <p:spPr>
          <a:xfrm>
            <a:off x="658440" y="265320"/>
            <a:ext cx="1086228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EXEMPLES DE CODE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Box 19"/>
          <p:cNvSpPr/>
          <p:nvPr/>
        </p:nvSpPr>
        <p:spPr>
          <a:xfrm>
            <a:off x="658440" y="740520"/>
            <a:ext cx="1086228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endParaRPr b="1" lang="en-US" sz="3000" strike="noStrike" u="none">
              <a:solidFill>
                <a:srgbClr val="102a43"/>
              </a:solidFill>
              <a:effectLst/>
              <a:uFillTx/>
              <a:latin typeface="Aptos"/>
            </a:endParaRPr>
          </a:p>
        </p:txBody>
      </p:sp>
      <p:sp>
        <p:nvSpPr>
          <p:cNvPr id="319" name="Rectangle 14"/>
          <p:cNvSpPr/>
          <p:nvPr/>
        </p:nvSpPr>
        <p:spPr>
          <a:xfrm>
            <a:off x="676800" y="1536120"/>
            <a:ext cx="10834920" cy="2124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0" name="Rectangle 16"/>
          <p:cNvSpPr/>
          <p:nvPr/>
        </p:nvSpPr>
        <p:spPr>
          <a:xfrm>
            <a:off x="0" y="0"/>
            <a:ext cx="12191400" cy="630864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1" name="TextBox 21"/>
          <p:cNvSpPr/>
          <p:nvPr/>
        </p:nvSpPr>
        <p:spPr>
          <a:xfrm>
            <a:off x="777240" y="777240"/>
            <a:ext cx="1051488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600" strike="noStrike" u="none">
                <a:solidFill>
                  <a:srgbClr val="b8dce8"/>
                </a:solidFill>
                <a:effectLst/>
                <a:uFillTx/>
                <a:latin typeface="Aptos"/>
              </a:rPr>
              <a:t>EXEMPLES DE CODE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Rectangle 18"/>
          <p:cNvSpPr/>
          <p:nvPr/>
        </p:nvSpPr>
        <p:spPr>
          <a:xfrm>
            <a:off x="786240" y="1508760"/>
            <a:ext cx="776520" cy="6336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080" bIns="1908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3" name="TextBox 25"/>
          <p:cNvSpPr/>
          <p:nvPr/>
        </p:nvSpPr>
        <p:spPr>
          <a:xfrm>
            <a:off x="777240" y="1856160"/>
            <a:ext cx="10560600" cy="13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41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Lire les données</a:t>
            </a:r>
            <a:endParaRPr b="0" lang="en-US" sz="4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41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sans changer leur sens</a:t>
            </a:r>
            <a:endParaRPr b="0" lang="en-US" sz="4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Box 29"/>
          <p:cNvSpPr/>
          <p:nvPr/>
        </p:nvSpPr>
        <p:spPr>
          <a:xfrm>
            <a:off x="777240" y="4041720"/>
            <a:ext cx="10560600" cy="41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500" strike="noStrike" u="none">
                <a:solidFill>
                  <a:srgbClr val="dce8ee"/>
                </a:solidFill>
                <a:effectLst/>
                <a:uFillTx/>
                <a:latin typeface="Aptos"/>
              </a:rPr>
              <a:t>CSV, types, valeurs manquantes et petites fonctions.</a:t>
            </a:r>
            <a:endParaRPr b="0" lang="en-US" sz="2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Rectangle 20"/>
          <p:cNvSpPr/>
          <p:nvPr/>
        </p:nvSpPr>
        <p:spPr>
          <a:xfrm>
            <a:off x="676800" y="6382440"/>
            <a:ext cx="10843920" cy="15840"/>
          </a:xfrm>
          <a:prstGeom prst="rect">
            <a:avLst/>
          </a:prstGeom>
          <a:solidFill>
            <a:srgbClr val="55708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6" name="TextBox 33"/>
          <p:cNvSpPr/>
          <p:nvPr/>
        </p:nvSpPr>
        <p:spPr>
          <a:xfrm>
            <a:off x="685800" y="6464880"/>
            <a:ext cx="941760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b8dce8"/>
                </a:solidFill>
                <a:effectLst/>
                <a:uFillTx/>
                <a:latin typeface="Aptos"/>
              </a:rPr>
              <a:t>PYTHON  /  OLIVIER DELRIEU  /  25.09.2026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Box 34"/>
          <p:cNvSpPr/>
          <p:nvPr/>
        </p:nvSpPr>
        <p:spPr>
          <a:xfrm>
            <a:off x="10588680" y="6437520"/>
            <a:ext cx="91368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b8dce8"/>
                </a:solidFill>
                <a:effectLst/>
                <a:uFillTx/>
                <a:latin typeface="Aptos"/>
              </a:rPr>
              <a:t>15 / 25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TextBox 3"/>
          <p:cNvSpPr/>
          <p:nvPr/>
        </p:nvSpPr>
        <p:spPr>
          <a:xfrm>
            <a:off x="658440" y="265320"/>
            <a:ext cx="1086228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STRINGIO PERMET DE LIRE CE TEXTE COMME UN FICHIER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Box 9"/>
          <p:cNvSpPr/>
          <p:nvPr/>
        </p:nvSpPr>
        <p:spPr>
          <a:xfrm>
            <a:off x="658440" y="740520"/>
            <a:ext cx="10862280" cy="49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Lire un petit CSV depuis une chaîne de texte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Rectangle 2"/>
          <p:cNvSpPr/>
          <p:nvPr/>
        </p:nvSpPr>
        <p:spPr>
          <a:xfrm>
            <a:off x="676800" y="1536120"/>
            <a:ext cx="10834920" cy="2124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1" name="Rectangle 22"/>
          <p:cNvSpPr/>
          <p:nvPr/>
        </p:nvSpPr>
        <p:spPr>
          <a:xfrm>
            <a:off x="713160" y="1938600"/>
            <a:ext cx="10743480" cy="314496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2" name="TextBox 35"/>
          <p:cNvSpPr/>
          <p:nvPr/>
        </p:nvSpPr>
        <p:spPr>
          <a:xfrm>
            <a:off x="896040" y="2094120"/>
            <a:ext cx="8039880" cy="291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from io import StringIO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import pandas as pd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csv_text = """ticket_id,channel,resolution_minutes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001,phone,30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002,chat,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003,email,NA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004,phone,0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005,email,unknown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"""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Rectangle 24"/>
          <p:cNvSpPr/>
          <p:nvPr/>
        </p:nvSpPr>
        <p:spPr>
          <a:xfrm>
            <a:off x="731520" y="5523120"/>
            <a:ext cx="49680" cy="6026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4" name="TextBox 36"/>
          <p:cNvSpPr/>
          <p:nvPr/>
        </p:nvSpPr>
        <p:spPr>
          <a:xfrm>
            <a:off x="932760" y="5671440"/>
            <a:ext cx="1033200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Prédire le sens de 001, de la case vide, de NA, de 0 et de unknown avant de lire.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Box 37"/>
          <p:cNvSpPr/>
          <p:nvPr/>
        </p:nvSpPr>
        <p:spPr>
          <a:xfrm>
            <a:off x="768240" y="5193720"/>
            <a:ext cx="10697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Fichier : csv_examples/04_CSV_types_missing_values_FR.ipynb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Rectangle 26"/>
          <p:cNvSpPr/>
          <p:nvPr/>
        </p:nvSpPr>
        <p:spPr>
          <a:xfrm>
            <a:off x="676800" y="6382440"/>
            <a:ext cx="10843920" cy="1584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7" name="TextBox 38"/>
          <p:cNvSpPr/>
          <p:nvPr/>
        </p:nvSpPr>
        <p:spPr>
          <a:xfrm>
            <a:off x="685800" y="6464880"/>
            <a:ext cx="941760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25.09.2026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Box 39"/>
          <p:cNvSpPr/>
          <p:nvPr/>
        </p:nvSpPr>
        <p:spPr>
          <a:xfrm>
            <a:off x="10588680" y="6437520"/>
            <a:ext cx="91368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16 / 25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TextBox 40"/>
          <p:cNvSpPr/>
          <p:nvPr/>
        </p:nvSpPr>
        <p:spPr>
          <a:xfrm>
            <a:off x="658440" y="265320"/>
            <a:ext cx="1086228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MÊME CSV · PRÉCISER LES COLONNES DE TEXTE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Box 41"/>
          <p:cNvSpPr/>
          <p:nvPr/>
        </p:nvSpPr>
        <p:spPr>
          <a:xfrm>
            <a:off x="658440" y="740520"/>
            <a:ext cx="10862280" cy="49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Conserver les zéros d’un identifiant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Rectangle 28"/>
          <p:cNvSpPr/>
          <p:nvPr/>
        </p:nvSpPr>
        <p:spPr>
          <a:xfrm>
            <a:off x="676800" y="1536120"/>
            <a:ext cx="10834920" cy="2124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2" name="Rectangle 30"/>
          <p:cNvSpPr/>
          <p:nvPr/>
        </p:nvSpPr>
        <p:spPr>
          <a:xfrm>
            <a:off x="713160" y="1938600"/>
            <a:ext cx="6903000" cy="312660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3" name="TextBox 42"/>
          <p:cNvSpPr/>
          <p:nvPr/>
        </p:nvSpPr>
        <p:spPr>
          <a:xfrm>
            <a:off x="896040" y="2094120"/>
            <a:ext cx="4838760" cy="227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frame = pd.read_csv(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StringIO(csv_text),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dtype={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    "ticket_id": "string",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    "channel": "string",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},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Rectangle 31"/>
          <p:cNvSpPr/>
          <p:nvPr/>
        </p:nvSpPr>
        <p:spPr>
          <a:xfrm>
            <a:off x="7872840" y="1901880"/>
            <a:ext cx="3592800" cy="30898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5" name="Rectangle 32"/>
          <p:cNvSpPr/>
          <p:nvPr/>
        </p:nvSpPr>
        <p:spPr>
          <a:xfrm>
            <a:off x="7872840" y="1901880"/>
            <a:ext cx="54000" cy="308988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6" name="TextBox 43"/>
          <p:cNvSpPr/>
          <p:nvPr/>
        </p:nvSpPr>
        <p:spPr>
          <a:xfrm>
            <a:off x="8065080" y="2066400"/>
            <a:ext cx="3208680" cy="29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PREMIÈRE ÉTAPE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Box 44"/>
          <p:cNvSpPr/>
          <p:nvPr/>
        </p:nvSpPr>
        <p:spPr>
          <a:xfrm>
            <a:off x="8065080" y="2770560"/>
            <a:ext cx="3208680" cy="159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001 reste du texte.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La colonne des durées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contient encore le mot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unknown.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Rectangle 33"/>
          <p:cNvSpPr/>
          <p:nvPr/>
        </p:nvSpPr>
        <p:spPr>
          <a:xfrm>
            <a:off x="731520" y="5523120"/>
            <a:ext cx="49680" cy="6026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9" name="TextBox 45"/>
          <p:cNvSpPr/>
          <p:nvPr/>
        </p:nvSpPr>
        <p:spPr>
          <a:xfrm>
            <a:off x="932760" y="5504760"/>
            <a:ext cx="10332000" cy="6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Un identifiant ne devient pas une quantité à calculer parce qu’il contient des chiffres.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Rectangle 34"/>
          <p:cNvSpPr/>
          <p:nvPr/>
        </p:nvSpPr>
        <p:spPr>
          <a:xfrm>
            <a:off x="676800" y="6382440"/>
            <a:ext cx="10843920" cy="1584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1" name="TextBox 46"/>
          <p:cNvSpPr/>
          <p:nvPr/>
        </p:nvSpPr>
        <p:spPr>
          <a:xfrm>
            <a:off x="685800" y="6464880"/>
            <a:ext cx="941760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25.09.2026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Box 47"/>
          <p:cNvSpPr/>
          <p:nvPr/>
        </p:nvSpPr>
        <p:spPr>
          <a:xfrm>
            <a:off x="10588680" y="6437520"/>
            <a:ext cx="91368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17 / 25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TextBox 48"/>
          <p:cNvSpPr/>
          <p:nvPr/>
        </p:nvSpPr>
        <p:spPr>
          <a:xfrm>
            <a:off x="658440" y="265320"/>
            <a:ext cx="1086228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MÊME CSV · LIRE LES DURÉES COMME DES NOMBRES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Box 49"/>
          <p:cNvSpPr/>
          <p:nvPr/>
        </p:nvSpPr>
        <p:spPr>
          <a:xfrm>
            <a:off x="658440" y="740520"/>
            <a:ext cx="10862280" cy="49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Choisir les textes qui signifient « manquant »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Rectangle 35"/>
          <p:cNvSpPr/>
          <p:nvPr/>
        </p:nvSpPr>
        <p:spPr>
          <a:xfrm>
            <a:off x="676800" y="1536120"/>
            <a:ext cx="10834920" cy="2124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6" name="Rectangle 36"/>
          <p:cNvSpPr/>
          <p:nvPr/>
        </p:nvSpPr>
        <p:spPr>
          <a:xfrm>
            <a:off x="713160" y="1938600"/>
            <a:ext cx="10743480" cy="314496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7" name="TextBox 50"/>
          <p:cNvSpPr/>
          <p:nvPr/>
        </p:nvSpPr>
        <p:spPr>
          <a:xfrm>
            <a:off x="896040" y="2094120"/>
            <a:ext cx="8679960" cy="291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typed = pd.read_csv(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StringIO(csv_text),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dtype={"ticket_id": "string", "channel": "string",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       "resolution_minutes": "Float64"},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keep_default_na=False,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na_values={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    "resolution_minutes": ["", "NA", "unknown"]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},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Rectangle 37"/>
          <p:cNvSpPr/>
          <p:nvPr/>
        </p:nvSpPr>
        <p:spPr>
          <a:xfrm>
            <a:off x="731520" y="5523120"/>
            <a:ext cx="49680" cy="6026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9" name="TextBox 51"/>
          <p:cNvSpPr/>
          <p:nvPr/>
        </p:nvSpPr>
        <p:spPr>
          <a:xfrm>
            <a:off x="932760" y="5671440"/>
            <a:ext cx="1033200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Float64 accepte les valeurs manquantes ; le zéro reste une valeur connue.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Box 52"/>
          <p:cNvSpPr/>
          <p:nvPr/>
        </p:nvSpPr>
        <p:spPr>
          <a:xfrm>
            <a:off x="768240" y="5193720"/>
            <a:ext cx="10697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Fichier : csv_examples/04_CSV_types_missing_values_FR.ipynb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Rectangle 38"/>
          <p:cNvSpPr/>
          <p:nvPr/>
        </p:nvSpPr>
        <p:spPr>
          <a:xfrm>
            <a:off x="676800" y="6382440"/>
            <a:ext cx="10843920" cy="1584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2" name="TextBox 53"/>
          <p:cNvSpPr/>
          <p:nvPr/>
        </p:nvSpPr>
        <p:spPr>
          <a:xfrm>
            <a:off x="685800" y="6464880"/>
            <a:ext cx="941760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25.09.2026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Box 54"/>
          <p:cNvSpPr/>
          <p:nvPr/>
        </p:nvSpPr>
        <p:spPr>
          <a:xfrm>
            <a:off x="10588680" y="6437520"/>
            <a:ext cx="91368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18 / 25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TextBox 55"/>
          <p:cNvSpPr/>
          <p:nvPr/>
        </p:nvSpPr>
        <p:spPr>
          <a:xfrm>
            <a:off x="658440" y="265320"/>
            <a:ext cx="1086228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QUATRE QUESTIONS DIFFÉRENTES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Box 56"/>
          <p:cNvSpPr/>
          <p:nvPr/>
        </p:nvSpPr>
        <p:spPr>
          <a:xfrm>
            <a:off x="658440" y="740520"/>
            <a:ext cx="10862280" cy="49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Le type de l’objet et le type de la colonne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Rectangle 39"/>
          <p:cNvSpPr/>
          <p:nvPr/>
        </p:nvSpPr>
        <p:spPr>
          <a:xfrm>
            <a:off x="676800" y="1536120"/>
            <a:ext cx="10834920" cy="2124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7" name="Rectangle 40"/>
          <p:cNvSpPr/>
          <p:nvPr/>
        </p:nvSpPr>
        <p:spPr>
          <a:xfrm>
            <a:off x="722520" y="1856160"/>
            <a:ext cx="5874480" cy="62208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8" name="TextBox 57"/>
          <p:cNvSpPr/>
          <p:nvPr/>
        </p:nvSpPr>
        <p:spPr>
          <a:xfrm>
            <a:off x="850320" y="2030400"/>
            <a:ext cx="564120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EXPRESSION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Rectangle 41"/>
          <p:cNvSpPr/>
          <p:nvPr/>
        </p:nvSpPr>
        <p:spPr>
          <a:xfrm>
            <a:off x="6620400" y="1856160"/>
            <a:ext cx="4941720" cy="62208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0" name="TextBox 58"/>
          <p:cNvSpPr/>
          <p:nvPr/>
        </p:nvSpPr>
        <p:spPr>
          <a:xfrm>
            <a:off x="6748200" y="2030400"/>
            <a:ext cx="470844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INFORMATION OBTENUE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Rectangle 42"/>
          <p:cNvSpPr/>
          <p:nvPr/>
        </p:nvSpPr>
        <p:spPr>
          <a:xfrm>
            <a:off x="722520" y="2501640"/>
            <a:ext cx="5874480" cy="6220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2" name="TextBox 59"/>
          <p:cNvSpPr/>
          <p:nvPr/>
        </p:nvSpPr>
        <p:spPr>
          <a:xfrm>
            <a:off x="850320" y="2660760"/>
            <a:ext cx="564120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9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type(typed)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Rectangle 43"/>
          <p:cNvSpPr/>
          <p:nvPr/>
        </p:nvSpPr>
        <p:spPr>
          <a:xfrm>
            <a:off x="6620400" y="2501640"/>
            <a:ext cx="4941720" cy="6220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4" name="TextBox 60"/>
          <p:cNvSpPr/>
          <p:nvPr/>
        </p:nvSpPr>
        <p:spPr>
          <a:xfrm>
            <a:off x="6748200" y="2660760"/>
            <a:ext cx="470844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9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DataFrame : une table pandas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Rectangle 44"/>
          <p:cNvSpPr/>
          <p:nvPr/>
        </p:nvSpPr>
        <p:spPr>
          <a:xfrm>
            <a:off x="722520" y="3147480"/>
            <a:ext cx="5874480" cy="6220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6" name="TextBox 61"/>
          <p:cNvSpPr/>
          <p:nvPr/>
        </p:nvSpPr>
        <p:spPr>
          <a:xfrm>
            <a:off x="850320" y="3306240"/>
            <a:ext cx="564120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9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type(typed["resolution_minutes"])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Rectangle 45"/>
          <p:cNvSpPr/>
          <p:nvPr/>
        </p:nvSpPr>
        <p:spPr>
          <a:xfrm>
            <a:off x="6620400" y="3147480"/>
            <a:ext cx="4941720" cy="6220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8" name="TextBox 62"/>
          <p:cNvSpPr/>
          <p:nvPr/>
        </p:nvSpPr>
        <p:spPr>
          <a:xfrm>
            <a:off x="6748200" y="3306240"/>
            <a:ext cx="470844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9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Series : une colonne pandas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Rectangle 46"/>
          <p:cNvSpPr/>
          <p:nvPr/>
        </p:nvSpPr>
        <p:spPr>
          <a:xfrm>
            <a:off x="722520" y="3792960"/>
            <a:ext cx="5874480" cy="6220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0" name="TextBox 63"/>
          <p:cNvSpPr/>
          <p:nvPr/>
        </p:nvSpPr>
        <p:spPr>
          <a:xfrm>
            <a:off x="850320" y="3951720"/>
            <a:ext cx="564120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9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typed["resolution_minutes"].dtype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Rectangle 47"/>
          <p:cNvSpPr/>
          <p:nvPr/>
        </p:nvSpPr>
        <p:spPr>
          <a:xfrm>
            <a:off x="6620400" y="3792960"/>
            <a:ext cx="4941720" cy="6220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2" name="TextBox 64"/>
          <p:cNvSpPr/>
          <p:nvPr/>
        </p:nvSpPr>
        <p:spPr>
          <a:xfrm>
            <a:off x="6748200" y="3807720"/>
            <a:ext cx="4708440" cy="61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9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Float64 : le type des valeurs de la colonne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Rectangle 48"/>
          <p:cNvSpPr/>
          <p:nvPr/>
        </p:nvSpPr>
        <p:spPr>
          <a:xfrm>
            <a:off x="722520" y="4438440"/>
            <a:ext cx="5874480" cy="6220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4" name="TextBox 65"/>
          <p:cNvSpPr/>
          <p:nvPr/>
        </p:nvSpPr>
        <p:spPr>
          <a:xfrm>
            <a:off x="850320" y="4597560"/>
            <a:ext cx="564120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9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typed.dtypes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Rectangle 49"/>
          <p:cNvSpPr/>
          <p:nvPr/>
        </p:nvSpPr>
        <p:spPr>
          <a:xfrm>
            <a:off x="6620400" y="4438440"/>
            <a:ext cx="4941720" cy="6220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6" name="TextBox 66"/>
          <p:cNvSpPr/>
          <p:nvPr/>
        </p:nvSpPr>
        <p:spPr>
          <a:xfrm>
            <a:off x="6748200" y="4597560"/>
            <a:ext cx="470844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9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Le type de chaque colonne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Rectangle 50"/>
          <p:cNvSpPr/>
          <p:nvPr/>
        </p:nvSpPr>
        <p:spPr>
          <a:xfrm>
            <a:off x="731520" y="5523120"/>
            <a:ext cx="49680" cy="6026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8" name="TextBox 67"/>
          <p:cNvSpPr/>
          <p:nvPr/>
        </p:nvSpPr>
        <p:spPr>
          <a:xfrm>
            <a:off x="932760" y="5663880"/>
            <a:ext cx="10332000" cy="35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Une Series est un objet ; dtype décrit les valeurs qu’elle contient.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Rectangle 51"/>
          <p:cNvSpPr/>
          <p:nvPr/>
        </p:nvSpPr>
        <p:spPr>
          <a:xfrm>
            <a:off x="676800" y="6382440"/>
            <a:ext cx="10843920" cy="1584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0" name="TextBox 68"/>
          <p:cNvSpPr/>
          <p:nvPr/>
        </p:nvSpPr>
        <p:spPr>
          <a:xfrm>
            <a:off x="685800" y="6464880"/>
            <a:ext cx="941760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25.09.2026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Box 69"/>
          <p:cNvSpPr/>
          <p:nvPr/>
        </p:nvSpPr>
        <p:spPr>
          <a:xfrm>
            <a:off x="10588680" y="6437520"/>
            <a:ext cx="91368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19 / 25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TextBox 70"/>
          <p:cNvSpPr/>
          <p:nvPr/>
        </p:nvSpPr>
        <p:spPr>
          <a:xfrm>
            <a:off x="658440" y="265320"/>
            <a:ext cx="1086228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EXEMPLE NUMÉRIQUE À DISCUTER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Box 71"/>
          <p:cNvSpPr/>
          <p:nvPr/>
        </p:nvSpPr>
        <p:spPr>
          <a:xfrm>
            <a:off x="658440" y="740520"/>
            <a:ext cx="10862280" cy="49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Une valeur manquante n’est pas un zéro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Rectangle 52"/>
          <p:cNvSpPr/>
          <p:nvPr/>
        </p:nvSpPr>
        <p:spPr>
          <a:xfrm>
            <a:off x="676800" y="1536120"/>
            <a:ext cx="10834920" cy="2124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5" name="Rectangle 53"/>
          <p:cNvSpPr/>
          <p:nvPr/>
        </p:nvSpPr>
        <p:spPr>
          <a:xfrm>
            <a:off x="713160" y="1938600"/>
            <a:ext cx="10743480" cy="171828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6" name="TextBox 72"/>
          <p:cNvSpPr/>
          <p:nvPr/>
        </p:nvSpPr>
        <p:spPr>
          <a:xfrm>
            <a:off x="896040" y="2094120"/>
            <a:ext cx="8817120" cy="143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3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values = pd.Series([30, None, 0], dtype="Float64")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3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values.count()   # 2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3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values.mean()    # 15.0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Box 73"/>
          <p:cNvSpPr/>
          <p:nvPr/>
        </p:nvSpPr>
        <p:spPr>
          <a:xfrm>
            <a:off x="795600" y="3913560"/>
            <a:ext cx="5302800" cy="29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MOYENNE DES VALEURS CONNUES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Box 74"/>
          <p:cNvSpPr/>
          <p:nvPr/>
        </p:nvSpPr>
        <p:spPr>
          <a:xfrm>
            <a:off x="795600" y="4416480"/>
            <a:ext cx="5302800" cy="81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(30 + 0) / 2 = 15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La case inconnue n’est pas comptée.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Box 75"/>
          <p:cNvSpPr/>
          <p:nvPr/>
        </p:nvSpPr>
        <p:spPr>
          <a:xfrm>
            <a:off x="6291000" y="3913560"/>
            <a:ext cx="5028480" cy="29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b66d3a"/>
                </a:solidFill>
                <a:effectLst/>
                <a:uFillTx/>
                <a:latin typeface="Aptos"/>
              </a:rPr>
              <a:t>SI ON LA REMPLACE PAR 0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Box 76"/>
          <p:cNvSpPr/>
          <p:nvPr/>
        </p:nvSpPr>
        <p:spPr>
          <a:xfrm>
            <a:off x="6291000" y="4416480"/>
            <a:ext cx="5028480" cy="81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(30 + 0 + 0) / 3 = 10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On fait une autre hypothèse.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Rectangle 54"/>
          <p:cNvSpPr/>
          <p:nvPr/>
        </p:nvSpPr>
        <p:spPr>
          <a:xfrm>
            <a:off x="731520" y="5523120"/>
            <a:ext cx="49680" cy="6026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2" name="TextBox 77"/>
          <p:cNvSpPr/>
          <p:nvPr/>
        </p:nvSpPr>
        <p:spPr>
          <a:xfrm>
            <a:off x="932760" y="5663880"/>
            <a:ext cx="10332000" cy="35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Avant de remplir une case vide, expliquer ce que la valeur ajoutée signifierait.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Rectangle 55"/>
          <p:cNvSpPr/>
          <p:nvPr/>
        </p:nvSpPr>
        <p:spPr>
          <a:xfrm>
            <a:off x="676800" y="6382440"/>
            <a:ext cx="10843920" cy="1584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4" name="TextBox 78"/>
          <p:cNvSpPr/>
          <p:nvPr/>
        </p:nvSpPr>
        <p:spPr>
          <a:xfrm>
            <a:off x="685800" y="6464880"/>
            <a:ext cx="941760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25.09.2026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Box 79"/>
          <p:cNvSpPr/>
          <p:nvPr/>
        </p:nvSpPr>
        <p:spPr>
          <a:xfrm>
            <a:off x="10588680" y="6437520"/>
            <a:ext cx="91368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20 / 25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TextBox 80"/>
          <p:cNvSpPr/>
          <p:nvPr/>
        </p:nvSpPr>
        <p:spPr>
          <a:xfrm>
            <a:off x="658440" y="265320"/>
            <a:ext cx="1086228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LA REPRÉSENTATION DÉPEND DU TYPE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Box 81"/>
          <p:cNvSpPr/>
          <p:nvPr/>
        </p:nvSpPr>
        <p:spPr>
          <a:xfrm>
            <a:off x="658440" y="740520"/>
            <a:ext cx="10862280" cy="49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Reconnaître les valeurs manquantes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Rectangle 56"/>
          <p:cNvSpPr/>
          <p:nvPr/>
        </p:nvSpPr>
        <p:spPr>
          <a:xfrm>
            <a:off x="676800" y="1536120"/>
            <a:ext cx="10834920" cy="2124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9" name="Rectangle 57"/>
          <p:cNvSpPr/>
          <p:nvPr/>
        </p:nvSpPr>
        <p:spPr>
          <a:xfrm>
            <a:off x="722520" y="1856160"/>
            <a:ext cx="3039840" cy="76284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0" name="TextBox 82"/>
          <p:cNvSpPr/>
          <p:nvPr/>
        </p:nvSpPr>
        <p:spPr>
          <a:xfrm>
            <a:off x="850320" y="2100600"/>
            <a:ext cx="280656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MARQUEUR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Rectangle 58"/>
          <p:cNvSpPr/>
          <p:nvPr/>
        </p:nvSpPr>
        <p:spPr>
          <a:xfrm>
            <a:off x="3785760" y="1856160"/>
            <a:ext cx="7776360" cy="76284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2" name="TextBox 83"/>
          <p:cNvSpPr/>
          <p:nvPr/>
        </p:nvSpPr>
        <p:spPr>
          <a:xfrm>
            <a:off x="3913560" y="2100600"/>
            <a:ext cx="754308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EXEMPLE D’USAGE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Rectangle 59"/>
          <p:cNvSpPr/>
          <p:nvPr/>
        </p:nvSpPr>
        <p:spPr>
          <a:xfrm>
            <a:off x="722520" y="2642760"/>
            <a:ext cx="3039840" cy="7628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4" name="TextBox 84"/>
          <p:cNvSpPr/>
          <p:nvPr/>
        </p:nvSpPr>
        <p:spPr>
          <a:xfrm>
            <a:off x="850320" y="2864160"/>
            <a:ext cx="280656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NaN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Rectangle 60"/>
          <p:cNvSpPr/>
          <p:nvPr/>
        </p:nvSpPr>
        <p:spPr>
          <a:xfrm>
            <a:off x="3785760" y="2642760"/>
            <a:ext cx="7776360" cy="7628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6" name="TextBox 85"/>
          <p:cNvSpPr/>
          <p:nvPr/>
        </p:nvSpPr>
        <p:spPr>
          <a:xfrm>
            <a:off x="3913560" y="2864160"/>
            <a:ext cx="754308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Valeur manquante dans un tableau float64 classique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Rectangle 61"/>
          <p:cNvSpPr/>
          <p:nvPr/>
        </p:nvSpPr>
        <p:spPr>
          <a:xfrm>
            <a:off x="722520" y="3429000"/>
            <a:ext cx="3039840" cy="7628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8" name="TextBox 86"/>
          <p:cNvSpPr/>
          <p:nvPr/>
        </p:nvSpPr>
        <p:spPr>
          <a:xfrm>
            <a:off x="850320" y="3650400"/>
            <a:ext cx="280656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pd.NA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Rectangle 62"/>
          <p:cNvSpPr/>
          <p:nvPr/>
        </p:nvSpPr>
        <p:spPr>
          <a:xfrm>
            <a:off x="3785760" y="3429000"/>
            <a:ext cx="7776360" cy="7628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0" name="TextBox 87"/>
          <p:cNvSpPr/>
          <p:nvPr/>
        </p:nvSpPr>
        <p:spPr>
          <a:xfrm>
            <a:off x="3913560" y="3650400"/>
            <a:ext cx="754308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Valeur manquante avec un type pandas prévu pour l’accepter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Rectangle 63"/>
          <p:cNvSpPr/>
          <p:nvPr/>
        </p:nvSpPr>
        <p:spPr>
          <a:xfrm>
            <a:off x="722520" y="4215240"/>
            <a:ext cx="3039840" cy="7628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2" name="TextBox 88"/>
          <p:cNvSpPr/>
          <p:nvPr/>
        </p:nvSpPr>
        <p:spPr>
          <a:xfrm>
            <a:off x="850320" y="4437000"/>
            <a:ext cx="280656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NaT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Rectangle 64"/>
          <p:cNvSpPr/>
          <p:nvPr/>
        </p:nvSpPr>
        <p:spPr>
          <a:xfrm>
            <a:off x="3785760" y="4215240"/>
            <a:ext cx="7776360" cy="7628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4" name="TextBox 89"/>
          <p:cNvSpPr/>
          <p:nvPr/>
        </p:nvSpPr>
        <p:spPr>
          <a:xfrm>
            <a:off x="3913560" y="4437000"/>
            <a:ext cx="754308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Date ou durée manquante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Rectangle 65"/>
          <p:cNvSpPr/>
          <p:nvPr/>
        </p:nvSpPr>
        <p:spPr>
          <a:xfrm>
            <a:off x="731520" y="5523120"/>
            <a:ext cx="49680" cy="6026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6" name="TextBox 90"/>
          <p:cNvSpPr/>
          <p:nvPr/>
        </p:nvSpPr>
        <p:spPr>
          <a:xfrm>
            <a:off x="932760" y="5663880"/>
            <a:ext cx="10332000" cy="35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Utiliser isna() pour les repérer ; préciser le traitement choisi avant un calcul.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Rectangle 66"/>
          <p:cNvSpPr/>
          <p:nvPr/>
        </p:nvSpPr>
        <p:spPr>
          <a:xfrm>
            <a:off x="676800" y="6382440"/>
            <a:ext cx="10843920" cy="1584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8" name="TextBox 91"/>
          <p:cNvSpPr/>
          <p:nvPr/>
        </p:nvSpPr>
        <p:spPr>
          <a:xfrm>
            <a:off x="685800" y="6464880"/>
            <a:ext cx="941760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25.09.2026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Box 92"/>
          <p:cNvSpPr/>
          <p:nvPr/>
        </p:nvSpPr>
        <p:spPr>
          <a:xfrm>
            <a:off x="10588680" y="6437520"/>
            <a:ext cx="91368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21 / 25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TextBox 93"/>
          <p:cNvSpPr/>
          <p:nvPr/>
        </p:nvSpPr>
        <p:spPr>
          <a:xfrm>
            <a:off x="658440" y="265320"/>
            <a:ext cx="1086228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POSITIONS ET ÉTIQUETTES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Box 94"/>
          <p:cNvSpPr/>
          <p:nvPr/>
        </p:nvSpPr>
        <p:spPr>
          <a:xfrm>
            <a:off x="658440" y="740520"/>
            <a:ext cx="10862280" cy="49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NumPy et pandas ne repèrent pas les valeurs pareil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Rectangle 67"/>
          <p:cNvSpPr/>
          <p:nvPr/>
        </p:nvSpPr>
        <p:spPr>
          <a:xfrm>
            <a:off x="676800" y="1536120"/>
            <a:ext cx="10834920" cy="2124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3" name="Rectangle 68"/>
          <p:cNvSpPr/>
          <p:nvPr/>
        </p:nvSpPr>
        <p:spPr>
          <a:xfrm>
            <a:off x="713160" y="1901880"/>
            <a:ext cx="5248080" cy="30898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4" name="Rectangle 69"/>
          <p:cNvSpPr/>
          <p:nvPr/>
        </p:nvSpPr>
        <p:spPr>
          <a:xfrm>
            <a:off x="713160" y="1901880"/>
            <a:ext cx="54000" cy="308988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5" name="TextBox 95"/>
          <p:cNvSpPr/>
          <p:nvPr/>
        </p:nvSpPr>
        <p:spPr>
          <a:xfrm>
            <a:off x="905400" y="2066400"/>
            <a:ext cx="4863960" cy="29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NUMPY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Box 96"/>
          <p:cNvSpPr/>
          <p:nvPr/>
        </p:nvSpPr>
        <p:spPr>
          <a:xfrm>
            <a:off x="905400" y="2770560"/>
            <a:ext cx="4863960" cy="160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Un tableau organisé par positions.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a[0] désigne ici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la première valeur.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Rectangle 70"/>
          <p:cNvSpPr/>
          <p:nvPr/>
        </p:nvSpPr>
        <p:spPr>
          <a:xfrm>
            <a:off x="6217920" y="1901880"/>
            <a:ext cx="5248080" cy="30898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8" name="Rectangle 71"/>
          <p:cNvSpPr/>
          <p:nvPr/>
        </p:nvSpPr>
        <p:spPr>
          <a:xfrm>
            <a:off x="6217920" y="1901880"/>
            <a:ext cx="54000" cy="308988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9" name="TextBox 97"/>
          <p:cNvSpPr/>
          <p:nvPr/>
        </p:nvSpPr>
        <p:spPr>
          <a:xfrm>
            <a:off x="6409800" y="2066400"/>
            <a:ext cx="4863960" cy="29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b66d3a"/>
                </a:solidFill>
                <a:effectLst/>
                <a:uFillTx/>
                <a:latin typeface="Aptos"/>
              </a:rPr>
              <a:t>PANDAS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Box 98"/>
          <p:cNvSpPr/>
          <p:nvPr/>
        </p:nvSpPr>
        <p:spPr>
          <a:xfrm>
            <a:off x="6409800" y="2770560"/>
            <a:ext cx="4863960" cy="165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Une table ou une colonne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avec un index et des noms.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Utiliser iloc pour les positions,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loc pour les étiquettes.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Rectangle 72"/>
          <p:cNvSpPr/>
          <p:nvPr/>
        </p:nvSpPr>
        <p:spPr>
          <a:xfrm>
            <a:off x="731520" y="5523120"/>
            <a:ext cx="49680" cy="6026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2" name="TextBox 99"/>
          <p:cNvSpPr/>
          <p:nvPr/>
        </p:nvSpPr>
        <p:spPr>
          <a:xfrm>
            <a:off x="932760" y="5663880"/>
            <a:ext cx="10332000" cy="35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Lors d’une opération entre Series, pandas peut aligner les valeurs selon l’index.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Rectangle 73"/>
          <p:cNvSpPr/>
          <p:nvPr/>
        </p:nvSpPr>
        <p:spPr>
          <a:xfrm>
            <a:off x="676800" y="6382440"/>
            <a:ext cx="10843920" cy="1584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4" name="TextBox 100"/>
          <p:cNvSpPr/>
          <p:nvPr/>
        </p:nvSpPr>
        <p:spPr>
          <a:xfrm>
            <a:off x="685800" y="6464880"/>
            <a:ext cx="941760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25.09.2026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Box 101"/>
          <p:cNvSpPr/>
          <p:nvPr/>
        </p:nvSpPr>
        <p:spPr>
          <a:xfrm>
            <a:off x="10588680" y="6437520"/>
            <a:ext cx="91368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22 / 25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TextBox 102"/>
          <p:cNvSpPr/>
          <p:nvPr/>
        </p:nvSpPr>
        <p:spPr>
          <a:xfrm>
            <a:off x="658440" y="265320"/>
            <a:ext cx="1086228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UN PARAMÈTRE, UNE EXPRESSION, UNE VALEUR RENVOYÉE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Box 103"/>
          <p:cNvSpPr/>
          <p:nvPr/>
        </p:nvSpPr>
        <p:spPr>
          <a:xfrm>
            <a:off x="658440" y="740520"/>
            <a:ext cx="10862280" cy="49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lambda écrit une petite fonction sans la nommer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Rectangle 74"/>
          <p:cNvSpPr/>
          <p:nvPr/>
        </p:nvSpPr>
        <p:spPr>
          <a:xfrm>
            <a:off x="676800" y="1536120"/>
            <a:ext cx="10834920" cy="2124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9" name="Rectangle 75"/>
          <p:cNvSpPr/>
          <p:nvPr/>
        </p:nvSpPr>
        <p:spPr>
          <a:xfrm>
            <a:off x="713160" y="1938600"/>
            <a:ext cx="6903000" cy="312660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0" name="TextBox 104"/>
          <p:cNvSpPr/>
          <p:nvPr/>
        </p:nvSpPr>
        <p:spPr>
          <a:xfrm>
            <a:off x="896040" y="2094120"/>
            <a:ext cx="4678920" cy="195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minutes = [30, 60, 90]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hours = list(map(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lambda value: value / 60,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minutes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))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# [0.5, 1.0, 1.5]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Rectangle 76"/>
          <p:cNvSpPr/>
          <p:nvPr/>
        </p:nvSpPr>
        <p:spPr>
          <a:xfrm>
            <a:off x="7872840" y="1901880"/>
            <a:ext cx="3592800" cy="30898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2" name="Rectangle 77"/>
          <p:cNvSpPr/>
          <p:nvPr/>
        </p:nvSpPr>
        <p:spPr>
          <a:xfrm>
            <a:off x="7872840" y="1901880"/>
            <a:ext cx="54000" cy="308988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3" name="TextBox 105"/>
          <p:cNvSpPr/>
          <p:nvPr/>
        </p:nvSpPr>
        <p:spPr>
          <a:xfrm>
            <a:off x="8065080" y="2066400"/>
            <a:ext cx="3208680" cy="29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LIRE L’EXPRESSION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Box 106"/>
          <p:cNvSpPr/>
          <p:nvPr/>
        </p:nvSpPr>
        <p:spPr>
          <a:xfrm>
            <a:off x="8065080" y="2770560"/>
            <a:ext cx="3208680" cy="194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value est le paramètre.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value / 60 est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la valeur renvoyée.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map l’applique à chacun.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Rectangle 78"/>
          <p:cNvSpPr/>
          <p:nvPr/>
        </p:nvSpPr>
        <p:spPr>
          <a:xfrm>
            <a:off x="731520" y="5523120"/>
            <a:ext cx="49680" cy="6026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6" name="TextBox 107"/>
          <p:cNvSpPr/>
          <p:nvPr/>
        </p:nvSpPr>
        <p:spPr>
          <a:xfrm>
            <a:off x="932760" y="5663880"/>
            <a:ext cx="10332000" cy="35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Choisir def si la fonction mérite un nom, plusieurs étapes ou des tests dédiés.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Rectangle 79"/>
          <p:cNvSpPr/>
          <p:nvPr/>
        </p:nvSpPr>
        <p:spPr>
          <a:xfrm>
            <a:off x="676800" y="6382440"/>
            <a:ext cx="10843920" cy="1584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8" name="TextBox 108"/>
          <p:cNvSpPr/>
          <p:nvPr/>
        </p:nvSpPr>
        <p:spPr>
          <a:xfrm>
            <a:off x="685800" y="6464880"/>
            <a:ext cx="941760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25.09.2026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Box 109"/>
          <p:cNvSpPr/>
          <p:nvPr/>
        </p:nvSpPr>
        <p:spPr>
          <a:xfrm>
            <a:off x="10588680" y="6437520"/>
            <a:ext cx="91368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23 / 25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TextBox 110"/>
          <p:cNvSpPr/>
          <p:nvPr/>
        </p:nvSpPr>
        <p:spPr>
          <a:xfrm>
            <a:off x="658440" y="265320"/>
            <a:ext cx="1086228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TRIER UNE LISTE SANS MODIFIER LES TEXTES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Box 111"/>
          <p:cNvSpPr/>
          <p:nvPr/>
        </p:nvSpPr>
        <p:spPr>
          <a:xfrm>
            <a:off x="658440" y="740520"/>
            <a:ext cx="10862280" cy="49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Avec key, lambda indique quoi comparer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Rectangle 80"/>
          <p:cNvSpPr/>
          <p:nvPr/>
        </p:nvSpPr>
        <p:spPr>
          <a:xfrm>
            <a:off x="676800" y="1536120"/>
            <a:ext cx="10834920" cy="2124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3" name="Rectangle 81"/>
          <p:cNvSpPr/>
          <p:nvPr/>
        </p:nvSpPr>
        <p:spPr>
          <a:xfrm>
            <a:off x="713160" y="1938600"/>
            <a:ext cx="6903000" cy="312660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4" name="TextBox 112"/>
          <p:cNvSpPr/>
          <p:nvPr/>
        </p:nvSpPr>
        <p:spPr>
          <a:xfrm>
            <a:off x="896040" y="2094120"/>
            <a:ext cx="5959080" cy="195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names = ["Alice", "Bo", "Claire"]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ordered = sorted(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names, key=lambda name: len(name)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# ["Bo", "Alice", "Claire"]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Rectangle 82"/>
          <p:cNvSpPr/>
          <p:nvPr/>
        </p:nvSpPr>
        <p:spPr>
          <a:xfrm>
            <a:off x="7872840" y="1901880"/>
            <a:ext cx="3592800" cy="30898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6" name="Rectangle 83"/>
          <p:cNvSpPr/>
          <p:nvPr/>
        </p:nvSpPr>
        <p:spPr>
          <a:xfrm>
            <a:off x="7872840" y="1901880"/>
            <a:ext cx="54000" cy="308988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7" name="TextBox 113"/>
          <p:cNvSpPr/>
          <p:nvPr/>
        </p:nvSpPr>
        <p:spPr>
          <a:xfrm>
            <a:off x="8065080" y="2066400"/>
            <a:ext cx="3208680" cy="29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À DISTINGUER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Box 114"/>
          <p:cNvSpPr/>
          <p:nvPr/>
        </p:nvSpPr>
        <p:spPr>
          <a:xfrm>
            <a:off x="8065080" y="2770560"/>
            <a:ext cx="3208680" cy="189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Comparer les longueurs.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Garder les noms.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names reste inchangée.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Rectangle 84"/>
          <p:cNvSpPr/>
          <p:nvPr/>
        </p:nvSpPr>
        <p:spPr>
          <a:xfrm>
            <a:off x="731520" y="5523120"/>
            <a:ext cx="49680" cy="6026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0" name="TextBox 115"/>
          <p:cNvSpPr/>
          <p:nvPr/>
        </p:nvSpPr>
        <p:spPr>
          <a:xfrm>
            <a:off x="932760" y="5663880"/>
            <a:ext cx="10332000" cy="35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Ici, lambda définit le critère du tri ; elle ne transforme pas les noms en nombres.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Rectangle 85"/>
          <p:cNvSpPr/>
          <p:nvPr/>
        </p:nvSpPr>
        <p:spPr>
          <a:xfrm>
            <a:off x="676800" y="6382440"/>
            <a:ext cx="10843920" cy="1584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2" name="TextBox 116"/>
          <p:cNvSpPr/>
          <p:nvPr/>
        </p:nvSpPr>
        <p:spPr>
          <a:xfrm>
            <a:off x="685800" y="6464880"/>
            <a:ext cx="941760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25.09.2026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Box 117"/>
          <p:cNvSpPr/>
          <p:nvPr/>
        </p:nvSpPr>
        <p:spPr>
          <a:xfrm>
            <a:off x="10588680" y="6437520"/>
            <a:ext cx="91368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24 / 25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TextBox 118"/>
          <p:cNvSpPr/>
          <p:nvPr/>
        </p:nvSpPr>
        <p:spPr>
          <a:xfrm>
            <a:off x="658440" y="265320"/>
            <a:ext cx="1086228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FICHE DE RÉFÉRENCE FOURNIE AVEC LE COURS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Box 119"/>
          <p:cNvSpPr/>
          <p:nvPr/>
        </p:nvSpPr>
        <p:spPr>
          <a:xfrm>
            <a:off x="658440" y="740520"/>
            <a:ext cx="10862280" cy="49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Retrouver une fonction utile sans tout mémoriser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Rectangle 86"/>
          <p:cNvSpPr/>
          <p:nvPr/>
        </p:nvSpPr>
        <p:spPr>
          <a:xfrm>
            <a:off x="676800" y="1536120"/>
            <a:ext cx="10834920" cy="2124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7" name="Rectangle 87"/>
          <p:cNvSpPr/>
          <p:nvPr/>
        </p:nvSpPr>
        <p:spPr>
          <a:xfrm>
            <a:off x="722520" y="1856160"/>
            <a:ext cx="3999960" cy="62208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8" name="TextBox 120"/>
          <p:cNvSpPr/>
          <p:nvPr/>
        </p:nvSpPr>
        <p:spPr>
          <a:xfrm>
            <a:off x="850320" y="2030400"/>
            <a:ext cx="376668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BESOIN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Rectangle 88"/>
          <p:cNvSpPr/>
          <p:nvPr/>
        </p:nvSpPr>
        <p:spPr>
          <a:xfrm>
            <a:off x="4745880" y="1856160"/>
            <a:ext cx="6816240" cy="62208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0" name="TextBox 121"/>
          <p:cNvSpPr/>
          <p:nvPr/>
        </p:nvSpPr>
        <p:spPr>
          <a:xfrm>
            <a:off x="4873680" y="2030400"/>
            <a:ext cx="658296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EXEMPLES À RETROUVER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Rectangle 89"/>
          <p:cNvSpPr/>
          <p:nvPr/>
        </p:nvSpPr>
        <p:spPr>
          <a:xfrm>
            <a:off x="722520" y="2501640"/>
            <a:ext cx="3999960" cy="6220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2" name="TextBox 122"/>
          <p:cNvSpPr/>
          <p:nvPr/>
        </p:nvSpPr>
        <p:spPr>
          <a:xfrm>
            <a:off x="850320" y="2652840"/>
            <a:ext cx="376668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Lire et contrôler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Rectangle 90"/>
          <p:cNvSpPr/>
          <p:nvPr/>
        </p:nvSpPr>
        <p:spPr>
          <a:xfrm>
            <a:off x="4745880" y="2501640"/>
            <a:ext cx="6816240" cy="6220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4" name="TextBox 123"/>
          <p:cNvSpPr/>
          <p:nvPr/>
        </p:nvSpPr>
        <p:spPr>
          <a:xfrm>
            <a:off x="4873680" y="2652840"/>
            <a:ext cx="658296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read_csv, dtypes, isna, count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Rectangle 91"/>
          <p:cNvSpPr/>
          <p:nvPr/>
        </p:nvSpPr>
        <p:spPr>
          <a:xfrm>
            <a:off x="722520" y="3147480"/>
            <a:ext cx="3999960" cy="6220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6" name="TextBox 124"/>
          <p:cNvSpPr/>
          <p:nvPr/>
        </p:nvSpPr>
        <p:spPr>
          <a:xfrm>
            <a:off x="850320" y="3298320"/>
            <a:ext cx="376668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Simuler et réunir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Rectangle 92"/>
          <p:cNvSpPr/>
          <p:nvPr/>
        </p:nvSpPr>
        <p:spPr>
          <a:xfrm>
            <a:off x="4745880" y="3147480"/>
            <a:ext cx="6816240" cy="6220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8" name="TextBox 125"/>
          <p:cNvSpPr/>
          <p:nvPr/>
        </p:nvSpPr>
        <p:spPr>
          <a:xfrm>
            <a:off x="4873680" y="3298320"/>
            <a:ext cx="658296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default_rng, normal, concatenate, DataFrame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Rectangle 93"/>
          <p:cNvSpPr/>
          <p:nvPr/>
        </p:nvSpPr>
        <p:spPr>
          <a:xfrm>
            <a:off x="722520" y="3792960"/>
            <a:ext cx="3999960" cy="6220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0" name="TextBox 126"/>
          <p:cNvSpPr/>
          <p:nvPr/>
        </p:nvSpPr>
        <p:spPr>
          <a:xfrm>
            <a:off x="850320" y="3943800"/>
            <a:ext cx="376668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Préparer une figure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Rectangle 94"/>
          <p:cNvSpPr/>
          <p:nvPr/>
        </p:nvSpPr>
        <p:spPr>
          <a:xfrm>
            <a:off x="4745880" y="3792960"/>
            <a:ext cx="6816240" cy="6220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2" name="TextBox 127"/>
          <p:cNvSpPr/>
          <p:nvPr/>
        </p:nvSpPr>
        <p:spPr>
          <a:xfrm>
            <a:off x="4873680" y="3943800"/>
            <a:ext cx="658296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histogram, box, go.Figure, show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Rectangle 95"/>
          <p:cNvSpPr/>
          <p:nvPr/>
        </p:nvSpPr>
        <p:spPr>
          <a:xfrm>
            <a:off x="722520" y="4438440"/>
            <a:ext cx="3999960" cy="6220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4" name="TextBox 128"/>
          <p:cNvSpPr/>
          <p:nvPr/>
        </p:nvSpPr>
        <p:spPr>
          <a:xfrm>
            <a:off x="850320" y="4589640"/>
            <a:ext cx="376668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Mesurer et vérifier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Rectangle 96"/>
          <p:cNvSpPr/>
          <p:nvPr/>
        </p:nvSpPr>
        <p:spPr>
          <a:xfrm>
            <a:off x="4745880" y="4438440"/>
            <a:ext cx="6816240" cy="6220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6" name="TextBox 129"/>
          <p:cNvSpPr/>
          <p:nvPr/>
        </p:nvSpPr>
        <p:spPr>
          <a:xfrm>
            <a:off x="4873680" y="4589640"/>
            <a:ext cx="658296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perf_counter, assertions, comparaisons de tableaux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Rectangle 97"/>
          <p:cNvSpPr/>
          <p:nvPr/>
        </p:nvSpPr>
        <p:spPr>
          <a:xfrm>
            <a:off x="731520" y="5523120"/>
            <a:ext cx="49680" cy="6026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8" name="TextBox 130"/>
          <p:cNvSpPr/>
          <p:nvPr/>
        </p:nvSpPr>
        <p:spPr>
          <a:xfrm>
            <a:off x="932760" y="5504760"/>
            <a:ext cx="10332000" cy="6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Lire les paramètres, le type du résultat et un petit exemple avant d’utiliser une fonction.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Box 131"/>
          <p:cNvSpPr/>
          <p:nvPr/>
        </p:nvSpPr>
        <p:spPr>
          <a:xfrm>
            <a:off x="768240" y="5193720"/>
            <a:ext cx="10697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Fichier : csv_examples/API_REFERENCE.md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Rectangle 98"/>
          <p:cNvSpPr/>
          <p:nvPr/>
        </p:nvSpPr>
        <p:spPr>
          <a:xfrm>
            <a:off x="676800" y="6382440"/>
            <a:ext cx="10843920" cy="1584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1" name="TextBox 132"/>
          <p:cNvSpPr/>
          <p:nvPr/>
        </p:nvSpPr>
        <p:spPr>
          <a:xfrm>
            <a:off x="685800" y="6464880"/>
            <a:ext cx="941760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25.09.2026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Box 133"/>
          <p:cNvSpPr/>
          <p:nvPr/>
        </p:nvSpPr>
        <p:spPr>
          <a:xfrm>
            <a:off x="10588680" y="6437520"/>
            <a:ext cx="91368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25 / 25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LibreOffice/25.2.3.2$Linux_X86_64 LibreOffice_project/520$Build-2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Olivier Delrieu</dc:creator>
  <dc:description>generated using python-pptx</dc:description>
  <dc:language>en-US</dc:language>
  <cp:lastModifiedBy/>
  <dcterms:modified xsi:type="dcterms:W3CDTF">2026-09-25T02:16:44Z</dcterms:modified>
  <cp:revision>3</cp:revision>
  <dc:subject/>
  <dc:title>Python : concevoir un projet, lire des CSV et utiliser SQL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