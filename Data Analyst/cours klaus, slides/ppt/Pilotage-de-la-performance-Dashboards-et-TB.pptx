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E4F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1B2E4F"/>
                </a:solidFill>
                <a:latin typeface="Arial"/>
              </a:rPr>
              <a:t>Huit réparations clôturées dans la période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Réparations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5C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06-489A-A41C-5DC18A67229F}"/>
              </c:ext>
            </c:extLst>
          </c:dPt>
          <c:dPt>
            <c:idx val="1"/>
            <c:invertIfNegative val="0"/>
            <c:bubble3D val="0"/>
            <c:spPr>
              <a:solidFill>
                <a:srgbClr val="C97C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06-489A-A41C-5DC18A6722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E4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Dans le délai</c:v>
                </c:pt>
                <c:pt idx="1">
                  <c:v>Hors délai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06-489A-A41C-5DC18A6722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12700" cap="flat">
              <a:solidFill>
                <a:srgbClr val="DC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2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DE LA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tableaux de bord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Définition, typologie, qualités des indicateurs et démarches de conception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C97C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· TABLEAUX DE BORD · MÉTHODES D'ÉLABORATION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fil conducteur en cinq temps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17830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Notion, rôles et niveaux d'un tableau de bord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44144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stratégie aux indicateurs, avec le Balanced Scorecard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09981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une démarche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09981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méthodes de conception, à combiner selon le besoin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7581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3758184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Étapes de construction, supports techniques et visuels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4165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0560" y="441655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route, exercice final et bonnes pratiques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BE9CB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7240" y="52120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fil rouge illustre chaque étape : le pilotage d'un atelier de réparation, avec six ateliers pratiques répartis sur le parcours.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tableau de bord relie des indicateurs à une décision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organisée d'indicateurs choisis pour suivre une situation et soutenir des décisions.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49808" y="258775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Voyer (2011)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Réunit cycliquement les indicateurs clés et signale, par des seuils normés, les écarts qui appellent une action corrective.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6824" y="24231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07992" y="258775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Bergeron (2005)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7992" y="2971800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et présentation ciblée des indicateurs essentiels, en coup d'œil, avec la possibilité de forer dans le détail.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5008" y="24231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66176" y="258775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Taïeb (2011)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66176" y="2971800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Piloter, c'est décider et agir à partir des résultats constatés.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destinataire doit pouvoir repérer un écart, examiner son contexte et savoir quelle vérification engager.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rôles pour un tableau de bord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20824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10195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à chaque responsable l'information dont il a besoin pour piloter son entité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807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15184"/>
            <a:ext cx="10195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à évaluer une situation et mobiliser les équipes autour des objectifs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401568"/>
            <a:ext cx="10195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Constituer un outil de pilotage réactif, ciblé sur l'essentiel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4379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87952"/>
            <a:ext cx="10195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Alerter sur les dérives critiques et déclencher les actions correctives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974336"/>
            <a:ext cx="10195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une culture de la performance dans l'organisation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fil rouge pour appliquer chaque notion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fictif accompagne tout le parcours : le pilotage d'un atelier de réparation.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24395C"/>
          </a:solidFill>
          <a:ln w="12700">
            <a:solidFill>
              <a:srgbClr val="3C55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49808" y="2679192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Destinataire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49469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responsable de l'atelier, qui doit organiser les prochaines interventions.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51460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24395C"/>
          </a:solidFill>
          <a:ln w="12700">
            <a:solidFill>
              <a:srgbClr val="3C55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281928" y="2679192"/>
            <a:ext cx="5129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de départ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81928" y="3063240"/>
            <a:ext cx="5129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réparations risquent de dépasser la date promise 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du cas sont fictives : elles servent de terrain d'entraînement pour les ateliers du parcours.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ce que le destinataire fera après avoir regardé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Quelles réparations risquent de dépasser la date promise ? 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3090672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4946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responsable de l'atelier.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926080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281928" y="3090672"/>
            <a:ext cx="5129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possible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81928" y="3474720"/>
            <a:ext cx="51297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les dossiers concernés et les pièces attendues.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9CB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écart déclenche une vérification ; il ne révèle pas automatiquement sa cause ni la bonne action.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périmètre explique le pourcentage affiché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0350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663440" cy="1280160"/>
          </a:xfrm>
          <a:prstGeom prst="roundRect">
            <a:avLst>
              <a:gd name="adj" fmla="val 5714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150608" y="1947672"/>
            <a:ext cx="4261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50608" y="2331720"/>
            <a:ext cx="4261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dans le délai = 6 ÷ 8 × 100 = 75 %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3246120"/>
            <a:ext cx="4663440" cy="1280160"/>
          </a:xfrm>
          <a:prstGeom prst="roundRect">
            <a:avLst>
              <a:gd name="adj" fmla="val 5714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150608" y="3410712"/>
            <a:ext cx="4261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50608" y="3794760"/>
            <a:ext cx="4261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Pourcentage de réparations clôturées respectant le délai promis.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réparations encore ouvertes sont hors de ce calcul. Pour décider des urgences, il faut les examiner séparément.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E9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 une définition vérifiable à chaque indicateur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et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5020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part des réparations clôturées respecte le délai promis 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783080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91656" y="194767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 et population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91656" y="2331720"/>
            <a:ext cx="5020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Réparations clôturées dans la période choisie ; une ligne par réparation.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49808" y="354787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et unité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3931920"/>
            <a:ext cx="5020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dans le délai / nombre clôturé ; unité : pourcentage. Précise absences et doublons.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0488" y="3383280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91656" y="354787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fréquence, responsable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1656" y="3931920"/>
            <a:ext cx="5020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fournit la donnée, à quel rythme, et qui vérifie 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 : écris la règle à appliquer si la date promise est absente pour un dossier.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niveau d'organisation change la question à traiter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direction choisit une orientation ; un responsable organise les moyens ; l'équipe traite les opérations.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538728" cy="914400"/>
          </a:xfrm>
          <a:prstGeom prst="roundRect">
            <a:avLst>
              <a:gd name="adj" fmla="val 8000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538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32504" y="3337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06824" y="3063240"/>
            <a:ext cx="3538728" cy="91440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306824" y="3063240"/>
            <a:ext cx="3538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90688" y="3337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65008" y="3063240"/>
            <a:ext cx="3538728" cy="914400"/>
          </a:xfrm>
          <a:prstGeom prst="roundRect">
            <a:avLst>
              <a:gd name="adj" fmla="val 8000"/>
            </a:avLst>
          </a:prstGeom>
          <a:solidFill>
            <a:srgbClr val="5C88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065008" y="3063240"/>
            <a:ext cx="3538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même donnée peut servir plusieurs vues, avec des niveaux de détail et des rythmes différents.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TYPOLOGIE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tableaux de bord, trois usages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548640"/>
          </a:xfrm>
          <a:prstGeom prst="roundRect">
            <a:avLst>
              <a:gd name="adj" fmla="val 13333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538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3872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729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Destinataire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Direction, gouvernance
</a:t>
            </a: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clé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L'organisation progresse-t-elle vers ses objectifs ?
</a:t>
            </a: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Rentabilité et satisfaction suivies ensemble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6824" y="1783080"/>
            <a:ext cx="3538728" cy="548640"/>
          </a:xfrm>
          <a:prstGeom prst="roundRect">
            <a:avLst>
              <a:gd name="adj" fmla="val 13333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306824" y="1783080"/>
            <a:ext cx="3538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06824" y="2423160"/>
            <a:ext cx="353872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489704" y="2651760"/>
            <a:ext cx="31729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Destinataire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Responsables de service
</a:t>
            </a: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clé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expliquer les écarts et ajuster les ressources ?
</a:t>
            </a: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Charge, capacité et délais par type de réparation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538728" cy="548640"/>
          </a:xfrm>
          <a:prstGeom prst="roundRect">
            <a:avLst>
              <a:gd name="adj" fmla="val 13333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065008" y="1783080"/>
            <a:ext cx="3538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Opérationnel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65008" y="2423160"/>
            <a:ext cx="353872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47888" y="2651760"/>
            <a:ext cx="31729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Destinataire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Équipe, superviseur
</a:t>
            </a: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clé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intervention demande une action maintenant ?
</a:t>
            </a: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
</a:t>
            </a: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ouverts par date promise et prochaine 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TYPOLOGIE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9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Choisis une vue pour chaque décision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1920240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direction hésite à ouvrir un deuxième atelier.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2834640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L'équipe cherche les dossiers à examiner aujourd'hui.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3749040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responsable répartit la capacité de réparation entre deux activités.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 : pour un cas au choix, précise destinataire, question et deux indicateurs.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vision devient utilisable quand elle se décline en objectifs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21792" y="237744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23744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5496" y="237744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898648" y="237744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060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2352" y="237744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175504" y="237744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77456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9208" y="237744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FBE9CB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52360" y="237744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Cibles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54312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56064" y="2377440"/>
            <a:ext cx="1956816" cy="1188720"/>
          </a:xfrm>
          <a:prstGeom prst="roundRect">
            <a:avLst>
              <a:gd name="adj" fmla="val 5385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729216" y="237744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</a:t>
            </a: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fiable → améliorer le respect des délais → part des réparations clôturées à l'heure.
</a:t>
            </a:r>
            <a:r>
              <a:rPr lang="en-US" sz="13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 valider ces choix avec le destinataire ; une donnée disponible ne fixe pas la stratégie.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Balanced Scorecard relie quatre perspectives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49808" y="194767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5020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par réparation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Pérennité de l'atelier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0488" y="17830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391656" y="194767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1656" y="2331720"/>
            <a:ext cx="5020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du délai promis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attendu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49808" y="3767328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internes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151376"/>
            <a:ext cx="5020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des pièces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du travail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0488" y="3602736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91656" y="3767328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91656" y="4151376"/>
            <a:ext cx="5020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Polyvalence sur les réparations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à progresser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40096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16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 &amp; Norton : quatre perspectives complémentaires, reliées à la stratégie de l'atelier fictif.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d'objectifs reste une hypothèse à examiner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354580" cy="1280160"/>
          </a:xfrm>
          <a:prstGeom prst="roundRect">
            <a:avLst>
              <a:gd name="adj" fmla="val 500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22082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polyvalence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497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43300" y="2103120"/>
            <a:ext cx="2354580" cy="1280160"/>
          </a:xfrm>
          <a:prstGeom prst="roundRect">
            <a:avLst>
              <a:gd name="adj" fmla="val 500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16452" y="2103120"/>
            <a:ext cx="22082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d'attentes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2531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2354580" cy="1280160"/>
          </a:xfrm>
          <a:prstGeom prst="roundRect">
            <a:avLst>
              <a:gd name="adj" fmla="val 500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336792" y="2103120"/>
            <a:ext cx="22082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Délais mieux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4565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83980" y="2103120"/>
            <a:ext cx="2354580" cy="1280160"/>
          </a:xfrm>
          <a:prstGeom prst="roundRect">
            <a:avLst>
              <a:gd name="adj" fmla="val 500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057132" y="2103120"/>
            <a:ext cx="22082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qui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reviennent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9CB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lien dessiné ou deux courbes qui montent ensemble ne prouvent pas une causalité. Choisis un indicateur pour chaque étape et recherche des explications alternatives.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9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un objectif qui ne dégrade pas les autres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96596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Choisis deux perspectives du Balanced Scorecard pour l'atelier fictif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301752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417320" y="301752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Écris un objectif, un indicateur et une initiative pour chacune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406908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un effet indésirable : aller plus vite pourrait-il augmenter les retours ? Quelle mesure manque 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démarches organisent le dialogue avant le choix d'un logiciel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7EEF6"/>
          </a:solidFill>
          <a:ln w="9525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 &amp; Norton (1998)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977640" y="18288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- architecture de mesure, consensus, sélection des mesures, plan de mise en œuvre (4 étapes)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Voyer (1999)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77640" y="257860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besoins des gestionnaires, jusqu'au choix et à la représentation des indicateurs (5 étapes)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7EEF6"/>
          </a:solidFill>
          <a:ln w="9525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332841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GIMSI - Fernandez (2000)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77640" y="332841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l'analyse de l'environnement au choix des progiciels puis à l'audit du système (10 étapes)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40782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JANUS - Selmer (2003)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4078224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préparation du projet à l'ancrage du tableau de bord dans le management (10 étapes)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7EEF6"/>
          </a:solidFill>
          <a:ln w="9525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482803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 - Löning et al. (2003)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77640" y="482803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objectifs / variables d'action, confrontée aux données disponibles (4 étapes)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16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approches se complètent ; elles ne choisissent pas le logiciel à ta place.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 la stratégie, ou partir des besoins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965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 &amp; Norton - BSC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9651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Écris l'objectif stratégique avant de choisir une mesure.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Répartis les objectifs entre finance, clients, processus internes et apprentissage.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Associe une cible et une action à chaque objectif, puis discute leurs liens.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754880"/>
            <a:ext cx="4965192" cy="777240"/>
          </a:xfrm>
          <a:prstGeom prst="roundRect">
            <a:avLst>
              <a:gd name="adj" fmla="val 7059"/>
            </a:avLst>
          </a:prstGeom>
          <a:solidFill>
            <a:srgbClr val="FBE9C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: réduire les retards tout en surveillant les retours après réparation.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0488" y="1783080"/>
            <a:ext cx="542239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19088" y="1965960"/>
            <a:ext cx="4965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Voyer - partir des besoins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2468880"/>
            <a:ext cx="49651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 l'utilisateur et les décisions qu'il doit prendre.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 les informations qui lui permettent de suivre la situation.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 avec lui si le tableau aide réellement à agir.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19088" y="4754880"/>
            <a:ext cx="4965192" cy="777240"/>
          </a:xfrm>
          <a:prstGeom prst="roundRect">
            <a:avLst>
              <a:gd name="adj" fmla="val 7059"/>
            </a:avLst>
          </a:prstGeom>
          <a:solidFill>
            <a:srgbClr val="FBE9C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56248" y="4754880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: le responsable a besoin de comprendre les retards, pas seulement de voir un pourcentage.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le projet, puis l'ancrer dans le management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965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GIMSI - Fernandez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496519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: comprendre le contexte et les processus ; choisir les objectifs ensemble.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4–7 : dessiner les vues, définir les mesures, réunir les données et vérifier leur cohérence.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: choisir les outils, mettre en service, puis réexaminer les besoins.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783080"/>
            <a:ext cx="542239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19088" y="1965960"/>
            <a:ext cx="4965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JANUS - Selmer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2514600"/>
            <a:ext cx="496519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Jalonner : organiser le projet.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: comprendre les besoins.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Normer : harmoniser la présentation des mesures.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: choisir une informatique adaptée.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Situer : intégrer l'outil au management.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: convenir de la définition d'un retard et du rendez-vous où les cas seront examinés.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 relie un objectif à des leviers et à des responsables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31363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Diminuer les réparations rendues après la date promise.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06824" y="192024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07992" y="208483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d'action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07992" y="2468880"/>
            <a:ext cx="31363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Anticiper la disponibilité des pièces.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192024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66176" y="208483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6176" y="2468880"/>
            <a:ext cx="31363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personne chargée de l'approvisionnement.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9CB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discuter : quel indicateur permettrait de suivre ce levier 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E9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Choisis un repère de méthode pour débloquer la situation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411480" cy="41148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2011680"/>
            <a:ext cx="10424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417320" y="201168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L'équipe hésite entre plusieurs objectifs qui peuvent se contredire.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411480" cy="41148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88720" y="2834640"/>
            <a:ext cx="10424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417320" y="283464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 ne sait qui peut agir sur l'indicateur affiché.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411480" cy="41148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657600"/>
            <a:ext cx="10424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417320" y="36576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logiciel a été choisi avant de connaître les utilisateurs.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 : pour chaque cas, propose un repère (BSC, OVAR, Voyer ou GIMSI) et explique son utilité.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son tableau de bord, étape par étape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9913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1991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10195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Déterminer les buts : qui utilisera le tableau de bord, pour quel usage, quelle fréquence 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5925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3159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880360"/>
            <a:ext cx="10195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les indicateurs clés : relier chacun à un objectif chiffré, de type SMART.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937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4119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840480"/>
            <a:ext cx="10195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la hiérarchie : cohérence entre niveaux, les résultats des services remontent consolidés.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7949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50794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800600"/>
            <a:ext cx="10195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la fréquence : plus on est proche des opérations, plus la mise à jour doit être rapprochée.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Choisis le support à partir des contraintes de consultation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176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10195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consulte, sur quel appareil, avec quels droits et quelle connexion 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9067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834640"/>
            <a:ext cx="10195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sources, quelle fraîcheur et quels calculs doivent être disponibles 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05072"/>
            <a:ext cx="402336" cy="402336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4005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749040"/>
            <a:ext cx="10195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sait modifier le contenu, corriger une panne et reprendre la maintenance 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coût de création, partage, hébergement et exploitation ; open source ne signifie pas exploitation gratuite.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clé en main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49808" y="194767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BI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313639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BI, Tableau, Looker Studio.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Atouts : explorations guidées, actualisation organisée, partage.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: licences, droits, connecteurs et capacité.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78308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07992" y="194767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2331720"/>
            <a:ext cx="313639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Formules, tableaux et graphiques dans un outil déjà connu.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Atouts : essai rapide sur un petit jeu de données.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: copies divergentes, mise à jour manuelle.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66176" y="194767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66176" y="2331720"/>
            <a:ext cx="313639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utilisée via un prestataire, souvent dans le navigateur.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Atouts : mise à disposition rapide.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: abonnement, exportabilité, dépendance au service.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construites avec du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49808" y="194767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Shiny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224942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réactive reliée à des calculs R (existe aussi en Python).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tests et hébergement à prévoir.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584448" y="194767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84448" y="2331720"/>
            <a:ext cx="224942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en page un document R Markdown, avec ou sans calcul réactif.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page rapide, réutilisation d'analyses 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19088" y="194767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(Streamlit / Dash)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2331720"/>
            <a:ext cx="224942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liée à des traitements Python.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Réutilise le pipeline ; dépendances et maintenance à anticiper.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253728" y="194767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HTML autonome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53728" y="2331720"/>
            <a:ext cx="224942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 interactif consultable sans moteur actif.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embarquées visibles ; droits à gérer.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E9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Défends un choix de support, puis donne sa limite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223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03911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responsable veut un résumé hebdomadaire, sans filtres ni recalcul à la demande.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0488" y="1874520"/>
            <a:ext cx="54223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91656" y="203911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91656" y="24231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équipe autorisée doit explorer des dossiers actualisés ; les données ne peuvent pas être diffusées dans un fichier libre.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 : choisis une famille, justifie-la par les contraintes, et cite une condition qui pourrait changer ton choix.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bon visuel, retenir l'essentiel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49808" y="199339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22494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Camembert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(maximum 5 à 6 valeurs)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584448" y="199339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2377440"/>
            <a:ext cx="22494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Jauge, positionnement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0 à 100 %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19088" y="199339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9088" y="2377440"/>
            <a:ext cx="22494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Courbe, tendance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temps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253728" y="199339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53728" y="2377440"/>
            <a:ext cx="22494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Barres entre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de bord reste un outil vivant : il doit être revu régulièrement, jamais figé.
La démarche compte autant que l'outil : participative, alignée sur la stratégie.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feuille de route relie chaque étape à une preuve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0802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21792" y="2286000"/>
            <a:ext cx="18617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et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destinataire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5806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12694" y="2286000"/>
            <a:ext cx="200802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885846" y="2286000"/>
            <a:ext cx="18617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données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29861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6749" y="2286000"/>
            <a:ext cx="200802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149901" y="2286000"/>
            <a:ext cx="18617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Esquisse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essai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93915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40803" y="2286000"/>
            <a:ext cx="200802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13955" y="2286000"/>
            <a:ext cx="18617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recette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57970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4858" y="2286000"/>
            <a:ext cx="200802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678010" y="2286000"/>
            <a:ext cx="18617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Accès, suivi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maintenance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étape : une preuve et une personne qui peut vérifier.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esquisse teste l'utilité ; une recette teste le fonctionnement ; l'accès réel prouve la mise à disposition.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E9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 une esquisse que ton binôme peut expliquer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FINAL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la responsable à suivre le délai promis, puis préparer les vérifications sur les dossiers ouverts.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88720" y="2697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417320" y="269748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Produis une question, une fiche indicateur, une esquisse et un choix de support argumenté.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56616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417320" y="35661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 un scénario de recette et le responsable de l'actualisation.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1B2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43484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B0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417320" y="443484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binôme explique le calcul, son périmètre et une limite, sans lire tes notes.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FINAL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les définitions et les sources avec le tableau livré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49808" y="226771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indicateur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Définition, période, source et responsable.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6824" y="210312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07992" y="226771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livraison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07992" y="2651760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des données, droits d'accès et limites connues.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5008" y="210312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E7EEF6"/>
          </a:solidFill>
          <a:ln w="12700">
            <a:solidFill>
              <a:srgbClr val="B9CC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66176" y="226771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méthode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6176" y="2651760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référence identifiable, conservée avec les notes.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19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de bord reste un outil vivant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457200" cy="457200"/>
          </a:xfrm>
          <a:prstGeom prst="ellipse">
            <a:avLst/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21031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doit être revu régulièrement, jamais figé.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457200" cy="457200"/>
          </a:xfrm>
          <a:prstGeom prst="ellipse">
            <a:avLst/>
          </a:prstGeom>
          <a:solidFill>
            <a:srgbClr val="C97C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démarche compte autant que l'outil : participative, alignée sur la stratégie.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280160" cy="0"/>
          </a:xfrm>
          <a:prstGeom prst="line">
            <a:avLst/>
          </a:prstGeom>
          <a:noFill/>
          <a:ln w="38100">
            <a:solidFill>
              <a:srgbClr val="C97C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CLÔTURE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2301</Words>
  <Application>Microsoft Office PowerPoint</Application>
  <PresentationFormat>Grand écran</PresentationFormat>
  <Paragraphs>427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Klaus KUEKOU</cp:lastModifiedBy>
  <cp:revision>2</cp:revision>
  <dcterms:created xsi:type="dcterms:W3CDTF">2026-09-11T08:53:43Z</dcterms:created>
  <dcterms:modified xsi:type="dcterms:W3CDTF">2026-09-11T13:02:06Z</dcterms:modified>
</cp:coreProperties>
</file>