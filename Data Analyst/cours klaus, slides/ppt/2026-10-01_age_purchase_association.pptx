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4" roundtripDataSignature="AMtx7mi3VnNtUKUPVLnEZaT7xONSosgT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74" Type="http://customschemas.google.com/relationships/presentationmetadata" Target="meta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6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7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8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1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9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0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4" name="Google Shape;444;p20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0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2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1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2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p2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3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p2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3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4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0" name="Google Shape;570;p2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4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5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25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5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6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6" name="Google Shape;596;p2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6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7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9" name="Google Shape;609;p2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7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8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2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8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9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9" name="Google Shape;639;p2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9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0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7" name="Google Shape;657;p30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0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1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0" name="Google Shape;670;p3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1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2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p3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2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3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0" name="Google Shape;700;p3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3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4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6" name="Google Shape;736;p3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34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5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9" name="Google Shape;749;p35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5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6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2" name="Google Shape;762;p3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6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7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5" name="Google Shape;775;p3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7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8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8" name="Google Shape;788;p3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8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9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6" name="Google Shape;806;p3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9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0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40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0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41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3" name="Google Shape;863;p4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41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2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7" name="Google Shape;907;p4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42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3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0" name="Google Shape;920;p4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43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4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4" name="Google Shape;964;p4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44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5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7" name="Google Shape;977;p45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45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6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1" name="Google Shape;1021;p4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46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47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3" name="Google Shape;1033;p4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47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48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1" name="Google Shape;1051;p4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48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9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9" name="Google Shape;1099;p4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49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50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7" name="Google Shape;1117;p50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50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51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0" name="Google Shape;1130;p5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51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52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6" name="Google Shape;1166;p5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52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53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3" name="Google Shape;1203;p5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53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54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9" name="Google Shape;1239;p5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54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55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2" name="Google Shape;1252;p55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55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56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8" name="Google Shape;1288;p5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56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57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1" name="Google Shape;1301;p5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57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8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9" name="Google Shape;1319;p5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58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9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7" name="Google Shape;1337;p5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59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0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5" name="Google Shape;1355;p60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0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61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3" name="Google Shape;1373;p6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1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62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6" name="Google Shape;1386;p6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62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63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4" name="Google Shape;1404;p6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63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64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7" name="Google Shape;1417;p6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64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65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9" name="Google Shape;1429;p65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5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66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3" name="Google Shape;1473;p6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66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67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6" name="Google Shape;1486;p6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67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68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4" name="Google Shape;1504;p6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68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69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2" name="Google Shape;1522;p6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69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7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7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7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7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7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2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7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7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7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73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7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7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7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4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74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7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7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7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75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7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7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7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6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76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7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7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7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77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77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7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7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7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78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78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78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78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7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7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7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7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7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7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0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80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80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8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8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8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1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81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81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8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8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8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1er OCTOBRE 2026 · OLIVIER DELRIEU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Âge, groupe et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montant d'achat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Rappeler l'écart A/B · explorer trois nuages XY · puis révéler le code générateur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1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RAPPEL DU 29 SEPTEMBRE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Estimer une différence avant de la tester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Deux magasins A et B · montant d'achat en euros · estimation, intervalle et test de Welch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2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RAPPEL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Population et échantillon : conserver les repères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31520" y="1947600"/>
            <a:ext cx="217152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41320" y="1965960"/>
            <a:ext cx="19746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Objet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926080" y="1947600"/>
            <a:ext cx="418284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035880" y="196596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Population ou modèle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132320" y="1947600"/>
            <a:ext cx="418284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242120" y="196596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Échantillon observé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31520" y="2770560"/>
            <a:ext cx="217152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841320" y="2788920"/>
            <a:ext cx="19746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Centre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926080" y="2770560"/>
            <a:ext cx="4182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3035880" y="278892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i="0" lang="en-US" sz="1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 · μ</a:t>
            </a:r>
            <a:r>
              <a:rPr b="0" baseline="-25000" i="0" lang="en-US" sz="1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7132320" y="2770560"/>
            <a:ext cx="4182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242120" y="278892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avg(A) · avg(B)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31520" y="3593520"/>
            <a:ext cx="217152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841320" y="3611880"/>
            <a:ext cx="19746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Dispersion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2926080" y="3593520"/>
            <a:ext cx="4182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3035880" y="361188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-US" sz="1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 · σ</a:t>
            </a:r>
            <a:r>
              <a:rPr b="0" baseline="-25000" i="0" lang="en-US" sz="1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132320" y="3593520"/>
            <a:ext cx="4182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7242120" y="361188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std(A) · std(B)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731520" y="4416480"/>
            <a:ext cx="217152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841320" y="4434840"/>
            <a:ext cx="19746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Différence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2926080" y="4416480"/>
            <a:ext cx="4182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3035880" y="443484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i="0" lang="en-US" sz="1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 − μ</a:t>
            </a:r>
            <a:r>
              <a:rPr b="0" baseline="-25000" i="0" lang="en-US" sz="1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7132320" y="4416480"/>
            <a:ext cx="4182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7242120" y="443484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avg(B) − avg(A)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Une statistique observée estime un paramètre de population inconnu dans une étude réelle.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CONVERGENCE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Analyser un échantillon de taille croissante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MODÈLE DE POPULATION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Loi gaussienne.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μ = 100.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σ = 15.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ÉCHANTILLONS DE TAILLE CROISSANTE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tirage reproductible (seed)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de n=10 à n=5 000 valeurs.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Calculer avg et std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Notebook dédié : 02_convergence_moyenne_ecart_type_FR.ipynb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CONVERGENCE · MOYENNE · SEED = 406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moyenne observée se stabilise autour de μ = 100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La moyenne observée se stabilise autour de μ = 100" id="166" name="Google Shape;1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800" y="1847160"/>
            <a:ext cx="88999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seed = 406 · 20 tailles de n · les variations diminuent généralement, sans rapprochement monotone à chaque étape.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CONVERGENCE · ÉCART-TYPE · SEED = 406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L'écart-type observé se stabilise autour de σ = 15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L'écart-type observé se stabilise autour de σ = 15"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800" y="1847160"/>
            <a:ext cx="88999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seed = 406 · 20 tailles de n · plus stable ne veut pas dire exactement égal à 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CONVERGENCE · MOYENNE · SEED = 407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autre seed produit une autre trajectoire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Un autre seed produit une autre trajectoire"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800" y="1847160"/>
            <a:ext cx="88999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seed = 407 · 20 tailles de n · le modèle reste μ = 100 et σ = 15 ; seul le tirage change.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7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CONVERGENCE · MOYENNE · SEEDS 406 À 410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Plusieurs seeds, plusieurs trajectoires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Plusieurs seeds, plusieurs trajectoires" id="205" name="Google Shape;2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800" y="1847160"/>
            <a:ext cx="88999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 seeds · 20 tailles de n par trajectoire · augmenter n ne corrige ni biais de sélection ni erreur de mesure.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8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CONVERGENCE · ÉCART MOYEN A/B · 8 SEEDS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Même modèle A/B : plusieurs trajectoires de avg(B) − avg(A)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Même modèle A/B : plusieurs trajectoires de avg(B) − avg(A)"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800" y="1847160"/>
            <a:ext cx="88999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749880" y="5742360"/>
            <a:ext cx="10698120" cy="6397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932760" y="5788080"/>
            <a:ext cx="103323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μA = μB = 103 · σA = 18 · σB = 24 · seeds 1404 à 1411.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60 % A / 40 % B · trait vertical : jeu observé, n = 2 000 = 1 200 A + 800 B.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9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VARIATION D'ÉCHANTILLONNAGE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Comparer la différence observée à celles obtenues au hasard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Comparer la différence observée à celles obtenues au hasard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400" y="1847160"/>
            <a:ext cx="1051308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749880" y="5870520"/>
            <a:ext cx="10698120" cy="5115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932760" y="5916240"/>
            <a:ext cx="1033236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simulation rend visible ce que le hasard d'échantillonnage peut produire dans un scénario sans écart moyen.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10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RAPPEL · TEST STATISTIQUE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TEST DE WELCH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COMPARAISON AVEC LE HASARD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Répéter un scénario sans écart moyen montre les différences que l'échantillonnage peut produire.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diapositive précédente en donne une image.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TEST STATISTIQUE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test formalise cette comparaison : question précise, scénario de référence, statistique calculée et valeur p.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Welch compare deux moyennes sans supposer des variances égales.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 test compare le résultat observé à ce qui varierait par hasard dans un scénario de référence défini à l'avance.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11 / 69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TEST DE WELCH · HYPOTHÈSES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H₀ et H₁ décrivent deux scénarios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H₀ · PAS D'ÉCART DE POPULATION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i="0" lang="en-US" sz="135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 − μ</a:t>
            </a:r>
            <a:r>
              <a:rPr b="0" baseline="-25000" i="0" lang="en-US" sz="135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 = 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Dans ce scénario de référence, les deux moyennes de population sont égales. Les écarts d'échantillon fluctuent autour de 0.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H₁ · UN ÉCART DE POPULATION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lang="en-US" sz="135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 − μ</a:t>
            </a:r>
            <a:r>
              <a:rPr b="0" baseline="-25000" lang="en-US" sz="135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 ≠ 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Dans le scénario alternatif, les moyennes de population diffèrent. Il ne précise ni l'ampleur ni la cause de l'écart.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Formuler H₀ et H₁ avant de lire le résultat ; elles concernent les populations, pas seulement cet échantillon.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12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ESTIMATION ET INTERVALLE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L'estimation est l'écart calculé dans l'échantillon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timation observée 5,88 € avec IC à 95 %, H₀ : μB − μA = 0 et H₁ : μA ≠ μB." id="280" name="Google Shape;2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3"/>
          <p:cNvSpPr/>
          <p:nvPr/>
        </p:nvSpPr>
        <p:spPr>
          <a:xfrm>
            <a:off x="749880" y="5870520"/>
            <a:ext cx="10698120" cy="5115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932760" y="5916240"/>
            <a:ext cx="1033236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Estimation ponctuelle : avg(B) − avg(A) = 5,876 €. L'IC indique sa précision pour μB − μA ; il ne contient pas 95 % des montants.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13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RÉSULTAT OBSERVÉ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montant moyen diffère entre A et B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731520" y="1947600"/>
            <a:ext cx="244584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841320" y="1965960"/>
            <a:ext cx="22489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Moyenne 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3200400" y="1947600"/>
            <a:ext cx="244584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3310200" y="1965960"/>
            <a:ext cx="22489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Moyenne B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5669280" y="1947600"/>
            <a:ext cx="253728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5779080" y="1965960"/>
            <a:ext cx="234036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Écart B−A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8229600" y="1947600"/>
            <a:ext cx="317736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8339400" y="1965960"/>
            <a:ext cx="298044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IC à 95 %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731520" y="2770560"/>
            <a:ext cx="2445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841320" y="2788920"/>
            <a:ext cx="22489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100.084 €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3200400" y="2770560"/>
            <a:ext cx="2445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3310200" y="2788920"/>
            <a:ext cx="22489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105.960 €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5669280" y="2770560"/>
            <a:ext cx="253728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5779080" y="2788920"/>
            <a:ext cx="234036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5.876 €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8229600" y="2770560"/>
            <a:ext cx="317736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8339400" y="2788920"/>
            <a:ext cx="298044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[5.068 ; 6.683] €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Valeur p = 9.49 × 10⁻⁴⁴ · 2 000 transactions · statistiques à trois décimales ; montants individuels au dixième.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14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TEST DE WELCH · VALEUR P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valeur p compare le résultat au scénario H₀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749880" y="1828800"/>
            <a:ext cx="10698120" cy="10785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 = P(|T| ≥ |t_obs|  |  H₀)" id="322" name="Google Shape;3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0920" y="1974960"/>
            <a:ext cx="7699320" cy="76788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5"/>
          <p:cNvSpPr/>
          <p:nvPr/>
        </p:nvSpPr>
        <p:spPr>
          <a:xfrm>
            <a:off x="749880" y="3127320"/>
            <a:ext cx="3382920" cy="2285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951120" y="3337560"/>
            <a:ext cx="29804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951120" y="3840480"/>
            <a:ext cx="2980440" cy="1343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Valeur que prendrait la statistique sur un autre échantillon si H₀ servait de scénario de référence.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4361760" y="3127320"/>
            <a:ext cx="3382920" cy="2285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4563000" y="3337560"/>
            <a:ext cx="29804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 observé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4563000" y="3840480"/>
            <a:ext cx="2980440" cy="1343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Valeur de cette statistique calculée sur les données observées.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7973640" y="3127320"/>
            <a:ext cx="3382920" cy="2285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8174880" y="3337560"/>
            <a:ext cx="29804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|T| ≥ |t observé|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8174880" y="3840480"/>
            <a:ext cx="2980440" cy="1343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Résultat au moins aussi éloigné de 0, dans un sens ou dans l'autre.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749880" y="5870520"/>
            <a:ext cx="10698120" cy="5115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932760" y="5916240"/>
            <a:ext cx="1033236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valeur p est calculée en supposant H₀ ; ce n'est ni P(H₀ vraie), ni l'ampleur de l'écart, ni une preuve de causalité.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15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INTERPRÉTATION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résultat statistique ne suffit pas à décider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ÉVIDENCE STATISTIQUE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Estimation : 5.876 €.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Intervalle qui exclut 0.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Valeur p ≈ 9,49 × 10⁻⁴⁴.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Sous H₀ : un tel résultat est très improbable.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Grand effectif.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IMPORTANCE PRATIQUE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L'unité est l'euro.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seuil utile reste à définir.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contexte métier manque encore.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L'écart moyen est établi sous les hypothèses du test ; il reste à comprendre quelles variables peuvent l'expliquer.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16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1 · NOUVELLES DONNÉES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Chercher à expliquer cet écart avec de nouvelles données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Pour les mêmes 2 000 transactions : data/purchase_transactions.csv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17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OBJECTIFS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 nouvelles variables pour explorer l'écart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731520" y="1947600"/>
            <a:ext cx="262872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841320" y="1965960"/>
            <a:ext cx="24318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Charger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3383280" y="1947600"/>
            <a:ext cx="262872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3493080" y="1965960"/>
            <a:ext cx="24318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Contrôler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6035040" y="1947600"/>
            <a:ext cx="262872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6144840" y="1965960"/>
            <a:ext cx="24318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Tracer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8686800" y="1947600"/>
            <a:ext cx="262872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8796600" y="1965960"/>
            <a:ext cx="24318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Décrire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731520" y="2770560"/>
            <a:ext cx="262872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841320" y="2788920"/>
            <a:ext cx="24318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CSV autonome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3383280" y="2770560"/>
            <a:ext cx="262872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3493080" y="2788920"/>
            <a:ext cx="24318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2 000 × 5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6035040" y="2770560"/>
            <a:ext cx="262872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6144840" y="2788920"/>
            <a:ext cx="24318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Trois nuages XY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8686800" y="2770560"/>
            <a:ext cx="262872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8796600" y="2788920"/>
            <a:ext cx="24318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A+B, A et B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Pour les mêmes 2 000 transactions, le CSV fournit maintenant trois variables explicatives possibles.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18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FICHIER FOURNI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CSV contient cinq colonnes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731520" y="1947600"/>
            <a:ext cx="2720160" cy="571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841320" y="1965960"/>
            <a:ext cx="2523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Colonne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3474720" y="1947600"/>
            <a:ext cx="2903040" cy="571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3584520" y="1965960"/>
            <a:ext cx="2706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6400800" y="1947600"/>
            <a:ext cx="5006160" cy="571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6510600" y="1965960"/>
            <a:ext cx="4809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Sens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731520" y="2541960"/>
            <a:ext cx="272016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841320" y="2560320"/>
            <a:ext cx="2523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3474720" y="2541960"/>
            <a:ext cx="29030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3584520" y="2560320"/>
            <a:ext cx="2706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Catégorie A/B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6400800" y="2541960"/>
            <a:ext cx="500616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6510600" y="2560320"/>
            <a:ext cx="4809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Magasin A ou B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731520" y="3136320"/>
            <a:ext cx="272016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841320" y="3154680"/>
            <a:ext cx="2523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3474720" y="3136320"/>
            <a:ext cx="29030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3584520" y="3154680"/>
            <a:ext cx="2706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Quantitative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6400800" y="3136320"/>
            <a:ext cx="500616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6510600" y="3154680"/>
            <a:ext cx="4809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Âge en années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731520" y="3730680"/>
            <a:ext cx="272016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841320" y="3749040"/>
            <a:ext cx="2523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3474720" y="3730680"/>
            <a:ext cx="29030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3584520" y="3749040"/>
            <a:ext cx="2706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Quantitative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6400800" y="3730680"/>
            <a:ext cx="500616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6510600" y="3749040"/>
            <a:ext cx="4809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Montant en euros · CSV : deux décimales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731520" y="4325040"/>
            <a:ext cx="272016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841320" y="4343400"/>
            <a:ext cx="2523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checkout_wait_minutes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3474720" y="4325040"/>
            <a:ext cx="29030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3584520" y="4343400"/>
            <a:ext cx="2706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Quantitative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6400800" y="4325040"/>
            <a:ext cx="500616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6510600" y="4343400"/>
            <a:ext cx="4809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Attente en caisse en minutes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731520" y="4919400"/>
            <a:ext cx="272016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841320" y="4937760"/>
            <a:ext cx="2523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distance_to_store_km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3474720" y="4919400"/>
            <a:ext cx="29030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3584520" y="4937760"/>
            <a:ext cx="2706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Quantitative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6400800" y="4919400"/>
            <a:ext cx="500616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6510600" y="4937760"/>
            <a:ext cx="480924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Distance domicile–magasin en km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Une ligne = une transaction simulée · virgule · point décimal · en-tête · aucune colonne d'index.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19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0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TRAVAIL À PRODUIRE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Votre livrable : trois nuages XY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731520" y="1947600"/>
            <a:ext cx="982800" cy="561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841320" y="1965960"/>
            <a:ext cx="785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Étape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1737360" y="1947600"/>
            <a:ext cx="5189040" cy="561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1847160" y="1965960"/>
            <a:ext cx="49921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À faire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6949440" y="1947600"/>
            <a:ext cx="4274640" cy="561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7059240" y="1965960"/>
            <a:ext cx="40777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Résultat attendu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731520" y="2532960"/>
            <a:ext cx="98280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841320" y="2551320"/>
            <a:ext cx="785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1737360" y="2532960"/>
            <a:ext cx="518904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1847160" y="2551320"/>
            <a:ext cx="49921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Charger le CSV avec pandas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6949440" y="2532960"/>
            <a:ext cx="427464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7059240" y="2551320"/>
            <a:ext cx="40777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shape = (2000, 5)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731520" y="3117960"/>
            <a:ext cx="98280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841320" y="3136320"/>
            <a:ext cx="785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1737360" y="3117960"/>
            <a:ext cx="518904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1847160" y="3136320"/>
            <a:ext cx="49921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Afficher colonnes, types et valeurs manquantes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6949440" y="3117960"/>
            <a:ext cx="427464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7059240" y="3136320"/>
            <a:ext cx="40777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Contrat vérifié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731520" y="3703320"/>
            <a:ext cx="98280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841320" y="3721680"/>
            <a:ext cx="785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1737360" y="3703320"/>
            <a:ext cx="518904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1847160" y="3721680"/>
            <a:ext cx="49921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Placer purchase_amount en Y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6949440" y="3703320"/>
            <a:ext cx="427464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7059240" y="3721680"/>
            <a:ext cx="40777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Même échelle Y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731520" y="4288680"/>
            <a:ext cx="98280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841320" y="4306680"/>
            <a:ext cx="785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1737360" y="4288680"/>
            <a:ext cx="518904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1847160" y="4306680"/>
            <a:ext cx="49921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X : checkout_wait_minutes · distance_to_store_km · age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6949440" y="4288680"/>
            <a:ext cx="427464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7059240" y="4306680"/>
            <a:ext cx="40777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Trois nuages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731520" y="4873680"/>
            <a:ext cx="98280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841320" y="4892040"/>
            <a:ext cx="785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1737360" y="4873680"/>
            <a:ext cx="518904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1847160" y="4892040"/>
            <a:ext cx="49921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Distinguer A et B par une couleur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6949440" y="4873680"/>
            <a:ext cx="4274640" cy="561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7059240" y="4892040"/>
            <a:ext cx="40777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Axes, unités, légende, transparence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CSV seul : n'importez rien depuis distributions ou analysis · trois figures séparées ou trois panneaux acceptés.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20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1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AIDE · APRÈS UNE PREMIÈRE TENTATIVE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premier nuage avec Plotly Express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749880" y="1865520"/>
            <a:ext cx="10698120" cy="391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1005840" y="2039040"/>
            <a:ext cx="10195200" cy="3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import plotly.express as px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 = pd.read_csv("data/purchase_transactions.csv")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figure = px.scatter(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transactions,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x="age",  # puis les deux autres colonnes X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y="purchase_amount",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color="group",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opacity=0.4,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figure.show()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VS Code : ouvrir le dossier qui contient data/. Colab : téléverser le CSV et utiliser "purchase_transactions.csv".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21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2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GRILLE DE LECTURE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2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Décrire avant de calculer ou d'expliquer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731520" y="1947600"/>
            <a:ext cx="253728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841320" y="1965960"/>
            <a:ext cx="23403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Variable X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3291840" y="1947600"/>
            <a:ext cx="15314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3401640" y="196596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A+B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4846320" y="1947600"/>
            <a:ext cx="15314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4956120" y="196596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Dans 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6400800" y="1947600"/>
            <a:ext cx="15314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6510600" y="196596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Dans B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7955280" y="1947600"/>
            <a:ext cx="345168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8065080" y="1965960"/>
            <a:ext cx="32547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Dispersion et position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731520" y="2660760"/>
            <a:ext cx="25372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841320" y="2679120"/>
            <a:ext cx="23403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checkout_wait_minutes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3291840" y="2660760"/>
            <a:ext cx="15314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3401640" y="267912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4846320" y="2660760"/>
            <a:ext cx="15314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4956120" y="267912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6400800" y="2660760"/>
            <a:ext cx="15314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6510600" y="267912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7955280" y="2660760"/>
            <a:ext cx="34516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8065080" y="2679120"/>
            <a:ext cx="32547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Chevauchement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731520" y="3374280"/>
            <a:ext cx="25372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841320" y="3392280"/>
            <a:ext cx="23403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distance_to_store_km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3291840" y="3374280"/>
            <a:ext cx="15314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3401640" y="339228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4846320" y="3374280"/>
            <a:ext cx="15314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4956120" y="339228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6400800" y="3374280"/>
            <a:ext cx="15314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6510600" y="339228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7955280" y="3374280"/>
            <a:ext cx="34516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8065080" y="3392280"/>
            <a:ext cx="32547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Position des groupes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731520" y="4087440"/>
            <a:ext cx="25372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841320" y="4105800"/>
            <a:ext cx="23403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3291840" y="4087440"/>
            <a:ext cx="15314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3401640" y="410580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4846320" y="4087440"/>
            <a:ext cx="15314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4956120" y="410580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6400800" y="4087440"/>
            <a:ext cx="15314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6510600" y="4105800"/>
            <a:ext cx="13345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7955280" y="4087440"/>
            <a:ext cx="34516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2"/>
          <p:cNvSpPr/>
          <p:nvPr/>
        </p:nvSpPr>
        <p:spPr>
          <a:xfrm>
            <a:off x="8065080" y="4105800"/>
            <a:ext cx="32547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Chevauchement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2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2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Que voyez-vous ? Que le graphique ne permet-il pas d'affirmer ? À ce stade, ne concluez ni sur le mécanisme ni sur une cause.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22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3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2 · TROIS NUAGES XY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3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Comparer les trois nuages avant toute explication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3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Décrire A+B, A et B ; le code générateur reste masqué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23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OBSERVATION DU CSV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Nuage 1 · attente et montant d'achat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Nuage 1 · attente et montant d'achat" id="576" name="Google Shape;5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80" y="1847160"/>
            <a:ext cx="1067976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4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Décrivez d'abord A+B, puis A et B séparément. À ce stade, ne concluez ni sur le mécanisme ni sur une cause.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24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5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OBSERVATION DU CSV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Nuage 2 · distance et montant d'achat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5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Nuage 2 · distance et montant d'achat" id="589" name="Google Shape;5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80" y="1847160"/>
            <a:ext cx="1067976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5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Décrivez d'abord A+B, puis A et B séparément. À ce stade, ne concluez ni sur le mécanisme ni sur une cause.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25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6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OBSERVATION DU CSV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6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Nuage 3 · âge et montant d'achat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Nuage 3 · âge et montant d'achat" id="602" name="Google Shape;6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80" y="1847160"/>
            <a:ext cx="1067976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6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6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Décrivez d'abord A+B, puis A et B séparément. À ce stade, ne concluez ni sur le mécanisme ni sur une cause.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6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26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7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CHOISIR LA QUESTION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Deux questions, deux raisonnements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DIFFÉRENCE ENTRE A ET B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montant moyen diffère-t-il ?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Variable : purchase_amount.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Catégorie : group.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Outil : test de Welch.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ASSOCIATION ENTRE VARIABLES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Quand une variable varie, purchase_amount tend-il à varier ?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Comparer age, attente et distance.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Outil : corrélation.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7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29 septembre a établi l'écart moyen A/B ; nous cherchons maintenant les variables qui lui sont associées.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27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8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3 · EXPLIQUER LES RÉSULTATS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Passer du nuage de points à la corrélation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Observer la tendance dans A+B, dans A et dans B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28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INTUITION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Que mesure la covariance ?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9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9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POUR CHAQUE OBSERVATION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Comparer age à son âge moyen.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Comparer purchase_amount à sa moyenne.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Multiplier les deux écarts.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9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PUIS RÉUNIR LES OBSERVATIONS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9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Mêmes signes : contribution positive.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Signes opposés : contribution négative.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Faire la moyenne des produits.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9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Une covariance positive indique que les deux variables tendent à s'écarter de leur moyenne dans le même sens.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9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29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0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COVARIANCE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0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Chaque point contribue à la covariance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0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Chaque point contribue à la covariance" id="663" name="Google Shape;6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30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0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contributions positives et négatives se compensent partiellement dans la moyenne finale.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30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1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COVARIANCE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1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covariance conserve les unités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1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749880" y="1938600"/>
            <a:ext cx="10698120" cy="14169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v(X,Y) = [1/(n−1)] Σᵢ₌₁ⁿ (xᵢ−x̄)(yᵢ−ȳ)" id="677" name="Google Shape;67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7560" y="2084760"/>
            <a:ext cx="6745680" cy="11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31"/>
          <p:cNvSpPr/>
          <p:nvPr/>
        </p:nvSpPr>
        <p:spPr>
          <a:xfrm>
            <a:off x="1005840" y="3703320"/>
            <a:ext cx="1014948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positif : variation dans le même sens. Signe négatif : variation en sens opposé. Ici, l'unité est années × euros.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1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1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grandeur dépend des unités et des échelles : elle se compare difficilement entre jeux de variables différents.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31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LINÉAIRE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2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Pearson standardise la covariance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2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2"/>
          <p:cNvSpPr/>
          <p:nvPr/>
        </p:nvSpPr>
        <p:spPr>
          <a:xfrm>
            <a:off x="749880" y="1938600"/>
            <a:ext cx="10698120" cy="14169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 = cov(X,Y) / (sₓ sᵧ)" id="692" name="Google Shape;6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5080" y="2084760"/>
            <a:ext cx="3951000" cy="11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32"/>
          <p:cNvSpPr/>
          <p:nvPr/>
        </p:nvSpPr>
        <p:spPr>
          <a:xfrm>
            <a:off x="1005840" y="3703320"/>
            <a:ext cx="1014948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 est sans unité et compris entre −1 et 1. Son signe indique la direction ; sa distance à 0 résume l'intensité de l'association linéaire observée.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2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2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Pas de seuil universel : le nuage, le périmètre, l'incertitude et le contexte restent nécessaires.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32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3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DE PEARSON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3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Lire r sans dépasser ce qu'il mesure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3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3"/>
          <p:cNvSpPr/>
          <p:nvPr/>
        </p:nvSpPr>
        <p:spPr>
          <a:xfrm>
            <a:off x="731520" y="1947600"/>
            <a:ext cx="198864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3"/>
          <p:cNvSpPr/>
          <p:nvPr/>
        </p:nvSpPr>
        <p:spPr>
          <a:xfrm>
            <a:off x="841320" y="1965960"/>
            <a:ext cx="17917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Valeur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3"/>
          <p:cNvSpPr/>
          <p:nvPr/>
        </p:nvSpPr>
        <p:spPr>
          <a:xfrm>
            <a:off x="2743200" y="1947600"/>
            <a:ext cx="418284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3"/>
          <p:cNvSpPr/>
          <p:nvPr/>
        </p:nvSpPr>
        <p:spPr>
          <a:xfrm>
            <a:off x="2853000" y="196596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3"/>
          <p:cNvSpPr/>
          <p:nvPr/>
        </p:nvSpPr>
        <p:spPr>
          <a:xfrm>
            <a:off x="6949440" y="1947600"/>
            <a:ext cx="4457520" cy="799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3"/>
          <p:cNvSpPr/>
          <p:nvPr/>
        </p:nvSpPr>
        <p:spPr>
          <a:xfrm>
            <a:off x="7059240" y="1965960"/>
            <a:ext cx="42606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731520" y="2770560"/>
            <a:ext cx="19886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3"/>
          <p:cNvSpPr/>
          <p:nvPr/>
        </p:nvSpPr>
        <p:spPr>
          <a:xfrm>
            <a:off x="841320" y="2788920"/>
            <a:ext cx="17917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 &gt; 0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3"/>
          <p:cNvSpPr/>
          <p:nvPr/>
        </p:nvSpPr>
        <p:spPr>
          <a:xfrm>
            <a:off x="2743200" y="2770560"/>
            <a:ext cx="4182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3"/>
          <p:cNvSpPr/>
          <p:nvPr/>
        </p:nvSpPr>
        <p:spPr>
          <a:xfrm>
            <a:off x="2853000" y="278892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linéaire croissante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3"/>
          <p:cNvSpPr/>
          <p:nvPr/>
        </p:nvSpPr>
        <p:spPr>
          <a:xfrm>
            <a:off x="6949440" y="2770560"/>
            <a:ext cx="445752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3"/>
          <p:cNvSpPr/>
          <p:nvPr/>
        </p:nvSpPr>
        <p:spPr>
          <a:xfrm>
            <a:off x="7059240" y="2788920"/>
            <a:ext cx="42606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Intensité à interpréter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3"/>
          <p:cNvSpPr/>
          <p:nvPr/>
        </p:nvSpPr>
        <p:spPr>
          <a:xfrm>
            <a:off x="731520" y="3593520"/>
            <a:ext cx="19886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3"/>
          <p:cNvSpPr/>
          <p:nvPr/>
        </p:nvSpPr>
        <p:spPr>
          <a:xfrm>
            <a:off x="841320" y="3611880"/>
            <a:ext cx="17917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 &lt; 0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3"/>
          <p:cNvSpPr/>
          <p:nvPr/>
        </p:nvSpPr>
        <p:spPr>
          <a:xfrm>
            <a:off x="2743200" y="3593520"/>
            <a:ext cx="4182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3"/>
          <p:cNvSpPr/>
          <p:nvPr/>
        </p:nvSpPr>
        <p:spPr>
          <a:xfrm>
            <a:off x="2853000" y="361188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linéaire décroissante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3"/>
          <p:cNvSpPr/>
          <p:nvPr/>
        </p:nvSpPr>
        <p:spPr>
          <a:xfrm>
            <a:off x="6949440" y="3593520"/>
            <a:ext cx="445752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3"/>
          <p:cNvSpPr/>
          <p:nvPr/>
        </p:nvSpPr>
        <p:spPr>
          <a:xfrm>
            <a:off x="7059240" y="3611880"/>
            <a:ext cx="42606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Intensité à interpréter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3"/>
          <p:cNvSpPr/>
          <p:nvPr/>
        </p:nvSpPr>
        <p:spPr>
          <a:xfrm>
            <a:off x="731520" y="4416480"/>
            <a:ext cx="19886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3"/>
          <p:cNvSpPr/>
          <p:nvPr/>
        </p:nvSpPr>
        <p:spPr>
          <a:xfrm>
            <a:off x="841320" y="4434840"/>
            <a:ext cx="17917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 ≈ 0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3"/>
          <p:cNvSpPr/>
          <p:nvPr/>
        </p:nvSpPr>
        <p:spPr>
          <a:xfrm>
            <a:off x="2743200" y="4416480"/>
            <a:ext cx="418284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3"/>
          <p:cNvSpPr/>
          <p:nvPr/>
        </p:nvSpPr>
        <p:spPr>
          <a:xfrm>
            <a:off x="2853000" y="4434840"/>
            <a:ext cx="39862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Pas de tendance linéaire claire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3"/>
          <p:cNvSpPr/>
          <p:nvPr/>
        </p:nvSpPr>
        <p:spPr>
          <a:xfrm>
            <a:off x="6949440" y="4416480"/>
            <a:ext cx="4457520" cy="7999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3"/>
          <p:cNvSpPr/>
          <p:nvPr/>
        </p:nvSpPr>
        <p:spPr>
          <a:xfrm>
            <a:off x="7059240" y="4434840"/>
            <a:ext cx="426060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courbe peut rester présente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3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3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Regarder le nuage : Pearson ne résume que la linéarité, reste sensible aux valeurs extrêmes et ne prouve aucune causalité.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33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EXEMPLE SIMULÉ · CORRÉLATION POSITIVE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&gt; 0 : une tendance croissante nette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r &gt; 0 : une tendance croissante nette" id="742" name="Google Shape;7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34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4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Quand X augmente, Y tend à augmenter. Le coefficient décrit ici une association linéaire, pas une cause.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4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34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5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EXEMPLE SIMULÉ · CORRÉLATION PROCHE DE ZÉRO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5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≈ 0 : pas de tendance linéaire claire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5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r ≈ 0 : pas de tendance linéaire claire" id="755" name="Google Shape;7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35"/>
          <p:cNvSpPr/>
          <p:nvPr/>
        </p:nvSpPr>
        <p:spPr>
          <a:xfrm>
            <a:off x="749880" y="5870520"/>
            <a:ext cx="10698120" cy="5115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5"/>
          <p:cNvSpPr/>
          <p:nvPr/>
        </p:nvSpPr>
        <p:spPr>
          <a:xfrm>
            <a:off x="932760" y="5916240"/>
            <a:ext cx="1033236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Illustration construite avec r = 0,000 : le nuage ne montre pas de pente linéaire ; cela ne signifie pas qu'aucune relation ne peut exister.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35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6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EXEMPLE SIMULÉ · CORRÉLATION NÉGATIVE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6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&lt; 0 : une tendance décroissante nette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6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r &lt; 0 : une tendance décroissante nette" id="768" name="Google Shape;7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6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6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Quand X augmente, Y tend à diminuer. Le signe décrit la direction de l'association linéaire observée.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36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36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7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LIMITE DE PEARSON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7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proche de 0 ne signifie pas « aucune relation »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7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r proche de 0 ne signifie pas « aucune relation »" id="781" name="Google Shape;7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37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7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relation en U est visible, mais les tendances croissantes et décroissantes se compensent dans la corrélation linéaire.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37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TEST DE CORRÉLATION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dans l'échantillon, ρ dans la population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8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8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H₀ · CORRÉLATION LINÉAIRE NULLE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8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ρ(age, purchase_amount) = 0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périmètre doit être nommé avant le test.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8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8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H₁ · CORRÉLATION NON NULLE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8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ρ(age, purchase_amount) ≠ 0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test bilatéral cherche une association linéaire.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8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8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Ce test ne vérifie ni l'indépendance complète, ni l'absence de toute relation, ni la causalité.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3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3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38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ACTION ÉTUDIANTE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Avant de calculer r : prévoir son signe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9"/>
          <p:cNvSpPr/>
          <p:nvPr/>
        </p:nvSpPr>
        <p:spPr>
          <a:xfrm>
            <a:off x="731520" y="1947600"/>
            <a:ext cx="272016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9"/>
          <p:cNvSpPr/>
          <p:nvPr/>
        </p:nvSpPr>
        <p:spPr>
          <a:xfrm>
            <a:off x="841320" y="196596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Variable X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9"/>
          <p:cNvSpPr/>
          <p:nvPr/>
        </p:nvSpPr>
        <p:spPr>
          <a:xfrm>
            <a:off x="3474720" y="1947600"/>
            <a:ext cx="272016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9"/>
          <p:cNvSpPr/>
          <p:nvPr/>
        </p:nvSpPr>
        <p:spPr>
          <a:xfrm>
            <a:off x="3584520" y="196596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A+B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39"/>
          <p:cNvSpPr/>
          <p:nvPr/>
        </p:nvSpPr>
        <p:spPr>
          <a:xfrm>
            <a:off x="6217920" y="1947600"/>
            <a:ext cx="258300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9"/>
          <p:cNvSpPr/>
          <p:nvPr/>
        </p:nvSpPr>
        <p:spPr>
          <a:xfrm>
            <a:off x="6327720" y="1965960"/>
            <a:ext cx="23860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Dans 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9"/>
          <p:cNvSpPr/>
          <p:nvPr/>
        </p:nvSpPr>
        <p:spPr>
          <a:xfrm>
            <a:off x="8823960" y="1947600"/>
            <a:ext cx="258300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9"/>
          <p:cNvSpPr/>
          <p:nvPr/>
        </p:nvSpPr>
        <p:spPr>
          <a:xfrm>
            <a:off x="8933760" y="1965960"/>
            <a:ext cx="23860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Dans B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9"/>
          <p:cNvSpPr/>
          <p:nvPr/>
        </p:nvSpPr>
        <p:spPr>
          <a:xfrm>
            <a:off x="731520" y="266076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9"/>
          <p:cNvSpPr/>
          <p:nvPr/>
        </p:nvSpPr>
        <p:spPr>
          <a:xfrm>
            <a:off x="841320" y="267912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checkout_wait_minutes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9"/>
          <p:cNvSpPr/>
          <p:nvPr/>
        </p:nvSpPr>
        <p:spPr>
          <a:xfrm>
            <a:off x="3474720" y="266076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9"/>
          <p:cNvSpPr/>
          <p:nvPr/>
        </p:nvSpPr>
        <p:spPr>
          <a:xfrm>
            <a:off x="3584520" y="267912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9"/>
          <p:cNvSpPr/>
          <p:nvPr/>
        </p:nvSpPr>
        <p:spPr>
          <a:xfrm>
            <a:off x="6217920" y="2660760"/>
            <a:ext cx="25830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9"/>
          <p:cNvSpPr/>
          <p:nvPr/>
        </p:nvSpPr>
        <p:spPr>
          <a:xfrm>
            <a:off x="6327720" y="2679120"/>
            <a:ext cx="23860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9"/>
          <p:cNvSpPr/>
          <p:nvPr/>
        </p:nvSpPr>
        <p:spPr>
          <a:xfrm>
            <a:off x="8823960" y="2660760"/>
            <a:ext cx="25830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9"/>
          <p:cNvSpPr/>
          <p:nvPr/>
        </p:nvSpPr>
        <p:spPr>
          <a:xfrm>
            <a:off x="8933760" y="2679120"/>
            <a:ext cx="23860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9"/>
          <p:cNvSpPr/>
          <p:nvPr/>
        </p:nvSpPr>
        <p:spPr>
          <a:xfrm>
            <a:off x="731520" y="337428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9"/>
          <p:cNvSpPr/>
          <p:nvPr/>
        </p:nvSpPr>
        <p:spPr>
          <a:xfrm>
            <a:off x="841320" y="339228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distance_to_store_km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9"/>
          <p:cNvSpPr/>
          <p:nvPr/>
        </p:nvSpPr>
        <p:spPr>
          <a:xfrm>
            <a:off x="3474720" y="337428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9"/>
          <p:cNvSpPr/>
          <p:nvPr/>
        </p:nvSpPr>
        <p:spPr>
          <a:xfrm>
            <a:off x="3584520" y="339228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9"/>
          <p:cNvSpPr/>
          <p:nvPr/>
        </p:nvSpPr>
        <p:spPr>
          <a:xfrm>
            <a:off x="6217920" y="3374280"/>
            <a:ext cx="25830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9"/>
          <p:cNvSpPr/>
          <p:nvPr/>
        </p:nvSpPr>
        <p:spPr>
          <a:xfrm>
            <a:off x="6327720" y="3392280"/>
            <a:ext cx="23860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9"/>
          <p:cNvSpPr/>
          <p:nvPr/>
        </p:nvSpPr>
        <p:spPr>
          <a:xfrm>
            <a:off x="8823960" y="3374280"/>
            <a:ext cx="25830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9"/>
          <p:cNvSpPr/>
          <p:nvPr/>
        </p:nvSpPr>
        <p:spPr>
          <a:xfrm>
            <a:off x="8933760" y="3392280"/>
            <a:ext cx="23860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9"/>
          <p:cNvSpPr/>
          <p:nvPr/>
        </p:nvSpPr>
        <p:spPr>
          <a:xfrm>
            <a:off x="731520" y="408744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9"/>
          <p:cNvSpPr/>
          <p:nvPr/>
        </p:nvSpPr>
        <p:spPr>
          <a:xfrm>
            <a:off x="841320" y="410580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9"/>
          <p:cNvSpPr/>
          <p:nvPr/>
        </p:nvSpPr>
        <p:spPr>
          <a:xfrm>
            <a:off x="3474720" y="408744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9"/>
          <p:cNvSpPr/>
          <p:nvPr/>
        </p:nvSpPr>
        <p:spPr>
          <a:xfrm>
            <a:off x="3584520" y="410580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9"/>
          <p:cNvSpPr/>
          <p:nvPr/>
        </p:nvSpPr>
        <p:spPr>
          <a:xfrm>
            <a:off x="6217920" y="4087440"/>
            <a:ext cx="25830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9"/>
          <p:cNvSpPr/>
          <p:nvPr/>
        </p:nvSpPr>
        <p:spPr>
          <a:xfrm>
            <a:off x="6327720" y="4105800"/>
            <a:ext cx="23860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9"/>
          <p:cNvSpPr/>
          <p:nvPr/>
        </p:nvSpPr>
        <p:spPr>
          <a:xfrm>
            <a:off x="8823960" y="4087440"/>
            <a:ext cx="25830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9"/>
          <p:cNvSpPr/>
          <p:nvPr/>
        </p:nvSpPr>
        <p:spPr>
          <a:xfrm>
            <a:off x="8933760" y="4105800"/>
            <a:ext cx="23860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?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9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9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Répondre avant le calcul ; les résultats des diapositives suivantes servent de débrief.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9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39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0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1/3 · GRAPHIQUE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0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1 · Revoir le nuage attente–montant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0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1 · Revoir le nuage attente–montant" id="856" name="Google Shape;8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80" y="1847160"/>
            <a:ext cx="1067976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40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0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trois droites d'ajustement restent presque horizontales : aucune tendance linéaire claire n'apparaît.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40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40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1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1/3 · EXPLICATION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1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Attente : aucune tendance linéaire claire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41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1"/>
          <p:cNvSpPr/>
          <p:nvPr/>
        </p:nvSpPr>
        <p:spPr>
          <a:xfrm>
            <a:off x="731520" y="1947600"/>
            <a:ext cx="21715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1"/>
          <p:cNvSpPr/>
          <p:nvPr/>
        </p:nvSpPr>
        <p:spPr>
          <a:xfrm>
            <a:off x="841320" y="196596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Périmètre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41"/>
          <p:cNvSpPr/>
          <p:nvPr/>
        </p:nvSpPr>
        <p:spPr>
          <a:xfrm>
            <a:off x="2926080" y="1947600"/>
            <a:ext cx="21715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1"/>
          <p:cNvSpPr/>
          <p:nvPr/>
        </p:nvSpPr>
        <p:spPr>
          <a:xfrm>
            <a:off x="3035880" y="196596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Effectif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1"/>
          <p:cNvSpPr/>
          <p:nvPr/>
        </p:nvSpPr>
        <p:spPr>
          <a:xfrm>
            <a:off x="5120640" y="1947600"/>
            <a:ext cx="189720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1"/>
          <p:cNvSpPr/>
          <p:nvPr/>
        </p:nvSpPr>
        <p:spPr>
          <a:xfrm>
            <a:off x="5230440" y="196596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1"/>
          <p:cNvSpPr/>
          <p:nvPr/>
        </p:nvSpPr>
        <p:spPr>
          <a:xfrm>
            <a:off x="7040880" y="1947600"/>
            <a:ext cx="4365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1"/>
          <p:cNvSpPr/>
          <p:nvPr/>
        </p:nvSpPr>
        <p:spPr>
          <a:xfrm>
            <a:off x="7150680" y="196596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Lecture descriptive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41"/>
          <p:cNvSpPr/>
          <p:nvPr/>
        </p:nvSpPr>
        <p:spPr>
          <a:xfrm>
            <a:off x="731520" y="266076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1"/>
          <p:cNvSpPr/>
          <p:nvPr/>
        </p:nvSpPr>
        <p:spPr>
          <a:xfrm>
            <a:off x="841320" y="267912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A+B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1"/>
          <p:cNvSpPr/>
          <p:nvPr/>
        </p:nvSpPr>
        <p:spPr>
          <a:xfrm>
            <a:off x="2926080" y="266076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1"/>
          <p:cNvSpPr/>
          <p:nvPr/>
        </p:nvSpPr>
        <p:spPr>
          <a:xfrm>
            <a:off x="3035880" y="267912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2 000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1"/>
          <p:cNvSpPr/>
          <p:nvPr/>
        </p:nvSpPr>
        <p:spPr>
          <a:xfrm>
            <a:off x="5120640" y="2660760"/>
            <a:ext cx="18972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1"/>
          <p:cNvSpPr/>
          <p:nvPr/>
        </p:nvSpPr>
        <p:spPr>
          <a:xfrm>
            <a:off x="5230440" y="267912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0.035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1"/>
          <p:cNvSpPr/>
          <p:nvPr/>
        </p:nvSpPr>
        <p:spPr>
          <a:xfrm>
            <a:off x="7040880" y="2660760"/>
            <a:ext cx="4365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1"/>
          <p:cNvSpPr/>
          <p:nvPr/>
        </p:nvSpPr>
        <p:spPr>
          <a:xfrm>
            <a:off x="7150680" y="267912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Proche de 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1"/>
          <p:cNvSpPr/>
          <p:nvPr/>
        </p:nvSpPr>
        <p:spPr>
          <a:xfrm>
            <a:off x="731520" y="337428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1"/>
          <p:cNvSpPr/>
          <p:nvPr/>
        </p:nvSpPr>
        <p:spPr>
          <a:xfrm>
            <a:off x="841320" y="339228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41"/>
          <p:cNvSpPr/>
          <p:nvPr/>
        </p:nvSpPr>
        <p:spPr>
          <a:xfrm>
            <a:off x="2926080" y="337428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1"/>
          <p:cNvSpPr/>
          <p:nvPr/>
        </p:nvSpPr>
        <p:spPr>
          <a:xfrm>
            <a:off x="3035880" y="339228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1 200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1"/>
          <p:cNvSpPr/>
          <p:nvPr/>
        </p:nvSpPr>
        <p:spPr>
          <a:xfrm>
            <a:off x="5120640" y="3374280"/>
            <a:ext cx="18972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1"/>
          <p:cNvSpPr/>
          <p:nvPr/>
        </p:nvSpPr>
        <p:spPr>
          <a:xfrm>
            <a:off x="5230440" y="339228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0.002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1"/>
          <p:cNvSpPr/>
          <p:nvPr/>
        </p:nvSpPr>
        <p:spPr>
          <a:xfrm>
            <a:off x="7040880" y="3374280"/>
            <a:ext cx="4365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1"/>
          <p:cNvSpPr/>
          <p:nvPr/>
        </p:nvSpPr>
        <p:spPr>
          <a:xfrm>
            <a:off x="7150680" y="339228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Proche de 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1"/>
          <p:cNvSpPr/>
          <p:nvPr/>
        </p:nvSpPr>
        <p:spPr>
          <a:xfrm>
            <a:off x="731520" y="408744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1"/>
          <p:cNvSpPr/>
          <p:nvPr/>
        </p:nvSpPr>
        <p:spPr>
          <a:xfrm>
            <a:off x="841320" y="410580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41"/>
          <p:cNvSpPr/>
          <p:nvPr/>
        </p:nvSpPr>
        <p:spPr>
          <a:xfrm>
            <a:off x="2926080" y="408744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1"/>
          <p:cNvSpPr/>
          <p:nvPr/>
        </p:nvSpPr>
        <p:spPr>
          <a:xfrm>
            <a:off x="3035880" y="410580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1"/>
          <p:cNvSpPr/>
          <p:nvPr/>
        </p:nvSpPr>
        <p:spPr>
          <a:xfrm>
            <a:off x="5120640" y="4087440"/>
            <a:ext cx="18972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1"/>
          <p:cNvSpPr/>
          <p:nvPr/>
        </p:nvSpPr>
        <p:spPr>
          <a:xfrm>
            <a:off x="5230440" y="410580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0.050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41"/>
          <p:cNvSpPr/>
          <p:nvPr/>
        </p:nvSpPr>
        <p:spPr>
          <a:xfrm>
            <a:off x="7040880" y="4087440"/>
            <a:ext cx="4365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1"/>
          <p:cNvSpPr/>
          <p:nvPr/>
        </p:nvSpPr>
        <p:spPr>
          <a:xfrm>
            <a:off x="7150680" y="410580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Proche de 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41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1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Ces valeurs décrivent l'échantillon : r proche de 0 signifie qu'aucune tendance linéaire claire n'apparaît.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4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41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2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2/3 · GRAPHIQUE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42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2 · Revoir le nuage distance–montant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42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2 · Revoir le nuage distance–montant" id="913" name="Google Shape;91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80" y="1847160"/>
            <a:ext cx="1067976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42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2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droite A+B monte ; les droites A et B restent presque horizontales. Le résultat dépend du périmètre.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42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42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3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2/3 · EXPLICATION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43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Distance : le résultat dépend du périmètre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43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3"/>
          <p:cNvSpPr/>
          <p:nvPr/>
        </p:nvSpPr>
        <p:spPr>
          <a:xfrm>
            <a:off x="731520" y="1947600"/>
            <a:ext cx="21715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3"/>
          <p:cNvSpPr/>
          <p:nvPr/>
        </p:nvSpPr>
        <p:spPr>
          <a:xfrm>
            <a:off x="841320" y="196596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Périmètre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43"/>
          <p:cNvSpPr/>
          <p:nvPr/>
        </p:nvSpPr>
        <p:spPr>
          <a:xfrm>
            <a:off x="2926080" y="1947600"/>
            <a:ext cx="21715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3"/>
          <p:cNvSpPr/>
          <p:nvPr/>
        </p:nvSpPr>
        <p:spPr>
          <a:xfrm>
            <a:off x="3035880" y="196596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Effectif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43"/>
          <p:cNvSpPr/>
          <p:nvPr/>
        </p:nvSpPr>
        <p:spPr>
          <a:xfrm>
            <a:off x="5120640" y="1947600"/>
            <a:ext cx="189720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3"/>
          <p:cNvSpPr/>
          <p:nvPr/>
        </p:nvSpPr>
        <p:spPr>
          <a:xfrm>
            <a:off x="5230440" y="196596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43"/>
          <p:cNvSpPr/>
          <p:nvPr/>
        </p:nvSpPr>
        <p:spPr>
          <a:xfrm>
            <a:off x="7040880" y="1947600"/>
            <a:ext cx="4365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3"/>
          <p:cNvSpPr/>
          <p:nvPr/>
        </p:nvSpPr>
        <p:spPr>
          <a:xfrm>
            <a:off x="7150680" y="196596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Lecture descriptive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43"/>
          <p:cNvSpPr/>
          <p:nvPr/>
        </p:nvSpPr>
        <p:spPr>
          <a:xfrm>
            <a:off x="731520" y="266076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3"/>
          <p:cNvSpPr/>
          <p:nvPr/>
        </p:nvSpPr>
        <p:spPr>
          <a:xfrm>
            <a:off x="841320" y="267912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A+B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43"/>
          <p:cNvSpPr/>
          <p:nvPr/>
        </p:nvSpPr>
        <p:spPr>
          <a:xfrm>
            <a:off x="2926080" y="266076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3"/>
          <p:cNvSpPr/>
          <p:nvPr/>
        </p:nvSpPr>
        <p:spPr>
          <a:xfrm>
            <a:off x="3035880" y="267912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2 000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43"/>
          <p:cNvSpPr/>
          <p:nvPr/>
        </p:nvSpPr>
        <p:spPr>
          <a:xfrm>
            <a:off x="5120640" y="2660760"/>
            <a:ext cx="18972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3"/>
          <p:cNvSpPr/>
          <p:nvPr/>
        </p:nvSpPr>
        <p:spPr>
          <a:xfrm>
            <a:off x="5230440" y="267912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0.259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43"/>
          <p:cNvSpPr/>
          <p:nvPr/>
        </p:nvSpPr>
        <p:spPr>
          <a:xfrm>
            <a:off x="7040880" y="2660760"/>
            <a:ext cx="4365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43"/>
          <p:cNvSpPr/>
          <p:nvPr/>
        </p:nvSpPr>
        <p:spPr>
          <a:xfrm>
            <a:off x="7150680" y="267912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positive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43"/>
          <p:cNvSpPr/>
          <p:nvPr/>
        </p:nvSpPr>
        <p:spPr>
          <a:xfrm>
            <a:off x="731520" y="337428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3"/>
          <p:cNvSpPr/>
          <p:nvPr/>
        </p:nvSpPr>
        <p:spPr>
          <a:xfrm>
            <a:off x="841320" y="339228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43"/>
          <p:cNvSpPr/>
          <p:nvPr/>
        </p:nvSpPr>
        <p:spPr>
          <a:xfrm>
            <a:off x="2926080" y="337428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3"/>
          <p:cNvSpPr/>
          <p:nvPr/>
        </p:nvSpPr>
        <p:spPr>
          <a:xfrm>
            <a:off x="3035880" y="339228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1 200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43"/>
          <p:cNvSpPr/>
          <p:nvPr/>
        </p:nvSpPr>
        <p:spPr>
          <a:xfrm>
            <a:off x="5120640" y="3374280"/>
            <a:ext cx="18972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3"/>
          <p:cNvSpPr/>
          <p:nvPr/>
        </p:nvSpPr>
        <p:spPr>
          <a:xfrm>
            <a:off x="5230440" y="339228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0.003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43"/>
          <p:cNvSpPr/>
          <p:nvPr/>
        </p:nvSpPr>
        <p:spPr>
          <a:xfrm>
            <a:off x="7040880" y="3374280"/>
            <a:ext cx="4365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3"/>
          <p:cNvSpPr/>
          <p:nvPr/>
        </p:nvSpPr>
        <p:spPr>
          <a:xfrm>
            <a:off x="7150680" y="339228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Proche de 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43"/>
          <p:cNvSpPr/>
          <p:nvPr/>
        </p:nvSpPr>
        <p:spPr>
          <a:xfrm>
            <a:off x="731520" y="408744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3"/>
          <p:cNvSpPr/>
          <p:nvPr/>
        </p:nvSpPr>
        <p:spPr>
          <a:xfrm>
            <a:off x="841320" y="410580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43"/>
          <p:cNvSpPr/>
          <p:nvPr/>
        </p:nvSpPr>
        <p:spPr>
          <a:xfrm>
            <a:off x="2926080" y="408744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3"/>
          <p:cNvSpPr/>
          <p:nvPr/>
        </p:nvSpPr>
        <p:spPr>
          <a:xfrm>
            <a:off x="3035880" y="410580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43"/>
          <p:cNvSpPr/>
          <p:nvPr/>
        </p:nvSpPr>
        <p:spPr>
          <a:xfrm>
            <a:off x="5120640" y="4087440"/>
            <a:ext cx="18972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3"/>
          <p:cNvSpPr/>
          <p:nvPr/>
        </p:nvSpPr>
        <p:spPr>
          <a:xfrm>
            <a:off x="5230440" y="410580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0.004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43"/>
          <p:cNvSpPr/>
          <p:nvPr/>
        </p:nvSpPr>
        <p:spPr>
          <a:xfrm>
            <a:off x="7040880" y="4087440"/>
            <a:ext cx="4365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3"/>
          <p:cNvSpPr/>
          <p:nvPr/>
        </p:nvSpPr>
        <p:spPr>
          <a:xfrm>
            <a:off x="7150680" y="410580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Proche de 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3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3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résultat global change lorsque les groupes sont séparés ; cette lecture reste descriptive et non causale.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4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4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43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3/3 · GRAPHIQUE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4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3 · Revoir le nuage âge–montant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3 · Revoir le nuage âge–montant" id="970" name="Google Shape;97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80" y="1847160"/>
            <a:ext cx="1067976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44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4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trois droites d'ajustement montent : l'association linéaire observée est positive dans A+B, A et B.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4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44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44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5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3/3 · EXPLICATION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45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Âge : une association positive dans les trois périmètres</a:t>
            </a:r>
            <a:endParaRPr b="0" sz="2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45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45"/>
          <p:cNvSpPr/>
          <p:nvPr/>
        </p:nvSpPr>
        <p:spPr>
          <a:xfrm>
            <a:off x="731520" y="1947600"/>
            <a:ext cx="21715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5"/>
          <p:cNvSpPr/>
          <p:nvPr/>
        </p:nvSpPr>
        <p:spPr>
          <a:xfrm>
            <a:off x="841320" y="196596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Périmètre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45"/>
          <p:cNvSpPr/>
          <p:nvPr/>
        </p:nvSpPr>
        <p:spPr>
          <a:xfrm>
            <a:off x="2926080" y="1947600"/>
            <a:ext cx="21715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5"/>
          <p:cNvSpPr/>
          <p:nvPr/>
        </p:nvSpPr>
        <p:spPr>
          <a:xfrm>
            <a:off x="3035880" y="196596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Effectif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45"/>
          <p:cNvSpPr/>
          <p:nvPr/>
        </p:nvSpPr>
        <p:spPr>
          <a:xfrm>
            <a:off x="5120640" y="1947600"/>
            <a:ext cx="189720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5"/>
          <p:cNvSpPr/>
          <p:nvPr/>
        </p:nvSpPr>
        <p:spPr>
          <a:xfrm>
            <a:off x="5230440" y="196596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45"/>
          <p:cNvSpPr/>
          <p:nvPr/>
        </p:nvSpPr>
        <p:spPr>
          <a:xfrm>
            <a:off x="7040880" y="1947600"/>
            <a:ext cx="436572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5"/>
          <p:cNvSpPr/>
          <p:nvPr/>
        </p:nvSpPr>
        <p:spPr>
          <a:xfrm>
            <a:off x="7150680" y="196596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Lecture descriptive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45"/>
          <p:cNvSpPr/>
          <p:nvPr/>
        </p:nvSpPr>
        <p:spPr>
          <a:xfrm>
            <a:off x="731520" y="266076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5"/>
          <p:cNvSpPr/>
          <p:nvPr/>
        </p:nvSpPr>
        <p:spPr>
          <a:xfrm>
            <a:off x="841320" y="267912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A+B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45"/>
          <p:cNvSpPr/>
          <p:nvPr/>
        </p:nvSpPr>
        <p:spPr>
          <a:xfrm>
            <a:off x="2926080" y="266076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5"/>
          <p:cNvSpPr/>
          <p:nvPr/>
        </p:nvSpPr>
        <p:spPr>
          <a:xfrm>
            <a:off x="3035880" y="267912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2 000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45"/>
          <p:cNvSpPr/>
          <p:nvPr/>
        </p:nvSpPr>
        <p:spPr>
          <a:xfrm>
            <a:off x="5120640" y="2660760"/>
            <a:ext cx="18972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5"/>
          <p:cNvSpPr/>
          <p:nvPr/>
        </p:nvSpPr>
        <p:spPr>
          <a:xfrm>
            <a:off x="5230440" y="267912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0.533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45"/>
          <p:cNvSpPr/>
          <p:nvPr/>
        </p:nvSpPr>
        <p:spPr>
          <a:xfrm>
            <a:off x="7040880" y="2660760"/>
            <a:ext cx="4365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5"/>
          <p:cNvSpPr/>
          <p:nvPr/>
        </p:nvSpPr>
        <p:spPr>
          <a:xfrm>
            <a:off x="7150680" y="267912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croissante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45"/>
          <p:cNvSpPr/>
          <p:nvPr/>
        </p:nvSpPr>
        <p:spPr>
          <a:xfrm>
            <a:off x="731520" y="337428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5"/>
          <p:cNvSpPr/>
          <p:nvPr/>
        </p:nvSpPr>
        <p:spPr>
          <a:xfrm>
            <a:off x="841320" y="339228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45"/>
          <p:cNvSpPr/>
          <p:nvPr/>
        </p:nvSpPr>
        <p:spPr>
          <a:xfrm>
            <a:off x="2926080" y="337428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5"/>
          <p:cNvSpPr/>
          <p:nvPr/>
        </p:nvSpPr>
        <p:spPr>
          <a:xfrm>
            <a:off x="3035880" y="339228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1 200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45"/>
          <p:cNvSpPr/>
          <p:nvPr/>
        </p:nvSpPr>
        <p:spPr>
          <a:xfrm>
            <a:off x="5120640" y="3374280"/>
            <a:ext cx="18972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5"/>
          <p:cNvSpPr/>
          <p:nvPr/>
        </p:nvSpPr>
        <p:spPr>
          <a:xfrm>
            <a:off x="5230440" y="339228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0.502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45"/>
          <p:cNvSpPr/>
          <p:nvPr/>
        </p:nvSpPr>
        <p:spPr>
          <a:xfrm>
            <a:off x="7040880" y="3374280"/>
            <a:ext cx="4365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45"/>
          <p:cNvSpPr/>
          <p:nvPr/>
        </p:nvSpPr>
        <p:spPr>
          <a:xfrm>
            <a:off x="7150680" y="339228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croissante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45"/>
          <p:cNvSpPr/>
          <p:nvPr/>
        </p:nvSpPr>
        <p:spPr>
          <a:xfrm>
            <a:off x="731520" y="408744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5"/>
          <p:cNvSpPr/>
          <p:nvPr/>
        </p:nvSpPr>
        <p:spPr>
          <a:xfrm>
            <a:off x="841320" y="410580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45"/>
          <p:cNvSpPr/>
          <p:nvPr/>
        </p:nvSpPr>
        <p:spPr>
          <a:xfrm>
            <a:off x="2926080" y="4087440"/>
            <a:ext cx="21715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5"/>
          <p:cNvSpPr/>
          <p:nvPr/>
        </p:nvSpPr>
        <p:spPr>
          <a:xfrm>
            <a:off x="3035880" y="4105800"/>
            <a:ext cx="197460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800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45"/>
          <p:cNvSpPr/>
          <p:nvPr/>
        </p:nvSpPr>
        <p:spPr>
          <a:xfrm>
            <a:off x="5120640" y="4087440"/>
            <a:ext cx="18972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5"/>
          <p:cNvSpPr/>
          <p:nvPr/>
        </p:nvSpPr>
        <p:spPr>
          <a:xfrm>
            <a:off x="5230440" y="4105800"/>
            <a:ext cx="17002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0.416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45"/>
          <p:cNvSpPr/>
          <p:nvPr/>
        </p:nvSpPr>
        <p:spPr>
          <a:xfrm>
            <a:off x="7040880" y="4087440"/>
            <a:ext cx="436572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5"/>
          <p:cNvSpPr/>
          <p:nvPr/>
        </p:nvSpPr>
        <p:spPr>
          <a:xfrm>
            <a:off x="7150680" y="4105800"/>
            <a:ext cx="41691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croissante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45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45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nuage est oblique dans chaque périmètre ; r résume l'association linéaire observée, sans établir une cause.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4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4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45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46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6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4 · GÉNÉRATION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46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6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Ouvrir le code qui a produit les données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46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Le générateur permet de distinguer ce qui est programmé de ce qui est seulement observé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4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46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46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7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POINT DE DÉPART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47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Continuer le projet du 29 septembre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47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7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7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CE QUI RESTE IDENTIQUE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47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Même dossier de projet.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Même organisation en modules.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Même classe GaussianMixture, intacte.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Même test de Welch réutilisé.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47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7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EXTENSION FONCTIONNELLE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47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make_groups() crée A/B.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add_age() ajoute l'âge.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add_purchase_amount() ajoute le montant.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Deux fonctions ajoutent attente et distance.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Chaque ajout retourne une copie.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47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47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nouvelle histoire n'oblige pas à transformer GaussianMixture ni à créer une nouvelle classe.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4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4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47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4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4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Construire le dataset en cinq étapes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4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48"/>
          <p:cNvSpPr/>
          <p:nvPr/>
        </p:nvSpPr>
        <p:spPr>
          <a:xfrm>
            <a:off x="731520" y="1947600"/>
            <a:ext cx="1165680" cy="571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8"/>
          <p:cNvSpPr/>
          <p:nvPr/>
        </p:nvSpPr>
        <p:spPr>
          <a:xfrm>
            <a:off x="841320" y="1965960"/>
            <a:ext cx="96876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Étape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48"/>
          <p:cNvSpPr/>
          <p:nvPr/>
        </p:nvSpPr>
        <p:spPr>
          <a:xfrm>
            <a:off x="1920240" y="1947600"/>
            <a:ext cx="4274640" cy="571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8"/>
          <p:cNvSpPr/>
          <p:nvPr/>
        </p:nvSpPr>
        <p:spPr>
          <a:xfrm>
            <a:off x="2030040" y="1965960"/>
            <a:ext cx="40777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Fonction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48"/>
          <p:cNvSpPr/>
          <p:nvPr/>
        </p:nvSpPr>
        <p:spPr>
          <a:xfrm>
            <a:off x="6217920" y="1947600"/>
            <a:ext cx="5189040" cy="571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8"/>
          <p:cNvSpPr/>
          <p:nvPr/>
        </p:nvSpPr>
        <p:spPr>
          <a:xfrm>
            <a:off x="6327720" y="1965960"/>
            <a:ext cx="4992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Résultat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48"/>
          <p:cNvSpPr/>
          <p:nvPr/>
        </p:nvSpPr>
        <p:spPr>
          <a:xfrm>
            <a:off x="731520" y="2541960"/>
            <a:ext cx="116568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8"/>
          <p:cNvSpPr/>
          <p:nvPr/>
        </p:nvSpPr>
        <p:spPr>
          <a:xfrm>
            <a:off x="841320" y="2560320"/>
            <a:ext cx="96876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48"/>
          <p:cNvSpPr/>
          <p:nvPr/>
        </p:nvSpPr>
        <p:spPr>
          <a:xfrm>
            <a:off x="1920240" y="2541960"/>
            <a:ext cx="42746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8"/>
          <p:cNvSpPr/>
          <p:nvPr/>
        </p:nvSpPr>
        <p:spPr>
          <a:xfrm>
            <a:off x="2030040" y="2560320"/>
            <a:ext cx="40777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make_groups()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48"/>
          <p:cNvSpPr/>
          <p:nvPr/>
        </p:nvSpPr>
        <p:spPr>
          <a:xfrm>
            <a:off x="6217920" y="2541960"/>
            <a:ext cx="51890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8"/>
          <p:cNvSpPr/>
          <p:nvPr/>
        </p:nvSpPr>
        <p:spPr>
          <a:xfrm>
            <a:off x="6327720" y="2560320"/>
            <a:ext cx="4992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48"/>
          <p:cNvSpPr/>
          <p:nvPr/>
        </p:nvSpPr>
        <p:spPr>
          <a:xfrm>
            <a:off x="731520" y="3136320"/>
            <a:ext cx="116568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8"/>
          <p:cNvSpPr/>
          <p:nvPr/>
        </p:nvSpPr>
        <p:spPr>
          <a:xfrm>
            <a:off x="841320" y="3154680"/>
            <a:ext cx="96876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48"/>
          <p:cNvSpPr/>
          <p:nvPr/>
        </p:nvSpPr>
        <p:spPr>
          <a:xfrm>
            <a:off x="1920240" y="3136320"/>
            <a:ext cx="42746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8"/>
          <p:cNvSpPr/>
          <p:nvPr/>
        </p:nvSpPr>
        <p:spPr>
          <a:xfrm>
            <a:off x="2030040" y="3154680"/>
            <a:ext cx="40777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add_age()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48"/>
          <p:cNvSpPr/>
          <p:nvPr/>
        </p:nvSpPr>
        <p:spPr>
          <a:xfrm>
            <a:off x="6217920" y="3136320"/>
            <a:ext cx="51890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8"/>
          <p:cNvSpPr/>
          <p:nvPr/>
        </p:nvSpPr>
        <p:spPr>
          <a:xfrm>
            <a:off x="6327720" y="3154680"/>
            <a:ext cx="4992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group + age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48"/>
          <p:cNvSpPr/>
          <p:nvPr/>
        </p:nvSpPr>
        <p:spPr>
          <a:xfrm>
            <a:off x="731520" y="3730680"/>
            <a:ext cx="116568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8"/>
          <p:cNvSpPr/>
          <p:nvPr/>
        </p:nvSpPr>
        <p:spPr>
          <a:xfrm>
            <a:off x="841320" y="3749040"/>
            <a:ext cx="96876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48"/>
          <p:cNvSpPr/>
          <p:nvPr/>
        </p:nvSpPr>
        <p:spPr>
          <a:xfrm>
            <a:off x="1920240" y="3730680"/>
            <a:ext cx="42746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8"/>
          <p:cNvSpPr/>
          <p:nvPr/>
        </p:nvSpPr>
        <p:spPr>
          <a:xfrm>
            <a:off x="2030040" y="3749040"/>
            <a:ext cx="40777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add_purchase_amount()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48"/>
          <p:cNvSpPr/>
          <p:nvPr/>
        </p:nvSpPr>
        <p:spPr>
          <a:xfrm>
            <a:off x="6217920" y="3730680"/>
            <a:ext cx="51890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8"/>
          <p:cNvSpPr/>
          <p:nvPr/>
        </p:nvSpPr>
        <p:spPr>
          <a:xfrm>
            <a:off x="6327720" y="3749040"/>
            <a:ext cx="4992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… + purchase_amount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48"/>
          <p:cNvSpPr/>
          <p:nvPr/>
        </p:nvSpPr>
        <p:spPr>
          <a:xfrm>
            <a:off x="731520" y="4325040"/>
            <a:ext cx="116568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8"/>
          <p:cNvSpPr/>
          <p:nvPr/>
        </p:nvSpPr>
        <p:spPr>
          <a:xfrm>
            <a:off x="841320" y="4343400"/>
            <a:ext cx="96876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48"/>
          <p:cNvSpPr/>
          <p:nvPr/>
        </p:nvSpPr>
        <p:spPr>
          <a:xfrm>
            <a:off x="1920240" y="4325040"/>
            <a:ext cx="42746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48"/>
          <p:cNvSpPr/>
          <p:nvPr/>
        </p:nvSpPr>
        <p:spPr>
          <a:xfrm>
            <a:off x="2030040" y="4343400"/>
            <a:ext cx="40777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add_checkout_wait_minutes()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48"/>
          <p:cNvSpPr/>
          <p:nvPr/>
        </p:nvSpPr>
        <p:spPr>
          <a:xfrm>
            <a:off x="6217920" y="4325040"/>
            <a:ext cx="51890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8"/>
          <p:cNvSpPr/>
          <p:nvPr/>
        </p:nvSpPr>
        <p:spPr>
          <a:xfrm>
            <a:off x="6327720" y="4343400"/>
            <a:ext cx="4992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… + checkout_wait_minutes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48"/>
          <p:cNvSpPr/>
          <p:nvPr/>
        </p:nvSpPr>
        <p:spPr>
          <a:xfrm>
            <a:off x="731520" y="4919400"/>
            <a:ext cx="116568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8"/>
          <p:cNvSpPr/>
          <p:nvPr/>
        </p:nvSpPr>
        <p:spPr>
          <a:xfrm>
            <a:off x="841320" y="4937760"/>
            <a:ext cx="96876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48"/>
          <p:cNvSpPr/>
          <p:nvPr/>
        </p:nvSpPr>
        <p:spPr>
          <a:xfrm>
            <a:off x="1920240" y="4919400"/>
            <a:ext cx="42746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48"/>
          <p:cNvSpPr/>
          <p:nvPr/>
        </p:nvSpPr>
        <p:spPr>
          <a:xfrm>
            <a:off x="2030040" y="4937760"/>
            <a:ext cx="40777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add_distance_to_store_km()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48"/>
          <p:cNvSpPr/>
          <p:nvPr/>
        </p:nvSpPr>
        <p:spPr>
          <a:xfrm>
            <a:off x="6217920" y="4919400"/>
            <a:ext cx="5189040" cy="571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8"/>
          <p:cNvSpPr/>
          <p:nvPr/>
        </p:nvSpPr>
        <p:spPr>
          <a:xfrm>
            <a:off x="6327720" y="4937760"/>
            <a:ext cx="4992120" cy="55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… + distance_to_store_km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48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48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Chaque ajout retourne une copie ; la formule du montant reste inchangée après l'étape 3.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4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4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48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4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 AGE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4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add_age() ajoute une colonne sans modifier l'entrée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4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49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9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ENTRÉE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49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dataframe avec group.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1 200 lignes A.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800 lignes B.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Seed d'âge : 405.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49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9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SORTIE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49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copie avec age.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Centre A : 40 ans.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Centre B : 48 ans.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Écart-type : 8 ans.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49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9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Prédiction : avg(age_B) − avg(age_A) doit être proche de 8 ans.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4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49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49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50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OBSERVER LES ÂGES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50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Les profils d'âge diffèrent entre A et B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50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Les profils d'âge diffèrent entre A et B" id="1123" name="Google Shape;112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50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50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B est plus âgé en moyenne, mais les deux distributions se chevauchent largement.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5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50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50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1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ÂGES OBSERVÉS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51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Vérifier le résultat de add_age()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51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51"/>
          <p:cNvSpPr/>
          <p:nvPr/>
        </p:nvSpPr>
        <p:spPr>
          <a:xfrm>
            <a:off x="731520" y="1947600"/>
            <a:ext cx="198864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51"/>
          <p:cNvSpPr/>
          <p:nvPr/>
        </p:nvSpPr>
        <p:spPr>
          <a:xfrm>
            <a:off x="841320" y="1965960"/>
            <a:ext cx="17917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Groupe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51"/>
          <p:cNvSpPr/>
          <p:nvPr/>
        </p:nvSpPr>
        <p:spPr>
          <a:xfrm>
            <a:off x="2743200" y="1947600"/>
            <a:ext cx="235440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51"/>
          <p:cNvSpPr/>
          <p:nvPr/>
        </p:nvSpPr>
        <p:spPr>
          <a:xfrm>
            <a:off x="2853000" y="1965960"/>
            <a:ext cx="215748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Effectif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51"/>
          <p:cNvSpPr/>
          <p:nvPr/>
        </p:nvSpPr>
        <p:spPr>
          <a:xfrm>
            <a:off x="5120640" y="1947600"/>
            <a:ext cx="290304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51"/>
          <p:cNvSpPr/>
          <p:nvPr/>
        </p:nvSpPr>
        <p:spPr>
          <a:xfrm>
            <a:off x="5230440" y="1965960"/>
            <a:ext cx="27061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Âge moyen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51"/>
          <p:cNvSpPr/>
          <p:nvPr/>
        </p:nvSpPr>
        <p:spPr>
          <a:xfrm>
            <a:off x="8046720" y="1947600"/>
            <a:ext cx="336024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51"/>
          <p:cNvSpPr/>
          <p:nvPr/>
        </p:nvSpPr>
        <p:spPr>
          <a:xfrm>
            <a:off x="8156520" y="1965960"/>
            <a:ext cx="31633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Écart B−A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51"/>
          <p:cNvSpPr/>
          <p:nvPr/>
        </p:nvSpPr>
        <p:spPr>
          <a:xfrm>
            <a:off x="731520" y="2734200"/>
            <a:ext cx="19886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51"/>
          <p:cNvSpPr/>
          <p:nvPr/>
        </p:nvSpPr>
        <p:spPr>
          <a:xfrm>
            <a:off x="841320" y="2752200"/>
            <a:ext cx="17917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51"/>
          <p:cNvSpPr/>
          <p:nvPr/>
        </p:nvSpPr>
        <p:spPr>
          <a:xfrm>
            <a:off x="2743200" y="2734200"/>
            <a:ext cx="23544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51"/>
          <p:cNvSpPr/>
          <p:nvPr/>
        </p:nvSpPr>
        <p:spPr>
          <a:xfrm>
            <a:off x="2853000" y="2752200"/>
            <a:ext cx="215748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1 200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51"/>
          <p:cNvSpPr/>
          <p:nvPr/>
        </p:nvSpPr>
        <p:spPr>
          <a:xfrm>
            <a:off x="5120640" y="2734200"/>
            <a:ext cx="29030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51"/>
          <p:cNvSpPr/>
          <p:nvPr/>
        </p:nvSpPr>
        <p:spPr>
          <a:xfrm>
            <a:off x="5230440" y="2752200"/>
            <a:ext cx="27061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40.110 ans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51"/>
          <p:cNvSpPr/>
          <p:nvPr/>
        </p:nvSpPr>
        <p:spPr>
          <a:xfrm>
            <a:off x="8046720" y="2734200"/>
            <a:ext cx="33602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51"/>
          <p:cNvSpPr/>
          <p:nvPr/>
        </p:nvSpPr>
        <p:spPr>
          <a:xfrm>
            <a:off x="8156520" y="2752200"/>
            <a:ext cx="31633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51"/>
          <p:cNvSpPr/>
          <p:nvPr/>
        </p:nvSpPr>
        <p:spPr>
          <a:xfrm>
            <a:off x="731520" y="3520440"/>
            <a:ext cx="19886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51"/>
          <p:cNvSpPr/>
          <p:nvPr/>
        </p:nvSpPr>
        <p:spPr>
          <a:xfrm>
            <a:off x="841320" y="3538800"/>
            <a:ext cx="17917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51"/>
          <p:cNvSpPr/>
          <p:nvPr/>
        </p:nvSpPr>
        <p:spPr>
          <a:xfrm>
            <a:off x="2743200" y="3520440"/>
            <a:ext cx="23544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51"/>
          <p:cNvSpPr/>
          <p:nvPr/>
        </p:nvSpPr>
        <p:spPr>
          <a:xfrm>
            <a:off x="2853000" y="3538800"/>
            <a:ext cx="215748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800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51"/>
          <p:cNvSpPr/>
          <p:nvPr/>
        </p:nvSpPr>
        <p:spPr>
          <a:xfrm>
            <a:off x="5120640" y="3520440"/>
            <a:ext cx="29030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51"/>
          <p:cNvSpPr/>
          <p:nvPr/>
        </p:nvSpPr>
        <p:spPr>
          <a:xfrm>
            <a:off x="5230440" y="3538800"/>
            <a:ext cx="27061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47.868 ans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51"/>
          <p:cNvSpPr/>
          <p:nvPr/>
        </p:nvSpPr>
        <p:spPr>
          <a:xfrm>
            <a:off x="8046720" y="3520440"/>
            <a:ext cx="33602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51"/>
          <p:cNvSpPr/>
          <p:nvPr/>
        </p:nvSpPr>
        <p:spPr>
          <a:xfrm>
            <a:off x="8156520" y="3538800"/>
            <a:ext cx="31633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7.758 ans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51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51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L'écart observé n'est pas exactement 8 ans à cause du tirage aléatoire.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5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5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51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52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52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montant est calculé en deux étapes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52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52"/>
          <p:cNvSpPr/>
          <p:nvPr/>
        </p:nvSpPr>
        <p:spPr>
          <a:xfrm>
            <a:off x="896040" y="1856160"/>
            <a:ext cx="102866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12678A"/>
                </a:solidFill>
                <a:latin typeface="Courier New"/>
                <a:ea typeface="Courier New"/>
                <a:cs typeface="Courier New"/>
                <a:sym typeface="Courier New"/>
              </a:rPr>
              <a:t>1 · CALCUL AVANT ARRONDI · raw_purchase_amount =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52"/>
          <p:cNvSpPr/>
          <p:nvPr/>
        </p:nvSpPr>
        <p:spPr>
          <a:xfrm>
            <a:off x="749880" y="2359080"/>
            <a:ext cx="1828440" cy="12250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52"/>
          <p:cNvSpPr/>
          <p:nvPr/>
        </p:nvSpPr>
        <p:spPr>
          <a:xfrm>
            <a:off x="841320" y="2523600"/>
            <a:ext cx="16455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52"/>
          <p:cNvSpPr/>
          <p:nvPr/>
        </p:nvSpPr>
        <p:spPr>
          <a:xfrm>
            <a:off x="859680" y="3026520"/>
            <a:ext cx="160884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80 €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52"/>
          <p:cNvSpPr/>
          <p:nvPr/>
        </p:nvSpPr>
        <p:spPr>
          <a:xfrm>
            <a:off x="2606040" y="2670120"/>
            <a:ext cx="3106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52"/>
          <p:cNvSpPr/>
          <p:nvPr/>
        </p:nvSpPr>
        <p:spPr>
          <a:xfrm>
            <a:off x="2962800" y="2359080"/>
            <a:ext cx="2057040" cy="12250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52"/>
          <p:cNvSpPr/>
          <p:nvPr/>
        </p:nvSpPr>
        <p:spPr>
          <a:xfrm>
            <a:off x="3054240" y="2523600"/>
            <a:ext cx="18741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age_effect × age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52"/>
          <p:cNvSpPr/>
          <p:nvPr/>
        </p:nvSpPr>
        <p:spPr>
          <a:xfrm>
            <a:off x="3072240" y="3026520"/>
            <a:ext cx="183744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0,5 €/an × âge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52"/>
          <p:cNvSpPr/>
          <p:nvPr/>
        </p:nvSpPr>
        <p:spPr>
          <a:xfrm>
            <a:off x="5047560" y="2670120"/>
            <a:ext cx="3106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52"/>
          <p:cNvSpPr/>
          <p:nvPr/>
        </p:nvSpPr>
        <p:spPr>
          <a:xfrm>
            <a:off x="5403960" y="2359080"/>
            <a:ext cx="2834280" cy="12250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52"/>
          <p:cNvSpPr/>
          <p:nvPr/>
        </p:nvSpPr>
        <p:spPr>
          <a:xfrm>
            <a:off x="5495400" y="2523600"/>
            <a:ext cx="265140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group_effect × I(group=B)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52"/>
          <p:cNvSpPr/>
          <p:nvPr/>
        </p:nvSpPr>
        <p:spPr>
          <a:xfrm>
            <a:off x="5513760" y="3026520"/>
            <a:ext cx="26146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2 € pour B · 0 € pour 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52"/>
          <p:cNvSpPr/>
          <p:nvPr/>
        </p:nvSpPr>
        <p:spPr>
          <a:xfrm>
            <a:off x="8266320" y="2670120"/>
            <a:ext cx="3106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52"/>
          <p:cNvSpPr/>
          <p:nvPr/>
        </p:nvSpPr>
        <p:spPr>
          <a:xfrm>
            <a:off x="8622720" y="2359080"/>
            <a:ext cx="2825280" cy="12250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52"/>
          <p:cNvSpPr/>
          <p:nvPr/>
        </p:nvSpPr>
        <p:spPr>
          <a:xfrm>
            <a:off x="8714160" y="2523600"/>
            <a:ext cx="264240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noise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52"/>
          <p:cNvSpPr/>
          <p:nvPr/>
        </p:nvSpPr>
        <p:spPr>
          <a:xfrm>
            <a:off x="8732520" y="3026520"/>
            <a:ext cx="26056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centré sur 0 · écart-type 8 €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52"/>
          <p:cNvSpPr/>
          <p:nvPr/>
        </p:nvSpPr>
        <p:spPr>
          <a:xfrm>
            <a:off x="749880" y="3794760"/>
            <a:ext cx="10698120" cy="895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52"/>
          <p:cNvSpPr/>
          <p:nvPr/>
        </p:nvSpPr>
        <p:spPr>
          <a:xfrm>
            <a:off x="960120" y="3950280"/>
            <a:ext cx="2331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2 · ARRONDI ET STOCKAGE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52"/>
          <p:cNvSpPr/>
          <p:nvPr/>
        </p:nvSpPr>
        <p:spPr>
          <a:xfrm>
            <a:off x="3163680" y="3931920"/>
            <a:ext cx="79732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purchase_amount = round(raw_purchase_amount, 1)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52"/>
          <p:cNvSpPr/>
          <p:nvPr/>
        </p:nvSpPr>
        <p:spPr>
          <a:xfrm>
            <a:off x="749880" y="4883040"/>
            <a:ext cx="3702960" cy="7311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52"/>
          <p:cNvSpPr/>
          <p:nvPr/>
        </p:nvSpPr>
        <p:spPr>
          <a:xfrm>
            <a:off x="914400" y="4983480"/>
            <a:ext cx="33739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INDICATEUR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52"/>
          <p:cNvSpPr/>
          <p:nvPr/>
        </p:nvSpPr>
        <p:spPr>
          <a:xfrm>
            <a:off x="914400" y="5230440"/>
            <a:ext cx="3373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I(group=B) vaut 1 pour B et 0 pour 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52"/>
          <p:cNvSpPr/>
          <p:nvPr/>
        </p:nvSpPr>
        <p:spPr>
          <a:xfrm>
            <a:off x="4590360" y="4883040"/>
            <a:ext cx="6857640" cy="7311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52"/>
          <p:cNvSpPr/>
          <p:nvPr/>
        </p:nvSpPr>
        <p:spPr>
          <a:xfrm>
            <a:off x="4754880" y="4983480"/>
            <a:ext cx="65286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RÉSOLUTION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52"/>
          <p:cNvSpPr/>
          <p:nvPr/>
        </p:nvSpPr>
        <p:spPr>
          <a:xfrm>
            <a:off x="4754880" y="5230440"/>
            <a:ext cx="6528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Arrondi au dixième d'euro avant l'écriture dans le CSV.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52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52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Arrondi au dixième : incréments de 0,10 €. Le CSV écrit 123.40 ; pandas peut afficher 123.4 : même valeur.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5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52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52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53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EXEMPLES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53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Lire la règle sur trois personnes sans bruit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53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53"/>
          <p:cNvSpPr/>
          <p:nvPr/>
        </p:nvSpPr>
        <p:spPr>
          <a:xfrm>
            <a:off x="731520" y="1947600"/>
            <a:ext cx="272016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53"/>
          <p:cNvSpPr/>
          <p:nvPr/>
        </p:nvSpPr>
        <p:spPr>
          <a:xfrm>
            <a:off x="841320" y="196596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Personne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53"/>
          <p:cNvSpPr/>
          <p:nvPr/>
        </p:nvSpPr>
        <p:spPr>
          <a:xfrm>
            <a:off x="3474720" y="1947600"/>
            <a:ext cx="46400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53"/>
          <p:cNvSpPr/>
          <p:nvPr/>
        </p:nvSpPr>
        <p:spPr>
          <a:xfrm>
            <a:off x="3584520" y="1965960"/>
            <a:ext cx="44434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Calcul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53"/>
          <p:cNvSpPr/>
          <p:nvPr/>
        </p:nvSpPr>
        <p:spPr>
          <a:xfrm>
            <a:off x="8138160" y="1947600"/>
            <a:ext cx="326880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53"/>
          <p:cNvSpPr/>
          <p:nvPr/>
        </p:nvSpPr>
        <p:spPr>
          <a:xfrm>
            <a:off x="8247960" y="1965960"/>
            <a:ext cx="30718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Montant attendu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53"/>
          <p:cNvSpPr/>
          <p:nvPr/>
        </p:nvSpPr>
        <p:spPr>
          <a:xfrm>
            <a:off x="731520" y="266076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53"/>
          <p:cNvSpPr/>
          <p:nvPr/>
        </p:nvSpPr>
        <p:spPr>
          <a:xfrm>
            <a:off x="841320" y="267912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 · 40 ans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53"/>
          <p:cNvSpPr/>
          <p:nvPr/>
        </p:nvSpPr>
        <p:spPr>
          <a:xfrm>
            <a:off x="3474720" y="2660760"/>
            <a:ext cx="46400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53"/>
          <p:cNvSpPr/>
          <p:nvPr/>
        </p:nvSpPr>
        <p:spPr>
          <a:xfrm>
            <a:off x="3584520" y="2679120"/>
            <a:ext cx="44434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 + 0.5 × 40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53"/>
          <p:cNvSpPr/>
          <p:nvPr/>
        </p:nvSpPr>
        <p:spPr>
          <a:xfrm>
            <a:off x="8138160" y="2660760"/>
            <a:ext cx="32688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53"/>
          <p:cNvSpPr/>
          <p:nvPr/>
        </p:nvSpPr>
        <p:spPr>
          <a:xfrm>
            <a:off x="8247960" y="2679120"/>
            <a:ext cx="30718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100 €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53"/>
          <p:cNvSpPr/>
          <p:nvPr/>
        </p:nvSpPr>
        <p:spPr>
          <a:xfrm>
            <a:off x="731520" y="337428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53"/>
          <p:cNvSpPr/>
          <p:nvPr/>
        </p:nvSpPr>
        <p:spPr>
          <a:xfrm>
            <a:off x="841320" y="339228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 · 40 ans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53"/>
          <p:cNvSpPr/>
          <p:nvPr/>
        </p:nvSpPr>
        <p:spPr>
          <a:xfrm>
            <a:off x="3474720" y="3374280"/>
            <a:ext cx="46400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53"/>
          <p:cNvSpPr/>
          <p:nvPr/>
        </p:nvSpPr>
        <p:spPr>
          <a:xfrm>
            <a:off x="3584520" y="3392280"/>
            <a:ext cx="44434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 + 0.5 × 40 + 2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53"/>
          <p:cNvSpPr/>
          <p:nvPr/>
        </p:nvSpPr>
        <p:spPr>
          <a:xfrm>
            <a:off x="8138160" y="3374280"/>
            <a:ext cx="32688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53"/>
          <p:cNvSpPr/>
          <p:nvPr/>
        </p:nvSpPr>
        <p:spPr>
          <a:xfrm>
            <a:off x="8247960" y="3392280"/>
            <a:ext cx="30718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102 €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53"/>
          <p:cNvSpPr/>
          <p:nvPr/>
        </p:nvSpPr>
        <p:spPr>
          <a:xfrm>
            <a:off x="731520" y="408744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53"/>
          <p:cNvSpPr/>
          <p:nvPr/>
        </p:nvSpPr>
        <p:spPr>
          <a:xfrm>
            <a:off x="841320" y="410580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 · 48 ans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53"/>
          <p:cNvSpPr/>
          <p:nvPr/>
        </p:nvSpPr>
        <p:spPr>
          <a:xfrm>
            <a:off x="3474720" y="4087440"/>
            <a:ext cx="46400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53"/>
          <p:cNvSpPr/>
          <p:nvPr/>
        </p:nvSpPr>
        <p:spPr>
          <a:xfrm>
            <a:off x="3584520" y="4105800"/>
            <a:ext cx="44434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 + 0.5 × 48 + 2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53"/>
          <p:cNvSpPr/>
          <p:nvPr/>
        </p:nvSpPr>
        <p:spPr>
          <a:xfrm>
            <a:off x="8138160" y="4087440"/>
            <a:ext cx="326880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53"/>
          <p:cNvSpPr/>
          <p:nvPr/>
        </p:nvSpPr>
        <p:spPr>
          <a:xfrm>
            <a:off x="8247960" y="4105800"/>
            <a:ext cx="307188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106 €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53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53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Comparer A et B à 40 ans isole le terme group_effect associé à B ; comparer B à 40 et 48 ans isole l'âge.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5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5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53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MONTANTS OBSERVÉS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5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montant moyen observé est plus élevé dans B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5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Le montant moyen observé est plus élevé dans B" id="1245" name="Google Shape;124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54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54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Écart brut = avg(purchase_amount_B) − avg(purchase_amount_A), avant de séparer les contributions programmées.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5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54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54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55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RÉSULTATS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55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Deux écarts observés dans les mêmes groupes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55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55"/>
          <p:cNvSpPr/>
          <p:nvPr/>
        </p:nvSpPr>
        <p:spPr>
          <a:xfrm>
            <a:off x="731520" y="1947600"/>
            <a:ext cx="290304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55"/>
          <p:cNvSpPr/>
          <p:nvPr/>
        </p:nvSpPr>
        <p:spPr>
          <a:xfrm>
            <a:off x="841320" y="1965960"/>
            <a:ext cx="27061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55"/>
          <p:cNvSpPr/>
          <p:nvPr/>
        </p:nvSpPr>
        <p:spPr>
          <a:xfrm>
            <a:off x="3657600" y="1947600"/>
            <a:ext cx="253728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55"/>
          <p:cNvSpPr/>
          <p:nvPr/>
        </p:nvSpPr>
        <p:spPr>
          <a:xfrm>
            <a:off x="3767400" y="1965960"/>
            <a:ext cx="234036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Moyenne 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55"/>
          <p:cNvSpPr/>
          <p:nvPr/>
        </p:nvSpPr>
        <p:spPr>
          <a:xfrm>
            <a:off x="6217920" y="1947600"/>
            <a:ext cx="253728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55"/>
          <p:cNvSpPr/>
          <p:nvPr/>
        </p:nvSpPr>
        <p:spPr>
          <a:xfrm>
            <a:off x="6327720" y="1965960"/>
            <a:ext cx="234036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Moyenne B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55"/>
          <p:cNvSpPr/>
          <p:nvPr/>
        </p:nvSpPr>
        <p:spPr>
          <a:xfrm>
            <a:off x="8778240" y="1947600"/>
            <a:ext cx="262872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55"/>
          <p:cNvSpPr/>
          <p:nvPr/>
        </p:nvSpPr>
        <p:spPr>
          <a:xfrm>
            <a:off x="8888040" y="1965960"/>
            <a:ext cx="243180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Écart B−A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55"/>
          <p:cNvSpPr/>
          <p:nvPr/>
        </p:nvSpPr>
        <p:spPr>
          <a:xfrm>
            <a:off x="731520" y="2734200"/>
            <a:ext cx="29030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55"/>
          <p:cNvSpPr/>
          <p:nvPr/>
        </p:nvSpPr>
        <p:spPr>
          <a:xfrm>
            <a:off x="841320" y="2752200"/>
            <a:ext cx="27061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55"/>
          <p:cNvSpPr/>
          <p:nvPr/>
        </p:nvSpPr>
        <p:spPr>
          <a:xfrm>
            <a:off x="3657600" y="2734200"/>
            <a:ext cx="253728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55"/>
          <p:cNvSpPr/>
          <p:nvPr/>
        </p:nvSpPr>
        <p:spPr>
          <a:xfrm>
            <a:off x="3767400" y="2752200"/>
            <a:ext cx="234036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40.110 ans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55"/>
          <p:cNvSpPr/>
          <p:nvPr/>
        </p:nvSpPr>
        <p:spPr>
          <a:xfrm>
            <a:off x="6217920" y="2734200"/>
            <a:ext cx="253728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55"/>
          <p:cNvSpPr/>
          <p:nvPr/>
        </p:nvSpPr>
        <p:spPr>
          <a:xfrm>
            <a:off x="6327720" y="2752200"/>
            <a:ext cx="234036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47.868 ans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55"/>
          <p:cNvSpPr/>
          <p:nvPr/>
        </p:nvSpPr>
        <p:spPr>
          <a:xfrm>
            <a:off x="8778240" y="2734200"/>
            <a:ext cx="26287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55"/>
          <p:cNvSpPr/>
          <p:nvPr/>
        </p:nvSpPr>
        <p:spPr>
          <a:xfrm>
            <a:off x="8888040" y="2752200"/>
            <a:ext cx="243180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7.758 ans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55"/>
          <p:cNvSpPr/>
          <p:nvPr/>
        </p:nvSpPr>
        <p:spPr>
          <a:xfrm>
            <a:off x="731520" y="3520440"/>
            <a:ext cx="29030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55"/>
          <p:cNvSpPr/>
          <p:nvPr/>
        </p:nvSpPr>
        <p:spPr>
          <a:xfrm>
            <a:off x="841320" y="3538800"/>
            <a:ext cx="27061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55"/>
          <p:cNvSpPr/>
          <p:nvPr/>
        </p:nvSpPr>
        <p:spPr>
          <a:xfrm>
            <a:off x="3657600" y="3520440"/>
            <a:ext cx="253728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55"/>
          <p:cNvSpPr/>
          <p:nvPr/>
        </p:nvSpPr>
        <p:spPr>
          <a:xfrm>
            <a:off x="3767400" y="3538800"/>
            <a:ext cx="234036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100.084 €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55"/>
          <p:cNvSpPr/>
          <p:nvPr/>
        </p:nvSpPr>
        <p:spPr>
          <a:xfrm>
            <a:off x="6217920" y="3520440"/>
            <a:ext cx="253728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55"/>
          <p:cNvSpPr/>
          <p:nvPr/>
        </p:nvSpPr>
        <p:spPr>
          <a:xfrm>
            <a:off x="6327720" y="3538800"/>
            <a:ext cx="234036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105.960 €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55"/>
          <p:cNvSpPr/>
          <p:nvPr/>
        </p:nvSpPr>
        <p:spPr>
          <a:xfrm>
            <a:off x="8778240" y="3520440"/>
            <a:ext cx="26287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55"/>
          <p:cNvSpPr/>
          <p:nvPr/>
        </p:nvSpPr>
        <p:spPr>
          <a:xfrm>
            <a:off x="8888040" y="3538800"/>
            <a:ext cx="243180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5.876 €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55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55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moyennes sont affichées à trois décimales ; chaque montant individuel reste arrondi au dixième d'euro.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5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5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55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56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DÉCOMPOSITION CONNUE PAR CONSTRUCTION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56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Décomposer l'écart A/B dans le générateur simulé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56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Décomposer l'écart A/B dans le générateur simulé" id="1294" name="Google Shape;129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56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56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Résidu observé = bruit + arrondi ; ici : 5.876 = 3.879 + 2.000 − 0.003 €.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5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56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56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57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MÉCANISME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57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Ce qui est programmé — et ce qui est observé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57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57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57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PROGRAMMÉ DANS LE GÉNÉRATEUR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57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group choisit le profil d'âge.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Chaque année ajoute 0.50 €.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group_effect associe 2 € à B à âge égal.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calcul brut est arrondi au dixième.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57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57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OBSERVÉ DANS CET ÉCHANTILLON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7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Écart d'âge : 7.758 ans.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Écart de montant : 5.876 €.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Résidu bruit + arrondi : −0.003 €.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Les points restent dispersés.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57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57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décomposition est possible parce que nous connaissons le code générateur de cette simulation.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5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57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5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5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Deux valeurs réunies sur chaque ligne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5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58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58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X · age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58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Variable quantitative.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Unité : année.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Ajoutée par add_age().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58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58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Y · purchase_amount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58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Variable quantitative.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Unité : euro.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Ajoutée après age.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58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58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Chaque point du nuage utilise l'âge et le montant provenant de la même personne simulée.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5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5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58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5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RÈGLE ATTENDUE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5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Deux droites moyennes parallèles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5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59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59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GROUPE 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59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Montant moyen attendu :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 + 0.5 × age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Pente : +0.5 € par an.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59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59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GROUPE B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59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Montant moyen attendu :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 + 0.5 × age + 2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Même pente, décalage de +2 €.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59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59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bruit disperse les points autour de ces droites sans changer la règle moyenne.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5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59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59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60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ACTION ÉTUDIANTE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60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À partir de la formule : prévoir les droites moyennes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60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60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60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DANS LE NOTEBOOK · SECTION 5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60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Prévoir le sens et la pente des droites.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Prévoir le décalage de B.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Relier le chevauchement au bruit.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60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60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PREUVE ATTENDUE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60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nuage coloré par group.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Deux droites attendues.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phrase sur A+B, A et B.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0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60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Fichier : notebooks/01_age_montant_association_FR.ipynb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0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60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1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OBSERVER AVANT DE CALCULER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1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montant augmente avec l'âge dans A et dans B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61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Le montant augmente avec l'âge dans A et dans B" id="1379" name="Google Shape;137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61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61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pente existe dans chaque groupe ; B est aussi plus âgé en moyenne et décalé de 2 € à âge égal.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61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61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62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LECTURE DU GRAPHIQUE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62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Décrire le nuage sans dépasser les données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62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62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62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CE QUE NOUS OBSERVONS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62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croissante.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Forte dispersion.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Chevauchement A/B.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 plus présent aux âges élevés.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62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62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CE QUE LE GRAPHIQUE NE SUFFIT PAS À PROUVER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62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cause dans le monde réel.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prévision individuelle fiable.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L'absence d'autres variables.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mécanisme hors simulation.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62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62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Ici, le code révèle le mécanisme ; dans une étude réelle, le graphique seul ne le révèle pas.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6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62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62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63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PÉRIMÈTRE DE L'ANALYSE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63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L'association est positive dans les trois périmètres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63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L'association est positive dans les trois périmètres" id="1410" name="Google Shape;141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63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63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règle âge–montant agit dans A comme dans B ; le résultat global inclut aussi les différences de profils.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6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63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63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4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64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COMPARER TROIS MÉCANISMES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64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64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Lien direct, fluctuation et composition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64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Même montant · mêmes périmètres · trois règles de génération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6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64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64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65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CONTRAT DE SIMULATION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65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Trois variables, trois mécanismes programmés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65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65"/>
          <p:cNvSpPr/>
          <p:nvPr/>
        </p:nvSpPr>
        <p:spPr>
          <a:xfrm>
            <a:off x="731520" y="1947600"/>
            <a:ext cx="272016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65"/>
          <p:cNvSpPr/>
          <p:nvPr/>
        </p:nvSpPr>
        <p:spPr>
          <a:xfrm>
            <a:off x="841320" y="196596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65"/>
          <p:cNvSpPr/>
          <p:nvPr/>
        </p:nvSpPr>
        <p:spPr>
          <a:xfrm>
            <a:off x="3474720" y="1947600"/>
            <a:ext cx="33602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65"/>
          <p:cNvSpPr/>
          <p:nvPr/>
        </p:nvSpPr>
        <p:spPr>
          <a:xfrm>
            <a:off x="3584520" y="1965960"/>
            <a:ext cx="31633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Fonction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65"/>
          <p:cNvSpPr/>
          <p:nvPr/>
        </p:nvSpPr>
        <p:spPr>
          <a:xfrm>
            <a:off x="6858000" y="1947600"/>
            <a:ext cx="198864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65"/>
          <p:cNvSpPr/>
          <p:nvPr/>
        </p:nvSpPr>
        <p:spPr>
          <a:xfrm>
            <a:off x="6967800" y="1965960"/>
            <a:ext cx="17917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Colonnes lues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65"/>
          <p:cNvSpPr/>
          <p:nvPr/>
        </p:nvSpPr>
        <p:spPr>
          <a:xfrm>
            <a:off x="8869680" y="1947600"/>
            <a:ext cx="2537280" cy="69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65"/>
          <p:cNvSpPr/>
          <p:nvPr/>
        </p:nvSpPr>
        <p:spPr>
          <a:xfrm>
            <a:off x="8979480" y="1965960"/>
            <a:ext cx="23403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Lien au montant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65"/>
          <p:cNvSpPr/>
          <p:nvPr/>
        </p:nvSpPr>
        <p:spPr>
          <a:xfrm>
            <a:off x="731520" y="266076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65"/>
          <p:cNvSpPr/>
          <p:nvPr/>
        </p:nvSpPr>
        <p:spPr>
          <a:xfrm>
            <a:off x="841320" y="267912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checkout_wait_minutes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65"/>
          <p:cNvSpPr/>
          <p:nvPr/>
        </p:nvSpPr>
        <p:spPr>
          <a:xfrm>
            <a:off x="3474720" y="2660760"/>
            <a:ext cx="33602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65"/>
          <p:cNvSpPr/>
          <p:nvPr/>
        </p:nvSpPr>
        <p:spPr>
          <a:xfrm>
            <a:off x="3584520" y="2679120"/>
            <a:ext cx="31633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add_checkout_wait_minutes()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65"/>
          <p:cNvSpPr/>
          <p:nvPr/>
        </p:nvSpPr>
        <p:spPr>
          <a:xfrm>
            <a:off x="6858000" y="2660760"/>
            <a:ext cx="19886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65"/>
          <p:cNvSpPr/>
          <p:nvPr/>
        </p:nvSpPr>
        <p:spPr>
          <a:xfrm>
            <a:off x="6967800" y="2679120"/>
            <a:ext cx="17917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Aucune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65"/>
          <p:cNvSpPr/>
          <p:nvPr/>
        </p:nvSpPr>
        <p:spPr>
          <a:xfrm>
            <a:off x="8869680" y="2660760"/>
            <a:ext cx="25372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65"/>
          <p:cNvSpPr/>
          <p:nvPr/>
        </p:nvSpPr>
        <p:spPr>
          <a:xfrm>
            <a:off x="8979480" y="2679120"/>
            <a:ext cx="23403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Aucun lien programmé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65"/>
          <p:cNvSpPr/>
          <p:nvPr/>
        </p:nvSpPr>
        <p:spPr>
          <a:xfrm>
            <a:off x="731520" y="337428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65"/>
          <p:cNvSpPr/>
          <p:nvPr/>
        </p:nvSpPr>
        <p:spPr>
          <a:xfrm>
            <a:off x="841320" y="339228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distance_to_store_km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65"/>
          <p:cNvSpPr/>
          <p:nvPr/>
        </p:nvSpPr>
        <p:spPr>
          <a:xfrm>
            <a:off x="3474720" y="3374280"/>
            <a:ext cx="33602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65"/>
          <p:cNvSpPr/>
          <p:nvPr/>
        </p:nvSpPr>
        <p:spPr>
          <a:xfrm>
            <a:off x="3584520" y="3392280"/>
            <a:ext cx="31633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add_distance_to_store_km()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65"/>
          <p:cNvSpPr/>
          <p:nvPr/>
        </p:nvSpPr>
        <p:spPr>
          <a:xfrm>
            <a:off x="6858000" y="3374280"/>
            <a:ext cx="19886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65"/>
          <p:cNvSpPr/>
          <p:nvPr/>
        </p:nvSpPr>
        <p:spPr>
          <a:xfrm>
            <a:off x="6967800" y="3392280"/>
            <a:ext cx="17917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65"/>
          <p:cNvSpPr/>
          <p:nvPr/>
        </p:nvSpPr>
        <p:spPr>
          <a:xfrm>
            <a:off x="8869680" y="3374280"/>
            <a:ext cx="25372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65"/>
          <p:cNvSpPr/>
          <p:nvPr/>
        </p:nvSpPr>
        <p:spPr>
          <a:xfrm>
            <a:off x="8979480" y="3392280"/>
            <a:ext cx="23403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Aucun terme direct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65"/>
          <p:cNvSpPr/>
          <p:nvPr/>
        </p:nvSpPr>
        <p:spPr>
          <a:xfrm>
            <a:off x="731520" y="4087440"/>
            <a:ext cx="272016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65"/>
          <p:cNvSpPr/>
          <p:nvPr/>
        </p:nvSpPr>
        <p:spPr>
          <a:xfrm>
            <a:off x="841320" y="4105800"/>
            <a:ext cx="252324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65"/>
          <p:cNvSpPr/>
          <p:nvPr/>
        </p:nvSpPr>
        <p:spPr>
          <a:xfrm>
            <a:off x="3474720" y="4087440"/>
            <a:ext cx="33602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65"/>
          <p:cNvSpPr/>
          <p:nvPr/>
        </p:nvSpPr>
        <p:spPr>
          <a:xfrm>
            <a:off x="3584520" y="4105800"/>
            <a:ext cx="31633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add_age()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65"/>
          <p:cNvSpPr/>
          <p:nvPr/>
        </p:nvSpPr>
        <p:spPr>
          <a:xfrm>
            <a:off x="6858000" y="4087440"/>
            <a:ext cx="198864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65"/>
          <p:cNvSpPr/>
          <p:nvPr/>
        </p:nvSpPr>
        <p:spPr>
          <a:xfrm>
            <a:off x="6967800" y="4105800"/>
            <a:ext cx="179172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65"/>
          <p:cNvSpPr/>
          <p:nvPr/>
        </p:nvSpPr>
        <p:spPr>
          <a:xfrm>
            <a:off x="8869680" y="4087440"/>
            <a:ext cx="2537280" cy="690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65"/>
          <p:cNvSpPr/>
          <p:nvPr/>
        </p:nvSpPr>
        <p:spPr>
          <a:xfrm>
            <a:off x="8979480" y="4105800"/>
            <a:ext cx="2340360" cy="67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Entre dans la formule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65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65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deux nouvelles fonctions ne lisent jamais purchase_amount ; la distance lit seulement group.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6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65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65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66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DISTRIBUTIONS A/B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66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L'attente et la distance ne suivent pas la même règle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66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L'attente et la distance ne suivent pas la même règle" id="1479" name="Google Shape;147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840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66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66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Attente : même loi pour chaque transaction · distance domicile–magasin plus grande en moyenne dans B.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6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66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66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67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EFFET DE COMPOSITION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67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Pourquoi la distance semble-t-elle liée au montant ?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67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67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67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DANS A+B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67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distance domicile–magasin est plus grande en moyenne dans B.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 a aussi un montant moyen plus élevé.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Réunir A et B crée une tendance globale positive.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67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67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DANS A ET DANS B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67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distance est tirée indépendamment de l'âge et du bruit du montant.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Aucune pente interne n'est programmée.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Les r observés sont proches de zéro.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67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67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tendance globale ne prouve pas qu'une plus grande distance augmente l'achat ; ce n'est pas un test causal.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6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67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67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6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ACTION ET LIMITE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6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Conclure dans le notebook, sans généraliser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6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68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68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DANS CETTE SIMULATION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68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Attente : aucune association programmée.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Distance : association globale de composition, sans pente programmée dans A ou B.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Âge : effet direct programmé.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Ces mécanismes sont connus par construction.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68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68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DANS DES DONNÉES RÉELLES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68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corrélation ne démontre pas une cause.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D'autres variables peuvent intervenir.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plan d'étude détermine les conclusions permises.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Répondre dans les zones prévues du notebook.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68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68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Pour chaque nuage : décrire A+B, A et B, puis relier le résultat au code générateur.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6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68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68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6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SYNTHÈSE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6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Cadre de lecture final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6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69"/>
          <p:cNvSpPr/>
          <p:nvPr/>
        </p:nvSpPr>
        <p:spPr>
          <a:xfrm>
            <a:off x="731520" y="1947600"/>
            <a:ext cx="1165680" cy="6350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69"/>
          <p:cNvSpPr/>
          <p:nvPr/>
        </p:nvSpPr>
        <p:spPr>
          <a:xfrm>
            <a:off x="841320" y="1965960"/>
            <a:ext cx="96876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Étape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69"/>
          <p:cNvSpPr/>
          <p:nvPr/>
        </p:nvSpPr>
        <p:spPr>
          <a:xfrm>
            <a:off x="1920240" y="1947600"/>
            <a:ext cx="4548960" cy="6350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69"/>
          <p:cNvSpPr/>
          <p:nvPr/>
        </p:nvSpPr>
        <p:spPr>
          <a:xfrm>
            <a:off x="2030040" y="1965960"/>
            <a:ext cx="43520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69"/>
          <p:cNvSpPr/>
          <p:nvPr/>
        </p:nvSpPr>
        <p:spPr>
          <a:xfrm>
            <a:off x="6492240" y="1947600"/>
            <a:ext cx="4914720" cy="6350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69"/>
          <p:cNvSpPr/>
          <p:nvPr/>
        </p:nvSpPr>
        <p:spPr>
          <a:xfrm>
            <a:off x="6602040" y="1965960"/>
            <a:ext cx="471780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Preuve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69"/>
          <p:cNvSpPr/>
          <p:nvPr/>
        </p:nvSpPr>
        <p:spPr>
          <a:xfrm>
            <a:off x="731520" y="2606040"/>
            <a:ext cx="116568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69"/>
          <p:cNvSpPr/>
          <p:nvPr/>
        </p:nvSpPr>
        <p:spPr>
          <a:xfrm>
            <a:off x="841320" y="2624400"/>
            <a:ext cx="96876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69"/>
          <p:cNvSpPr/>
          <p:nvPr/>
        </p:nvSpPr>
        <p:spPr>
          <a:xfrm>
            <a:off x="1920240" y="2606040"/>
            <a:ext cx="454896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69"/>
          <p:cNvSpPr/>
          <p:nvPr/>
        </p:nvSpPr>
        <p:spPr>
          <a:xfrm>
            <a:off x="2030040" y="2624400"/>
            <a:ext cx="43520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Comment le dataset est-il construit 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69"/>
          <p:cNvSpPr/>
          <p:nvPr/>
        </p:nvSpPr>
        <p:spPr>
          <a:xfrm>
            <a:off x="6492240" y="2606040"/>
            <a:ext cx="491472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69"/>
          <p:cNvSpPr/>
          <p:nvPr/>
        </p:nvSpPr>
        <p:spPr>
          <a:xfrm>
            <a:off x="6602040" y="2624400"/>
            <a:ext cx="471780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Cinq fonctions successives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69"/>
          <p:cNvSpPr/>
          <p:nvPr/>
        </p:nvSpPr>
        <p:spPr>
          <a:xfrm>
            <a:off x="731520" y="3264480"/>
            <a:ext cx="116568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69"/>
          <p:cNvSpPr/>
          <p:nvPr/>
        </p:nvSpPr>
        <p:spPr>
          <a:xfrm>
            <a:off x="841320" y="3282840"/>
            <a:ext cx="96876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69"/>
          <p:cNvSpPr/>
          <p:nvPr/>
        </p:nvSpPr>
        <p:spPr>
          <a:xfrm>
            <a:off x="1920240" y="3264480"/>
            <a:ext cx="454896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69"/>
          <p:cNvSpPr/>
          <p:nvPr/>
        </p:nvSpPr>
        <p:spPr>
          <a:xfrm>
            <a:off x="2030040" y="3282840"/>
            <a:ext cx="43520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Quelle règle produit chaque X 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69"/>
          <p:cNvSpPr/>
          <p:nvPr/>
        </p:nvSpPr>
        <p:spPr>
          <a:xfrm>
            <a:off x="6492240" y="3264480"/>
            <a:ext cx="491472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69"/>
          <p:cNvSpPr/>
          <p:nvPr/>
        </p:nvSpPr>
        <p:spPr>
          <a:xfrm>
            <a:off x="6602040" y="3282840"/>
            <a:ext cx="471780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Lien direct · aucune association programmée · composition via group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69"/>
          <p:cNvSpPr/>
          <p:nvPr/>
        </p:nvSpPr>
        <p:spPr>
          <a:xfrm>
            <a:off x="731520" y="3922920"/>
            <a:ext cx="116568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69"/>
          <p:cNvSpPr/>
          <p:nvPr/>
        </p:nvSpPr>
        <p:spPr>
          <a:xfrm>
            <a:off x="841320" y="3940920"/>
            <a:ext cx="96876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69"/>
          <p:cNvSpPr/>
          <p:nvPr/>
        </p:nvSpPr>
        <p:spPr>
          <a:xfrm>
            <a:off x="1920240" y="3922920"/>
            <a:ext cx="454896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69"/>
          <p:cNvSpPr/>
          <p:nvPr/>
        </p:nvSpPr>
        <p:spPr>
          <a:xfrm>
            <a:off x="2030040" y="3940920"/>
            <a:ext cx="43520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Quel périmètre est analysé 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69"/>
          <p:cNvSpPr/>
          <p:nvPr/>
        </p:nvSpPr>
        <p:spPr>
          <a:xfrm>
            <a:off x="6492240" y="3922920"/>
            <a:ext cx="491472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69"/>
          <p:cNvSpPr/>
          <p:nvPr/>
        </p:nvSpPr>
        <p:spPr>
          <a:xfrm>
            <a:off x="6602040" y="3940920"/>
            <a:ext cx="471780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A+B, A ou B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69"/>
          <p:cNvSpPr/>
          <p:nvPr/>
        </p:nvSpPr>
        <p:spPr>
          <a:xfrm>
            <a:off x="731520" y="4581000"/>
            <a:ext cx="116568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69"/>
          <p:cNvSpPr/>
          <p:nvPr/>
        </p:nvSpPr>
        <p:spPr>
          <a:xfrm>
            <a:off x="841320" y="4599360"/>
            <a:ext cx="96876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69"/>
          <p:cNvSpPr/>
          <p:nvPr/>
        </p:nvSpPr>
        <p:spPr>
          <a:xfrm>
            <a:off x="1920240" y="4581000"/>
            <a:ext cx="454896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69"/>
          <p:cNvSpPr/>
          <p:nvPr/>
        </p:nvSpPr>
        <p:spPr>
          <a:xfrm>
            <a:off x="2030040" y="4599360"/>
            <a:ext cx="43520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Que peut-on conclure 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69"/>
          <p:cNvSpPr/>
          <p:nvPr/>
        </p:nvSpPr>
        <p:spPr>
          <a:xfrm>
            <a:off x="6492240" y="4581000"/>
            <a:ext cx="4914720" cy="635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69"/>
          <p:cNvSpPr/>
          <p:nvPr/>
        </p:nvSpPr>
        <p:spPr>
          <a:xfrm>
            <a:off x="6602040" y="4599360"/>
            <a:ext cx="471780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Mécanisme simulé ; causalité limitée au modèle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69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69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Observer → calculer → interpréter → vérifier le mécanisme dans le code et en préciser les limites.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6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01.10.2026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69"/>
          <p:cNvSpPr/>
          <p:nvPr/>
        </p:nvSpPr>
        <p:spPr>
          <a:xfrm>
            <a:off x="10625400" y="6546960"/>
            <a:ext cx="8683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69 / 69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Olivier Delrieu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