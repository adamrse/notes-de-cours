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5" roundtripDataSignature="AMtx7mgidPLIb7Z0Sa/ddglQKLLziNeO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65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7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7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7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7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8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8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8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8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8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6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6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6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1" name="Google Shape;161;p6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4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4" name="Google Shape;164;p8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8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8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9" name="Google Shape;169;p85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0" name="Google Shape;170;p8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8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8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6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5" name="Google Shape;175;p86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6" name="Google Shape;176;p8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8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8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1" name="Google Shape;181;p87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2" name="Google Shape;182;p8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8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8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8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7" name="Google Shape;187;p88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8" name="Google Shape;188;p8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8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8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3" name="Google Shape;193;p89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4" name="Google Shape;194;p89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5" name="Google Shape;195;p8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8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8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0" name="Google Shape;200;p90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1" name="Google Shape;201;p90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2" name="Google Shape;202;p90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3" name="Google Shape;203;p90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4" name="Google Shape;204;p9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9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9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9" name="Google Shape;209;p9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9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9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2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4" name="Google Shape;214;p92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5" name="Google Shape;215;p92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6" name="Google Shape;216;p9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9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9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3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1" name="Google Shape;221;p93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2" name="Google Shape;222;p93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3" name="Google Shape;223;p9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p9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9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numpy.org/doc/stable/reference/generated/numpy.polyfit.html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OLIVIER DELRIEU</a:t>
            </a:r>
            <a:endParaRPr/>
          </a:p>
        </p:txBody>
      </p:sp>
      <p:sp>
        <p:nvSpPr>
          <p:cNvPr id="231" name="Google Shape;231;p1"/>
          <p:cNvSpPr txBox="1"/>
          <p:nvPr/>
        </p:nvSpPr>
        <p:spPr>
          <a:xfrm>
            <a:off x="777240" y="1828800"/>
            <a:ext cx="10789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Collaborer et expliquer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 analyse</a:t>
            </a:r>
            <a:endParaRPr/>
          </a:p>
        </p:txBody>
      </p:sp>
      <p:sp>
        <p:nvSpPr>
          <p:cNvPr id="232" name="Google Shape;232;p1"/>
          <p:cNvSpPr txBox="1"/>
          <p:nvPr/>
        </p:nvSpPr>
        <p:spPr>
          <a:xfrm>
            <a:off x="804672" y="41148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Git sur main, évaluation des modèles et bilan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Vendredi 9 octobre 2026</a:t>
            </a:r>
            <a:endParaRPr/>
          </a:p>
        </p:txBody>
      </p:sp>
      <p:sp>
        <p:nvSpPr>
          <p:cNvPr id="233" name="Google Shape;233;p1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234" name="Google Shape;234;p1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/ 57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RETROUVER SA COPIE DANS VS CODE</a:t>
            </a:r>
            <a:endParaRPr/>
          </a:p>
        </p:txBody>
      </p:sp>
      <p:sp>
        <p:nvSpPr>
          <p:cNvPr id="240" name="Google Shape;240;p2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Comme jeudi : chacun travaille sur main</a:t>
            </a:r>
            <a:endParaRPr/>
          </a:p>
        </p:txBody>
      </p:sp>
      <p:sp>
        <p:nvSpPr>
          <p:cNvPr id="241" name="Google Shape;241;p2"/>
          <p:cNvSpPr txBox="1"/>
          <p:nvPr/>
        </p:nvSpPr>
        <p:spPr>
          <a:xfrm>
            <a:off x="640080" y="1828800"/>
            <a:ext cx="10927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Déjà cloné ? Ouvrir votre dossier atelier-git dans VS Code.</a:t>
            </a:r>
            <a:endParaRPr/>
          </a:p>
        </p:txBody>
      </p:sp>
      <p:sp>
        <p:nvSpPr>
          <p:cNvPr id="242" name="Google Shape;242;p2"/>
          <p:cNvSpPr/>
          <p:nvPr/>
        </p:nvSpPr>
        <p:spPr>
          <a:xfrm>
            <a:off x="594360" y="2441448"/>
            <a:ext cx="11000232" cy="1124712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"/>
          <p:cNvSpPr txBox="1"/>
          <p:nvPr/>
        </p:nvSpPr>
        <p:spPr>
          <a:xfrm>
            <a:off x="813816" y="2596896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COMMANDE UTILISÉE PAR OLIVIER · NOUVELLE COPIE</a:t>
            </a:r>
            <a:endParaRPr/>
          </a:p>
        </p:txBody>
      </p:sp>
      <p:sp>
        <p:nvSpPr>
          <p:cNvPr id="244" name="Google Shape;244;p2"/>
          <p:cNvSpPr txBox="1"/>
          <p:nvPr/>
        </p:nvSpPr>
        <p:spPr>
          <a:xfrm>
            <a:off x="813816" y="3054096"/>
            <a:ext cx="105156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clone git@github.com:G404-DataAnalyst/atelier-git-2026.git .</a:t>
            </a:r>
            <a:endParaRPr/>
          </a:p>
        </p:txBody>
      </p:sp>
      <p:sp>
        <p:nvSpPr>
          <p:cNvPr id="245" name="Google Shape;245;p2"/>
          <p:cNvSpPr txBox="1"/>
          <p:nvPr/>
        </p:nvSpPr>
        <p:spPr>
          <a:xfrm>
            <a:off x="704088" y="3767328"/>
            <a:ext cx="1078992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Pour une nouvelle copie : terminal dans un dossier vide, hors du clone existant.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 point . désigne ce dossier. Cette URL utilise l’accès SSH à GitHub.</a:t>
            </a:r>
            <a:endParaRPr/>
          </a:p>
        </p:txBody>
      </p:sp>
      <p:sp>
        <p:nvSpPr>
          <p:cNvPr id="246" name="Google Shape;246;p2"/>
          <p:cNvSpPr/>
          <p:nvPr/>
        </p:nvSpPr>
        <p:spPr>
          <a:xfrm>
            <a:off x="594360" y="4681728"/>
            <a:ext cx="5385816" cy="87782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"/>
          <p:cNvSpPr txBox="1"/>
          <p:nvPr/>
        </p:nvSpPr>
        <p:spPr>
          <a:xfrm>
            <a:off x="758952" y="4773168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Repérer main</a:t>
            </a:r>
            <a:endParaRPr/>
          </a:p>
        </p:txBody>
      </p:sp>
      <p:sp>
        <p:nvSpPr>
          <p:cNvPr id="248" name="Google Shape;248;p2"/>
          <p:cNvSpPr txBox="1"/>
          <p:nvPr/>
        </p:nvSpPr>
        <p:spPr>
          <a:xfrm>
            <a:off x="758952" y="5157216"/>
            <a:ext cx="50292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La branche active apparaît en bas à gauche.</a:t>
            </a:r>
            <a:endParaRPr/>
          </a:p>
        </p:txBody>
      </p:sp>
      <p:sp>
        <p:nvSpPr>
          <p:cNvPr id="249" name="Google Shape;249;p2"/>
          <p:cNvSpPr/>
          <p:nvPr/>
        </p:nvSpPr>
        <p:spPr>
          <a:xfrm>
            <a:off x="6208776" y="4681728"/>
            <a:ext cx="5385816" cy="87782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"/>
          <p:cNvSpPr txBox="1"/>
          <p:nvPr/>
        </p:nvSpPr>
        <p:spPr>
          <a:xfrm>
            <a:off x="6373368" y="4773168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Ouvrir Contrôle de code source</a:t>
            </a:r>
            <a:endParaRPr/>
          </a:p>
        </p:txBody>
      </p:sp>
      <p:sp>
        <p:nvSpPr>
          <p:cNvPr id="251" name="Google Shape;251;p2"/>
          <p:cNvSpPr txBox="1"/>
          <p:nvPr/>
        </p:nvSpPr>
        <p:spPr>
          <a:xfrm>
            <a:off x="6373368" y="5157216"/>
            <a:ext cx="502920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Ctrl+Maj+G : fichiers modifiés et historique.</a:t>
            </a:r>
            <a:endParaRPr/>
          </a:p>
        </p:txBody>
      </p:sp>
      <p:sp>
        <p:nvSpPr>
          <p:cNvPr id="252" name="Google Shape;252;p2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Une copie existe déjà ? La rouvrir suffit. Nous restons sur main.</a:t>
            </a:r>
            <a:endParaRPr/>
          </a:p>
        </p:txBody>
      </p:sp>
      <p:sp>
        <p:nvSpPr>
          <p:cNvPr id="254" name="Google Shape;254;p2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255" name="Google Shape;255;p2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 / 57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D’OLIVIER · TERMINAL BASH</a:t>
            </a:r>
            <a:endParaRPr/>
          </a:p>
        </p:txBody>
      </p:sp>
      <p:sp>
        <p:nvSpPr>
          <p:cNvPr id="261" name="Google Shape;261;p3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Créer une deuxième copie du même dépôt</a:t>
            </a:r>
            <a:endParaRPr/>
          </a:p>
        </p:txBody>
      </p:sp>
      <p:sp>
        <p:nvSpPr>
          <p:cNvPr id="262" name="Google Shape;262;p3"/>
          <p:cNvSpPr txBox="1"/>
          <p:nvPr/>
        </p:nvSpPr>
        <p:spPr>
          <a:xfrm>
            <a:off x="640080" y="1810512"/>
            <a:ext cx="10927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Départ : le dossier parent du premier clone. Créer le nouveau dossier à côté de celui-ci.</a:t>
            </a:r>
            <a:endParaRPr/>
          </a:p>
        </p:txBody>
      </p:sp>
      <p:sp>
        <p:nvSpPr>
          <p:cNvPr id="263" name="Google Shape;263;p3"/>
          <p:cNvSpPr/>
          <p:nvPr/>
        </p:nvSpPr>
        <p:spPr>
          <a:xfrm>
            <a:off x="594360" y="2624328"/>
            <a:ext cx="11000232" cy="2249424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"/>
          <p:cNvSpPr txBox="1"/>
          <p:nvPr/>
        </p:nvSpPr>
        <p:spPr>
          <a:xfrm>
            <a:off x="804672" y="2779776"/>
            <a:ext cx="106070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mkdir atelier-git-the-other-clone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cd atelier-git-the-other-clone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clone git@github.com:G404-DataAnalyst/atelier-git-2026.git 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git config --local user.name "olivier other clone"</a:t>
            </a:r>
            <a:endParaRPr/>
          </a:p>
        </p:txBody>
      </p:sp>
      <p:sp>
        <p:nvSpPr>
          <p:cNvPr id="265" name="Google Shape;265;p3"/>
          <p:cNvSpPr txBox="1"/>
          <p:nvPr/>
        </p:nvSpPr>
        <p:spPr>
          <a:xfrm>
            <a:off x="704088" y="507492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 point . désigne ce dossier, vide avant le clonage.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--local règle le nom uniquement dans cette copie, après le clonage.</a:t>
            </a:r>
            <a:endParaRPr/>
          </a:p>
        </p:txBody>
      </p:sp>
      <p:sp>
        <p:nvSpPr>
          <p:cNvPr id="266" name="Google Shape;266;p3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Même compte GitHub ; un nom d’auteur différent pour les prochains commits de cette copie. L’email Git reste inchangé.</a:t>
            </a:r>
            <a:endParaRPr/>
          </a:p>
        </p:txBody>
      </p:sp>
      <p:sp>
        <p:nvSpPr>
          <p:cNvPr id="268" name="Google Shape;268;p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269" name="Google Shape;269;p3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 / 57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D’OLIVIER · UN ORDINATEUR, DEUX CONTRIBUTEURS SIMULÉS</a:t>
            </a:r>
            <a:endParaRPr/>
          </a:p>
        </p:txBody>
      </p:sp>
      <p:sp>
        <p:nvSpPr>
          <p:cNvPr id="275" name="Google Shape;275;p4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Deux terminaux, deux copies sur main</a:t>
            </a:r>
            <a:endParaRPr/>
          </a:p>
        </p:txBody>
      </p:sp>
      <p:sp>
        <p:nvSpPr>
          <p:cNvPr id="276" name="Google Shape;276;p4"/>
          <p:cNvSpPr txBox="1"/>
          <p:nvPr/>
        </p:nvSpPr>
        <p:spPr>
          <a:xfrm>
            <a:off x="640080" y="1810512"/>
            <a:ext cx="10927080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tmux affiche deux terminaux. Chaque terminal reste dans son propre dossier.</a:t>
            </a:r>
            <a:endParaRPr/>
          </a:p>
        </p:txBody>
      </p:sp>
      <p:sp>
        <p:nvSpPr>
          <p:cNvPr id="277" name="Google Shape;277;p4"/>
          <p:cNvSpPr/>
          <p:nvPr/>
        </p:nvSpPr>
        <p:spPr>
          <a:xfrm>
            <a:off x="594360" y="2523744"/>
            <a:ext cx="11000232" cy="1307592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594360" y="2523744"/>
            <a:ext cx="73152" cy="1307592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 txBox="1"/>
          <p:nvPr/>
        </p:nvSpPr>
        <p:spPr>
          <a:xfrm>
            <a:off x="795528" y="26334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User1 · copie habituelle</a:t>
            </a:r>
            <a:endParaRPr/>
          </a:p>
        </p:txBody>
      </p:sp>
      <p:sp>
        <p:nvSpPr>
          <p:cNvPr id="280" name="Google Shape;280;p4"/>
          <p:cNvSpPr txBox="1"/>
          <p:nvPr/>
        </p:nvSpPr>
        <p:spPr>
          <a:xfrm>
            <a:off x="4251960" y="2633472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atelier-git</a:t>
            </a:r>
            <a:endParaRPr/>
          </a:p>
        </p:txBody>
      </p:sp>
      <p:sp>
        <p:nvSpPr>
          <p:cNvPr id="281" name="Google Shape;281;p4"/>
          <p:cNvSpPr txBox="1"/>
          <p:nvPr/>
        </p:nvSpPr>
        <p:spPr>
          <a:xfrm>
            <a:off x="10469880" y="2633472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282" name="Google Shape;282;p4"/>
          <p:cNvSpPr txBox="1"/>
          <p:nvPr/>
        </p:nvSpPr>
        <p:spPr>
          <a:xfrm>
            <a:off x="822960" y="3054096"/>
            <a:ext cx="10469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config user.name</a:t>
            </a:r>
            <a:endParaRPr/>
          </a:p>
        </p:txBody>
      </p:sp>
      <p:sp>
        <p:nvSpPr>
          <p:cNvPr id="283" name="Google Shape;283;p4"/>
          <p:cNvSpPr txBox="1"/>
          <p:nvPr/>
        </p:nvSpPr>
        <p:spPr>
          <a:xfrm>
            <a:off x="822960" y="3419856"/>
            <a:ext cx="1046988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Olivier Delrieu</a:t>
            </a:r>
            <a:endParaRPr/>
          </a:p>
        </p:txBody>
      </p:sp>
      <p:sp>
        <p:nvSpPr>
          <p:cNvPr id="284" name="Google Shape;284;p4"/>
          <p:cNvSpPr/>
          <p:nvPr/>
        </p:nvSpPr>
        <p:spPr>
          <a:xfrm>
            <a:off x="594360" y="3977639"/>
            <a:ext cx="11000232" cy="1307592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594360" y="3977639"/>
            <a:ext cx="73152" cy="1307592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 txBox="1"/>
          <p:nvPr/>
        </p:nvSpPr>
        <p:spPr>
          <a:xfrm>
            <a:off x="795528" y="4087368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User2 · autre copie</a:t>
            </a:r>
            <a:endParaRPr/>
          </a:p>
        </p:txBody>
      </p:sp>
      <p:sp>
        <p:nvSpPr>
          <p:cNvPr id="287" name="Google Shape;287;p4"/>
          <p:cNvSpPr txBox="1"/>
          <p:nvPr/>
        </p:nvSpPr>
        <p:spPr>
          <a:xfrm>
            <a:off x="4251960" y="4087368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atelier-git-the-other-clone</a:t>
            </a:r>
            <a:endParaRPr/>
          </a:p>
        </p:txBody>
      </p:sp>
      <p:sp>
        <p:nvSpPr>
          <p:cNvPr id="288" name="Google Shape;288;p4"/>
          <p:cNvSpPr txBox="1"/>
          <p:nvPr/>
        </p:nvSpPr>
        <p:spPr>
          <a:xfrm>
            <a:off x="10469880" y="4087368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289" name="Google Shape;289;p4"/>
          <p:cNvSpPr txBox="1"/>
          <p:nvPr/>
        </p:nvSpPr>
        <p:spPr>
          <a:xfrm>
            <a:off x="822960" y="4507992"/>
            <a:ext cx="10469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config user.name</a:t>
            </a:r>
            <a:endParaRPr/>
          </a:p>
        </p:txBody>
      </p:sp>
      <p:sp>
        <p:nvSpPr>
          <p:cNvPr id="290" name="Google Shape;290;p4"/>
          <p:cNvSpPr txBox="1"/>
          <p:nvPr/>
        </p:nvSpPr>
        <p:spPr>
          <a:xfrm>
            <a:off x="822960" y="4873752"/>
            <a:ext cx="1046988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olivier other clone</a:t>
            </a:r>
            <a:endParaRPr/>
          </a:p>
        </p:txBody>
      </p:sp>
      <p:sp>
        <p:nvSpPr>
          <p:cNvPr id="291" name="Google Shape;291;p4"/>
          <p:cNvSpPr txBox="1"/>
          <p:nvPr/>
        </p:nvSpPr>
        <p:spPr>
          <a:xfrm>
            <a:off x="704088" y="5495544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Exemple d’affichage : les deux copies utilisent le même dépôt GitHub.</a:t>
            </a:r>
            <a:endParaRPr/>
          </a:p>
        </p:txBody>
      </p:sp>
      <p:sp>
        <p:nvSpPr>
          <p:cNvPr id="292" name="Google Shape;292;p4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 seul utilisateur peut cloner plusieurs fois le même dépôt. Chaque copie possède ses fichiers et son historique local.</a:t>
            </a:r>
            <a:endParaRPr/>
          </a:p>
        </p:txBody>
      </p:sp>
      <p:sp>
        <p:nvSpPr>
          <p:cNvPr id="294" name="Google Shape;294;p4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295" name="Google Shape;295;p4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 / 57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DANS VS CODE</a:t>
            </a:r>
            <a:endParaRPr/>
          </a:p>
        </p:txBody>
      </p:sp>
      <p:sp>
        <p:nvSpPr>
          <p:cNvPr id="301" name="Google Shape;301;p5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Enregistrer un fichier, puis créer un commit</a:t>
            </a:r>
            <a:endParaRPr/>
          </a:p>
        </p:txBody>
      </p:sp>
      <p:sp>
        <p:nvSpPr>
          <p:cNvPr id="302" name="Google Shape;302;p5"/>
          <p:cNvSpPr/>
          <p:nvPr/>
        </p:nvSpPr>
        <p:spPr>
          <a:xfrm>
            <a:off x="594360" y="1975104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 txBox="1"/>
          <p:nvPr/>
        </p:nvSpPr>
        <p:spPr>
          <a:xfrm>
            <a:off x="795528" y="2048256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1. Enregistrer le fichier</a:t>
            </a:r>
            <a:endParaRPr/>
          </a:p>
        </p:txBody>
      </p:sp>
      <p:sp>
        <p:nvSpPr>
          <p:cNvPr id="304" name="Google Shape;304;p5"/>
          <p:cNvSpPr txBox="1"/>
          <p:nvPr/>
        </p:nvSpPr>
        <p:spPr>
          <a:xfrm>
            <a:off x="795528" y="2441448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Explorateur : créer au besoin work/IDENTIFIANT/notes.md. Ajouter une phrase, puis Ctrl+S.</a:t>
            </a:r>
            <a:endParaRPr/>
          </a:p>
        </p:txBody>
      </p:sp>
      <p:sp>
        <p:nvSpPr>
          <p:cNvPr id="305" name="Google Shape;305;p5"/>
          <p:cNvSpPr/>
          <p:nvPr/>
        </p:nvSpPr>
        <p:spPr>
          <a:xfrm>
            <a:off x="594360" y="3172968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"/>
          <p:cNvSpPr txBox="1"/>
          <p:nvPr/>
        </p:nvSpPr>
        <p:spPr>
          <a:xfrm>
            <a:off x="795528" y="324612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2. Choisir la modification</a:t>
            </a:r>
            <a:endParaRPr/>
          </a:p>
        </p:txBody>
      </p:sp>
      <p:sp>
        <p:nvSpPr>
          <p:cNvPr id="307" name="Google Shape;307;p5"/>
          <p:cNvSpPr txBox="1"/>
          <p:nvPr/>
        </p:nvSpPr>
        <p:spPr>
          <a:xfrm>
            <a:off x="795528" y="3639312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Dans Contrôle de code source, cliquer sur le fichier pour le relire, puis sur +.</a:t>
            </a:r>
            <a:endParaRPr/>
          </a:p>
        </p:txBody>
      </p:sp>
      <p:sp>
        <p:nvSpPr>
          <p:cNvPr id="308" name="Google Shape;308;p5"/>
          <p:cNvSpPr/>
          <p:nvPr/>
        </p:nvSpPr>
        <p:spPr>
          <a:xfrm>
            <a:off x="594360" y="4370832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 txBox="1"/>
          <p:nvPr/>
        </p:nvSpPr>
        <p:spPr>
          <a:xfrm>
            <a:off x="795528" y="4443984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3. Créer le commit</a:t>
            </a:r>
            <a:endParaRPr/>
          </a:p>
        </p:txBody>
      </p:sp>
      <p:sp>
        <p:nvSpPr>
          <p:cNvPr id="310" name="Google Shape;310;p5"/>
          <p:cNvSpPr txBox="1"/>
          <p:nvPr/>
        </p:nvSpPr>
        <p:spPr>
          <a:xfrm>
            <a:off x="795528" y="4837176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Saisir un message, puis cliquer sur Commit : la version est enregistrée sur votre ordinateur.</a:t>
            </a:r>
            <a:endParaRPr/>
          </a:p>
        </p:txBody>
      </p:sp>
      <p:sp>
        <p:nvSpPr>
          <p:cNvPr id="311" name="Google Shape;311;p5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IDENTIFIANT = votre identifiant GitHub. Rappel à lire ; le binôme désigné manipulera en page 19. Le commit reste local.</a:t>
            </a:r>
            <a:endParaRPr/>
          </a:p>
        </p:txBody>
      </p:sp>
      <p:sp>
        <p:nvSpPr>
          <p:cNvPr id="313" name="Google Shape;313;p5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314" name="Google Shape;314;p5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 / 57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DEUX COPIES DU MÊME PROJET</a:t>
            </a:r>
            <a:endParaRPr/>
          </a:p>
        </p:txBody>
      </p:sp>
      <p:sp>
        <p:nvSpPr>
          <p:cNvPr id="320" name="Google Shape;320;p6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même nom main, mais des copies différentes</a:t>
            </a:r>
            <a:endParaRPr/>
          </a:p>
        </p:txBody>
      </p:sp>
      <p:sp>
        <p:nvSpPr>
          <p:cNvPr id="321" name="Google Shape;321;p6"/>
          <p:cNvSpPr/>
          <p:nvPr/>
        </p:nvSpPr>
        <p:spPr>
          <a:xfrm>
            <a:off x="594360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 txBox="1"/>
          <p:nvPr/>
        </p:nvSpPr>
        <p:spPr>
          <a:xfrm>
            <a:off x="777240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SUR MON ORDINATEUR</a:t>
            </a:r>
            <a:endParaRPr/>
          </a:p>
        </p:txBody>
      </p:sp>
      <p:sp>
        <p:nvSpPr>
          <p:cNvPr id="323" name="Google Shape;323;p6"/>
          <p:cNvSpPr txBox="1"/>
          <p:nvPr/>
        </p:nvSpPr>
        <p:spPr>
          <a:xfrm>
            <a:off x="777240" y="3017520"/>
            <a:ext cx="5024627" cy="2167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main contient les commits déjà réunis dans ma copie du dépôt.</a:t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6204204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 txBox="1"/>
          <p:nvPr/>
        </p:nvSpPr>
        <p:spPr>
          <a:xfrm>
            <a:off x="6387084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SUR GITHUB</a:t>
            </a:r>
            <a:endParaRPr/>
          </a:p>
        </p:txBody>
      </p:sp>
      <p:sp>
        <p:nvSpPr>
          <p:cNvPr id="326" name="Google Shape;326;p6"/>
          <p:cNvSpPr txBox="1"/>
          <p:nvPr/>
        </p:nvSpPr>
        <p:spPr>
          <a:xfrm>
            <a:off x="6387084" y="3017520"/>
            <a:ext cx="5024627" cy="2167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main contient les commits que les personnes ont publiés.</a:t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origin/main désigne le dernier état de main reçu de GitHub par mon ordinateur.</a:t>
            </a:r>
            <a:endParaRPr/>
          </a:p>
        </p:txBody>
      </p:sp>
      <p:sp>
        <p:nvSpPr>
          <p:cNvPr id="329" name="Google Shape;329;p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330" name="Google Shape;330;p6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6 / 57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GIT · SUR MAIN · CAS 1</a:t>
            </a:r>
            <a:endParaRPr/>
          </a:p>
        </p:txBody>
      </p:sp>
      <p:sp>
        <p:nvSpPr>
          <p:cNvPr id="336" name="Google Shape;336;p7"/>
          <p:cNvSpPr txBox="1"/>
          <p:nvPr/>
        </p:nvSpPr>
        <p:spPr>
          <a:xfrm>
            <a:off x="777240" y="1828800"/>
            <a:ext cx="10789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Être en retard</a:t>
            </a:r>
            <a:endParaRPr/>
          </a:p>
        </p:txBody>
      </p:sp>
      <p:sp>
        <p:nvSpPr>
          <p:cNvPr id="337" name="Google Shape;337;p7"/>
          <p:cNvSpPr txBox="1"/>
          <p:nvPr/>
        </p:nvSpPr>
        <p:spPr>
          <a:xfrm>
            <a:off x="804672" y="41148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Des commits me manquent.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Actualiser ma copie par une avance rapide.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 / 57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8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LIRE L’HISTORIQUE</a:t>
            </a:r>
            <a:endParaRPr/>
          </a:p>
        </p:txBody>
      </p:sp>
      <p:sp>
        <p:nvSpPr>
          <p:cNvPr id="345" name="Google Shape;345;p8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Être en retard : il manque seulement des commits</a:t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594360" y="1993392"/>
            <a:ext cx="5577840" cy="3639312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822960" y="2103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Plus récent en haut · un point = un commit</a:t>
            </a:r>
            <a:endParaRPr/>
          </a:p>
        </p:txBody>
      </p:sp>
      <p:cxnSp>
        <p:nvCxnSpPr>
          <p:cNvPr id="348" name="Google Shape;348;p8"/>
          <p:cNvCxnSpPr/>
          <p:nvPr/>
        </p:nvCxnSpPr>
        <p:spPr>
          <a:xfrm rot="10800000">
            <a:off x="2194560" y="2880360"/>
            <a:ext cx="0" cy="2103120"/>
          </a:xfrm>
          <a:prstGeom prst="straightConnector1">
            <a:avLst/>
          </a:prstGeom>
          <a:noFill/>
          <a:ln cap="flat" cmpd="sng" w="381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9" name="Google Shape;349;p8"/>
          <p:cNvSpPr/>
          <p:nvPr/>
        </p:nvSpPr>
        <p:spPr>
          <a:xfrm>
            <a:off x="1993391" y="4782312"/>
            <a:ext cx="402336" cy="402336"/>
          </a:xfrm>
          <a:prstGeom prst="ellipse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 txBox="1"/>
          <p:nvPr/>
        </p:nvSpPr>
        <p:spPr>
          <a:xfrm>
            <a:off x="1600200" y="4809744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C0</a:t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1993391" y="2679191"/>
            <a:ext cx="402336" cy="402336"/>
          </a:xfrm>
          <a:prstGeom prst="ellipse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 txBox="1"/>
          <p:nvPr/>
        </p:nvSpPr>
        <p:spPr>
          <a:xfrm>
            <a:off x="1600200" y="2706624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/>
          </a:p>
        </p:txBody>
      </p:sp>
      <p:sp>
        <p:nvSpPr>
          <p:cNvPr id="353" name="Google Shape;353;p8"/>
          <p:cNvSpPr txBox="1"/>
          <p:nvPr/>
        </p:nvSpPr>
        <p:spPr>
          <a:xfrm>
            <a:off x="2578608" y="48006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354" name="Google Shape;354;p8"/>
          <p:cNvSpPr txBox="1"/>
          <p:nvPr/>
        </p:nvSpPr>
        <p:spPr>
          <a:xfrm>
            <a:off x="2578608" y="2697479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origin/main</a:t>
            </a:r>
            <a:endParaRPr/>
          </a:p>
        </p:txBody>
      </p:sp>
      <p:sp>
        <p:nvSpPr>
          <p:cNvPr id="355" name="Google Shape;355;p8"/>
          <p:cNvSpPr txBox="1"/>
          <p:nvPr/>
        </p:nvSpPr>
        <p:spPr>
          <a:xfrm>
            <a:off x="6510528" y="2121408"/>
            <a:ext cx="4974336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La copie de User2 est encore sur C0.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La copie de User1 a publié le commit C1.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User2 peut récupérer ce commit et avancer jusqu’à C1.</a:t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 point représente un commit. Ici, je n’ai pas de nouveau commit local à réunir.</a:t>
            </a:r>
            <a:endParaRPr/>
          </a:p>
        </p:txBody>
      </p:sp>
      <p:sp>
        <p:nvSpPr>
          <p:cNvPr id="358" name="Google Shape;358;p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359" name="Google Shape;359;p8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8 / 57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COMPRENDRE L’AVANCE RAPIDE</a:t>
            </a:r>
            <a:endParaRPr/>
          </a:p>
        </p:txBody>
      </p:sp>
      <p:sp>
        <p:nvSpPr>
          <p:cNvPr id="365" name="Google Shape;365;p9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Fast-forward : une avance rapide</a:t>
            </a:r>
            <a:endParaRPr/>
          </a:p>
        </p:txBody>
      </p:sp>
      <p:sp>
        <p:nvSpPr>
          <p:cNvPr id="366" name="Google Shape;366;p9"/>
          <p:cNvSpPr txBox="1"/>
          <p:nvPr/>
        </p:nvSpPr>
        <p:spPr>
          <a:xfrm>
            <a:off x="640080" y="1847088"/>
            <a:ext cx="10927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Chez User2, aucun nouveau commit local à réunir : main peut avancer de C0 à C1.</a:t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594360" y="2532888"/>
            <a:ext cx="5148072" cy="302666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 txBox="1"/>
          <p:nvPr/>
        </p:nvSpPr>
        <p:spPr>
          <a:xfrm>
            <a:off x="795528" y="269748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AVANT · APRÈS GIT FETCH</a:t>
            </a:r>
            <a:endParaRPr/>
          </a:p>
        </p:txBody>
      </p:sp>
      <p:cxnSp>
        <p:nvCxnSpPr>
          <p:cNvPr id="369" name="Google Shape;369;p9"/>
          <p:cNvCxnSpPr/>
          <p:nvPr/>
        </p:nvCxnSpPr>
        <p:spPr>
          <a:xfrm rot="10800000">
            <a:off x="1691640" y="3538728"/>
            <a:ext cx="0" cy="1380744"/>
          </a:xfrm>
          <a:prstGeom prst="straightConnector1">
            <a:avLst/>
          </a:prstGeom>
          <a:noFill/>
          <a:ln cap="flat" cmpd="sng" w="381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0" name="Google Shape;370;p9"/>
          <p:cNvSpPr/>
          <p:nvPr/>
        </p:nvSpPr>
        <p:spPr>
          <a:xfrm>
            <a:off x="1490472" y="4718304"/>
            <a:ext cx="402336" cy="402336"/>
          </a:xfrm>
          <a:prstGeom prst="ellipse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 txBox="1"/>
          <p:nvPr/>
        </p:nvSpPr>
        <p:spPr>
          <a:xfrm>
            <a:off x="996696" y="4745736"/>
            <a:ext cx="484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C0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1490472" y="3337560"/>
            <a:ext cx="402336" cy="402336"/>
          </a:xfrm>
          <a:prstGeom prst="ellipse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 txBox="1"/>
          <p:nvPr/>
        </p:nvSpPr>
        <p:spPr>
          <a:xfrm>
            <a:off x="996696" y="3364992"/>
            <a:ext cx="484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/>
          </a:p>
        </p:txBody>
      </p:sp>
      <p:sp>
        <p:nvSpPr>
          <p:cNvPr id="374" name="Google Shape;374;p9"/>
          <p:cNvSpPr txBox="1"/>
          <p:nvPr/>
        </p:nvSpPr>
        <p:spPr>
          <a:xfrm>
            <a:off x="2103120" y="333756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origin/main</a:t>
            </a:r>
            <a:endParaRPr/>
          </a:p>
        </p:txBody>
      </p:sp>
      <p:sp>
        <p:nvSpPr>
          <p:cNvPr id="375" name="Google Shape;375;p9"/>
          <p:cNvSpPr txBox="1"/>
          <p:nvPr/>
        </p:nvSpPr>
        <p:spPr>
          <a:xfrm>
            <a:off x="2103120" y="4718304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446520" y="2532888"/>
            <a:ext cx="5148072" cy="302666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 txBox="1"/>
          <p:nvPr/>
        </p:nvSpPr>
        <p:spPr>
          <a:xfrm>
            <a:off x="6647688" y="269748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APRÈS · L’AVANCE RAPIDE</a:t>
            </a:r>
            <a:endParaRPr/>
          </a:p>
        </p:txBody>
      </p:sp>
      <p:cxnSp>
        <p:nvCxnSpPr>
          <p:cNvPr id="378" name="Google Shape;378;p9"/>
          <p:cNvCxnSpPr/>
          <p:nvPr/>
        </p:nvCxnSpPr>
        <p:spPr>
          <a:xfrm rot="10800000">
            <a:off x="7543800" y="3538728"/>
            <a:ext cx="0" cy="1380744"/>
          </a:xfrm>
          <a:prstGeom prst="straightConnector1">
            <a:avLst/>
          </a:prstGeom>
          <a:noFill/>
          <a:ln cap="flat" cmpd="sng" w="381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9" name="Google Shape;379;p9"/>
          <p:cNvSpPr/>
          <p:nvPr/>
        </p:nvSpPr>
        <p:spPr>
          <a:xfrm>
            <a:off x="7342631" y="4718304"/>
            <a:ext cx="402336" cy="402336"/>
          </a:xfrm>
          <a:prstGeom prst="ellipse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 txBox="1"/>
          <p:nvPr/>
        </p:nvSpPr>
        <p:spPr>
          <a:xfrm>
            <a:off x="6848856" y="4745736"/>
            <a:ext cx="484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C0</a:t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7342631" y="3337560"/>
            <a:ext cx="402336" cy="402336"/>
          </a:xfrm>
          <a:prstGeom prst="ellipse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 txBox="1"/>
          <p:nvPr/>
        </p:nvSpPr>
        <p:spPr>
          <a:xfrm>
            <a:off x="6848856" y="3364992"/>
            <a:ext cx="484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/>
          </a:p>
        </p:txBody>
      </p:sp>
      <p:sp>
        <p:nvSpPr>
          <p:cNvPr id="383" name="Google Shape;383;p9"/>
          <p:cNvSpPr txBox="1"/>
          <p:nvPr/>
        </p:nvSpPr>
        <p:spPr>
          <a:xfrm>
            <a:off x="7955279" y="3236976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main rejoint C1</a:t>
            </a:r>
            <a:endParaRPr/>
          </a:p>
        </p:txBody>
      </p:sp>
      <p:sp>
        <p:nvSpPr>
          <p:cNvPr id="384" name="Google Shape;384;p9"/>
          <p:cNvSpPr txBox="1"/>
          <p:nvPr/>
        </p:nvSpPr>
        <p:spPr>
          <a:xfrm>
            <a:off x="7955279" y="3675887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origin/main</a:t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5870448" y="3931920"/>
            <a:ext cx="393192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Git ne crée aucun commit supplémentaire. Les fichiers de User2 prennent la version C1.</a:t>
            </a:r>
            <a:endParaRPr/>
          </a:p>
        </p:txBody>
      </p:sp>
      <p:sp>
        <p:nvSpPr>
          <p:cNvPr id="388" name="Google Shape;388;p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389" name="Google Shape;389;p9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9 / 57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395" name="Google Shape;395;p10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Avance rapide : User1 publie, User2 récupère</a:t>
            </a:r>
            <a:endParaRPr/>
          </a:p>
        </p:txBody>
      </p:sp>
      <p:sp>
        <p:nvSpPr>
          <p:cNvPr id="396" name="Google Shape;396;p10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Même départ, copies propres. User1 publie, puis User2 fait fetch.</a:t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401" name="Google Shape;401;p10"/>
          <p:cNvSpPr txBox="1"/>
          <p:nvPr/>
        </p:nvSpPr>
        <p:spPr>
          <a:xfrm>
            <a:off x="804672" y="262432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echo "User1 version 1" &gt; demo-a.txt</a:t>
            </a:r>
            <a:endParaRPr/>
          </a:p>
        </p:txBody>
      </p:sp>
      <p:sp>
        <p:nvSpPr>
          <p:cNvPr id="402" name="Google Shape;402;p10"/>
          <p:cNvSpPr txBox="1"/>
          <p:nvPr/>
        </p:nvSpPr>
        <p:spPr>
          <a:xfrm>
            <a:off x="804672" y="287304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add demo-a.txt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804672" y="312176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commit -m "Add User1 note"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804672" y="337047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push</a:t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408" name="Google Shape;408;p10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409" name="Google Shape;409;p10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fetch</a:t>
            </a:r>
            <a:endParaRPr/>
          </a:p>
        </p:txBody>
      </p:sp>
      <p:sp>
        <p:nvSpPr>
          <p:cNvPr id="410" name="Google Shape;410;p10"/>
          <p:cNvSpPr txBox="1"/>
          <p:nvPr/>
        </p:nvSpPr>
        <p:spPr>
          <a:xfrm>
            <a:off x="804672" y="465612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C5D9E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1" name="Google Shape;411;p10"/>
          <p:cNvSpPr txBox="1"/>
          <p:nvPr/>
        </p:nvSpPr>
        <p:spPr>
          <a:xfrm>
            <a:off x="804672" y="490484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5D9E9"/>
                </a:solidFill>
                <a:latin typeface="Verdana"/>
                <a:ea typeface="Verdana"/>
                <a:cs typeface="Verdana"/>
                <a:sym typeface="Verdana"/>
              </a:rPr>
              <a:t>Note : git pull lance déjà fetch ; ce fetch séparé est facultatif.</a:t>
            </a:r>
            <a:endParaRPr/>
          </a:p>
        </p:txBody>
      </p:sp>
      <p:sp>
        <p:nvSpPr>
          <p:cNvPr id="412" name="Google Shape;412;p10"/>
          <p:cNvSpPr txBox="1"/>
          <p:nvPr/>
        </p:nvSpPr>
        <p:spPr>
          <a:xfrm>
            <a:off x="804672" y="515355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5D9E9"/>
                </a:solidFill>
                <a:latin typeface="Verdana"/>
                <a:ea typeface="Verdana"/>
                <a:cs typeface="Verdana"/>
                <a:sym typeface="Verdana"/>
              </a:rPr>
              <a:t>Ici, on observe l’historique avant d’actualiser les fichiers.</a:t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Après fetch, origin/main de User2 est actualisé. Le fichier demo-a.txt n’est pas encore dans la copie de User2.</a:t>
            </a:r>
            <a:endParaRPr/>
          </a:p>
        </p:txBody>
      </p:sp>
      <p:sp>
        <p:nvSpPr>
          <p:cNvPr id="415" name="Google Shape;415;p10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416" name="Google Shape;416;p10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10 / 57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422" name="Google Shape;422;p11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Avance rapide : User2 rejoint la version publiée</a:t>
            </a:r>
            <a:endParaRPr/>
          </a:p>
        </p:txBody>
      </p:sp>
      <p:sp>
        <p:nvSpPr>
          <p:cNvPr id="423" name="Google Shape;423;p11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User2 n’a créé aucun commit local. Actualiser, puis lire le fichier reçu.</a:t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427" name="Google Shape;427;p11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428" name="Google Shape;428;p11"/>
          <p:cNvSpPr txBox="1"/>
          <p:nvPr/>
        </p:nvSpPr>
        <p:spPr>
          <a:xfrm>
            <a:off x="804672" y="2926080"/>
            <a:ext cx="10561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User1 attend : sa contribution est déjà publiée.</a:t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432" name="Google Shape;432;p11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433" name="Google Shape;433;p11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pull --ff-only</a:t>
            </a:r>
            <a:endParaRPr/>
          </a:p>
        </p:txBody>
      </p:sp>
      <p:sp>
        <p:nvSpPr>
          <p:cNvPr id="434" name="Google Shape;434;p11"/>
          <p:cNvSpPr txBox="1"/>
          <p:nvPr/>
        </p:nvSpPr>
        <p:spPr>
          <a:xfrm>
            <a:off x="804672" y="465612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Fast-forward</a:t>
            </a:r>
            <a:endParaRPr/>
          </a:p>
        </p:txBody>
      </p:sp>
      <p:sp>
        <p:nvSpPr>
          <p:cNvPr id="435" name="Google Shape;435;p11"/>
          <p:cNvSpPr txBox="1"/>
          <p:nvPr/>
        </p:nvSpPr>
        <p:spPr>
          <a:xfrm>
            <a:off x="804672" y="490484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cat demo-a.txt</a:t>
            </a:r>
            <a:endParaRPr/>
          </a:p>
        </p:txBody>
      </p:sp>
      <p:sp>
        <p:nvSpPr>
          <p:cNvPr id="436" name="Google Shape;436;p11"/>
          <p:cNvSpPr txBox="1"/>
          <p:nvPr/>
        </p:nvSpPr>
        <p:spPr>
          <a:xfrm>
            <a:off x="804672" y="515355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version 1</a:t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User2 avance jusqu’au commit publié par User1. Aucun commit de fusion n’est créé ; les deux copies sont à jour.</a:t>
            </a:r>
            <a:endParaRPr/>
          </a:p>
        </p:txBody>
      </p:sp>
      <p:sp>
        <p:nvSpPr>
          <p:cNvPr id="439" name="Google Shape;439;p11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440" name="Google Shape;440;p11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11 / 57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GIT · SUR MAIN · CAS 2</a:t>
            </a:r>
            <a:endParaRPr/>
          </a:p>
        </p:txBody>
      </p:sp>
      <p:sp>
        <p:nvSpPr>
          <p:cNvPr id="446" name="Google Shape;446;p12"/>
          <p:cNvSpPr txBox="1"/>
          <p:nvPr/>
        </p:nvSpPr>
        <p:spPr>
          <a:xfrm>
            <a:off x="777240" y="1828800"/>
            <a:ext cx="10789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Diverger</a:t>
            </a:r>
            <a:endParaRPr/>
          </a:p>
        </p:txBody>
      </p:sp>
      <p:sp>
        <p:nvSpPr>
          <p:cNvPr id="447" name="Google Shape;447;p12"/>
          <p:cNvSpPr txBox="1"/>
          <p:nvPr/>
        </p:nvSpPr>
        <p:spPr>
          <a:xfrm>
            <a:off x="804672" y="41148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Les deux copies ont avancé.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Dans notre exemple : des fichiers différents, une fusion sans conflit.</a:t>
            </a:r>
            <a:endParaRPr/>
          </a:p>
        </p:txBody>
      </p:sp>
      <p:sp>
        <p:nvSpPr>
          <p:cNvPr id="448" name="Google Shape;448;p12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449" name="Google Shape;449;p12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 / 57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3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455" name="Google Shape;455;p13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Divergence : chacun crée son commit local</a:t>
            </a:r>
            <a:endParaRPr/>
          </a:p>
        </p:txBody>
      </p:sp>
      <p:sp>
        <p:nvSpPr>
          <p:cNvPr id="456" name="Google Shape;456;p13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User1 modifie demo-a.txt ; User2 crée demo-b.txt. Chacun committe, sans publier.</a:t>
            </a: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460" name="Google Shape;460;p13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461" name="Google Shape;461;p13"/>
          <p:cNvSpPr txBox="1"/>
          <p:nvPr/>
        </p:nvSpPr>
        <p:spPr>
          <a:xfrm>
            <a:off x="804672" y="262432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echo "User1 version 2" &gt; demo-a.txt</a:t>
            </a:r>
            <a:endParaRPr/>
          </a:p>
        </p:txBody>
      </p:sp>
      <p:sp>
        <p:nvSpPr>
          <p:cNvPr id="462" name="Google Shape;462;p13"/>
          <p:cNvSpPr txBox="1"/>
          <p:nvPr/>
        </p:nvSpPr>
        <p:spPr>
          <a:xfrm>
            <a:off x="804672" y="287304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add demo-a.txt</a:t>
            </a:r>
            <a:endParaRPr/>
          </a:p>
        </p:txBody>
      </p:sp>
      <p:sp>
        <p:nvSpPr>
          <p:cNvPr id="463" name="Google Shape;463;p13"/>
          <p:cNvSpPr txBox="1"/>
          <p:nvPr/>
        </p:nvSpPr>
        <p:spPr>
          <a:xfrm>
            <a:off x="804672" y="312176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commit -m "Update User1 note"</a:t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467" name="Google Shape;467;p13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468" name="Google Shape;468;p13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echo "User2 version 1" &gt; demo-b.txt</a:t>
            </a:r>
            <a:endParaRPr/>
          </a:p>
        </p:txBody>
      </p:sp>
      <p:sp>
        <p:nvSpPr>
          <p:cNvPr id="469" name="Google Shape;469;p13"/>
          <p:cNvSpPr txBox="1"/>
          <p:nvPr/>
        </p:nvSpPr>
        <p:spPr>
          <a:xfrm>
            <a:off x="804672" y="465612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add demo-b.txt</a:t>
            </a:r>
            <a:endParaRPr/>
          </a:p>
        </p:txBody>
      </p:sp>
      <p:sp>
        <p:nvSpPr>
          <p:cNvPr id="470" name="Google Shape;470;p13"/>
          <p:cNvSpPr txBox="1"/>
          <p:nvPr/>
        </p:nvSpPr>
        <p:spPr>
          <a:xfrm>
            <a:off x="804672" y="490484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commit -m "Add User2 note"</a:t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Les deux fichiers sont différents. Les deux copies ont avancé séparément, toujours sur main.</a:t>
            </a:r>
            <a:endParaRPr/>
          </a:p>
        </p:txBody>
      </p:sp>
      <p:sp>
        <p:nvSpPr>
          <p:cNvPr id="473" name="Google Shape;473;p1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474" name="Google Shape;474;p13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13 / 57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4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480" name="Google Shape;480;p14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Divergence : User1 publie, User2 reçoit son historique</a:t>
            </a:r>
            <a:endParaRPr/>
          </a:p>
        </p:txBody>
      </p:sp>
      <p:sp>
        <p:nvSpPr>
          <p:cNvPr id="481" name="Google Shape;481;p14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Les deux commits existent déjà. User1 publie, puis User2 fait fetch.</a:t>
            </a: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485" name="Google Shape;485;p14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486" name="Google Shape;486;p14"/>
          <p:cNvSpPr txBox="1"/>
          <p:nvPr/>
        </p:nvSpPr>
        <p:spPr>
          <a:xfrm>
            <a:off x="804672" y="262432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push</a:t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490" name="Google Shape;490;p14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491" name="Google Shape;491;p14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fetch</a:t>
            </a:r>
            <a:endParaRPr/>
          </a:p>
        </p:txBody>
      </p:sp>
      <p:sp>
        <p:nvSpPr>
          <p:cNvPr id="492" name="Google Shape;492;p14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User2 garde son commit local et reçoit celui de User1. Le graphe suivant montre l’historique vu depuis User2.</a:t>
            </a:r>
            <a:endParaRPr/>
          </a:p>
        </p:txBody>
      </p:sp>
      <p:sp>
        <p:nvSpPr>
          <p:cNvPr id="494" name="Google Shape;494;p14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495" name="Google Shape;495;p14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14 / 57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5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LIRE L’HISTORIQUE</a:t>
            </a:r>
            <a:endParaRPr/>
          </a:p>
        </p:txBody>
      </p:sp>
      <p:sp>
        <p:nvSpPr>
          <p:cNvPr id="501" name="Google Shape;501;p15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Diverger : les deux copies ont avancé</a:t>
            </a: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594360" y="1993392"/>
            <a:ext cx="5577840" cy="3639312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 txBox="1"/>
          <p:nvPr/>
        </p:nvSpPr>
        <p:spPr>
          <a:xfrm>
            <a:off x="822960" y="2103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Plus récent en haut · un point = un commit</a:t>
            </a:r>
            <a:endParaRPr/>
          </a:p>
        </p:txBody>
      </p:sp>
      <p:sp>
        <p:nvSpPr>
          <p:cNvPr id="504" name="Google Shape;504;p15"/>
          <p:cNvSpPr txBox="1"/>
          <p:nvPr/>
        </p:nvSpPr>
        <p:spPr>
          <a:xfrm>
            <a:off x="914400" y="26974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505" name="Google Shape;505;p15"/>
          <p:cNvSpPr txBox="1"/>
          <p:nvPr/>
        </p:nvSpPr>
        <p:spPr>
          <a:xfrm>
            <a:off x="3657600" y="2697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origin/main</a:t>
            </a:r>
            <a:endParaRPr/>
          </a:p>
        </p:txBody>
      </p:sp>
      <p:sp>
        <p:nvSpPr>
          <p:cNvPr id="506" name="Google Shape;506;p15"/>
          <p:cNvSpPr txBox="1"/>
          <p:nvPr/>
        </p:nvSpPr>
        <p:spPr>
          <a:xfrm>
            <a:off x="2743200" y="4828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version commune</a:t>
            </a:r>
            <a:endParaRPr/>
          </a:p>
        </p:txBody>
      </p:sp>
      <p:cxnSp>
        <p:nvCxnSpPr>
          <p:cNvPr id="507" name="Google Shape;507;p15"/>
          <p:cNvCxnSpPr/>
          <p:nvPr/>
        </p:nvCxnSpPr>
        <p:spPr>
          <a:xfrm rot="10800000">
            <a:off x="2148840" y="3337560"/>
            <a:ext cx="0" cy="1645920"/>
          </a:xfrm>
          <a:prstGeom prst="straightConnector1">
            <a:avLst/>
          </a:prstGeom>
          <a:noFill/>
          <a:ln cap="flat" cmpd="sng" w="38100">
            <a:solidFill>
              <a:srgbClr val="236D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08" name="Google Shape;508;p15"/>
          <p:cNvCxnSpPr/>
          <p:nvPr/>
        </p:nvCxnSpPr>
        <p:spPr>
          <a:xfrm flipH="1" rot="10800000">
            <a:off x="2148840" y="3337560"/>
            <a:ext cx="2103120" cy="1645920"/>
          </a:xfrm>
          <a:prstGeom prst="straightConnector1">
            <a:avLst/>
          </a:prstGeom>
          <a:noFill/>
          <a:ln cap="flat" cmpd="sng" w="381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9" name="Google Shape;509;p15"/>
          <p:cNvSpPr/>
          <p:nvPr/>
        </p:nvSpPr>
        <p:spPr>
          <a:xfrm>
            <a:off x="1947672" y="4782312"/>
            <a:ext cx="402336" cy="402336"/>
          </a:xfrm>
          <a:prstGeom prst="ellipse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 txBox="1"/>
          <p:nvPr/>
        </p:nvSpPr>
        <p:spPr>
          <a:xfrm>
            <a:off x="1554480" y="4809744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1947672" y="3136391"/>
            <a:ext cx="402336" cy="402336"/>
          </a:xfrm>
          <a:prstGeom prst="ellipse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 txBox="1"/>
          <p:nvPr/>
        </p:nvSpPr>
        <p:spPr>
          <a:xfrm>
            <a:off x="1554480" y="3163824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4050792" y="3136391"/>
            <a:ext cx="402336" cy="402336"/>
          </a:xfrm>
          <a:prstGeom prst="ellipse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 txBox="1"/>
          <p:nvPr/>
        </p:nvSpPr>
        <p:spPr>
          <a:xfrm>
            <a:off x="3657600" y="3163824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515" name="Google Shape;515;p15"/>
          <p:cNvSpPr txBox="1"/>
          <p:nvPr/>
        </p:nvSpPr>
        <p:spPr>
          <a:xfrm>
            <a:off x="6510528" y="2121408"/>
            <a:ext cx="4974336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Les deux copies partaient de C1.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User2 a créé son commit local L. User1 a créé et publié 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Chez User2, il faut réunir ces deux contributions.</a:t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Chacun travaille sur main dans sa copie. Deux chemins peuvent apparaître sans créer de nouvelle branche.</a:t>
            </a:r>
            <a:endParaRPr/>
          </a:p>
        </p:txBody>
      </p:sp>
      <p:sp>
        <p:nvSpPr>
          <p:cNvPr id="518" name="Google Shape;518;p15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519" name="Google Shape;519;p15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15 / 57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6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525" name="Google Shape;525;p16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Fusion : User2 réunit les deux contributions</a:t>
            </a:r>
            <a:endParaRPr/>
          </a:p>
        </p:txBody>
      </p:sp>
      <p:sp>
        <p:nvSpPr>
          <p:cNvPr id="526" name="Google Shape;526;p16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Chez User2 : fusionner après fetch, puis lire les deux fichiers.</a:t>
            </a: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530" name="Google Shape;530;p16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531" name="Google Shape;531;p16"/>
          <p:cNvSpPr txBox="1"/>
          <p:nvPr/>
        </p:nvSpPr>
        <p:spPr>
          <a:xfrm>
            <a:off x="804672" y="2926080"/>
            <a:ext cx="10561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User1 attend : la fusion se fait dans la copie de User2.</a:t>
            </a:r>
            <a:endParaRPr/>
          </a:p>
        </p:txBody>
      </p:sp>
      <p:sp>
        <p:nvSpPr>
          <p:cNvPr id="532" name="Google Shape;532;p16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535" name="Google Shape;535;p16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536" name="Google Shape;536;p16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merge --no-edit origin/main</a:t>
            </a:r>
            <a:endParaRPr/>
          </a:p>
        </p:txBody>
      </p:sp>
      <p:sp>
        <p:nvSpPr>
          <p:cNvPr id="537" name="Google Shape;537;p16"/>
          <p:cNvSpPr txBox="1"/>
          <p:nvPr/>
        </p:nvSpPr>
        <p:spPr>
          <a:xfrm>
            <a:off x="804672" y="465612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Merge made by the 'ort' strategy.</a:t>
            </a:r>
            <a:endParaRPr/>
          </a:p>
        </p:txBody>
      </p:sp>
      <p:sp>
        <p:nvSpPr>
          <p:cNvPr id="538" name="Google Shape;538;p16"/>
          <p:cNvSpPr txBox="1"/>
          <p:nvPr/>
        </p:nvSpPr>
        <p:spPr>
          <a:xfrm>
            <a:off x="804672" y="490484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cat demo-a.txt demo-b.txt</a:t>
            </a:r>
            <a:endParaRPr/>
          </a:p>
        </p:txBody>
      </p:sp>
      <p:sp>
        <p:nvSpPr>
          <p:cNvPr id="539" name="Google Shape;539;p16"/>
          <p:cNvSpPr txBox="1"/>
          <p:nvPr/>
        </p:nvSpPr>
        <p:spPr>
          <a:xfrm>
            <a:off x="804672" y="515355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version 2</a:t>
            </a:r>
            <a:endParaRPr/>
          </a:p>
        </p:txBody>
      </p:sp>
      <p:sp>
        <p:nvSpPr>
          <p:cNvPr id="540" name="Google Shape;540;p16"/>
          <p:cNvSpPr txBox="1"/>
          <p:nvPr/>
        </p:nvSpPr>
        <p:spPr>
          <a:xfrm>
            <a:off x="804672" y="5402275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version 1</a:t>
            </a:r>
            <a:endParaRPr/>
          </a:p>
        </p:txBody>
      </p:sp>
      <p:sp>
        <p:nvSpPr>
          <p:cNvPr id="541" name="Google Shape;541;p16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--no-edit est facultatif : garder le message de fusion proposé par Git, sans ouvrir l’éditeur.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Sans cette option, Git peut ouvrir l’éditeur pour modifier ce message.</a:t>
            </a:r>
            <a:endParaRPr/>
          </a:p>
        </p:txBody>
      </p:sp>
      <p:sp>
        <p:nvSpPr>
          <p:cNvPr id="543" name="Google Shape;543;p1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544" name="Google Shape;544;p16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16 / 57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7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LIRE L’HISTORIQUE</a:t>
            </a:r>
            <a:endParaRPr/>
          </a:p>
        </p:txBody>
      </p:sp>
      <p:sp>
        <p:nvSpPr>
          <p:cNvPr id="550" name="Google Shape;550;p17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Après la fusion : les contributions sont réunies</a:t>
            </a:r>
            <a:endParaRPr/>
          </a:p>
        </p:txBody>
      </p:sp>
      <p:sp>
        <p:nvSpPr>
          <p:cNvPr id="551" name="Google Shape;551;p17"/>
          <p:cNvSpPr/>
          <p:nvPr/>
        </p:nvSpPr>
        <p:spPr>
          <a:xfrm>
            <a:off x="594360" y="1993392"/>
            <a:ext cx="5577840" cy="3639312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 txBox="1"/>
          <p:nvPr/>
        </p:nvSpPr>
        <p:spPr>
          <a:xfrm>
            <a:off x="822960" y="2103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Plus récent en haut · un point = un commit</a:t>
            </a:r>
            <a:endParaRPr/>
          </a:p>
        </p:txBody>
      </p:sp>
      <p:sp>
        <p:nvSpPr>
          <p:cNvPr id="553" name="Google Shape;553;p17"/>
          <p:cNvSpPr txBox="1"/>
          <p:nvPr/>
        </p:nvSpPr>
        <p:spPr>
          <a:xfrm>
            <a:off x="822960" y="35204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mon commit</a:t>
            </a:r>
            <a:endParaRPr/>
          </a:p>
        </p:txBody>
      </p:sp>
      <p:sp>
        <p:nvSpPr>
          <p:cNvPr id="554" name="Google Shape;554;p17"/>
          <p:cNvSpPr txBox="1"/>
          <p:nvPr/>
        </p:nvSpPr>
        <p:spPr>
          <a:xfrm>
            <a:off x="3840480" y="446227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origin/main</a:t>
            </a:r>
            <a:endParaRPr/>
          </a:p>
        </p:txBody>
      </p:sp>
      <p:cxnSp>
        <p:nvCxnSpPr>
          <p:cNvPr id="555" name="Google Shape;555;p17"/>
          <p:cNvCxnSpPr/>
          <p:nvPr/>
        </p:nvCxnSpPr>
        <p:spPr>
          <a:xfrm rot="10800000">
            <a:off x="2194560" y="3977639"/>
            <a:ext cx="0" cy="1143001"/>
          </a:xfrm>
          <a:prstGeom prst="straightConnector1">
            <a:avLst/>
          </a:prstGeom>
          <a:noFill/>
          <a:ln cap="flat" cmpd="sng" w="38100">
            <a:solidFill>
              <a:srgbClr val="236D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56" name="Google Shape;556;p17"/>
          <p:cNvCxnSpPr/>
          <p:nvPr/>
        </p:nvCxnSpPr>
        <p:spPr>
          <a:xfrm flipH="1" rot="10800000">
            <a:off x="2194560" y="3977639"/>
            <a:ext cx="2194560" cy="1143001"/>
          </a:xfrm>
          <a:prstGeom prst="straightConnector1">
            <a:avLst/>
          </a:prstGeom>
          <a:noFill/>
          <a:ln cap="flat" cmpd="sng" w="381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57" name="Google Shape;557;p17"/>
          <p:cNvCxnSpPr/>
          <p:nvPr/>
        </p:nvCxnSpPr>
        <p:spPr>
          <a:xfrm rot="10800000">
            <a:off x="2194560" y="2816352"/>
            <a:ext cx="0" cy="1161287"/>
          </a:xfrm>
          <a:prstGeom prst="straightConnector1">
            <a:avLst/>
          </a:prstGeom>
          <a:noFill/>
          <a:ln cap="flat" cmpd="sng" w="38100">
            <a:solidFill>
              <a:srgbClr val="BD56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58" name="Google Shape;558;p17"/>
          <p:cNvCxnSpPr/>
          <p:nvPr/>
        </p:nvCxnSpPr>
        <p:spPr>
          <a:xfrm rot="10800000">
            <a:off x="2194560" y="2816352"/>
            <a:ext cx="2194560" cy="1161287"/>
          </a:xfrm>
          <a:prstGeom prst="straightConnector1">
            <a:avLst/>
          </a:prstGeom>
          <a:noFill/>
          <a:ln cap="flat" cmpd="sng" w="38100">
            <a:solidFill>
              <a:srgbClr val="BD561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59" name="Google Shape;559;p17"/>
          <p:cNvSpPr/>
          <p:nvPr/>
        </p:nvSpPr>
        <p:spPr>
          <a:xfrm>
            <a:off x="1993391" y="4919472"/>
            <a:ext cx="402336" cy="402336"/>
          </a:xfrm>
          <a:prstGeom prst="ellipse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 txBox="1"/>
          <p:nvPr/>
        </p:nvSpPr>
        <p:spPr>
          <a:xfrm>
            <a:off x="1600200" y="4946903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/>
          </a:p>
        </p:txBody>
      </p:sp>
      <p:sp>
        <p:nvSpPr>
          <p:cNvPr id="561" name="Google Shape;561;p17"/>
          <p:cNvSpPr/>
          <p:nvPr/>
        </p:nvSpPr>
        <p:spPr>
          <a:xfrm>
            <a:off x="1993391" y="3776472"/>
            <a:ext cx="402336" cy="402336"/>
          </a:xfrm>
          <a:prstGeom prst="ellipse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 txBox="1"/>
          <p:nvPr/>
        </p:nvSpPr>
        <p:spPr>
          <a:xfrm>
            <a:off x="1600200" y="3803903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63" name="Google Shape;563;p17"/>
          <p:cNvSpPr/>
          <p:nvPr/>
        </p:nvSpPr>
        <p:spPr>
          <a:xfrm>
            <a:off x="4187952" y="3776472"/>
            <a:ext cx="402336" cy="402336"/>
          </a:xfrm>
          <a:prstGeom prst="ellipse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7"/>
          <p:cNvSpPr txBox="1"/>
          <p:nvPr/>
        </p:nvSpPr>
        <p:spPr>
          <a:xfrm>
            <a:off x="3794759" y="3803903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565" name="Google Shape;565;p17"/>
          <p:cNvSpPr/>
          <p:nvPr/>
        </p:nvSpPr>
        <p:spPr>
          <a:xfrm>
            <a:off x="1993391" y="2615184"/>
            <a:ext cx="402336" cy="402336"/>
          </a:xfrm>
          <a:prstGeom prst="ellipse">
            <a:avLst/>
          </a:prstGeom>
          <a:solidFill>
            <a:srgbClr val="BD561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 txBox="1"/>
          <p:nvPr/>
        </p:nvSpPr>
        <p:spPr>
          <a:xfrm>
            <a:off x="1600200" y="2642616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7" name="Google Shape;567;p17"/>
          <p:cNvSpPr txBox="1"/>
          <p:nvPr/>
        </p:nvSpPr>
        <p:spPr>
          <a:xfrm>
            <a:off x="2578608" y="2633472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568" name="Google Shape;568;p17"/>
          <p:cNvSpPr txBox="1"/>
          <p:nvPr/>
        </p:nvSpPr>
        <p:spPr>
          <a:xfrm>
            <a:off x="6510528" y="2121408"/>
            <a:ext cx="4974336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Chez User2, M réunit le commit local L et le commit reçu 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main de User2 est maintenant sur 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User2 vérifie les fichiers avant de publier ce résultat.</a:t>
            </a:r>
            <a:endParaRPr/>
          </a:p>
        </p:txBody>
      </p:sp>
      <p:sp>
        <p:nvSpPr>
          <p:cNvPr id="569" name="Google Shape;569;p17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Les deux traits vers M montrent les deux versions réunies. La fusion est encore locale.</a:t>
            </a:r>
            <a:endParaRPr/>
          </a:p>
        </p:txBody>
      </p:sp>
      <p:sp>
        <p:nvSpPr>
          <p:cNvPr id="571" name="Google Shape;571;p1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572" name="Google Shape;572;p17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17 / 57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8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578" name="Google Shape;578;p18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User2 publie la fusion, puis User1 actualise sa copie</a:t>
            </a:r>
            <a:endParaRPr/>
          </a:p>
        </p:txBody>
      </p:sp>
      <p:sp>
        <p:nvSpPr>
          <p:cNvPr id="579" name="Google Shape;579;p18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1. User2 publie et vérifie (en bas). 2. User1 actualise et vérifie (en haut).</a:t>
            </a:r>
            <a:endParaRPr/>
          </a:p>
        </p:txBody>
      </p:sp>
      <p:sp>
        <p:nvSpPr>
          <p:cNvPr id="580" name="Google Shape;580;p18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583" name="Google Shape;583;p18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584" name="Google Shape;584;p18"/>
          <p:cNvSpPr txBox="1"/>
          <p:nvPr/>
        </p:nvSpPr>
        <p:spPr>
          <a:xfrm>
            <a:off x="804672" y="262432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pull --ff-only</a:t>
            </a:r>
            <a:endParaRPr/>
          </a:p>
        </p:txBody>
      </p:sp>
      <p:sp>
        <p:nvSpPr>
          <p:cNvPr id="585" name="Google Shape;585;p18"/>
          <p:cNvSpPr txBox="1"/>
          <p:nvPr/>
        </p:nvSpPr>
        <p:spPr>
          <a:xfrm>
            <a:off x="804672" y="287304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Fast-forward</a:t>
            </a:r>
            <a:endParaRPr/>
          </a:p>
        </p:txBody>
      </p:sp>
      <p:sp>
        <p:nvSpPr>
          <p:cNvPr id="586" name="Google Shape;586;p18"/>
          <p:cNvSpPr txBox="1"/>
          <p:nvPr/>
        </p:nvSpPr>
        <p:spPr>
          <a:xfrm>
            <a:off x="804672" y="312176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cat demo-a.txt demo-b.txt</a:t>
            </a:r>
            <a:endParaRPr/>
          </a:p>
        </p:txBody>
      </p:sp>
      <p:sp>
        <p:nvSpPr>
          <p:cNvPr id="587" name="Google Shape;587;p18"/>
          <p:cNvSpPr txBox="1"/>
          <p:nvPr/>
        </p:nvSpPr>
        <p:spPr>
          <a:xfrm>
            <a:off x="804672" y="337047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version 2</a:t>
            </a:r>
            <a:endParaRPr/>
          </a:p>
        </p:txBody>
      </p:sp>
      <p:sp>
        <p:nvSpPr>
          <p:cNvPr id="588" name="Google Shape;588;p18"/>
          <p:cNvSpPr txBox="1"/>
          <p:nvPr/>
        </p:nvSpPr>
        <p:spPr>
          <a:xfrm>
            <a:off x="804672" y="3619195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version 1</a:t>
            </a:r>
            <a:endParaRPr/>
          </a:p>
        </p:txBody>
      </p:sp>
      <p:sp>
        <p:nvSpPr>
          <p:cNvPr id="589" name="Google Shape;589;p18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592" name="Google Shape;592;p18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593" name="Google Shape;593;p18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push</a:t>
            </a:r>
            <a:endParaRPr/>
          </a:p>
        </p:txBody>
      </p:sp>
      <p:sp>
        <p:nvSpPr>
          <p:cNvPr id="594" name="Google Shape;594;p18"/>
          <p:cNvSpPr txBox="1"/>
          <p:nvPr/>
        </p:nvSpPr>
        <p:spPr>
          <a:xfrm>
            <a:off x="804672" y="465612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cat demo-a.txt demo-b.txt</a:t>
            </a:r>
            <a:endParaRPr/>
          </a:p>
        </p:txBody>
      </p:sp>
      <p:sp>
        <p:nvSpPr>
          <p:cNvPr id="595" name="Google Shape;595;p18"/>
          <p:cNvSpPr txBox="1"/>
          <p:nvPr/>
        </p:nvSpPr>
        <p:spPr>
          <a:xfrm>
            <a:off x="804672" y="490484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version 2</a:t>
            </a:r>
            <a:endParaRPr/>
          </a:p>
        </p:txBody>
      </p:sp>
      <p:sp>
        <p:nvSpPr>
          <p:cNvPr id="596" name="Google Shape;596;p18"/>
          <p:cNvSpPr txBox="1"/>
          <p:nvPr/>
        </p:nvSpPr>
        <p:spPr>
          <a:xfrm>
            <a:off x="804672" y="515355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version 1</a:t>
            </a: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Les deux copies sur main contiennent les mêmes contributions. Chacune possède maintenant le commit de fusion.</a:t>
            </a:r>
            <a:endParaRPr/>
          </a:p>
        </p:txBody>
      </p:sp>
      <p:sp>
        <p:nvSpPr>
          <p:cNvPr id="599" name="Google Shape;599;p1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600" name="Google Shape;600;p18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18 / 57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9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EXERCICE COLLECTIF · UN SEUL BINÔME ACTIF SUR MAIN</a:t>
            </a:r>
            <a:endParaRPr/>
          </a:p>
        </p:txBody>
      </p:sp>
      <p:sp>
        <p:nvSpPr>
          <p:cNvPr id="606" name="Google Shape;606;p19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 binôme manipule, toute la classe vérifie</a:t>
            </a:r>
            <a:endParaRPr/>
          </a:p>
        </p:txBody>
      </p:sp>
      <p:sp>
        <p:nvSpPr>
          <p:cNvPr id="607" name="Google Shape;607;p19"/>
          <p:cNvSpPr/>
          <p:nvPr/>
        </p:nvSpPr>
        <p:spPr>
          <a:xfrm>
            <a:off x="594360" y="1975104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9"/>
          <p:cNvSpPr txBox="1"/>
          <p:nvPr/>
        </p:nvSpPr>
        <p:spPr>
          <a:xfrm>
            <a:off x="795528" y="2048256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User1 et User2 : préparer deux contributions</a:t>
            </a:r>
            <a:endParaRPr/>
          </a:p>
        </p:txBody>
      </p:sp>
      <p:sp>
        <p:nvSpPr>
          <p:cNvPr id="609" name="Google Shape;609;p19"/>
          <p:cNvSpPr txBox="1"/>
          <p:nvPr/>
        </p:nvSpPr>
        <p:spPr>
          <a:xfrm>
            <a:off x="795528" y="2441448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Même commit de départ, copies propres. Chacun modifie son notes.md personnel et committe, sans publier.</a:t>
            </a: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594360" y="3172968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9"/>
          <p:cNvSpPr txBox="1"/>
          <p:nvPr/>
        </p:nvSpPr>
        <p:spPr>
          <a:xfrm>
            <a:off x="795528" y="324612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User1 publie, User2 réunit, puis User1 actualise</a:t>
            </a:r>
            <a:endParaRPr/>
          </a:p>
        </p:txBody>
      </p:sp>
      <p:sp>
        <p:nvSpPr>
          <p:cNvPr id="612" name="Google Shape;612;p19"/>
          <p:cNvSpPr txBox="1"/>
          <p:nvPr/>
        </p:nvSpPr>
        <p:spPr>
          <a:xfrm>
            <a:off x="795528" y="3639312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Commandes Git des pages 14, 16 et 18. Vérifier les deux fichiers et le commit de fusion dans les deux copies.</a:t>
            </a:r>
            <a:endParaRPr/>
          </a:p>
        </p:txBody>
      </p:sp>
      <p:sp>
        <p:nvSpPr>
          <p:cNvPr id="613" name="Google Shape;613;p19"/>
          <p:cNvSpPr/>
          <p:nvPr/>
        </p:nvSpPr>
        <p:spPr>
          <a:xfrm>
            <a:off x="594360" y="4370832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 txBox="1"/>
          <p:nvPr/>
        </p:nvSpPr>
        <p:spPr>
          <a:xfrm>
            <a:off x="795528" y="4443984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Les autres : prévoir et comparer</a:t>
            </a:r>
            <a:endParaRPr/>
          </a:p>
        </p:txBody>
      </p:sp>
      <p:sp>
        <p:nvSpPr>
          <p:cNvPr id="615" name="Google Shape;615;p19"/>
          <p:cNvSpPr txBox="1"/>
          <p:nvPr/>
        </p:nvSpPr>
        <p:spPr>
          <a:xfrm>
            <a:off x="795528" y="4837176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Avant chaque commande, annoncer le résultat attendu. Observer les fichiers et le graphe ; ne pas publier.</a:t>
            </a:r>
            <a:endParaRPr/>
          </a:p>
        </p:txBody>
      </p:sp>
      <p:sp>
        <p:nvSpPr>
          <p:cNvPr id="616" name="Google Shape;616;p19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9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 seul binôme publie sur main. Le suivant commence quand User1 et User2 sont synchronisés, au signal d’Olivier.</a:t>
            </a:r>
            <a:endParaRPr/>
          </a:p>
        </p:txBody>
      </p:sp>
      <p:sp>
        <p:nvSpPr>
          <p:cNvPr id="618" name="Google Shape;618;p1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619" name="Google Shape;619;p19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19 / 57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0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GIT · SUR MAIN · CAS 3</a:t>
            </a:r>
            <a:endParaRPr/>
          </a:p>
        </p:txBody>
      </p:sp>
      <p:sp>
        <p:nvSpPr>
          <p:cNvPr id="625" name="Google Shape;625;p20"/>
          <p:cNvSpPr txBox="1"/>
          <p:nvPr/>
        </p:nvSpPr>
        <p:spPr>
          <a:xfrm>
            <a:off x="777240" y="1828800"/>
            <a:ext cx="10789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Fusionner avec un conflit</a:t>
            </a:r>
            <a:endParaRPr/>
          </a:p>
        </p:txBody>
      </p:sp>
      <p:sp>
        <p:nvSpPr>
          <p:cNvPr id="626" name="Google Shape;626;p20"/>
          <p:cNvSpPr txBox="1"/>
          <p:nvPr/>
        </p:nvSpPr>
        <p:spPr>
          <a:xfrm>
            <a:off x="804672" y="41148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Toujours sur main, dans deux clones.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Cette fois, il faut choisir le texte à conserver.</a:t>
            </a:r>
            <a:endParaRPr/>
          </a:p>
        </p:txBody>
      </p:sp>
      <p:sp>
        <p:nvSpPr>
          <p:cNvPr id="627" name="Google Shape;627;p20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628" name="Google Shape;628;p20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 / 57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1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634" name="Google Shape;634;p21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Conflit : chacun remplace la même ligne</a:t>
            </a:r>
            <a:endParaRPr/>
          </a:p>
        </p:txBody>
      </p:sp>
      <p:sp>
        <p:nvSpPr>
          <p:cNvPr id="635" name="Google Shape;635;p21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Départ : même main, copies propres ; demo-a.txt contient User1 version 2.</a:t>
            </a:r>
            <a:endParaRPr/>
          </a:p>
        </p:txBody>
      </p:sp>
      <p:sp>
        <p:nvSpPr>
          <p:cNvPr id="636" name="Google Shape;636;p21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1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639" name="Google Shape;639;p21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640" name="Google Shape;640;p21"/>
          <p:cNvSpPr txBox="1"/>
          <p:nvPr/>
        </p:nvSpPr>
        <p:spPr>
          <a:xfrm>
            <a:off x="804672" y="262432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pull --ff-only</a:t>
            </a:r>
            <a:endParaRPr/>
          </a:p>
        </p:txBody>
      </p:sp>
      <p:sp>
        <p:nvSpPr>
          <p:cNvPr id="641" name="Google Shape;641;p21"/>
          <p:cNvSpPr txBox="1"/>
          <p:nvPr/>
        </p:nvSpPr>
        <p:spPr>
          <a:xfrm>
            <a:off x="804672" y="287304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echo "Check units." &gt; demo-a.txt</a:t>
            </a:r>
            <a:endParaRPr/>
          </a:p>
        </p:txBody>
      </p:sp>
      <p:sp>
        <p:nvSpPr>
          <p:cNvPr id="642" name="Google Shape;642;p21"/>
          <p:cNvSpPr txBox="1"/>
          <p:nvPr/>
        </p:nvSpPr>
        <p:spPr>
          <a:xfrm>
            <a:off x="804672" y="312176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add demo-a.txt</a:t>
            </a:r>
            <a:endParaRPr/>
          </a:p>
        </p:txBody>
      </p:sp>
      <p:sp>
        <p:nvSpPr>
          <p:cNvPr id="643" name="Google Shape;643;p21"/>
          <p:cNvSpPr txBox="1"/>
          <p:nvPr/>
        </p:nvSpPr>
        <p:spPr>
          <a:xfrm>
            <a:off x="804672" y="337047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commit -m "Check units"</a:t>
            </a:r>
            <a:endParaRPr/>
          </a:p>
        </p:txBody>
      </p:sp>
      <p:sp>
        <p:nvSpPr>
          <p:cNvPr id="644" name="Google Shape;644;p21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1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647" name="Google Shape;647;p21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648" name="Google Shape;648;p21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pull --ff-only</a:t>
            </a:r>
            <a:endParaRPr/>
          </a:p>
        </p:txBody>
      </p:sp>
      <p:sp>
        <p:nvSpPr>
          <p:cNvPr id="649" name="Google Shape;649;p21"/>
          <p:cNvSpPr txBox="1"/>
          <p:nvPr/>
        </p:nvSpPr>
        <p:spPr>
          <a:xfrm>
            <a:off x="804672" y="465612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echo "Explain results." &gt; demo-a.txt</a:t>
            </a:r>
            <a:endParaRPr/>
          </a:p>
        </p:txBody>
      </p:sp>
      <p:sp>
        <p:nvSpPr>
          <p:cNvPr id="650" name="Google Shape;650;p21"/>
          <p:cNvSpPr txBox="1"/>
          <p:nvPr/>
        </p:nvSpPr>
        <p:spPr>
          <a:xfrm>
            <a:off x="804672" y="490484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add demo-a.txt</a:t>
            </a:r>
            <a:endParaRPr/>
          </a:p>
        </p:txBody>
      </p:sp>
      <p:sp>
        <p:nvSpPr>
          <p:cNvPr id="651" name="Google Shape;651;p21"/>
          <p:cNvSpPr txBox="1"/>
          <p:nvPr/>
        </p:nvSpPr>
        <p:spPr>
          <a:xfrm>
            <a:off x="804672" y="515355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commit -m "Explain results"</a:t>
            </a:r>
            <a:endParaRPr/>
          </a:p>
        </p:txBody>
      </p:sp>
      <p:sp>
        <p:nvSpPr>
          <p:cNvPr id="652" name="Google Shape;652;p21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1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Les deux commits doivent exister avant le push de User1. Une seule démonstration active ; les autres ne publient pas.</a:t>
            </a:r>
            <a:endParaRPr/>
          </a:p>
        </p:txBody>
      </p:sp>
      <p:sp>
        <p:nvSpPr>
          <p:cNvPr id="654" name="Google Shape;654;p21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655" name="Google Shape;655;p21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21 / 57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2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661" name="Google Shape;661;p22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Git s’arrête : la même ligne a deux versions</a:t>
            </a:r>
            <a:endParaRPr/>
          </a:p>
        </p:txBody>
      </p:sp>
      <p:sp>
        <p:nvSpPr>
          <p:cNvPr id="662" name="Google Shape;662;p22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1. User1 publie. 2. User2 récupère, tente la fusion et regarde l’état.</a:t>
            </a:r>
            <a:endParaRPr/>
          </a:p>
        </p:txBody>
      </p:sp>
      <p:sp>
        <p:nvSpPr>
          <p:cNvPr id="663" name="Google Shape;663;p22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2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666" name="Google Shape;666;p22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667" name="Google Shape;667;p22"/>
          <p:cNvSpPr txBox="1"/>
          <p:nvPr/>
        </p:nvSpPr>
        <p:spPr>
          <a:xfrm>
            <a:off x="804672" y="262432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push</a:t>
            </a:r>
            <a:endParaRPr/>
          </a:p>
        </p:txBody>
      </p:sp>
      <p:sp>
        <p:nvSpPr>
          <p:cNvPr id="668" name="Google Shape;668;p22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2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671" name="Google Shape;671;p22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672" name="Google Shape;672;p22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fetch</a:t>
            </a:r>
            <a:endParaRPr/>
          </a:p>
        </p:txBody>
      </p:sp>
      <p:sp>
        <p:nvSpPr>
          <p:cNvPr id="673" name="Google Shape;673;p22"/>
          <p:cNvSpPr txBox="1"/>
          <p:nvPr/>
        </p:nvSpPr>
        <p:spPr>
          <a:xfrm>
            <a:off x="804672" y="465612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merge --no-edit origin/main</a:t>
            </a:r>
            <a:endParaRPr/>
          </a:p>
        </p:txBody>
      </p:sp>
      <p:sp>
        <p:nvSpPr>
          <p:cNvPr id="674" name="Google Shape;674;p22"/>
          <p:cNvSpPr txBox="1"/>
          <p:nvPr/>
        </p:nvSpPr>
        <p:spPr>
          <a:xfrm>
            <a:off x="804672" y="490484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CONFLICT (content): Merge conflict in demo-a.txt</a:t>
            </a:r>
            <a:endParaRPr/>
          </a:p>
        </p:txBody>
      </p:sp>
      <p:sp>
        <p:nvSpPr>
          <p:cNvPr id="675" name="Google Shape;675;p22"/>
          <p:cNvSpPr txBox="1"/>
          <p:nvPr/>
        </p:nvSpPr>
        <p:spPr>
          <a:xfrm>
            <a:off x="804672" y="515355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status --short</a:t>
            </a:r>
            <a:endParaRPr/>
          </a:p>
        </p:txBody>
      </p:sp>
      <p:sp>
        <p:nvSpPr>
          <p:cNvPr id="676" name="Google Shape;676;p22"/>
          <p:cNvSpPr txBox="1"/>
          <p:nvPr/>
        </p:nvSpPr>
        <p:spPr>
          <a:xfrm>
            <a:off x="804672" y="5402275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UU demo-a.txt</a:t>
            </a:r>
            <a:endParaRPr/>
          </a:p>
        </p:txBody>
      </p:sp>
      <p:sp>
        <p:nvSpPr>
          <p:cNvPr id="677" name="Google Shape;677;p22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2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UU = fichier en conflit. La fusion est en cours : aucun commit de fusion n’est encore créé. --no-edit ne résout pas le texte.</a:t>
            </a:r>
            <a:endParaRPr/>
          </a:p>
        </p:txBody>
      </p:sp>
      <p:sp>
        <p:nvSpPr>
          <p:cNvPr id="679" name="Google Shape;679;p22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680" name="Google Shape;680;p22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22 / 57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3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CHOISIR LE CONTENU · CHEZ User2</a:t>
            </a:r>
            <a:endParaRPr/>
          </a:p>
        </p:txBody>
      </p:sp>
      <p:sp>
        <p:nvSpPr>
          <p:cNvPr id="686" name="Google Shape;686;p23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Si deux personnes remplacent la même phrase</a:t>
            </a:r>
            <a:endParaRPr/>
          </a:p>
        </p:txBody>
      </p:sp>
      <p:sp>
        <p:nvSpPr>
          <p:cNvPr id="687" name="Google Shape;687;p23"/>
          <p:cNvSpPr txBox="1"/>
          <p:nvPr/>
        </p:nvSpPr>
        <p:spPr>
          <a:xfrm>
            <a:off x="777240" y="192024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Dans demo-a.txt, les deux personnes ont remplacé la même ligne. Quel texte retenir ?</a:t>
            </a:r>
            <a:endParaRPr/>
          </a:p>
        </p:txBody>
      </p:sp>
      <p:sp>
        <p:nvSpPr>
          <p:cNvPr id="688" name="Google Shape;688;p23"/>
          <p:cNvSpPr/>
          <p:nvPr/>
        </p:nvSpPr>
        <p:spPr>
          <a:xfrm>
            <a:off x="594360" y="2724912"/>
            <a:ext cx="5376672" cy="12435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3"/>
          <p:cNvSpPr txBox="1"/>
          <p:nvPr/>
        </p:nvSpPr>
        <p:spPr>
          <a:xfrm>
            <a:off x="777240" y="2880360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LOCAL · User2 · CURRENT</a:t>
            </a:r>
            <a:endParaRPr/>
          </a:p>
        </p:txBody>
      </p:sp>
      <p:sp>
        <p:nvSpPr>
          <p:cNvPr id="690" name="Google Shape;690;p23"/>
          <p:cNvSpPr txBox="1"/>
          <p:nvPr/>
        </p:nvSpPr>
        <p:spPr>
          <a:xfrm>
            <a:off x="777240" y="3401568"/>
            <a:ext cx="5010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Explain results.</a:t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>
            <a:off x="6217920" y="2724912"/>
            <a:ext cx="5376672" cy="12435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3"/>
          <p:cNvSpPr txBox="1"/>
          <p:nvPr/>
        </p:nvSpPr>
        <p:spPr>
          <a:xfrm>
            <a:off x="6400800" y="2880360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REÇU · User1 · INCOMING</a:t>
            </a:r>
            <a:endParaRPr/>
          </a:p>
        </p:txBody>
      </p:sp>
      <p:sp>
        <p:nvSpPr>
          <p:cNvPr id="693" name="Google Shape;693;p23"/>
          <p:cNvSpPr txBox="1"/>
          <p:nvPr/>
        </p:nvSpPr>
        <p:spPr>
          <a:xfrm>
            <a:off x="6400800" y="3401568"/>
            <a:ext cx="5010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Check units.</a:t>
            </a:r>
            <a:endParaRPr/>
          </a:p>
        </p:txBody>
      </p:sp>
      <p:sp>
        <p:nvSpPr>
          <p:cNvPr id="694" name="Google Shape;694;p23"/>
          <p:cNvSpPr/>
          <p:nvPr/>
        </p:nvSpPr>
        <p:spPr>
          <a:xfrm>
            <a:off x="594360" y="4251960"/>
            <a:ext cx="11000232" cy="1170432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3"/>
          <p:cNvSpPr txBox="1"/>
          <p:nvPr/>
        </p:nvSpPr>
        <p:spPr>
          <a:xfrm>
            <a:off x="777240" y="438912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87F8C"/>
                </a:solidFill>
                <a:latin typeface="Arial"/>
                <a:ea typeface="Arial"/>
                <a:cs typeface="Arial"/>
                <a:sym typeface="Arial"/>
              </a:rPr>
              <a:t>TEXTE RETENU</a:t>
            </a:r>
            <a:endParaRPr/>
          </a:p>
        </p:txBody>
      </p:sp>
      <p:sp>
        <p:nvSpPr>
          <p:cNvPr id="696" name="Google Shape;696;p23"/>
          <p:cNvSpPr txBox="1"/>
          <p:nvPr/>
        </p:nvSpPr>
        <p:spPr>
          <a:xfrm>
            <a:off x="777240" y="4864608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Check units and explain results.</a:t>
            </a:r>
            <a:endParaRPr/>
          </a:p>
        </p:txBody>
      </p:sp>
      <p:sp>
        <p:nvSpPr>
          <p:cNvPr id="697" name="Google Shape;697;p23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3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On garde les deux idées dans une seule phrase.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 abandonner la fusion en cours : git merge --abort.</a:t>
            </a:r>
            <a:endParaRPr/>
          </a:p>
        </p:txBody>
      </p:sp>
      <p:sp>
        <p:nvSpPr>
          <p:cNvPr id="699" name="Google Shape;699;p2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700" name="Google Shape;700;p23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23 / 57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4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706" name="Google Shape;706;p24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User2 ouvre le conflit dans KDiff3</a:t>
            </a:r>
            <a:endParaRPr/>
          </a:p>
        </p:txBody>
      </p:sp>
      <p:sp>
        <p:nvSpPr>
          <p:cNvPr id="707" name="Google Shape;707;p24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La fusion est arrêtée. Ouvrir un outil pour choisir le contenu du fichier.</a:t>
            </a:r>
            <a:endParaRPr/>
          </a:p>
        </p:txBody>
      </p:sp>
      <p:sp>
        <p:nvSpPr>
          <p:cNvPr id="708" name="Google Shape;708;p24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4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4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711" name="Google Shape;711;p24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712" name="Google Shape;712;p24"/>
          <p:cNvSpPr txBox="1"/>
          <p:nvPr/>
        </p:nvSpPr>
        <p:spPr>
          <a:xfrm>
            <a:off x="804672" y="2926080"/>
            <a:ext cx="10561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User1 attend pendant que User2 résout le conflit.</a:t>
            </a:r>
            <a:endParaRPr/>
          </a:p>
        </p:txBody>
      </p:sp>
      <p:sp>
        <p:nvSpPr>
          <p:cNvPr id="713" name="Google Shape;713;p24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4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4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716" name="Google Shape;716;p24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717" name="Google Shape;717;p24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mergetool demo-a.txt</a:t>
            </a:r>
            <a:endParaRPr/>
          </a:p>
        </p:txBody>
      </p:sp>
      <p:sp>
        <p:nvSpPr>
          <p:cNvPr id="718" name="Google Shape;718;p24"/>
          <p:cNvSpPr txBox="1"/>
          <p:nvPr/>
        </p:nvSpPr>
        <p:spPr>
          <a:xfrm>
            <a:off x="804672" y="465612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C5D9E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9" name="Google Shape;719;p24"/>
          <p:cNvSpPr txBox="1"/>
          <p:nvPr/>
        </p:nvSpPr>
        <p:spPr>
          <a:xfrm>
            <a:off x="804672" y="490484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5D9E9"/>
                </a:solidFill>
                <a:latin typeface="Verdana"/>
                <a:ea typeface="Verdana"/>
                <a:cs typeface="Verdana"/>
                <a:sym typeface="Verdana"/>
              </a:rPr>
              <a:t>Avec merge.tool = kdiff3, cette commande ouvre KDiff3.</a:t>
            </a:r>
            <a:endParaRPr/>
          </a:p>
        </p:txBody>
      </p:sp>
      <p:sp>
        <p:nvSpPr>
          <p:cNvPr id="720" name="Google Shape;720;p24"/>
          <p:cNvSpPr txBox="1"/>
          <p:nvPr/>
        </p:nvSpPr>
        <p:spPr>
          <a:xfrm>
            <a:off x="804672" y="515355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5D9E9"/>
                </a:solidFill>
                <a:latin typeface="Verdana"/>
                <a:ea typeface="Verdana"/>
                <a:cs typeface="Verdana"/>
                <a:sym typeface="Verdana"/>
              </a:rPr>
              <a:t>Si Git demande de lancer l’outil, appuyer sur Entrée.</a:t>
            </a:r>
            <a:endParaRPr/>
          </a:p>
        </p:txBody>
      </p:sp>
      <p:sp>
        <p:nvSpPr>
          <p:cNvPr id="721" name="Google Shape;721;p24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4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réglage merge.tool choisit l’outil ; git merge ne l’ouvre pas automatiquement. KDiff3 est installé pour cette démonstration.</a:t>
            </a:r>
            <a:endParaRPr/>
          </a:p>
        </p:txBody>
      </p:sp>
      <p:sp>
        <p:nvSpPr>
          <p:cNvPr id="723" name="Google Shape;723;p24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724" name="Google Shape;724;p24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24 / 57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5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KDIFF3 · SCHÉMA SIMPLIFIÉ DE L’INTERFACE</a:t>
            </a:r>
            <a:endParaRPr/>
          </a:p>
        </p:txBody>
      </p:sp>
      <p:sp>
        <p:nvSpPr>
          <p:cNvPr id="730" name="Google Shape;730;p25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KDiff3 : lire les trois versions, écrire le résultat</a:t>
            </a:r>
            <a:endParaRPr/>
          </a:p>
        </p:txBody>
      </p:sp>
      <p:sp>
        <p:nvSpPr>
          <p:cNvPr id="731" name="Google Shape;731;p25"/>
          <p:cNvSpPr/>
          <p:nvPr/>
        </p:nvSpPr>
        <p:spPr>
          <a:xfrm>
            <a:off x="594360" y="2011680"/>
            <a:ext cx="3538728" cy="1170432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5"/>
          <p:cNvSpPr txBox="1"/>
          <p:nvPr/>
        </p:nvSpPr>
        <p:spPr>
          <a:xfrm>
            <a:off x="740664" y="216712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A · BASE COMMUNE</a:t>
            </a:r>
            <a:endParaRPr/>
          </a:p>
        </p:txBody>
      </p:sp>
      <p:sp>
        <p:nvSpPr>
          <p:cNvPr id="733" name="Google Shape;733;p25"/>
          <p:cNvSpPr txBox="1"/>
          <p:nvPr/>
        </p:nvSpPr>
        <p:spPr>
          <a:xfrm>
            <a:off x="740664" y="270662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364C"/>
                </a:solidFill>
                <a:latin typeface="Verdana"/>
                <a:ea typeface="Verdana"/>
                <a:cs typeface="Verdana"/>
                <a:sym typeface="Verdana"/>
              </a:rPr>
              <a:t>User1 version 2</a:t>
            </a:r>
            <a:endParaRPr/>
          </a:p>
        </p:txBody>
      </p:sp>
      <p:sp>
        <p:nvSpPr>
          <p:cNvPr id="734" name="Google Shape;734;p25"/>
          <p:cNvSpPr/>
          <p:nvPr/>
        </p:nvSpPr>
        <p:spPr>
          <a:xfrm>
            <a:off x="4325112" y="2011680"/>
            <a:ext cx="3538728" cy="1170432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5"/>
          <p:cNvSpPr txBox="1"/>
          <p:nvPr/>
        </p:nvSpPr>
        <p:spPr>
          <a:xfrm>
            <a:off x="4471416" y="216712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B · LOCAL · User2</a:t>
            </a:r>
            <a:endParaRPr/>
          </a:p>
        </p:txBody>
      </p:sp>
      <p:sp>
        <p:nvSpPr>
          <p:cNvPr id="736" name="Google Shape;736;p25"/>
          <p:cNvSpPr txBox="1"/>
          <p:nvPr/>
        </p:nvSpPr>
        <p:spPr>
          <a:xfrm>
            <a:off x="4471416" y="270662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364C"/>
                </a:solidFill>
                <a:latin typeface="Verdana"/>
                <a:ea typeface="Verdana"/>
                <a:cs typeface="Verdana"/>
                <a:sym typeface="Verdana"/>
              </a:rPr>
              <a:t>Explain results.</a:t>
            </a:r>
            <a:endParaRPr/>
          </a:p>
        </p:txBody>
      </p:sp>
      <p:sp>
        <p:nvSpPr>
          <p:cNvPr id="737" name="Google Shape;737;p25"/>
          <p:cNvSpPr/>
          <p:nvPr/>
        </p:nvSpPr>
        <p:spPr>
          <a:xfrm>
            <a:off x="8055864" y="2011680"/>
            <a:ext cx="3538728" cy="1170432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 txBox="1"/>
          <p:nvPr/>
        </p:nvSpPr>
        <p:spPr>
          <a:xfrm>
            <a:off x="8202168" y="216712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 · REÇU · User1</a:t>
            </a:r>
            <a:endParaRPr/>
          </a:p>
        </p:txBody>
      </p:sp>
      <p:sp>
        <p:nvSpPr>
          <p:cNvPr id="739" name="Google Shape;739;p25"/>
          <p:cNvSpPr txBox="1"/>
          <p:nvPr/>
        </p:nvSpPr>
        <p:spPr>
          <a:xfrm>
            <a:off x="8202168" y="2706624"/>
            <a:ext cx="3246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364C"/>
                </a:solidFill>
                <a:latin typeface="Verdana"/>
                <a:ea typeface="Verdana"/>
                <a:cs typeface="Verdana"/>
                <a:sym typeface="Verdana"/>
              </a:rPr>
              <a:t>Check units.</a:t>
            </a:r>
            <a:endParaRPr/>
          </a:p>
        </p:txBody>
      </p:sp>
      <p:sp>
        <p:nvSpPr>
          <p:cNvPr id="740" name="Google Shape;740;p25"/>
          <p:cNvSpPr txBox="1"/>
          <p:nvPr/>
        </p:nvSpPr>
        <p:spPr>
          <a:xfrm>
            <a:off x="777240" y="3383280"/>
            <a:ext cx="10607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1. Sélectionner le conflit, puis B comme point de départ.</a:t>
            </a:r>
            <a:endParaRPr/>
          </a:p>
        </p:txBody>
      </p:sp>
      <p:sp>
        <p:nvSpPr>
          <p:cNvPr id="741" name="Google Shape;741;p25"/>
          <p:cNvSpPr/>
          <p:nvPr/>
        </p:nvSpPr>
        <p:spPr>
          <a:xfrm>
            <a:off x="594360" y="3977639"/>
            <a:ext cx="11000232" cy="10058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 txBox="1"/>
          <p:nvPr/>
        </p:nvSpPr>
        <p:spPr>
          <a:xfrm>
            <a:off x="777240" y="4105656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2. DANS LE RÉSULTAT EN BAS : MODIFIER LE TEXTE</a:t>
            </a:r>
            <a:endParaRPr/>
          </a:p>
        </p:txBody>
      </p:sp>
      <p:sp>
        <p:nvSpPr>
          <p:cNvPr id="743" name="Google Shape;743;p25"/>
          <p:cNvSpPr txBox="1"/>
          <p:nvPr/>
        </p:nvSpPr>
        <p:spPr>
          <a:xfrm>
            <a:off x="777240" y="4562856"/>
            <a:ext cx="1060704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Check units and explain results.</a:t>
            </a:r>
            <a:endParaRPr/>
          </a:p>
        </p:txBody>
      </p:sp>
      <p:sp>
        <p:nvSpPr>
          <p:cNvPr id="744" name="Google Shape;744;p25"/>
          <p:cNvSpPr txBox="1"/>
          <p:nvPr/>
        </p:nvSpPr>
        <p:spPr>
          <a:xfrm>
            <a:off x="777240" y="5248656"/>
            <a:ext cx="10607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3. Ctrl+S pour enregistrer, puis fermer KDiff3.</a:t>
            </a:r>
            <a:endParaRPr/>
          </a:p>
        </p:txBody>
      </p:sp>
      <p:sp>
        <p:nvSpPr>
          <p:cNvPr id="745" name="Google Shape;745;p25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5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A, B et C sont les noms des entrées de KDiff3. Enregistrer reste impossible tant qu’un conflit n’est pas résolu.</a:t>
            </a:r>
            <a:endParaRPr/>
          </a:p>
        </p:txBody>
      </p:sp>
      <p:sp>
        <p:nvSpPr>
          <p:cNvPr id="747" name="Google Shape;747;p25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748" name="Google Shape;748;p25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25 / 57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6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ALTERNATIVE À KDIFF3 · CHEZ User2</a:t>
            </a:r>
            <a:endParaRPr/>
          </a:p>
        </p:txBody>
      </p:sp>
      <p:sp>
        <p:nvSpPr>
          <p:cNvPr id="754" name="Google Shape;754;p26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Autre possibilité : résoudre dans VS Code</a:t>
            </a:r>
            <a:endParaRPr/>
          </a:p>
        </p:txBody>
      </p:sp>
      <p:sp>
        <p:nvSpPr>
          <p:cNvPr id="755" name="Google Shape;755;p26"/>
          <p:cNvSpPr/>
          <p:nvPr/>
        </p:nvSpPr>
        <p:spPr>
          <a:xfrm>
            <a:off x="594360" y="1975104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6"/>
          <p:cNvSpPr txBox="1"/>
          <p:nvPr/>
        </p:nvSpPr>
        <p:spPr>
          <a:xfrm>
            <a:off x="795528" y="2048256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1. Ouvrir demo-a.txt chez User2</a:t>
            </a:r>
            <a:endParaRPr/>
          </a:p>
        </p:txBody>
      </p:sp>
      <p:sp>
        <p:nvSpPr>
          <p:cNvPr id="757" name="Google Shape;757;p26"/>
          <p:cNvSpPr txBox="1"/>
          <p:nvPr/>
        </p:nvSpPr>
        <p:spPr>
          <a:xfrm>
            <a:off x="795528" y="2441448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Si vous choisissez VS Code, inutile de lancer KDiff3. Ouvrir le fichier en conflit dans l’éditeur de texte.</a:t>
            </a:r>
            <a:endParaRPr/>
          </a:p>
        </p:txBody>
      </p:sp>
      <p:sp>
        <p:nvSpPr>
          <p:cNvPr id="758" name="Google Shape;758;p26"/>
          <p:cNvSpPr/>
          <p:nvPr/>
        </p:nvSpPr>
        <p:spPr>
          <a:xfrm>
            <a:off x="594360" y="3172968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6"/>
          <p:cNvSpPr txBox="1"/>
          <p:nvPr/>
        </p:nvSpPr>
        <p:spPr>
          <a:xfrm>
            <a:off x="795528" y="324612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2. Écrire le texte retenu</a:t>
            </a:r>
            <a:endParaRPr/>
          </a:p>
        </p:txBody>
      </p:sp>
      <p:sp>
        <p:nvSpPr>
          <p:cNvPr id="760" name="Google Shape;760;p26"/>
          <p:cNvSpPr txBox="1"/>
          <p:nvPr/>
        </p:nvSpPr>
        <p:spPr>
          <a:xfrm>
            <a:off x="795528" y="3639312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Remplacer le bloc en conflit par : Check units and explain results.</a:t>
            </a:r>
            <a:endParaRPr/>
          </a:p>
        </p:txBody>
      </p:sp>
      <p:sp>
        <p:nvSpPr>
          <p:cNvPr id="761" name="Google Shape;761;p26"/>
          <p:cNvSpPr/>
          <p:nvPr/>
        </p:nvSpPr>
        <p:spPr>
          <a:xfrm>
            <a:off x="594360" y="4370832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6"/>
          <p:cNvSpPr txBox="1"/>
          <p:nvPr/>
        </p:nvSpPr>
        <p:spPr>
          <a:xfrm>
            <a:off x="795528" y="4443984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3. Retirer les marqueurs et enregistrer</a:t>
            </a:r>
            <a:endParaRPr/>
          </a:p>
        </p:txBody>
      </p:sp>
      <p:sp>
        <p:nvSpPr>
          <p:cNvPr id="763" name="Google Shape;763;p26"/>
          <p:cNvSpPr txBox="1"/>
          <p:nvPr/>
        </p:nvSpPr>
        <p:spPr>
          <a:xfrm>
            <a:off x="795528" y="4837176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Il ne doit rester aucune ligne &lt;&lt;&lt;&lt;&lt;&lt;&lt;, ======= ou &gt;&gt;&gt;&gt;&gt;&gt;&gt;. Ctrl+S, puis suivre la page suivante.</a:t>
            </a:r>
            <a:endParaRPr/>
          </a:p>
        </p:txBody>
      </p:sp>
      <p:sp>
        <p:nvSpPr>
          <p:cNvPr id="764" name="Google Shape;764;p26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6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Choisir un seul outil : KDiff3 OU VS Code. Dans les deux cas, il reste à vérifier le fichier et à créer le commit de fusion.</a:t>
            </a:r>
            <a:endParaRPr/>
          </a:p>
        </p:txBody>
      </p:sp>
      <p:sp>
        <p:nvSpPr>
          <p:cNvPr id="766" name="Google Shape;766;p2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767" name="Google Shape;767;p26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26 / 57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7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773" name="Google Shape;773;p27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User2 vérifie le texte et termine la fusion</a:t>
            </a:r>
            <a:endParaRPr/>
          </a:p>
        </p:txBody>
      </p:sp>
      <p:sp>
        <p:nvSpPr>
          <p:cNvPr id="774" name="Google Shape;774;p27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Après KDiff3 ou VS Code : enregistrer le fichier, puis revenir au terminal.</a:t>
            </a:r>
            <a:endParaRPr/>
          </a:p>
        </p:txBody>
      </p:sp>
      <p:sp>
        <p:nvSpPr>
          <p:cNvPr id="775" name="Google Shape;775;p27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7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7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778" name="Google Shape;778;p27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779" name="Google Shape;779;p27"/>
          <p:cNvSpPr txBox="1"/>
          <p:nvPr/>
        </p:nvSpPr>
        <p:spPr>
          <a:xfrm>
            <a:off x="804672" y="2926080"/>
            <a:ext cx="10561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User1 attend : la résolution reste locale chez User2.</a:t>
            </a:r>
            <a:endParaRPr/>
          </a:p>
        </p:txBody>
      </p:sp>
      <p:sp>
        <p:nvSpPr>
          <p:cNvPr id="780" name="Google Shape;780;p27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7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7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783" name="Google Shape;783;p27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784" name="Google Shape;784;p27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cat demo-a.txt</a:t>
            </a:r>
            <a:endParaRPr/>
          </a:p>
        </p:txBody>
      </p:sp>
      <p:sp>
        <p:nvSpPr>
          <p:cNvPr id="785" name="Google Shape;785;p27"/>
          <p:cNvSpPr txBox="1"/>
          <p:nvPr/>
        </p:nvSpPr>
        <p:spPr>
          <a:xfrm>
            <a:off x="804672" y="465612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Check units and explain results.</a:t>
            </a:r>
            <a:endParaRPr/>
          </a:p>
        </p:txBody>
      </p:sp>
      <p:sp>
        <p:nvSpPr>
          <p:cNvPr id="786" name="Google Shape;786;p27"/>
          <p:cNvSpPr txBox="1"/>
          <p:nvPr/>
        </p:nvSpPr>
        <p:spPr>
          <a:xfrm>
            <a:off x="804672" y="490484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add demo-a.txt</a:t>
            </a:r>
            <a:endParaRPr/>
          </a:p>
        </p:txBody>
      </p:sp>
      <p:sp>
        <p:nvSpPr>
          <p:cNvPr id="787" name="Google Shape;787;p27"/>
          <p:cNvSpPr txBox="1"/>
          <p:nvPr/>
        </p:nvSpPr>
        <p:spPr>
          <a:xfrm>
            <a:off x="804672" y="515355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diff --staged</a:t>
            </a:r>
            <a:endParaRPr/>
          </a:p>
        </p:txBody>
      </p:sp>
      <p:sp>
        <p:nvSpPr>
          <p:cNvPr id="788" name="Google Shape;788;p27"/>
          <p:cNvSpPr txBox="1"/>
          <p:nvPr/>
        </p:nvSpPr>
        <p:spPr>
          <a:xfrm>
            <a:off x="804672" y="5402275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commit -m "Resolve note conflict"</a:t>
            </a:r>
            <a:endParaRPr/>
          </a:p>
        </p:txBody>
      </p:sp>
      <p:sp>
        <p:nvSpPr>
          <p:cNvPr id="789" name="Google Shape;789;p27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7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Relire le diff préparé avant le commit. -m fournit le message et évite Vim ; ce commit termine la fusion.</a:t>
            </a:r>
            <a:endParaRPr/>
          </a:p>
        </p:txBody>
      </p:sp>
      <p:sp>
        <p:nvSpPr>
          <p:cNvPr id="791" name="Google Shape;791;p2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792" name="Google Shape;792;p27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27 / 57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8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DÉMONSTRATION · MAIN · SAISIR APRÈS $ · SORTIES ABRÉGÉES</a:t>
            </a:r>
            <a:endParaRPr/>
          </a:p>
        </p:txBody>
      </p:sp>
      <p:sp>
        <p:nvSpPr>
          <p:cNvPr id="798" name="Google Shape;798;p28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Publier la résolution et retrouver le même fichier</a:t>
            </a:r>
            <a:endParaRPr/>
          </a:p>
        </p:txBody>
      </p:sp>
      <p:sp>
        <p:nvSpPr>
          <p:cNvPr id="799" name="Google Shape;799;p28"/>
          <p:cNvSpPr txBox="1"/>
          <p:nvPr/>
        </p:nvSpPr>
        <p:spPr>
          <a:xfrm>
            <a:off x="640080" y="1792224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1. User2 publie (en bas). 2. User1 actualise (en haut). Chacun lit le fichier.</a:t>
            </a:r>
            <a:endParaRPr/>
          </a:p>
        </p:txBody>
      </p:sp>
      <p:sp>
        <p:nvSpPr>
          <p:cNvPr id="800" name="Google Shape;800;p28"/>
          <p:cNvSpPr/>
          <p:nvPr/>
        </p:nvSpPr>
        <p:spPr>
          <a:xfrm>
            <a:off x="594360" y="222199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8"/>
          <p:cNvSpPr/>
          <p:nvPr/>
        </p:nvSpPr>
        <p:spPr>
          <a:xfrm>
            <a:off x="594360" y="2221992"/>
            <a:ext cx="73152" cy="1691640"/>
          </a:xfrm>
          <a:prstGeom prst="rect">
            <a:avLst/>
          </a:prstGeom>
          <a:solidFill>
            <a:srgbClr val="236DA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8"/>
          <p:cNvSpPr txBox="1"/>
          <p:nvPr/>
        </p:nvSpPr>
        <p:spPr>
          <a:xfrm>
            <a:off x="777240" y="229514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User1 · atelier-git</a:t>
            </a:r>
            <a:endParaRPr/>
          </a:p>
        </p:txBody>
      </p:sp>
      <p:sp>
        <p:nvSpPr>
          <p:cNvPr id="803" name="Google Shape;803;p28"/>
          <p:cNvSpPr txBox="1"/>
          <p:nvPr/>
        </p:nvSpPr>
        <p:spPr>
          <a:xfrm>
            <a:off x="10607040" y="229514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804" name="Google Shape;804;p28"/>
          <p:cNvSpPr txBox="1"/>
          <p:nvPr/>
        </p:nvSpPr>
        <p:spPr>
          <a:xfrm>
            <a:off x="804672" y="262432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pull --ff-only</a:t>
            </a:r>
            <a:endParaRPr/>
          </a:p>
        </p:txBody>
      </p:sp>
      <p:sp>
        <p:nvSpPr>
          <p:cNvPr id="805" name="Google Shape;805;p28"/>
          <p:cNvSpPr txBox="1"/>
          <p:nvPr/>
        </p:nvSpPr>
        <p:spPr>
          <a:xfrm>
            <a:off x="804672" y="287304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Fast-forward</a:t>
            </a:r>
            <a:endParaRPr/>
          </a:p>
        </p:txBody>
      </p:sp>
      <p:sp>
        <p:nvSpPr>
          <p:cNvPr id="806" name="Google Shape;806;p28"/>
          <p:cNvSpPr txBox="1"/>
          <p:nvPr/>
        </p:nvSpPr>
        <p:spPr>
          <a:xfrm>
            <a:off x="804672" y="312176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cat demo-a.txt</a:t>
            </a:r>
            <a:endParaRPr/>
          </a:p>
        </p:txBody>
      </p:sp>
      <p:sp>
        <p:nvSpPr>
          <p:cNvPr id="807" name="Google Shape;807;p28"/>
          <p:cNvSpPr txBox="1"/>
          <p:nvPr/>
        </p:nvSpPr>
        <p:spPr>
          <a:xfrm>
            <a:off x="804672" y="337047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Check units and explain results.</a:t>
            </a:r>
            <a:endParaRPr/>
          </a:p>
        </p:txBody>
      </p:sp>
      <p:sp>
        <p:nvSpPr>
          <p:cNvPr id="808" name="Google Shape;808;p28"/>
          <p:cNvSpPr/>
          <p:nvPr/>
        </p:nvSpPr>
        <p:spPr>
          <a:xfrm>
            <a:off x="594360" y="4005072"/>
            <a:ext cx="11000232" cy="1691640"/>
          </a:xfrm>
          <a:prstGeom prst="rect">
            <a:avLst/>
          </a:prstGeom>
          <a:solidFill>
            <a:srgbClr val="142D4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8"/>
          <p:cNvSpPr/>
          <p:nvPr/>
        </p:nvSpPr>
        <p:spPr>
          <a:xfrm>
            <a:off x="594360" y="4005072"/>
            <a:ext cx="73152" cy="1691640"/>
          </a:xfrm>
          <a:prstGeom prst="rect">
            <a:avLst/>
          </a:prstGeom>
          <a:solidFill>
            <a:srgbClr val="087F8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8"/>
          <p:cNvSpPr txBox="1"/>
          <p:nvPr/>
        </p:nvSpPr>
        <p:spPr>
          <a:xfrm>
            <a:off x="777240" y="4078224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User2 · atelier-git-the-other-clone</a:t>
            </a:r>
            <a:endParaRPr/>
          </a:p>
        </p:txBody>
      </p:sp>
      <p:sp>
        <p:nvSpPr>
          <p:cNvPr id="811" name="Google Shape;811;p28"/>
          <p:cNvSpPr txBox="1"/>
          <p:nvPr/>
        </p:nvSpPr>
        <p:spPr>
          <a:xfrm>
            <a:off x="10607040" y="407822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812" name="Google Shape;812;p28"/>
          <p:cNvSpPr txBox="1"/>
          <p:nvPr/>
        </p:nvSpPr>
        <p:spPr>
          <a:xfrm>
            <a:off x="804672" y="4407408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git push</a:t>
            </a:r>
            <a:endParaRPr/>
          </a:p>
        </p:txBody>
      </p:sp>
      <p:sp>
        <p:nvSpPr>
          <p:cNvPr id="813" name="Google Shape;813;p28"/>
          <p:cNvSpPr txBox="1"/>
          <p:nvPr/>
        </p:nvSpPr>
        <p:spPr>
          <a:xfrm>
            <a:off x="804672" y="4656124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$ cat demo-a.txt</a:t>
            </a:r>
            <a:endParaRPr/>
          </a:p>
        </p:txBody>
      </p:sp>
      <p:sp>
        <p:nvSpPr>
          <p:cNvPr id="814" name="Google Shape;814;p28"/>
          <p:cNvSpPr txBox="1"/>
          <p:nvPr/>
        </p:nvSpPr>
        <p:spPr>
          <a:xfrm>
            <a:off x="804672" y="4904841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3CEE2"/>
                </a:solidFill>
                <a:latin typeface="Verdana"/>
                <a:ea typeface="Verdana"/>
                <a:cs typeface="Verdana"/>
                <a:sym typeface="Verdana"/>
              </a:rPr>
              <a:t>Check units and explain results.</a:t>
            </a:r>
            <a:endParaRPr/>
          </a:p>
        </p:txBody>
      </p:sp>
      <p:sp>
        <p:nvSpPr>
          <p:cNvPr id="815" name="Google Shape;815;p28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8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Les deux copies de main contiennent le texte choisi et le commit de fusion. Vérifier le résultat, pas seulement le message de Git.</a:t>
            </a:r>
            <a:endParaRPr/>
          </a:p>
        </p:txBody>
      </p:sp>
      <p:sp>
        <p:nvSpPr>
          <p:cNvPr id="817" name="Google Shape;817;p2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818" name="Google Shape;818;p28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28 / 57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9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GIT · CE QUE NOUS VENONS DE PRATIQUER</a:t>
            </a:r>
            <a:endParaRPr/>
          </a:p>
        </p:txBody>
      </p:sp>
      <p:sp>
        <p:nvSpPr>
          <p:cNvPr id="824" name="Google Shape;824;p29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Sur main : reconnaître la situation et vérifier</a:t>
            </a:r>
            <a:endParaRPr/>
          </a:p>
        </p:txBody>
      </p:sp>
      <p:sp>
        <p:nvSpPr>
          <p:cNvPr id="825" name="Google Shape;825;p29"/>
          <p:cNvSpPr/>
          <p:nvPr/>
        </p:nvSpPr>
        <p:spPr>
          <a:xfrm>
            <a:off x="594360" y="2084831"/>
            <a:ext cx="3520439" cy="3264408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9"/>
          <p:cNvSpPr txBox="1"/>
          <p:nvPr/>
        </p:nvSpPr>
        <p:spPr>
          <a:xfrm>
            <a:off x="777240" y="2350008"/>
            <a:ext cx="3154679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 COPIE EST EN RETARD</a:t>
            </a:r>
            <a:endParaRPr/>
          </a:p>
        </p:txBody>
      </p:sp>
      <p:sp>
        <p:nvSpPr>
          <p:cNvPr id="827" name="Google Shape;827;p29"/>
          <p:cNvSpPr txBox="1"/>
          <p:nvPr/>
        </p:nvSpPr>
        <p:spPr>
          <a:xfrm>
            <a:off x="777240" y="3017520"/>
            <a:ext cx="3154679" cy="2167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Aucun nouveau commit local à réunir : une avance rapide actualise ma copie.</a:t>
            </a:r>
            <a:endParaRPr/>
          </a:p>
        </p:txBody>
      </p:sp>
      <p:sp>
        <p:nvSpPr>
          <p:cNvPr id="828" name="Google Shape;828;p29"/>
          <p:cNvSpPr/>
          <p:nvPr/>
        </p:nvSpPr>
        <p:spPr>
          <a:xfrm>
            <a:off x="4334256" y="2084831"/>
            <a:ext cx="3520439" cy="3264408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9"/>
          <p:cNvSpPr txBox="1"/>
          <p:nvPr/>
        </p:nvSpPr>
        <p:spPr>
          <a:xfrm>
            <a:off x="4517136" y="2350008"/>
            <a:ext cx="3154679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LES COPIES ONT DIVERGÉ</a:t>
            </a:r>
            <a:endParaRPr/>
          </a:p>
        </p:txBody>
      </p:sp>
      <p:sp>
        <p:nvSpPr>
          <p:cNvPr id="830" name="Google Shape;830;p29"/>
          <p:cNvSpPr txBox="1"/>
          <p:nvPr/>
        </p:nvSpPr>
        <p:spPr>
          <a:xfrm>
            <a:off x="4517136" y="3017520"/>
            <a:ext cx="3154679" cy="2167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Recevoir les commits publiés, puis fusionner les deux contributions.</a:t>
            </a:r>
            <a:endParaRPr/>
          </a:p>
        </p:txBody>
      </p:sp>
      <p:sp>
        <p:nvSpPr>
          <p:cNvPr id="831" name="Google Shape;831;p29"/>
          <p:cNvSpPr/>
          <p:nvPr/>
        </p:nvSpPr>
        <p:spPr>
          <a:xfrm>
            <a:off x="8074152" y="2084831"/>
            <a:ext cx="3520439" cy="3264408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9"/>
          <p:cNvSpPr txBox="1"/>
          <p:nvPr/>
        </p:nvSpPr>
        <p:spPr>
          <a:xfrm>
            <a:off x="8257031" y="2350008"/>
            <a:ext cx="3154679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GIT SIGNALE UN CONFLIT</a:t>
            </a:r>
            <a:endParaRPr/>
          </a:p>
        </p:txBody>
      </p:sp>
      <p:sp>
        <p:nvSpPr>
          <p:cNvPr id="833" name="Google Shape;833;p29"/>
          <p:cNvSpPr txBox="1"/>
          <p:nvPr/>
        </p:nvSpPr>
        <p:spPr>
          <a:xfrm>
            <a:off x="8257031" y="3017520"/>
            <a:ext cx="3154679" cy="2167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Choisir le texte, enregistrer et vérifier le fichier, puis créer le commit de fusion.</a:t>
            </a:r>
            <a:endParaRPr/>
          </a:p>
        </p:txBody>
      </p:sp>
      <p:sp>
        <p:nvSpPr>
          <p:cNvPr id="834" name="Google Shape;834;p29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9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Avant de publier : relire les fichiers. Après publication : actualiser l’autre copie et vérifier le résultat.</a:t>
            </a:r>
            <a:endParaRPr/>
          </a:p>
        </p:txBody>
      </p:sp>
      <p:sp>
        <p:nvSpPr>
          <p:cNvPr id="836" name="Google Shape;836;p2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837" name="Google Shape;837;p29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29 / 57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0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MATHS ET STATISTIQUES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0"/>
          <p:cNvSpPr/>
          <p:nvPr/>
        </p:nvSpPr>
        <p:spPr>
          <a:xfrm>
            <a:off x="777240" y="1828800"/>
            <a:ext cx="1078956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Une bonne prédiction</a:t>
            </a:r>
            <a:endParaRPr b="0" i="0" sz="4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vérifie ailleurs</a:t>
            </a:r>
            <a:endParaRPr b="0" i="0" sz="4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0"/>
          <p:cNvSpPr/>
          <p:nvPr/>
        </p:nvSpPr>
        <p:spPr>
          <a:xfrm>
            <a:off x="804600" y="4114800"/>
            <a:ext cx="1051524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Évaluation des modèles et surapprentissage</a:t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1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Notebook guidé 01</a:t>
            </a:r>
            <a:endParaRPr b="0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0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0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/ 57</a:t>
            </a:r>
            <a:endParaRPr b="0" i="0" sz="1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1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PRÉVOIR SUR D’AUTRES OBSERVATIONS</a:t>
            </a:r>
            <a:endParaRPr/>
          </a:p>
        </p:txBody>
      </p:sp>
      <p:sp>
        <p:nvSpPr>
          <p:cNvPr id="852" name="Google Shape;852;p31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Pourquoi séparer les données ?</a:t>
            </a:r>
            <a:endParaRPr/>
          </a:p>
        </p:txBody>
      </p:sp>
      <p:sp>
        <p:nvSpPr>
          <p:cNvPr id="853" name="Google Shape;853;p31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But : prévoir la durée de préparation à partir du nombre d’articles. Une ligne = une commande.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Ajuster un modèle : calculer ses coefficients, comme la pente d’une droite, sur des commandes observées.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Une petite erreur sur ces commandes garantit-elle une petite erreur sur de nouvelles commandes ?</a:t>
            </a:r>
            <a:endParaRPr/>
          </a:p>
        </p:txBody>
      </p:sp>
      <p:sp>
        <p:nvSpPr>
          <p:cNvPr id="854" name="Google Shape;854;p31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1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modèle a été ajusté aux commandes connues : son erreur sur celles-ci peut être trop flatteuse.</a:t>
            </a:r>
            <a:endParaRPr/>
          </a:p>
        </p:txBody>
      </p:sp>
      <p:sp>
        <p:nvSpPr>
          <p:cNvPr id="856" name="Google Shape;856;p31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857" name="Google Shape;857;p31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31 / 57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2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NOTEBOOK 01 · TROIS JEUX DISTINCTS</a:t>
            </a:r>
            <a:endParaRPr/>
          </a:p>
        </p:txBody>
      </p:sp>
      <p:sp>
        <p:nvSpPr>
          <p:cNvPr id="863" name="Google Shape;863;p32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Séparer les rôles des données</a:t>
            </a:r>
            <a:endParaRPr/>
          </a:p>
        </p:txBody>
      </p:sp>
      <p:sp>
        <p:nvSpPr>
          <p:cNvPr id="864" name="Google Shape;864;p32"/>
          <p:cNvSpPr txBox="1"/>
          <p:nvPr/>
        </p:nvSpPr>
        <p:spPr>
          <a:xfrm>
            <a:off x="685800" y="1874519"/>
            <a:ext cx="10835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344 commandes simulées : réserver les trois jeux avant tout ajustement.</a:t>
            </a:r>
            <a:endParaRPr/>
          </a:p>
        </p:txBody>
      </p:sp>
      <p:sp>
        <p:nvSpPr>
          <p:cNvPr id="865" name="Google Shape;865;p32"/>
          <p:cNvSpPr/>
          <p:nvPr/>
        </p:nvSpPr>
        <p:spPr>
          <a:xfrm>
            <a:off x="4197096" y="2651760"/>
            <a:ext cx="3794760" cy="548640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2"/>
          <p:cNvSpPr txBox="1"/>
          <p:nvPr/>
        </p:nvSpPr>
        <p:spPr>
          <a:xfrm>
            <a:off x="4288536" y="274320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UNE MÊME SITUATION SIMULÉE</a:t>
            </a:r>
            <a:endParaRPr/>
          </a:p>
        </p:txBody>
      </p:sp>
      <p:cxnSp>
        <p:nvCxnSpPr>
          <p:cNvPr id="867" name="Google Shape;867;p32"/>
          <p:cNvCxnSpPr/>
          <p:nvPr/>
        </p:nvCxnSpPr>
        <p:spPr>
          <a:xfrm flipH="1">
            <a:off x="2354580" y="3200400"/>
            <a:ext cx="3739896" cy="374904"/>
          </a:xfrm>
          <a:prstGeom prst="straightConnector1">
            <a:avLst/>
          </a:prstGeom>
          <a:noFill/>
          <a:ln cap="flat" cmpd="sng" w="254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8" name="Google Shape;868;p32"/>
          <p:cNvSpPr/>
          <p:nvPr/>
        </p:nvSpPr>
        <p:spPr>
          <a:xfrm>
            <a:off x="594360" y="3584448"/>
            <a:ext cx="3520440" cy="192024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2"/>
          <p:cNvSpPr txBox="1"/>
          <p:nvPr/>
        </p:nvSpPr>
        <p:spPr>
          <a:xfrm>
            <a:off x="749808" y="3739896"/>
            <a:ext cx="3209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ENTRAÎNEMENT</a:t>
            </a:r>
            <a:endParaRPr/>
          </a:p>
        </p:txBody>
      </p:sp>
      <p:sp>
        <p:nvSpPr>
          <p:cNvPr id="870" name="Google Shape;870;p32"/>
          <p:cNvSpPr txBox="1"/>
          <p:nvPr/>
        </p:nvSpPr>
        <p:spPr>
          <a:xfrm>
            <a:off x="749808" y="4206240"/>
            <a:ext cx="3209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training · 24 commandes</a:t>
            </a:r>
            <a:endParaRPr/>
          </a:p>
        </p:txBody>
      </p:sp>
      <p:sp>
        <p:nvSpPr>
          <p:cNvPr id="871" name="Google Shape;871;p32"/>
          <p:cNvSpPr txBox="1"/>
          <p:nvPr/>
        </p:nvSpPr>
        <p:spPr>
          <a:xfrm>
            <a:off x="749808" y="4663440"/>
            <a:ext cx="3209544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Calculer les coefficients de chaque modèle.</a:t>
            </a:r>
            <a:endParaRPr/>
          </a:p>
        </p:txBody>
      </p:sp>
      <p:cxnSp>
        <p:nvCxnSpPr>
          <p:cNvPr id="872" name="Google Shape;872;p32"/>
          <p:cNvCxnSpPr/>
          <p:nvPr/>
        </p:nvCxnSpPr>
        <p:spPr>
          <a:xfrm>
            <a:off x="6094476" y="3200400"/>
            <a:ext cx="0" cy="374904"/>
          </a:xfrm>
          <a:prstGeom prst="straightConnector1">
            <a:avLst/>
          </a:prstGeom>
          <a:noFill/>
          <a:ln cap="flat" cmpd="sng" w="254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3" name="Google Shape;873;p32"/>
          <p:cNvSpPr/>
          <p:nvPr/>
        </p:nvSpPr>
        <p:spPr>
          <a:xfrm>
            <a:off x="4334256" y="3584448"/>
            <a:ext cx="3520440" cy="192024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2"/>
          <p:cNvSpPr txBox="1"/>
          <p:nvPr/>
        </p:nvSpPr>
        <p:spPr>
          <a:xfrm>
            <a:off x="4489704" y="3739896"/>
            <a:ext cx="3209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875" name="Google Shape;875;p32"/>
          <p:cNvSpPr txBox="1"/>
          <p:nvPr/>
        </p:nvSpPr>
        <p:spPr>
          <a:xfrm>
            <a:off x="4489704" y="4206240"/>
            <a:ext cx="3209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validation · 160 commandes</a:t>
            </a:r>
            <a:endParaRPr/>
          </a:p>
        </p:txBody>
      </p:sp>
      <p:sp>
        <p:nvSpPr>
          <p:cNvPr id="876" name="Google Shape;876;p32"/>
          <p:cNvSpPr txBox="1"/>
          <p:nvPr/>
        </p:nvSpPr>
        <p:spPr>
          <a:xfrm>
            <a:off x="4489704" y="4663440"/>
            <a:ext cx="3209544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Comparer les modèles et choisir lequel garder.</a:t>
            </a:r>
            <a:endParaRPr/>
          </a:p>
        </p:txBody>
      </p:sp>
      <p:cxnSp>
        <p:nvCxnSpPr>
          <p:cNvPr id="877" name="Google Shape;877;p32"/>
          <p:cNvCxnSpPr/>
          <p:nvPr/>
        </p:nvCxnSpPr>
        <p:spPr>
          <a:xfrm>
            <a:off x="6094476" y="3200400"/>
            <a:ext cx="3739896" cy="374904"/>
          </a:xfrm>
          <a:prstGeom prst="straightConnector1">
            <a:avLst/>
          </a:prstGeom>
          <a:noFill/>
          <a:ln cap="flat" cmpd="sng" w="25400">
            <a:solidFill>
              <a:srgbClr val="087F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32"/>
          <p:cNvSpPr/>
          <p:nvPr/>
        </p:nvSpPr>
        <p:spPr>
          <a:xfrm>
            <a:off x="8074152" y="3584448"/>
            <a:ext cx="3520440" cy="192024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2"/>
          <p:cNvSpPr txBox="1"/>
          <p:nvPr/>
        </p:nvSpPr>
        <p:spPr>
          <a:xfrm>
            <a:off x="8229600" y="3739896"/>
            <a:ext cx="3209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TEST FINAL</a:t>
            </a:r>
            <a:endParaRPr/>
          </a:p>
        </p:txBody>
      </p:sp>
      <p:sp>
        <p:nvSpPr>
          <p:cNvPr id="880" name="Google Shape;880;p32"/>
          <p:cNvSpPr txBox="1"/>
          <p:nvPr/>
        </p:nvSpPr>
        <p:spPr>
          <a:xfrm>
            <a:off x="8229600" y="4206240"/>
            <a:ext cx="32095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test · 160 commandes</a:t>
            </a:r>
            <a:endParaRPr/>
          </a:p>
        </p:txBody>
      </p:sp>
      <p:sp>
        <p:nvSpPr>
          <p:cNvPr id="881" name="Google Shape;881;p32"/>
          <p:cNvSpPr txBox="1"/>
          <p:nvPr/>
        </p:nvSpPr>
        <p:spPr>
          <a:xfrm>
            <a:off x="8229600" y="4663440"/>
            <a:ext cx="3209544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Estimer l’erreur du modèle choisi et fixé.</a:t>
            </a:r>
            <a:endParaRPr/>
          </a:p>
        </p:txBody>
      </p:sp>
      <p:sp>
        <p:nvSpPr>
          <p:cNvPr id="882" name="Google Shape;882;p32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2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Commandes distinctes, même simulation. Les tailles 24 / 160 / 160 sont propres à cet exemple.</a:t>
            </a:r>
            <a:endParaRPr/>
          </a:p>
        </p:txBody>
      </p:sp>
      <p:sp>
        <p:nvSpPr>
          <p:cNvPr id="884" name="Google Shape;884;p32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885" name="Google Shape;885;p32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32 / 57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3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DISTINGUER CHOISIR ET ÉVALUER</a:t>
            </a:r>
            <a:endParaRPr/>
          </a:p>
        </p:txBody>
      </p:sp>
      <p:sp>
        <p:nvSpPr>
          <p:cNvPr id="891" name="Google Shape;891;p33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Pourquoi garder un troisième jeu ?</a:t>
            </a:r>
            <a:endParaRPr/>
          </a:p>
        </p:txBody>
      </p:sp>
      <p:sp>
        <p:nvSpPr>
          <p:cNvPr id="892" name="Google Shape;892;p33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La validation sert à choisir entre plusieurs modèles : elle participe donc à la décision.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Le meilleur résultat peut aussi profiter du hasard des commandes de validation.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Le test final estime l’erreur du modèle choisi sur d’autres commandes comparables.</a:t>
            </a:r>
            <a:endParaRPr/>
          </a:p>
        </p:txBody>
      </p:sp>
      <p:sp>
        <p:nvSpPr>
          <p:cNvPr id="893" name="Google Shape;893;p33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3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Même sans y calculer les coefficients, choisir avec la validation utilise déjà ses données.</a:t>
            </a:r>
            <a:endParaRPr/>
          </a:p>
        </p:txBody>
      </p:sp>
      <p:sp>
        <p:nvSpPr>
          <p:cNvPr id="895" name="Google Shape;895;p3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896" name="Google Shape;896;p33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33 / 57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4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PRÉSERVER L’ÉVALUATION FINALE</a:t>
            </a:r>
            <a:endParaRPr/>
          </a:p>
        </p:txBody>
      </p:sp>
      <p:sp>
        <p:nvSpPr>
          <p:cNvPr id="902" name="Google Shape;902;p34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Quand peut-on utiliser le test final ?</a:t>
            </a:r>
            <a:endParaRPr/>
          </a:p>
        </p:txBody>
      </p:sp>
      <p:sp>
        <p:nvSpPr>
          <p:cNvPr id="903" name="Google Shape;903;p34"/>
          <p:cNvSpPr/>
          <p:nvPr/>
        </p:nvSpPr>
        <p:spPr>
          <a:xfrm>
            <a:off x="594360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4"/>
          <p:cNvSpPr txBox="1"/>
          <p:nvPr/>
        </p:nvSpPr>
        <p:spPr>
          <a:xfrm>
            <a:off x="777240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UNE FOIS LE CHOIX FIXÉ</a:t>
            </a:r>
            <a:endParaRPr/>
          </a:p>
        </p:txBody>
      </p:sp>
      <p:sp>
        <p:nvSpPr>
          <p:cNvPr id="905" name="Google Shape;905;p34"/>
          <p:cNvSpPr txBox="1"/>
          <p:nvPr/>
        </p:nvSpPr>
        <p:spPr>
          <a:xfrm>
            <a:off x="777240" y="3099816"/>
            <a:ext cx="502462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Appliquer le modèle au test, sans modifier ses coefficients, puis mesurer ses erreurs.</a:t>
            </a:r>
            <a:endParaRPr/>
          </a:p>
        </p:txBody>
      </p:sp>
      <p:sp>
        <p:nvSpPr>
          <p:cNvPr id="906" name="Google Shape;906;p34"/>
          <p:cNvSpPr/>
          <p:nvPr/>
        </p:nvSpPr>
        <p:spPr>
          <a:xfrm>
            <a:off x="6204204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4"/>
          <p:cNvSpPr txBox="1"/>
          <p:nvPr/>
        </p:nvSpPr>
        <p:spPr>
          <a:xfrm>
            <a:off x="6387084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SI LE TEST GUIDE UN NOUVEAU CHOIX</a:t>
            </a:r>
            <a:endParaRPr/>
          </a:p>
        </p:txBody>
      </p:sp>
      <p:sp>
        <p:nvSpPr>
          <p:cNvPr id="908" name="Google Shape;908;p34"/>
          <p:cNvSpPr txBox="1"/>
          <p:nvPr/>
        </p:nvSpPr>
        <p:spPr>
          <a:xfrm>
            <a:off x="6387084" y="3099816"/>
            <a:ext cx="502462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Ce test perd son rôle de contrôle indépendant si son résultat guide une modification du modèle.</a:t>
            </a:r>
            <a:endParaRPr/>
          </a:p>
        </p:txBody>
      </p:sp>
      <p:sp>
        <p:nvSpPr>
          <p:cNvPr id="909" name="Google Shape;909;p34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4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 évaluer ce nouveau choix, il faut d’autres observations qui n’ont servi à aucune décision.</a:t>
            </a:r>
            <a:endParaRPr/>
          </a:p>
        </p:txBody>
      </p:sp>
      <p:sp>
        <p:nvSpPr>
          <p:cNvPr id="911" name="Google Shape;911;p34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912" name="Google Shape;912;p34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34 / 57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5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OBSERVER ET EXPLIQUER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5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Prévoir le temps de préparation d'une commande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data.png" id="919" name="Google Shape;91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400" y="1847160"/>
            <a:ext cx="7032240" cy="386748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35"/>
          <p:cNvSpPr/>
          <p:nvPr/>
        </p:nvSpPr>
        <p:spPr>
          <a:xfrm>
            <a:off x="8577000" y="2048400"/>
            <a:ext cx="2925720" cy="358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Une ligne = une commande. X : nombre d'articles. Y : temps en minutes.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Quelle forme de relation attendez-vous 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35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Données simulées dans un contexte concret ; le bruit représente des différences entre commandes.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5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35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35 / 57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36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ANNONCER LES CANDIDATS AVANT DE COMPARER</a:t>
            </a:r>
            <a:endParaRPr/>
          </a:p>
        </p:txBody>
      </p:sp>
      <p:sp>
        <p:nvSpPr>
          <p:cNvPr id="930" name="Google Shape;930;p36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Quatre candidats pour la même prédiction</a:t>
            </a:r>
            <a:endParaRPr/>
          </a:p>
        </p:txBody>
      </p:sp>
      <p:sp>
        <p:nvSpPr>
          <p:cNvPr id="931" name="Google Shape;931;p36"/>
          <p:cNvSpPr/>
          <p:nvPr/>
        </p:nvSpPr>
        <p:spPr>
          <a:xfrm>
            <a:off x="594360" y="1993392"/>
            <a:ext cx="5385816" cy="1609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6"/>
          <p:cNvSpPr txBox="1"/>
          <p:nvPr/>
        </p:nvSpPr>
        <p:spPr>
          <a:xfrm>
            <a:off x="758952" y="2148840"/>
            <a:ext cx="5047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CONSTANTE · DEGRÉ 0</a:t>
            </a:r>
            <a:endParaRPr/>
          </a:p>
        </p:txBody>
      </p:sp>
      <p:sp>
        <p:nvSpPr>
          <p:cNvPr id="933" name="Google Shape;933;p36"/>
          <p:cNvSpPr txBox="1"/>
          <p:nvPr/>
        </p:nvSpPr>
        <p:spPr>
          <a:xfrm>
            <a:off x="758952" y="2697480"/>
            <a:ext cx="50474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Toujours la moyenne des durées d’entraînement.</a:t>
            </a:r>
            <a:endParaRPr/>
          </a:p>
        </p:txBody>
      </p:sp>
      <p:sp>
        <p:nvSpPr>
          <p:cNvPr id="934" name="Google Shape;934;p36"/>
          <p:cNvSpPr/>
          <p:nvPr/>
        </p:nvSpPr>
        <p:spPr>
          <a:xfrm>
            <a:off x="6208776" y="1993392"/>
            <a:ext cx="5385816" cy="1609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6"/>
          <p:cNvSpPr txBox="1"/>
          <p:nvPr/>
        </p:nvSpPr>
        <p:spPr>
          <a:xfrm>
            <a:off x="6373368" y="2148840"/>
            <a:ext cx="5047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DROITE · DEGRÉ 1</a:t>
            </a:r>
            <a:endParaRPr/>
          </a:p>
        </p:txBody>
      </p:sp>
      <p:sp>
        <p:nvSpPr>
          <p:cNvPr id="936" name="Google Shape;936;p36"/>
          <p:cNvSpPr txBox="1"/>
          <p:nvPr/>
        </p:nvSpPr>
        <p:spPr>
          <a:xfrm>
            <a:off x="6373368" y="2697480"/>
            <a:ext cx="50474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Une augmentation constante de durée par article.</a:t>
            </a:r>
            <a:endParaRPr/>
          </a:p>
        </p:txBody>
      </p:sp>
      <p:sp>
        <p:nvSpPr>
          <p:cNvPr id="937" name="Google Shape;937;p36"/>
          <p:cNvSpPr/>
          <p:nvPr/>
        </p:nvSpPr>
        <p:spPr>
          <a:xfrm>
            <a:off x="594360" y="3803904"/>
            <a:ext cx="5385816" cy="1609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6"/>
          <p:cNvSpPr txBox="1"/>
          <p:nvPr/>
        </p:nvSpPr>
        <p:spPr>
          <a:xfrm>
            <a:off x="758952" y="3959352"/>
            <a:ext cx="5047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COURBE · DEGRÉ 2</a:t>
            </a:r>
            <a:endParaRPr/>
          </a:p>
        </p:txBody>
      </p:sp>
      <p:sp>
        <p:nvSpPr>
          <p:cNvPr id="939" name="Google Shape;939;p36"/>
          <p:cNvSpPr txBox="1"/>
          <p:nvPr/>
        </p:nvSpPr>
        <p:spPr>
          <a:xfrm>
            <a:off x="758952" y="4507992"/>
            <a:ext cx="50474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Une courbure simple grâce au terme en X².</a:t>
            </a:r>
            <a:endParaRPr/>
          </a:p>
        </p:txBody>
      </p:sp>
      <p:sp>
        <p:nvSpPr>
          <p:cNvPr id="940" name="Google Shape;940;p36"/>
          <p:cNvSpPr/>
          <p:nvPr/>
        </p:nvSpPr>
        <p:spPr>
          <a:xfrm>
            <a:off x="6208776" y="3803904"/>
            <a:ext cx="5385816" cy="1609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6"/>
          <p:cNvSpPr txBox="1"/>
          <p:nvPr/>
        </p:nvSpPr>
        <p:spPr>
          <a:xfrm>
            <a:off x="6373368" y="3959352"/>
            <a:ext cx="5047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COURBE · DEGRÉ 12</a:t>
            </a:r>
            <a:endParaRPr/>
          </a:p>
        </p:txBody>
      </p:sp>
      <p:sp>
        <p:nvSpPr>
          <p:cNvPr id="942" name="Google Shape;942;p36"/>
          <p:cNvSpPr txBox="1"/>
          <p:nvPr/>
        </p:nvSpPr>
        <p:spPr>
          <a:xfrm>
            <a:off x="6373368" y="4507992"/>
            <a:ext cx="50474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Des termes jusqu’à X¹² : davantage de souplesse.</a:t>
            </a:r>
            <a:endParaRPr/>
          </a:p>
        </p:txBody>
      </p:sp>
      <p:sp>
        <p:nvSpPr>
          <p:cNvPr id="943" name="Google Shape;943;p36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6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Chaque candidat utilisera les mêmes commandes d’entraînement pour calculer ses coefficients.</a:t>
            </a:r>
            <a:endParaRPr/>
          </a:p>
        </p:txBody>
      </p:sp>
      <p:sp>
        <p:nvSpPr>
          <p:cNvPr id="945" name="Google Shape;945;p3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946" name="Google Shape;946;p36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36 / 57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7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RAPPEL · INTERPRÉTER UN RÉSIDU</a:t>
            </a:r>
            <a:endParaRPr/>
          </a:p>
        </p:txBody>
      </p:sp>
      <p:sp>
        <p:nvSpPr>
          <p:cNvPr id="952" name="Google Shape;952;p37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résidu mesure un écart signé</a:t>
            </a:r>
            <a:endParaRPr/>
          </a:p>
        </p:txBody>
      </p:sp>
      <p:pic>
        <p:nvPicPr>
          <p:cNvPr descr="residual_example.png" id="953" name="Google Shape;9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416" y="1847088"/>
            <a:ext cx="7032567" cy="3867912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37"/>
          <p:cNvSpPr txBox="1"/>
          <p:nvPr/>
        </p:nvSpPr>
        <p:spPr>
          <a:xfrm>
            <a:off x="8577072" y="2048256"/>
            <a:ext cx="2926080" cy="3584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Temps observé − temps prédit.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 résidu positif signifie que la commande a pris plus de temps que prévu.</a:t>
            </a:r>
            <a:endParaRPr/>
          </a:p>
        </p:txBody>
      </p:sp>
      <p:sp>
        <p:nvSpPr>
          <p:cNvPr id="955" name="Google Shape;955;p37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7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signe indique le sens de l’erreur ; il ne dit pas à lui seul si un modèle prédit bien.</a:t>
            </a:r>
            <a:endParaRPr/>
          </a:p>
        </p:txBody>
      </p:sp>
      <p:sp>
        <p:nvSpPr>
          <p:cNvPr id="957" name="Google Shape;957;p3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958" name="Google Shape;958;p37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37 / 57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8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UNE NOUVELLE MESURE · PASSER DU RÉSIDU À LA MAE</a:t>
            </a:r>
            <a:endParaRPr/>
          </a:p>
        </p:txBody>
      </p:sp>
      <p:sp>
        <p:nvSpPr>
          <p:cNvPr id="964" name="Google Shape;964;p38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Mesurer la taille moyenne des erreurs</a:t>
            </a:r>
            <a:endParaRPr/>
          </a:p>
        </p:txBody>
      </p:sp>
      <p:sp>
        <p:nvSpPr>
          <p:cNvPr id="965" name="Google Shape;965;p38"/>
          <p:cNvSpPr txBox="1"/>
          <p:nvPr/>
        </p:nvSpPr>
        <p:spPr>
          <a:xfrm>
            <a:off x="658368" y="1764792"/>
            <a:ext cx="108813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MAE = Mean Absolute Error</a:t>
            </a:r>
            <a:endParaRPr/>
          </a:p>
        </p:txBody>
      </p:sp>
      <p:sp>
        <p:nvSpPr>
          <p:cNvPr id="966" name="Google Shape;966;p38"/>
          <p:cNvSpPr txBox="1"/>
          <p:nvPr/>
        </p:nvSpPr>
        <p:spPr>
          <a:xfrm>
            <a:off x="685800" y="2606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Erreur absolue moyenne</a:t>
            </a:r>
            <a:endParaRPr/>
          </a:p>
        </p:txBody>
      </p:sp>
      <p:sp>
        <p:nvSpPr>
          <p:cNvPr id="967" name="Google Shape;967;p38"/>
          <p:cNvSpPr txBox="1"/>
          <p:nvPr/>
        </p:nvSpPr>
        <p:spPr>
          <a:xfrm>
            <a:off x="685800" y="3282696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Exemple de trois prédictions : des erreurs exprimées en minutes.</a:t>
            </a:r>
            <a:endParaRPr/>
          </a:p>
        </p:txBody>
      </p:sp>
      <p:sp>
        <p:nvSpPr>
          <p:cNvPr id="968" name="Google Shape;968;p38"/>
          <p:cNvSpPr/>
          <p:nvPr/>
        </p:nvSpPr>
        <p:spPr>
          <a:xfrm>
            <a:off x="594360" y="3941063"/>
            <a:ext cx="3520440" cy="1362456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8"/>
          <p:cNvSpPr txBox="1"/>
          <p:nvPr/>
        </p:nvSpPr>
        <p:spPr>
          <a:xfrm>
            <a:off x="749808" y="4123944"/>
            <a:ext cx="3209544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RÉSIDUS SIGNÉS</a:t>
            </a:r>
            <a:endParaRPr/>
          </a:p>
        </p:txBody>
      </p:sp>
      <p:sp>
        <p:nvSpPr>
          <p:cNvPr id="970" name="Google Shape;970;p38"/>
          <p:cNvSpPr txBox="1"/>
          <p:nvPr/>
        </p:nvSpPr>
        <p:spPr>
          <a:xfrm>
            <a:off x="749808" y="4663440"/>
            <a:ext cx="32095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+3 ; −2 ; +1</a:t>
            </a:r>
            <a:endParaRPr/>
          </a:p>
        </p:txBody>
      </p:sp>
      <p:sp>
        <p:nvSpPr>
          <p:cNvPr id="971" name="Google Shape;971;p38"/>
          <p:cNvSpPr/>
          <p:nvPr/>
        </p:nvSpPr>
        <p:spPr>
          <a:xfrm>
            <a:off x="4334256" y="3941063"/>
            <a:ext cx="3520440" cy="1362456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8"/>
          <p:cNvSpPr txBox="1"/>
          <p:nvPr/>
        </p:nvSpPr>
        <p:spPr>
          <a:xfrm>
            <a:off x="4489704" y="4123944"/>
            <a:ext cx="3209544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VALEURS ABSOLUES</a:t>
            </a:r>
            <a:endParaRPr/>
          </a:p>
        </p:txBody>
      </p:sp>
      <p:sp>
        <p:nvSpPr>
          <p:cNvPr id="973" name="Google Shape;973;p38"/>
          <p:cNvSpPr txBox="1"/>
          <p:nvPr/>
        </p:nvSpPr>
        <p:spPr>
          <a:xfrm>
            <a:off x="4489704" y="4663440"/>
            <a:ext cx="32095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 ; 2 ; 1</a:t>
            </a:r>
            <a:endParaRPr/>
          </a:p>
        </p:txBody>
      </p:sp>
      <p:sp>
        <p:nvSpPr>
          <p:cNvPr id="974" name="Google Shape;974;p38"/>
          <p:cNvSpPr/>
          <p:nvPr/>
        </p:nvSpPr>
        <p:spPr>
          <a:xfrm>
            <a:off x="8074152" y="3941063"/>
            <a:ext cx="3520440" cy="1362456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8"/>
          <p:cNvSpPr txBox="1"/>
          <p:nvPr/>
        </p:nvSpPr>
        <p:spPr>
          <a:xfrm>
            <a:off x="8229600" y="4123944"/>
            <a:ext cx="3209544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MOYENNE</a:t>
            </a:r>
            <a:endParaRPr/>
          </a:p>
        </p:txBody>
      </p:sp>
      <p:sp>
        <p:nvSpPr>
          <p:cNvPr id="976" name="Google Shape;976;p38"/>
          <p:cNvSpPr txBox="1"/>
          <p:nvPr/>
        </p:nvSpPr>
        <p:spPr>
          <a:xfrm>
            <a:off x="8229600" y="4663440"/>
            <a:ext cx="3209544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(3 + 2 + 1) / 3 = 2 min</a:t>
            </a:r>
            <a:endParaRPr/>
          </a:p>
        </p:txBody>
      </p:sp>
      <p:sp>
        <p:nvSpPr>
          <p:cNvPr id="977" name="Google Shape;977;p38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8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Les valeurs absolues empêchent les signes de s’annuler. Une MAE plus petite signifie moins d’erreur moyenne.</a:t>
            </a:r>
            <a:endParaRPr/>
          </a:p>
        </p:txBody>
      </p:sp>
      <p:sp>
        <p:nvSpPr>
          <p:cNvPr id="979" name="Google Shape;979;p3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980" name="Google Shape;980;p38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38 / 57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9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NOUVEAU DANS CET EXEMPLE · COMPARER SUR DEUX JEUX</a:t>
            </a:r>
            <a:endParaRPr/>
          </a:p>
        </p:txBody>
      </p:sp>
      <p:sp>
        <p:nvSpPr>
          <p:cNvPr id="986" name="Google Shape;986;p39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Une même MAE, deux usages</a:t>
            </a:r>
            <a:endParaRPr/>
          </a:p>
        </p:txBody>
      </p:sp>
      <p:sp>
        <p:nvSpPr>
          <p:cNvPr id="987" name="Google Shape;987;p39"/>
          <p:cNvSpPr/>
          <p:nvPr/>
        </p:nvSpPr>
        <p:spPr>
          <a:xfrm>
            <a:off x="594360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9"/>
          <p:cNvSpPr txBox="1"/>
          <p:nvPr/>
        </p:nvSpPr>
        <p:spPr>
          <a:xfrm>
            <a:off x="777240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MAE D’ENTRAÎNEMENT</a:t>
            </a:r>
            <a:endParaRPr/>
          </a:p>
        </p:txBody>
      </p:sp>
      <p:sp>
        <p:nvSpPr>
          <p:cNvPr id="989" name="Google Shape;989;p39"/>
          <p:cNvSpPr txBox="1"/>
          <p:nvPr/>
        </p:nvSpPr>
        <p:spPr>
          <a:xfrm>
            <a:off x="777240" y="3099816"/>
            <a:ext cx="502462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Mesurer les erreurs sur les 24 commandes qui ont servi à calculer les coefficients.</a:t>
            </a:r>
            <a:endParaRPr/>
          </a:p>
        </p:txBody>
      </p:sp>
      <p:sp>
        <p:nvSpPr>
          <p:cNvPr id="990" name="Google Shape;990;p39"/>
          <p:cNvSpPr/>
          <p:nvPr/>
        </p:nvSpPr>
        <p:spPr>
          <a:xfrm>
            <a:off x="6204204" y="2084831"/>
            <a:ext cx="5390388" cy="3264408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9"/>
          <p:cNvSpPr txBox="1"/>
          <p:nvPr/>
        </p:nvSpPr>
        <p:spPr>
          <a:xfrm>
            <a:off x="6387084" y="2350008"/>
            <a:ext cx="5024627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MAE DE VALIDATION</a:t>
            </a:r>
            <a:endParaRPr/>
          </a:p>
        </p:txBody>
      </p:sp>
      <p:sp>
        <p:nvSpPr>
          <p:cNvPr id="992" name="Google Shape;992;p39"/>
          <p:cNvSpPr txBox="1"/>
          <p:nvPr/>
        </p:nvSpPr>
        <p:spPr>
          <a:xfrm>
            <a:off x="6387084" y="3099816"/>
            <a:ext cx="502462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Mesurer les erreurs sur 160 autres commandes pour comparer les modèles.</a:t>
            </a:r>
            <a:endParaRPr/>
          </a:p>
        </p:txBody>
      </p:sp>
      <p:sp>
        <p:nvSpPr>
          <p:cNvPr id="993" name="Google Shape;993;p39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9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Même calcul, jeux différents, coefficients inchangés. Critère annoncé : la plus petite MAE de validation.</a:t>
            </a:r>
            <a:endParaRPr/>
          </a:p>
        </p:txBody>
      </p:sp>
      <p:sp>
        <p:nvSpPr>
          <p:cNvPr id="995" name="Google Shape;995;p39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996" name="Google Shape;996;p39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39 / 57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0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ENTRAÎNEMENT · CALCULER LES COEFFICIENTS</a:t>
            </a:r>
            <a:endParaRPr/>
          </a:p>
        </p:txBody>
      </p:sp>
      <p:sp>
        <p:nvSpPr>
          <p:cNvPr id="1002" name="Google Shape;1002;p40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Ajuster les quatre candidats sur l’entraînement</a:t>
            </a:r>
            <a:endParaRPr/>
          </a:p>
        </p:txBody>
      </p:sp>
      <p:sp>
        <p:nvSpPr>
          <p:cNvPr id="1003" name="Google Shape;1003;p40"/>
          <p:cNvSpPr/>
          <p:nvPr/>
        </p:nvSpPr>
        <p:spPr>
          <a:xfrm>
            <a:off x="594360" y="1993392"/>
            <a:ext cx="6766560" cy="362102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0"/>
          <p:cNvSpPr txBox="1"/>
          <p:nvPr/>
        </p:nvSpPr>
        <p:spPr>
          <a:xfrm>
            <a:off x="795528" y="2221992"/>
            <a:ext cx="635508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from numpy.polynomial import Polynomial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model = Polynomial.fit(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   x_train, y_train, deg=2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</p:txBody>
      </p:sp>
      <p:sp>
        <p:nvSpPr>
          <p:cNvPr id="1005" name="Google Shape;1005;p40"/>
          <p:cNvSpPr txBox="1"/>
          <p:nvPr/>
        </p:nvSpPr>
        <p:spPr>
          <a:xfrm>
            <a:off x="795528" y="3877056"/>
            <a:ext cx="6355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EDCD4"/>
                </a:solidFill>
                <a:latin typeface="Arial"/>
                <a:ea typeface="Arial"/>
                <a:cs typeface="Arial"/>
                <a:sym typeface="Arial"/>
              </a:rPr>
              <a:t>Pourquoi Polynomial.fit ?</a:t>
            </a:r>
            <a:endParaRPr/>
          </a:p>
        </p:txBody>
      </p:sp>
      <p:sp>
        <p:nvSpPr>
          <p:cNvPr id="1006" name="Google Shape;1006;p40"/>
          <p:cNvSpPr txBox="1"/>
          <p:nvPr/>
        </p:nvSpPr>
        <p:spPr>
          <a:xfrm>
            <a:off x="795528" y="4242816"/>
            <a:ext cx="6355080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Polynomial.fit remet X à l’échelle en interne pour améliorer la stabilité numérique.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NumPy le recommande pour le nouveau code.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np.polyfit accepte aussi les degrés élevés.</a:t>
            </a:r>
            <a:endParaRPr/>
          </a:p>
        </p:txBody>
      </p:sp>
      <p:sp>
        <p:nvSpPr>
          <p:cNvPr id="1007" name="Google Shape;1007;p40">
            <a:hlinkClick r:id="rId3"/>
          </p:cNvPr>
          <p:cNvSpPr txBox="1"/>
          <p:nvPr/>
        </p:nvSpPr>
        <p:spPr>
          <a:xfrm>
            <a:off x="795528" y="5330952"/>
            <a:ext cx="6355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EDCD4"/>
                </a:solidFill>
                <a:latin typeface="Arial"/>
                <a:ea typeface="Arial"/>
                <a:cs typeface="Arial"/>
                <a:sym typeface="Arial"/>
              </a:rPr>
              <a:t>Référence : documentation NumPy</a:t>
            </a:r>
            <a:endParaRPr/>
          </a:p>
        </p:txBody>
      </p:sp>
      <p:sp>
        <p:nvSpPr>
          <p:cNvPr id="1008" name="Google Shape;1008;p40"/>
          <p:cNvSpPr txBox="1"/>
          <p:nvPr/>
        </p:nvSpPr>
        <p:spPr>
          <a:xfrm>
            <a:off x="7653527" y="2075688"/>
            <a:ext cx="3867912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Ici : degré 2.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Ajuster : minimiser la somme des carrés des résidus.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Utiliser les 24 commandes d’entraînement.</a:t>
            </a:r>
            <a:endParaRPr/>
          </a:p>
        </p:txBody>
      </p:sp>
      <p:sp>
        <p:nvSpPr>
          <p:cNvPr id="1009" name="Google Shape;1009;p40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0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Extrait à lire : les tableaux sont définis dans le notebook. Chaque candidat utilise les mêmes données d’entraînement.</a:t>
            </a:r>
            <a:endParaRPr/>
          </a:p>
        </p:txBody>
      </p:sp>
      <p:sp>
        <p:nvSpPr>
          <p:cNvPr id="1011" name="Google Shape;1011;p40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012" name="Google Shape;1012;p40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40 / 57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1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OBSERVER ET EXPLIQUER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41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Comparer les courbes sur les mêmes axes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candidates.png" id="1019" name="Google Shape;101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400" y="1847160"/>
            <a:ext cx="7032240" cy="386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41"/>
          <p:cNvSpPr/>
          <p:nvPr/>
        </p:nvSpPr>
        <p:spPr>
          <a:xfrm>
            <a:off x="8577000" y="2048400"/>
            <a:ext cx="2925720" cy="358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Où les modèles se ressemblent-ils 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Où la courbe la plus souple change-t-elle fortement 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Que faut-il mesurer pour choisir 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41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41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Une courbe visuellement proche des points d'entraînement peut mal prédire ailleurs.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41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41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41 / 57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2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ENTRAÎNEMENT · MESURER LES ERREURS SUR LES DONNÉES UTILISÉES</a:t>
            </a:r>
            <a:endParaRPr/>
          </a:p>
        </p:txBody>
      </p:sp>
      <p:sp>
        <p:nvSpPr>
          <p:cNvPr id="1030" name="Google Shape;1030;p42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Comparer les MAE sur l’entraînement</a:t>
            </a:r>
            <a:endParaRPr/>
          </a:p>
        </p:txBody>
      </p:sp>
      <p:sp>
        <p:nvSpPr>
          <p:cNvPr id="1031" name="Google Shape;1031;p42"/>
          <p:cNvSpPr txBox="1"/>
          <p:nvPr/>
        </p:nvSpPr>
        <p:spPr>
          <a:xfrm>
            <a:off x="685800" y="1810512"/>
            <a:ext cx="108356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Les mêmes 24 commandes ont servi à ajuster chaque candidat.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MAE = moyenne de leurs 24 erreurs absolues, en minutes.</a:t>
            </a:r>
            <a:endParaRPr/>
          </a:p>
        </p:txBody>
      </p:sp>
      <p:sp>
        <p:nvSpPr>
          <p:cNvPr id="1032" name="Google Shape;1032;p42"/>
          <p:cNvSpPr/>
          <p:nvPr/>
        </p:nvSpPr>
        <p:spPr>
          <a:xfrm>
            <a:off x="685800" y="2761488"/>
            <a:ext cx="5760720" cy="493776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42"/>
          <p:cNvSpPr txBox="1"/>
          <p:nvPr/>
        </p:nvSpPr>
        <p:spPr>
          <a:xfrm>
            <a:off x="832104" y="2834640"/>
            <a:ext cx="54681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Modèle</a:t>
            </a:r>
            <a:endParaRPr/>
          </a:p>
        </p:txBody>
      </p:sp>
      <p:sp>
        <p:nvSpPr>
          <p:cNvPr id="1034" name="Google Shape;1034;p42"/>
          <p:cNvSpPr/>
          <p:nvPr/>
        </p:nvSpPr>
        <p:spPr>
          <a:xfrm>
            <a:off x="6446520" y="2761488"/>
            <a:ext cx="5074920" cy="493776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2"/>
          <p:cNvSpPr txBox="1"/>
          <p:nvPr/>
        </p:nvSpPr>
        <p:spPr>
          <a:xfrm>
            <a:off x="6592824" y="2834640"/>
            <a:ext cx="4782312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 d’entraînement (min)</a:t>
            </a:r>
            <a:endParaRPr/>
          </a:p>
        </p:txBody>
      </p:sp>
      <p:sp>
        <p:nvSpPr>
          <p:cNvPr id="1036" name="Google Shape;1036;p42"/>
          <p:cNvSpPr/>
          <p:nvPr/>
        </p:nvSpPr>
        <p:spPr>
          <a:xfrm>
            <a:off x="685800" y="3273552"/>
            <a:ext cx="57607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42"/>
          <p:cNvSpPr txBox="1"/>
          <p:nvPr/>
        </p:nvSpPr>
        <p:spPr>
          <a:xfrm>
            <a:off x="832104" y="3346704"/>
            <a:ext cx="54681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Constante · degré 0</a:t>
            </a:r>
            <a:endParaRPr/>
          </a:p>
        </p:txBody>
      </p:sp>
      <p:sp>
        <p:nvSpPr>
          <p:cNvPr id="1038" name="Google Shape;1038;p42"/>
          <p:cNvSpPr/>
          <p:nvPr/>
        </p:nvSpPr>
        <p:spPr>
          <a:xfrm>
            <a:off x="6446520" y="3273552"/>
            <a:ext cx="50749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2"/>
          <p:cNvSpPr txBox="1"/>
          <p:nvPr/>
        </p:nvSpPr>
        <p:spPr>
          <a:xfrm>
            <a:off x="6592824" y="3346704"/>
            <a:ext cx="4782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14,66</a:t>
            </a:r>
            <a:endParaRPr/>
          </a:p>
        </p:txBody>
      </p:sp>
      <p:sp>
        <p:nvSpPr>
          <p:cNvPr id="1040" name="Google Shape;1040;p42"/>
          <p:cNvSpPr/>
          <p:nvPr/>
        </p:nvSpPr>
        <p:spPr>
          <a:xfrm>
            <a:off x="685800" y="3794760"/>
            <a:ext cx="57607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42"/>
          <p:cNvSpPr txBox="1"/>
          <p:nvPr/>
        </p:nvSpPr>
        <p:spPr>
          <a:xfrm>
            <a:off x="832104" y="3867912"/>
            <a:ext cx="54681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Droite · degré 1</a:t>
            </a:r>
            <a:endParaRPr/>
          </a:p>
        </p:txBody>
      </p:sp>
      <p:sp>
        <p:nvSpPr>
          <p:cNvPr id="1042" name="Google Shape;1042;p42"/>
          <p:cNvSpPr/>
          <p:nvPr/>
        </p:nvSpPr>
        <p:spPr>
          <a:xfrm>
            <a:off x="6446520" y="3794760"/>
            <a:ext cx="50749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42"/>
          <p:cNvSpPr txBox="1"/>
          <p:nvPr/>
        </p:nvSpPr>
        <p:spPr>
          <a:xfrm>
            <a:off x="6592824" y="3867912"/>
            <a:ext cx="4782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3,57</a:t>
            </a:r>
            <a:endParaRPr/>
          </a:p>
        </p:txBody>
      </p:sp>
      <p:sp>
        <p:nvSpPr>
          <p:cNvPr id="1044" name="Google Shape;1044;p42"/>
          <p:cNvSpPr/>
          <p:nvPr/>
        </p:nvSpPr>
        <p:spPr>
          <a:xfrm>
            <a:off x="685800" y="4315968"/>
            <a:ext cx="57607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2"/>
          <p:cNvSpPr txBox="1"/>
          <p:nvPr/>
        </p:nvSpPr>
        <p:spPr>
          <a:xfrm>
            <a:off x="832104" y="4389120"/>
            <a:ext cx="54681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Courbe · degré 2</a:t>
            </a:r>
            <a:endParaRPr/>
          </a:p>
        </p:txBody>
      </p:sp>
      <p:sp>
        <p:nvSpPr>
          <p:cNvPr id="1046" name="Google Shape;1046;p42"/>
          <p:cNvSpPr/>
          <p:nvPr/>
        </p:nvSpPr>
        <p:spPr>
          <a:xfrm>
            <a:off x="6446520" y="4315968"/>
            <a:ext cx="5074920" cy="50292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42"/>
          <p:cNvSpPr txBox="1"/>
          <p:nvPr/>
        </p:nvSpPr>
        <p:spPr>
          <a:xfrm>
            <a:off x="6592824" y="4389120"/>
            <a:ext cx="4782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1,74</a:t>
            </a:r>
            <a:endParaRPr/>
          </a:p>
        </p:txBody>
      </p:sp>
      <p:sp>
        <p:nvSpPr>
          <p:cNvPr id="1048" name="Google Shape;1048;p42"/>
          <p:cNvSpPr/>
          <p:nvPr/>
        </p:nvSpPr>
        <p:spPr>
          <a:xfrm>
            <a:off x="685800" y="4837176"/>
            <a:ext cx="5760720" cy="5029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42"/>
          <p:cNvSpPr txBox="1"/>
          <p:nvPr/>
        </p:nvSpPr>
        <p:spPr>
          <a:xfrm>
            <a:off x="832104" y="4910328"/>
            <a:ext cx="54681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Courbe · degré 12</a:t>
            </a:r>
            <a:endParaRPr/>
          </a:p>
        </p:txBody>
      </p:sp>
      <p:sp>
        <p:nvSpPr>
          <p:cNvPr id="1050" name="Google Shape;1050;p42"/>
          <p:cNvSpPr/>
          <p:nvPr/>
        </p:nvSpPr>
        <p:spPr>
          <a:xfrm>
            <a:off x="6446520" y="4837176"/>
            <a:ext cx="5074920" cy="5029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2"/>
          <p:cNvSpPr txBox="1"/>
          <p:nvPr/>
        </p:nvSpPr>
        <p:spPr>
          <a:xfrm>
            <a:off x="6592824" y="4910328"/>
            <a:ext cx="4782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0,88  ← plus petite</a:t>
            </a:r>
            <a:endParaRPr/>
          </a:p>
        </p:txBody>
      </p:sp>
      <p:sp>
        <p:nvSpPr>
          <p:cNvPr id="1052" name="Google Shape;1052;p42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2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degré 12 a la plus petite MAE sur ces 24 commandes. Cela ne suffit pas à choisir pour de nouvelles commandes.</a:t>
            </a:r>
            <a:endParaRPr/>
          </a:p>
        </p:txBody>
      </p:sp>
      <p:sp>
        <p:nvSpPr>
          <p:cNvPr id="1054" name="Google Shape;1054;p42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055" name="Google Shape;1055;p42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42 / 57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3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VALIDATION · UTILISER LES COEFFICIENTS DÉJÀ CALCULÉS</a:t>
            </a:r>
            <a:endParaRPr/>
          </a:p>
        </p:txBody>
      </p:sp>
      <p:sp>
        <p:nvSpPr>
          <p:cNvPr id="1061" name="Google Shape;1061;p43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Appliquer les modèles à la validation</a:t>
            </a:r>
            <a:endParaRPr/>
          </a:p>
        </p:txBody>
      </p:sp>
      <p:sp>
        <p:nvSpPr>
          <p:cNvPr id="1062" name="Google Shape;1062;p43"/>
          <p:cNvSpPr/>
          <p:nvPr/>
        </p:nvSpPr>
        <p:spPr>
          <a:xfrm>
            <a:off x="594360" y="1993392"/>
            <a:ext cx="6766560" cy="3621024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3"/>
          <p:cNvSpPr txBox="1"/>
          <p:nvPr/>
        </p:nvSpPr>
        <p:spPr>
          <a:xfrm>
            <a:off x="795528" y="2221992"/>
            <a:ext cx="635508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from numpy.polynomial import Polynomial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model = Polynomial.fit(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   x_train, y_train, deg=2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8EDCD4"/>
                </a:solidFill>
                <a:latin typeface="Verdana"/>
                <a:ea typeface="Verdana"/>
                <a:cs typeface="Verdana"/>
                <a:sym typeface="Verdana"/>
              </a:rPr>
              <a:t>y_validation_hat = model(x_validation)</a:t>
            </a:r>
            <a:endParaRPr/>
          </a:p>
        </p:txBody>
      </p:sp>
      <p:sp>
        <p:nvSpPr>
          <p:cNvPr id="1064" name="Google Shape;1064;p43"/>
          <p:cNvSpPr txBox="1"/>
          <p:nvPr/>
        </p:nvSpPr>
        <p:spPr>
          <a:xfrm>
            <a:off x="7653527" y="2075688"/>
            <a:ext cx="3867912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Ici : degré 2, candidat déjà ajusté.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y_validation_hat : durées prédites en validation.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22364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model(...) prédit sans changer les coefficients.</a:t>
            </a:r>
            <a:endParaRPr/>
          </a:p>
        </p:txBody>
      </p:sp>
      <p:sp>
        <p:nvSpPr>
          <p:cNvPr id="1065" name="Google Shape;1065;p43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3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Lignes claires : rappel de l’ajustement déjà effectué. Ligne verte : prédictions sur les 160 commandes de validation.</a:t>
            </a:r>
            <a:endParaRPr/>
          </a:p>
        </p:txBody>
      </p:sp>
      <p:sp>
        <p:nvSpPr>
          <p:cNvPr id="1067" name="Google Shape;1067;p4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068" name="Google Shape;1068;p43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43 / 57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4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FORMULER UNE PRÉVISION</a:t>
            </a:r>
            <a:endParaRPr/>
          </a:p>
        </p:txBody>
      </p:sp>
      <p:sp>
        <p:nvSpPr>
          <p:cNvPr id="1074" name="Google Shape;1074;p44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Prévoir le classement avant la validation</a:t>
            </a:r>
            <a:endParaRPr/>
          </a:p>
        </p:txBody>
      </p:sp>
      <p:sp>
        <p:nvSpPr>
          <p:cNvPr id="1075" name="Google Shape;1075;p44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Classez les quatre candidats selon la précision que vous attendez sur de nouvelles commandes.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La courbe la plus proche des points d’entraînement devrait-elle aussi gagner sur la validation ?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Expliquez votre prévision avant d’examiner les résultats.</a:t>
            </a:r>
            <a:endParaRPr/>
          </a:p>
        </p:txBody>
      </p:sp>
      <p:sp>
        <p:nvSpPr>
          <p:cNvPr id="1076" name="Google Shape;1076;p44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44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La validation va comparer les mêmes modèles, sans recalculer leurs coefficients. Le test final reste fermé.</a:t>
            </a:r>
            <a:endParaRPr/>
          </a:p>
        </p:txBody>
      </p:sp>
      <p:sp>
        <p:nvSpPr>
          <p:cNvPr id="1078" name="Google Shape;1078;p44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079" name="Google Shape;1079;p44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44 / 57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5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VOIR LES ERREURS SUR 160 NOUVELLES COMMANDES</a:t>
            </a:r>
            <a:endParaRPr/>
          </a:p>
        </p:txBody>
      </p:sp>
      <p:sp>
        <p:nvSpPr>
          <p:cNvPr id="1085" name="Google Shape;1085;p45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Validation : comparer les quatre modèles</a:t>
            </a:r>
            <a:endParaRPr/>
          </a:p>
        </p:txBody>
      </p:sp>
      <p:pic>
        <p:nvPicPr>
          <p:cNvPr descr="model_validation_predictions.png" id="1086" name="Google Shape;108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438" y="1536192"/>
            <a:ext cx="10466363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45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5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Points : durées observées. Courbes : prédictions. Segments verticaux : erreurs absolues.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MAE = moyenne sur les 160 commandes. Mêmes échelles ; coefficients conservés.</a:t>
            </a:r>
            <a:endParaRPr/>
          </a:p>
        </p:txBody>
      </p:sp>
      <p:sp>
        <p:nvSpPr>
          <p:cNvPr id="1089" name="Google Shape;1089;p45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090" name="Google Shape;1090;p45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45 / 57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46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OBSERVER ET EXPLIQUER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46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Comparer les erreurs d'entraînement et de validation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errors.png" id="1097" name="Google Shape;109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400" y="1847160"/>
            <a:ext cx="7032240" cy="386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46"/>
          <p:cNvSpPr/>
          <p:nvPr/>
        </p:nvSpPr>
        <p:spPr>
          <a:xfrm>
            <a:off x="8577000" y="2048400"/>
            <a:ext cx="2925720" cy="358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Quel candidat retenir 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Justifier avec la validation, les unités et la complexité.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46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6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notebook donne les valeurs exactes ; une petite différence seule ne prouve pas une supériorité générale.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46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46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46 / 57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47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RÉSULTATS DE CETTE SIMULATION · INTERPRÉTER LA COMPARAISON</a:t>
            </a:r>
            <a:endParaRPr/>
          </a:p>
        </p:txBody>
      </p:sp>
      <p:sp>
        <p:nvSpPr>
          <p:cNvPr id="1108" name="Google Shape;1108;p47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Dans cet exemple, le classement s’inverse</a:t>
            </a:r>
            <a:endParaRPr/>
          </a:p>
        </p:txBody>
      </p:sp>
      <p:sp>
        <p:nvSpPr>
          <p:cNvPr id="1109" name="Google Shape;1109;p47"/>
          <p:cNvSpPr txBox="1"/>
          <p:nvPr/>
        </p:nvSpPr>
        <p:spPr>
          <a:xfrm>
            <a:off x="685800" y="1865376"/>
            <a:ext cx="108356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Deux des quatre candidats du notebook 01.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Même calcul de MAE ; commandes d’entraînement et de validation distinctes.</a:t>
            </a:r>
            <a:endParaRPr/>
          </a:p>
        </p:txBody>
      </p:sp>
      <p:sp>
        <p:nvSpPr>
          <p:cNvPr id="1110" name="Google Shape;1110;p47"/>
          <p:cNvSpPr/>
          <p:nvPr/>
        </p:nvSpPr>
        <p:spPr>
          <a:xfrm>
            <a:off x="685800" y="2816352"/>
            <a:ext cx="2606040" cy="493776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47"/>
          <p:cNvSpPr txBox="1"/>
          <p:nvPr/>
        </p:nvSpPr>
        <p:spPr>
          <a:xfrm>
            <a:off x="795528" y="2889504"/>
            <a:ext cx="2386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Modèle</a:t>
            </a:r>
            <a:endParaRPr/>
          </a:p>
        </p:txBody>
      </p:sp>
      <p:sp>
        <p:nvSpPr>
          <p:cNvPr id="1112" name="Google Shape;1112;p47"/>
          <p:cNvSpPr/>
          <p:nvPr/>
        </p:nvSpPr>
        <p:spPr>
          <a:xfrm>
            <a:off x="3291840" y="2816352"/>
            <a:ext cx="4114800" cy="493776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47"/>
          <p:cNvSpPr txBox="1"/>
          <p:nvPr/>
        </p:nvSpPr>
        <p:spPr>
          <a:xfrm>
            <a:off x="3401568" y="2889504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 entraînement (min)</a:t>
            </a:r>
            <a:endParaRPr/>
          </a:p>
        </p:txBody>
      </p:sp>
      <p:sp>
        <p:nvSpPr>
          <p:cNvPr id="1114" name="Google Shape;1114;p47"/>
          <p:cNvSpPr/>
          <p:nvPr/>
        </p:nvSpPr>
        <p:spPr>
          <a:xfrm>
            <a:off x="7406640" y="2816352"/>
            <a:ext cx="4114800" cy="493776"/>
          </a:xfrm>
          <a:prstGeom prst="rect">
            <a:avLst/>
          </a:prstGeom>
          <a:solidFill>
            <a:srgbClr val="142D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7"/>
          <p:cNvSpPr txBox="1"/>
          <p:nvPr/>
        </p:nvSpPr>
        <p:spPr>
          <a:xfrm>
            <a:off x="7516367" y="2889504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 validation (min)</a:t>
            </a:r>
            <a:endParaRPr/>
          </a:p>
        </p:txBody>
      </p:sp>
      <p:sp>
        <p:nvSpPr>
          <p:cNvPr id="1116" name="Google Shape;1116;p47"/>
          <p:cNvSpPr/>
          <p:nvPr/>
        </p:nvSpPr>
        <p:spPr>
          <a:xfrm>
            <a:off x="685800" y="3328416"/>
            <a:ext cx="2606040" cy="5760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47"/>
          <p:cNvSpPr txBox="1"/>
          <p:nvPr/>
        </p:nvSpPr>
        <p:spPr>
          <a:xfrm>
            <a:off x="795528" y="3438144"/>
            <a:ext cx="23865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Degré 2</a:t>
            </a:r>
            <a:endParaRPr/>
          </a:p>
        </p:txBody>
      </p:sp>
      <p:sp>
        <p:nvSpPr>
          <p:cNvPr id="1118" name="Google Shape;1118;p47"/>
          <p:cNvSpPr/>
          <p:nvPr/>
        </p:nvSpPr>
        <p:spPr>
          <a:xfrm>
            <a:off x="3291840" y="3328416"/>
            <a:ext cx="4114800" cy="5760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47"/>
          <p:cNvSpPr txBox="1"/>
          <p:nvPr/>
        </p:nvSpPr>
        <p:spPr>
          <a:xfrm>
            <a:off x="3401568" y="3438144"/>
            <a:ext cx="3895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1,74</a:t>
            </a:r>
            <a:endParaRPr/>
          </a:p>
        </p:txBody>
      </p:sp>
      <p:sp>
        <p:nvSpPr>
          <p:cNvPr id="1120" name="Google Shape;1120;p47"/>
          <p:cNvSpPr/>
          <p:nvPr/>
        </p:nvSpPr>
        <p:spPr>
          <a:xfrm>
            <a:off x="7406640" y="3328416"/>
            <a:ext cx="4114800" cy="5760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47"/>
          <p:cNvSpPr txBox="1"/>
          <p:nvPr/>
        </p:nvSpPr>
        <p:spPr>
          <a:xfrm>
            <a:off x="7516367" y="3438144"/>
            <a:ext cx="3895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2,06  ← plus petite</a:t>
            </a:r>
            <a:endParaRPr/>
          </a:p>
        </p:txBody>
      </p:sp>
      <p:sp>
        <p:nvSpPr>
          <p:cNvPr id="1122" name="Google Shape;1122;p47"/>
          <p:cNvSpPr/>
          <p:nvPr/>
        </p:nvSpPr>
        <p:spPr>
          <a:xfrm>
            <a:off x="685800" y="3922776"/>
            <a:ext cx="2606040" cy="5760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47"/>
          <p:cNvSpPr txBox="1"/>
          <p:nvPr/>
        </p:nvSpPr>
        <p:spPr>
          <a:xfrm>
            <a:off x="795528" y="4032504"/>
            <a:ext cx="23865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Degré 12</a:t>
            </a:r>
            <a:endParaRPr/>
          </a:p>
        </p:txBody>
      </p:sp>
      <p:sp>
        <p:nvSpPr>
          <p:cNvPr id="1124" name="Google Shape;1124;p47"/>
          <p:cNvSpPr/>
          <p:nvPr/>
        </p:nvSpPr>
        <p:spPr>
          <a:xfrm>
            <a:off x="3291840" y="3922776"/>
            <a:ext cx="4114800" cy="5760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47"/>
          <p:cNvSpPr txBox="1"/>
          <p:nvPr/>
        </p:nvSpPr>
        <p:spPr>
          <a:xfrm>
            <a:off x="3401568" y="4032504"/>
            <a:ext cx="3895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0,88  ← plus petite</a:t>
            </a:r>
            <a:endParaRPr/>
          </a:p>
        </p:txBody>
      </p:sp>
      <p:sp>
        <p:nvSpPr>
          <p:cNvPr id="1126" name="Google Shape;1126;p47"/>
          <p:cNvSpPr/>
          <p:nvPr/>
        </p:nvSpPr>
        <p:spPr>
          <a:xfrm>
            <a:off x="7406640" y="3922776"/>
            <a:ext cx="4114800" cy="576072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7"/>
          <p:cNvSpPr txBox="1"/>
          <p:nvPr/>
        </p:nvSpPr>
        <p:spPr>
          <a:xfrm>
            <a:off x="7516367" y="4032504"/>
            <a:ext cx="3895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3,28</a:t>
            </a:r>
            <a:endParaRPr/>
          </a:p>
        </p:txBody>
      </p:sp>
      <p:sp>
        <p:nvSpPr>
          <p:cNvPr id="1128" name="Google Shape;1128;p47"/>
          <p:cNvSpPr txBox="1"/>
          <p:nvPr/>
        </p:nvSpPr>
        <p:spPr>
          <a:xfrm>
            <a:off x="685800" y="4581144"/>
            <a:ext cx="108356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Les coefficients sont ceux calculés sur l’entraînement. Chaque colonne compare les mêmes commandes.</a:t>
            </a:r>
            <a:endParaRPr/>
          </a:p>
        </p:txBody>
      </p:sp>
      <p:sp>
        <p:nvSpPr>
          <p:cNvPr id="1129" name="Google Shape;1129;p47"/>
          <p:cNvSpPr txBox="1"/>
          <p:nvPr/>
        </p:nvSpPr>
        <p:spPr>
          <a:xfrm>
            <a:off x="685800" y="5010912"/>
            <a:ext cx="10835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degré 12 gagne sur l’entraînement ; le degré 2 gagne sur la validation.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Ce qui ajuste le mieux les données connues ne prédit pas forcément le mieux.</a:t>
            </a:r>
            <a:endParaRPr/>
          </a:p>
        </p:txBody>
      </p:sp>
      <p:sp>
        <p:nvSpPr>
          <p:cNvPr id="1130" name="Google Shape;1130;p47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47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Le degré 2 a ici la plus petite MAE de validation parmi les quatre candidats. Ce classement n’est pas universel.</a:t>
            </a:r>
            <a:endParaRPr/>
          </a:p>
        </p:txBody>
      </p:sp>
      <p:sp>
        <p:nvSpPr>
          <p:cNvPr id="1132" name="Google Shape;1132;p4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133" name="Google Shape;1133;p47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47 / 57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48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INTERPRÉTER</a:t>
            </a:r>
            <a:endParaRPr/>
          </a:p>
        </p:txBody>
      </p:sp>
      <p:sp>
        <p:nvSpPr>
          <p:cNvPr id="1139" name="Google Shape;1139;p48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Reconnaître le surapprentissage</a:t>
            </a:r>
            <a:endParaRPr/>
          </a:p>
        </p:txBody>
      </p:sp>
      <p:sp>
        <p:nvSpPr>
          <p:cNvPr id="1140" name="Google Shape;1140;p48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L’erreur d’entraînement peut diminuer avec davantage de souplesse.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L’erreur de validation peut augmenter : la courbe suit aussi du bruit.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Chercher un modèle qui prédit utilement, avec une complexité justifiée.</a:t>
            </a:r>
            <a:endParaRPr/>
          </a:p>
        </p:txBody>
      </p:sp>
      <p:sp>
        <p:nvSpPr>
          <p:cNvPr id="1141" name="Google Shape;1141;p48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8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Une forme trop simple peut aussi manquer une courbure réelle : examiner les deux erreurs.</a:t>
            </a:r>
            <a:endParaRPr/>
          </a:p>
        </p:txBody>
      </p:sp>
      <p:sp>
        <p:nvSpPr>
          <p:cNvPr id="1143" name="Google Shape;1143;p48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144" name="Google Shape;1144;p48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48 / 57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49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VÉRIFIER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49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Fixer le choix, puis consulter le test final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49"/>
          <p:cNvSpPr/>
          <p:nvPr/>
        </p:nvSpPr>
        <p:spPr>
          <a:xfrm>
            <a:off x="841320" y="2011680"/>
            <a:ext cx="10515240" cy="35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Écrire le modèle choisi et sa justification avec la validation.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Appliquer ce modèle au test final, sans changer ses paramètres.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Rapporter l'erreur et les limites de cet échantillon d'évaluation.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49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49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Cette procédure évalue la prédiction ; elle ne prouve pas une relation causale.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49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49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49 / 57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50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LE CHOIX EST FIXÉ AVANT LE TEST</a:t>
            </a:r>
            <a:endParaRPr/>
          </a:p>
        </p:txBody>
      </p:sp>
      <p:sp>
        <p:nvSpPr>
          <p:cNvPr id="1161" name="Google Shape;1161;p50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Test final : évaluer le modèle retenu</a:t>
            </a:r>
            <a:endParaRPr/>
          </a:p>
        </p:txBody>
      </p:sp>
      <p:pic>
        <p:nvPicPr>
          <p:cNvPr descr="model_test_prediction.png" id="1162" name="Google Shape;116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237" y="1536192"/>
            <a:ext cx="9718765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50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50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Modèle retenu : degré 2, sans réajustement. Points observés ; courbe prédite ; segments d’erreur.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MAE = moyenne des 160 erreurs absolues du test. Aucun nouveau choix sur ces résultats.</a:t>
            </a:r>
            <a:endParaRPr/>
          </a:p>
        </p:txBody>
      </p:sp>
      <p:sp>
        <p:nvSpPr>
          <p:cNvPr id="1165" name="Google Shape;1165;p50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166" name="Google Shape;1166;p50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50 / 57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51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DISTINGUER RÈGLE CONNUE ET ESTIMATION</a:t>
            </a:r>
            <a:endParaRPr/>
          </a:p>
        </p:txBody>
      </p:sp>
      <p:sp>
        <p:nvSpPr>
          <p:cNvPr id="1172" name="Google Shape;1172;p51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Pourquoi les coefficients estimés diffèrent-ils ?</a:t>
            </a:r>
            <a:endParaRPr/>
          </a:p>
        </p:txBody>
      </p:sp>
      <p:sp>
        <p:nvSpPr>
          <p:cNvPr id="1173" name="Google Shape;1173;p51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Le générateur utilise la règle 5 + 0,35 × X + 0,025 × X², puis ajoute du bruit.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Le modèle estime trois coefficients à partir de 24 commandes bruitées ; il ne reçoit pas la règle du générateur.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Un autre échantillon pourrait donner d’autres coefficients estimés.</a:t>
            </a:r>
            <a:endParaRPr/>
          </a:p>
        </p:txBody>
      </p:sp>
      <p:sp>
        <p:nvSpPr>
          <p:cNvPr id="1174" name="Google Shape;1174;p51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51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Ici, la règle et le modèle retenu sont de degré 2. Le bruit suffit à créer des écarts entre leurs coefficients.</a:t>
            </a:r>
            <a:endParaRPr/>
          </a:p>
        </p:txBody>
      </p:sp>
      <p:sp>
        <p:nvSpPr>
          <p:cNvPr id="1176" name="Google Shape;1176;p51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177" name="Google Shape;1177;p51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51 / 57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52"/>
          <p:cNvSpPr/>
          <p:nvPr/>
        </p:nvSpPr>
        <p:spPr>
          <a:xfrm>
            <a:off x="594360" y="329040"/>
            <a:ext cx="109724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MODÈLES · DÉFINIR LE PÉRIMÈTRE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52"/>
          <p:cNvSpPr/>
          <p:nvPr/>
        </p:nvSpPr>
        <p:spPr>
          <a:xfrm>
            <a:off x="594360" y="841320"/>
            <a:ext cx="1097244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Deux limites à vérifier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52"/>
          <p:cNvSpPr/>
          <p:nvPr/>
        </p:nvSpPr>
        <p:spPr>
          <a:xfrm>
            <a:off x="594360" y="2084760"/>
            <a:ext cx="538992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52"/>
          <p:cNvSpPr/>
          <p:nvPr/>
        </p:nvSpPr>
        <p:spPr>
          <a:xfrm>
            <a:off x="777240" y="2350080"/>
            <a:ext cx="502416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PLAGE OBSERVÉE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52"/>
          <p:cNvSpPr/>
          <p:nvPr/>
        </p:nvSpPr>
        <p:spPr>
          <a:xfrm>
            <a:off x="777240" y="3099960"/>
            <a:ext cx="502416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Prédire loin des nombres d'articles observés est une extrapolation : la courbe peut devenir peu plausible.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52"/>
          <p:cNvSpPr/>
          <p:nvPr/>
        </p:nvSpPr>
        <p:spPr>
          <a:xfrm>
            <a:off x="6204240" y="2084760"/>
            <a:ext cx="5389920" cy="326412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52"/>
          <p:cNvSpPr/>
          <p:nvPr/>
        </p:nvSpPr>
        <p:spPr>
          <a:xfrm>
            <a:off x="6387120" y="2350080"/>
            <a:ext cx="502416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OBSERVATIONS LIÉES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52"/>
          <p:cNvSpPr/>
          <p:nvPr/>
        </p:nvSpPr>
        <p:spPr>
          <a:xfrm>
            <a:off x="6387120" y="3099960"/>
            <a:ext cx="5024160" cy="19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Pour prévoir de nouveaux clients, garder toutes les visites d'un client dans un seul jeu de données.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52"/>
          <p:cNvSpPr/>
          <p:nvPr/>
        </p:nvSpPr>
        <p:spPr>
          <a:xfrm>
            <a:off x="594360" y="5797440"/>
            <a:ext cx="10999800" cy="557280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52"/>
          <p:cNvSpPr/>
          <p:nvPr/>
        </p:nvSpPr>
        <p:spPr>
          <a:xfrm>
            <a:off x="758880" y="5815440"/>
            <a:ext cx="1065240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Demander à quelles futures observations on souhaite appliquer le modèle.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52"/>
          <p:cNvSpPr/>
          <p:nvPr/>
        </p:nvSpPr>
        <p:spPr>
          <a:xfrm>
            <a:off x="621720" y="6556320"/>
            <a:ext cx="73148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52"/>
          <p:cNvSpPr/>
          <p:nvPr/>
        </p:nvSpPr>
        <p:spPr>
          <a:xfrm>
            <a:off x="10716840" y="6528960"/>
            <a:ext cx="91404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27350" spcFirstLastPara="1" rIns="27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52 / 57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53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APPLICATION GUIDÉE · UN PARCOURS CONTINU</a:t>
            </a:r>
            <a:endParaRPr/>
          </a:p>
        </p:txBody>
      </p:sp>
      <p:sp>
        <p:nvSpPr>
          <p:cNvPr id="1199" name="Google Shape;1199;p53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Rejouer l’exemple dans le notebook guidé</a:t>
            </a:r>
            <a:endParaRPr/>
          </a:p>
        </p:txBody>
      </p:sp>
      <p:sp>
        <p:nvSpPr>
          <p:cNvPr id="1200" name="Google Shape;1200;p53"/>
          <p:cNvSpPr txBox="1"/>
          <p:nvPr/>
        </p:nvSpPr>
        <p:spPr>
          <a:xfrm>
            <a:off x="841248" y="2011680"/>
            <a:ext cx="10515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Ouvrir le notebook 01 au début : données, MAE, puis ajustement des modèles.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Parcourir les sections 1 à 7 dans l’ordre et expliquer les graphiques obtenus.</a:t>
            </a:r>
            <a:endParaRPr/>
          </a:p>
          <a:p>
            <a:pPr indent="0" lvl="0" marL="0" marR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• Justifier le choix avec la validation, puis retrouver son évaluation sur le test final.</a:t>
            </a:r>
            <a:endParaRPr/>
          </a:p>
        </p:txBody>
      </p:sp>
      <p:sp>
        <p:nvSpPr>
          <p:cNvPr id="1201" name="Google Shape;1201;p53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53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notebooks/01_evaluer_les_modeles.ipynb · Exemple guidé complet : reproduire et expliquer les décisions.</a:t>
            </a:r>
            <a:endParaRPr/>
          </a:p>
        </p:txBody>
      </p:sp>
      <p:sp>
        <p:nvSpPr>
          <p:cNvPr id="1203" name="Google Shape;1203;p53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204" name="Google Shape;1204;p53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53 / 57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D4E"/>
        </a:solidFill>
      </p:bgPr>
    </p:bg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54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3CEE2"/>
                </a:solidFill>
                <a:latin typeface="Arial"/>
                <a:ea typeface="Arial"/>
                <a:cs typeface="Arial"/>
                <a:sym typeface="Arial"/>
              </a:rPr>
              <a:t>QUESTIONNAIRE INDIVIDUEL · NOTEBOOK ET GOOGLE FORM</a:t>
            </a:r>
            <a:endParaRPr/>
          </a:p>
        </p:txBody>
      </p:sp>
      <p:sp>
        <p:nvSpPr>
          <p:cNvPr id="1210" name="Google Shape;1210;p54"/>
          <p:cNvSpPr txBox="1"/>
          <p:nvPr/>
        </p:nvSpPr>
        <p:spPr>
          <a:xfrm>
            <a:off x="777240" y="1828800"/>
            <a:ext cx="10789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Bilan de compréhension</a:t>
            </a:r>
            <a:endParaRPr/>
          </a:p>
        </p:txBody>
      </p:sp>
      <p:sp>
        <p:nvSpPr>
          <p:cNvPr id="1211" name="Google Shape;1211;p54"/>
          <p:cNvSpPr txBox="1"/>
          <p:nvPr/>
        </p:nvSpPr>
        <p:spPr>
          <a:xfrm>
            <a:off x="804672" y="41148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Relier les notions et expliquer ses choix.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8E6F2"/>
                </a:solidFill>
                <a:latin typeface="Arial"/>
                <a:ea typeface="Arial"/>
                <a:cs typeface="Arial"/>
                <a:sym typeface="Arial"/>
              </a:rPr>
              <a:t>Repérer les points à reprendre.</a:t>
            </a:r>
            <a:endParaRPr/>
          </a:p>
        </p:txBody>
      </p:sp>
      <p:sp>
        <p:nvSpPr>
          <p:cNvPr id="1212" name="Google Shape;1212;p54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5D9E9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213" name="Google Shape;1213;p54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54 / 57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55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BILAN · NOTEBOOK · RÉPONSES INDIVIDUELLES</a:t>
            </a:r>
            <a:endParaRPr/>
          </a:p>
        </p:txBody>
      </p:sp>
      <p:sp>
        <p:nvSpPr>
          <p:cNvPr id="1219" name="Google Shape;1219;p55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Utiliser le notebook pour préparer ses réponses</a:t>
            </a:r>
            <a:endParaRPr/>
          </a:p>
        </p:txBody>
      </p:sp>
      <p:sp>
        <p:nvSpPr>
          <p:cNvPr id="1220" name="Google Shape;1220;p55"/>
          <p:cNvSpPr/>
          <p:nvPr/>
        </p:nvSpPr>
        <p:spPr>
          <a:xfrm>
            <a:off x="594360" y="1975104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55"/>
          <p:cNvSpPr txBox="1"/>
          <p:nvPr/>
        </p:nvSpPr>
        <p:spPr>
          <a:xfrm>
            <a:off x="795528" y="2048256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1. Ouvrir le dossier tests dans VS Code</a:t>
            </a:r>
            <a:endParaRPr/>
          </a:p>
        </p:txBody>
      </p:sp>
      <p:sp>
        <p:nvSpPr>
          <p:cNvPr id="1222" name="Google Shape;1222;p55"/>
          <p:cNvSpPr txBox="1"/>
          <p:nvPr/>
        </p:nvSpPr>
        <p:spPr>
          <a:xfrm>
            <a:off x="795528" y="2441448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Puis ouvrir 2026-10-09_bilan_comprehension.ipynb : c’est le notebook du bilan, distinct du notebook guidé 01.</a:t>
            </a:r>
            <a:endParaRPr/>
          </a:p>
        </p:txBody>
      </p:sp>
      <p:sp>
        <p:nvSpPr>
          <p:cNvPr id="1223" name="Google Shape;1223;p55"/>
          <p:cNvSpPr/>
          <p:nvPr/>
        </p:nvSpPr>
        <p:spPr>
          <a:xfrm>
            <a:off x="594360" y="3172968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55"/>
          <p:cNvSpPr txBox="1"/>
          <p:nvPr/>
        </p:nvSpPr>
        <p:spPr>
          <a:xfrm>
            <a:off x="795528" y="324612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2. Écrire dans les cellules Réponse</a:t>
            </a:r>
            <a:endParaRPr/>
          </a:p>
        </p:txBody>
      </p:sp>
      <p:sp>
        <p:nvSpPr>
          <p:cNvPr id="1225" name="Google Shape;1225;p55"/>
          <p:cNvSpPr txBox="1"/>
          <p:nvPr/>
        </p:nvSpPr>
        <p:spPr>
          <a:xfrm>
            <a:off x="795528" y="3639312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Les 34 QCM et les huit explications suivent le même ordre que le Google Form. Double-cliquer sur la cellule pour écrire.</a:t>
            </a:r>
            <a:endParaRPr/>
          </a:p>
        </p:txBody>
      </p:sp>
      <p:sp>
        <p:nvSpPr>
          <p:cNvPr id="1226" name="Google Shape;1226;p55"/>
          <p:cNvSpPr/>
          <p:nvPr/>
        </p:nvSpPr>
        <p:spPr>
          <a:xfrm>
            <a:off x="594360" y="4370832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55"/>
          <p:cNvSpPr txBox="1"/>
          <p:nvPr/>
        </p:nvSpPr>
        <p:spPr>
          <a:xfrm>
            <a:off x="795528" y="4443984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3. Enregistrer avec Ctrl+S</a:t>
            </a:r>
            <a:endParaRPr/>
          </a:p>
        </p:txBody>
      </p:sp>
      <p:sp>
        <p:nvSpPr>
          <p:cNvPr id="1228" name="Google Shape;1228;p55"/>
          <p:cNvSpPr txBox="1"/>
          <p:nvPr/>
        </p:nvSpPr>
        <p:spPr>
          <a:xfrm>
            <a:off x="795528" y="4837176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Les cellules de code sont facultatives et non notées. Le code aide à explorer ; il ne remplace pas la réponse écrite.</a:t>
            </a:r>
            <a:endParaRPr/>
          </a:p>
        </p:txBody>
      </p:sp>
      <p:sp>
        <p:nvSpPr>
          <p:cNvPr id="1229" name="Google Shape;1229;p55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55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Maj+Entrée réaffiche le texte d’une cellule Réponse. Le notebook peut servir de brouillon ou de support de remise.</a:t>
            </a:r>
            <a:endParaRPr/>
          </a:p>
        </p:txBody>
      </p:sp>
      <p:sp>
        <p:nvSpPr>
          <p:cNvPr id="1231" name="Google Shape;1231;p55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232" name="Google Shape;1232;p55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55 / 57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56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BILAN · MÊMES QUESTIONS, DEUX SUPPORTS</a:t>
            </a:r>
            <a:endParaRPr/>
          </a:p>
        </p:txBody>
      </p:sp>
      <p:sp>
        <p:nvSpPr>
          <p:cNvPr id="1238" name="Google Shape;1238;p56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Remettre le bilan : Google Form ou notebook</a:t>
            </a:r>
            <a:endParaRPr/>
          </a:p>
        </p:txBody>
      </p:sp>
      <p:sp>
        <p:nvSpPr>
          <p:cNvPr id="1239" name="Google Shape;1239;p56"/>
          <p:cNvSpPr/>
          <p:nvPr/>
        </p:nvSpPr>
        <p:spPr>
          <a:xfrm>
            <a:off x="594360" y="1975104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6"/>
          <p:cNvSpPr txBox="1"/>
          <p:nvPr/>
        </p:nvSpPr>
        <p:spPr>
          <a:xfrm>
            <a:off x="795528" y="2048256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1. Pour répondre dans le Form</a:t>
            </a:r>
            <a:endParaRPr/>
          </a:p>
        </p:txBody>
      </p:sp>
      <p:sp>
        <p:nvSpPr>
          <p:cNvPr id="1241" name="Google Shape;1241;p56"/>
          <p:cNvSpPr txBox="1"/>
          <p:nvPr/>
        </p:nvSpPr>
        <p:spPr>
          <a:xfrm>
            <a:off x="795528" y="2441448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Ouvrir le lien communiqué par Olivier. Choisir une réponse par QCM et écrire quelques phrases pour chaque explication.</a:t>
            </a:r>
            <a:endParaRPr/>
          </a:p>
        </p:txBody>
      </p:sp>
      <p:sp>
        <p:nvSpPr>
          <p:cNvPr id="1242" name="Google Shape;1242;p56"/>
          <p:cNvSpPr/>
          <p:nvPr/>
        </p:nvSpPr>
        <p:spPr>
          <a:xfrm>
            <a:off x="594360" y="3172968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56"/>
          <p:cNvSpPr txBox="1"/>
          <p:nvPr/>
        </p:nvSpPr>
        <p:spPr>
          <a:xfrm>
            <a:off x="795528" y="324612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2. Si le notebook sert de brouillon</a:t>
            </a:r>
            <a:endParaRPr/>
          </a:p>
        </p:txBody>
      </p:sp>
      <p:sp>
        <p:nvSpPr>
          <p:cNvPr id="1244" name="Google Shape;1244;p56"/>
          <p:cNvSpPr txBox="1"/>
          <p:nvPr/>
        </p:nvSpPr>
        <p:spPr>
          <a:xfrm>
            <a:off x="795528" y="3639312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Saisir dans le Form les choix et les explications que vous avez retenus.</a:t>
            </a:r>
            <a:endParaRPr/>
          </a:p>
        </p:txBody>
      </p:sp>
      <p:sp>
        <p:nvSpPr>
          <p:cNvPr id="1245" name="Google Shape;1245;p56"/>
          <p:cNvSpPr/>
          <p:nvPr/>
        </p:nvSpPr>
        <p:spPr>
          <a:xfrm>
            <a:off x="594360" y="4370832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56"/>
          <p:cNvSpPr txBox="1"/>
          <p:nvPr/>
        </p:nvSpPr>
        <p:spPr>
          <a:xfrm>
            <a:off x="795528" y="4443984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3. Relire et remettre vos réponses</a:t>
            </a:r>
            <a:endParaRPr/>
          </a:p>
        </p:txBody>
      </p:sp>
      <p:sp>
        <p:nvSpPr>
          <p:cNvPr id="1247" name="Google Shape;1247;p56"/>
          <p:cNvSpPr txBox="1"/>
          <p:nvPr/>
        </p:nvSpPr>
        <p:spPr>
          <a:xfrm>
            <a:off x="795528" y="4837176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Form : cliquer sur Envoyer. Notebook : enregistrer le .ipynb et le remettre selon les indications d’Olivier.</a:t>
            </a:r>
            <a:endParaRPr/>
          </a:p>
        </p:txBody>
      </p:sp>
      <p:sp>
        <p:nvSpPr>
          <p:cNvPr id="1248" name="Google Shape;1248;p56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56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Une seule remise, selon les indications d’Olivier : le Form envoyé OU le notebook enregistré.</a:t>
            </a:r>
            <a:endParaRPr/>
          </a:p>
        </p:txBody>
      </p:sp>
      <p:sp>
        <p:nvSpPr>
          <p:cNvPr id="1250" name="Google Shape;1250;p56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251" name="Google Shape;1251;p56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56 / 57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57"/>
          <p:cNvSpPr txBox="1"/>
          <p:nvPr/>
        </p:nvSpPr>
        <p:spPr>
          <a:xfrm>
            <a:off x="594360" y="329184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D561E"/>
                </a:solidFill>
                <a:latin typeface="Arial"/>
                <a:ea typeface="Arial"/>
                <a:cs typeface="Arial"/>
                <a:sym typeface="Arial"/>
              </a:rPr>
              <a:t>BILAN · PRÉPARER LA DISCUSSION</a:t>
            </a:r>
            <a:endParaRPr/>
          </a:p>
        </p:txBody>
      </p:sp>
      <p:sp>
        <p:nvSpPr>
          <p:cNvPr id="1257" name="Google Shape;1257;p57"/>
          <p:cNvSpPr txBox="1"/>
          <p:nvPr/>
        </p:nvSpPr>
        <p:spPr>
          <a:xfrm>
            <a:off x="594360" y="841248"/>
            <a:ext cx="1097280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Après la remise : préciser ce qui reste incertain</a:t>
            </a:r>
            <a:endParaRPr/>
          </a:p>
        </p:txBody>
      </p:sp>
      <p:sp>
        <p:nvSpPr>
          <p:cNvPr id="1258" name="Google Shape;1258;p57"/>
          <p:cNvSpPr/>
          <p:nvPr/>
        </p:nvSpPr>
        <p:spPr>
          <a:xfrm>
            <a:off x="594360" y="1975104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57"/>
          <p:cNvSpPr txBox="1"/>
          <p:nvPr/>
        </p:nvSpPr>
        <p:spPr>
          <a:xfrm>
            <a:off x="795528" y="2048256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Relever une question qui vous a fait hésiter</a:t>
            </a:r>
            <a:endParaRPr/>
          </a:p>
        </p:txBody>
      </p:sp>
      <p:sp>
        <p:nvSpPr>
          <p:cNvPr id="1260" name="Google Shape;1260;p57"/>
          <p:cNvSpPr txBox="1"/>
          <p:nvPr/>
        </p:nvSpPr>
        <p:spPr>
          <a:xfrm>
            <a:off x="795528" y="2441448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Distinguer ce que vous saviez expliquer de ce que vous avez choisi avec incertitude.</a:t>
            </a:r>
            <a:endParaRPr/>
          </a:p>
        </p:txBody>
      </p:sp>
      <p:sp>
        <p:nvSpPr>
          <p:cNvPr id="1261" name="Google Shape;1261;p57"/>
          <p:cNvSpPr/>
          <p:nvPr/>
        </p:nvSpPr>
        <p:spPr>
          <a:xfrm>
            <a:off x="594360" y="3172968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57"/>
          <p:cNvSpPr txBox="1"/>
          <p:nvPr/>
        </p:nvSpPr>
        <p:spPr>
          <a:xfrm>
            <a:off x="795528" y="324612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Dire ce qui vous manque pour décider</a:t>
            </a:r>
            <a:endParaRPr/>
          </a:p>
        </p:txBody>
      </p:sp>
      <p:sp>
        <p:nvSpPr>
          <p:cNvPr id="1263" name="Google Shape;1263;p57"/>
          <p:cNvSpPr txBox="1"/>
          <p:nvPr/>
        </p:nvSpPr>
        <p:spPr>
          <a:xfrm>
            <a:off x="795528" y="3639312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Un mot à clarifier, une hypothèse à vérifier ou un résultat à mieux interpréter ?</a:t>
            </a:r>
            <a:endParaRPr/>
          </a:p>
        </p:txBody>
      </p:sp>
      <p:sp>
        <p:nvSpPr>
          <p:cNvPr id="1264" name="Google Shape;1264;p57"/>
          <p:cNvSpPr/>
          <p:nvPr/>
        </p:nvSpPr>
        <p:spPr>
          <a:xfrm>
            <a:off x="594360" y="4370832"/>
            <a:ext cx="11000232" cy="1088136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57"/>
          <p:cNvSpPr txBox="1"/>
          <p:nvPr/>
        </p:nvSpPr>
        <p:spPr>
          <a:xfrm>
            <a:off x="795528" y="4443984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36DA6"/>
                </a:solidFill>
                <a:latin typeface="Arial"/>
                <a:ea typeface="Arial"/>
                <a:cs typeface="Arial"/>
                <a:sym typeface="Arial"/>
              </a:rPr>
              <a:t>Préparer une question précise</a:t>
            </a:r>
            <a:endParaRPr/>
          </a:p>
        </p:txBody>
      </p:sp>
      <p:sp>
        <p:nvSpPr>
          <p:cNvPr id="1266" name="Google Shape;1266;p57"/>
          <p:cNvSpPr txBox="1"/>
          <p:nvPr/>
        </p:nvSpPr>
        <p:spPr>
          <a:xfrm>
            <a:off x="795528" y="4837176"/>
            <a:ext cx="1058875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364C"/>
                </a:solidFill>
                <a:latin typeface="Arial"/>
                <a:ea typeface="Arial"/>
                <a:cs typeface="Arial"/>
                <a:sym typeface="Arial"/>
              </a:rPr>
              <a:t>Choisir une notion ou un exemple à reprendre lors de la discussion.</a:t>
            </a:r>
            <a:endParaRPr/>
          </a:p>
        </p:txBody>
      </p:sp>
      <p:sp>
        <p:nvSpPr>
          <p:cNvPr id="1267" name="Google Shape;1267;p57"/>
          <p:cNvSpPr/>
          <p:nvPr/>
        </p:nvSpPr>
        <p:spPr>
          <a:xfrm>
            <a:off x="594360" y="5797296"/>
            <a:ext cx="11000232" cy="557784"/>
          </a:xfrm>
          <a:prstGeom prst="rect">
            <a:avLst/>
          </a:prstGeom>
          <a:solidFill>
            <a:srgbClr val="EFF4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57"/>
          <p:cNvSpPr txBox="1"/>
          <p:nvPr/>
        </p:nvSpPr>
        <p:spPr>
          <a:xfrm>
            <a:off x="758952" y="5815584"/>
            <a:ext cx="10652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Ces pistes préparent l’échange ; elles ne constituent pas une seconde remise. Un score seul ne décrit pas toute la compréhension.</a:t>
            </a:r>
            <a:endParaRPr/>
          </a:p>
        </p:txBody>
      </p:sp>
      <p:sp>
        <p:nvSpPr>
          <p:cNvPr id="1269" name="Google Shape;1269;p57"/>
          <p:cNvSpPr txBox="1"/>
          <p:nvPr/>
        </p:nvSpPr>
        <p:spPr>
          <a:xfrm>
            <a:off x="621792" y="6556248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697B"/>
                </a:solidFill>
                <a:latin typeface="Arial"/>
                <a:ea typeface="Arial"/>
                <a:cs typeface="Arial"/>
                <a:sym typeface="Arial"/>
              </a:rPr>
              <a:t>OLIVIER DELRIEU  /  09.10.2026</a:t>
            </a:r>
            <a:endParaRPr/>
          </a:p>
        </p:txBody>
      </p:sp>
      <p:sp>
        <p:nvSpPr>
          <p:cNvPr id="1270" name="Google Shape;1270;p57"/>
          <p:cNvSpPr txBox="1"/>
          <p:nvPr/>
        </p:nvSpPr>
        <p:spPr>
          <a:xfrm>
            <a:off x="10716768" y="6528816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42D4E"/>
                </a:solidFill>
                <a:latin typeface="Arial"/>
                <a:ea typeface="Arial"/>
                <a:cs typeface="Arial"/>
                <a:sym typeface="Arial"/>
              </a:rPr>
              <a:t>57 / 57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