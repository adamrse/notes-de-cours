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46E1669-A20C-40A4-931F-C33ADD5D6BA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FF5D245-E066-4D0F-A996-BD0E512B93B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3A43A2C-67A9-40A7-9EF0-D29859C4EFC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7F32585-795F-42D0-99A5-A8DA25B9339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06FAD87-6108-4D99-8EE5-1E04C3694F7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452C840-6741-42F1-B162-55FF5CDF41C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D09A7B0-69AF-4854-9506-F4A7B057346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99C94A0-95A6-4B43-9E76-1558C14304A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858D05-1A52-489E-82F8-879BE771A6F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CE69464-4813-4D9E-883C-F6CEFA0FA5F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6766F5F-ECCF-4F36-8F15-3E5A16BC354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0A2846B-7FAB-4889-BE53-5238F38B9B8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A45F387-0373-4EA1-88D6-76D15B3B662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B7D401B-E47A-4C70-8CAB-F1037E36076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6315B5-D337-4AB5-89FF-11A181C42D7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5F9CBD7-10DB-431A-9A8A-F87CA90B891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F3AFE78-108C-4D6A-9B58-694BE4D9C00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D55C506-CFDE-415A-999F-DCBDE7C15FF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15B6159-B07D-4B50-B81D-4DD706AFCD6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ACC5DFB-5801-4C1D-A49E-BE116B43643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5245482-2008-4168-9440-9654F4F6683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9CC01FE-EAB6-4FBC-B970-09179A2C7D1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42718E-E740-4477-9392-E17B6F2D3A4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977CD4-D6B4-46F1-9F3D-39520A59C98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20F8378-933B-443E-B503-A5B8BBA06E5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F96E9DC-B8D0-4ED2-AC19-68954C68752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24961A9-2F26-4D42-8FB2-1CDFC433328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3920AA7-CA95-4ACE-A1E8-F49CA1A619C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63B2C07-99B6-4FAB-9862-CA734C2D72C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11AD34C-D508-4DF9-A2DE-EEEFA3C0FF9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B64AC35-57C7-4E09-B0B3-15C7F91BA32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1E5DD38-32A6-4C76-A520-E395CC8BA71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735568B-2EA6-4371-8A0A-D178AB099E2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D61F1F4-6244-4242-8ABD-C20EC1D899C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AAA7C3D-889B-4913-9A98-257C739FFD7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3C24671-7630-4DC7-9BD2-0332FB4CE35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1484208-60EB-48A2-B995-F172C32E8DC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29D27B3-853D-42F3-A71D-061A9BBC33A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C192729-0EA5-4AC1-BE06-D3B097C05A2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170CD23-ACC6-4A54-80C7-20D52E662E2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B865681-3720-4158-B2A8-BCEAFFF3EE5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3B4E55-264A-402A-965B-838FE651D6F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3DD1618-4C93-44DE-A3F4-92DBD041785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2A2CD2-C15F-4311-97D0-428F47CBE7E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3C17CBE-B464-4485-9FC8-D55339C7955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984AFC2-E996-4B87-B1ED-FDD6433312F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8D6510-57DC-4ADA-8B86-88C5C6C7DEC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FADE8EE-C62E-41E0-80FD-EC10AE97B9D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D2BF4B-A005-4306-A3AA-89A758640B6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6A45F7-6F57-4756-8F03-E3613D6278F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8721B7D-BB07-4CB6-A706-3CD6E48F080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AA4D8C-71F3-44EF-AF24-5DF0CBCE14E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267383-F01D-493D-81C7-AE879003BB8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8B8B39-8C1E-422D-BAF3-4D22A870826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102A9D-C72B-4B06-B7A5-4C641E6FB04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07D533-FA12-4120-9E85-9BAD85C3CAF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235D4D-4CAA-4AC3-B450-5CF7F800C2E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996EAC-B93C-4508-A204-E6DDC769AE7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5303D4-7D7B-455C-AE6D-19C19E450BA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4B7678-B0A2-4565-82A1-D6963A558BB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009DCE-0A9E-48A1-A18A-454E748EF11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C010CC-C369-4F2F-A3E8-D65826BB100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../lab/gaussian_project_solution.zip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../lab/gaussian_project_solution/README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../lab/gaussian_project_solution/run_gaussian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hyperlink" Target="../lab/gaussian_project_solution/analysis/sampling_variation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hyperlink" Target="../lab/gaussian_project_solution/compare_processes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hyperlink" Target="../notebooks/01_Comparer_deux_distributions_gaussiennes_FR.ipynb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7880" cy="68576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777240" y="749880"/>
            <a:ext cx="10606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29 SEPTEMBRE ET 1er OCTOBRE 2026 · OLIVIER DELRIEU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3"/>
          <p:cNvSpPr/>
          <p:nvPr/>
        </p:nvSpPr>
        <p:spPr>
          <a:xfrm>
            <a:off x="795600" y="1463040"/>
            <a:ext cx="914040" cy="543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777240" y="1847160"/>
            <a:ext cx="106066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40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Du projet gaussien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40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au test de Welch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777240" y="4325040"/>
            <a:ext cx="10606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Relire le projet dans VS Code • comparer A et B • estimer la différence • interpréter sans dépasser les données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1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OBJECTIFS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Ce que vous allez pouvoir démontrer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4"/>
          <p:cNvSpPr/>
          <p:nvPr/>
        </p:nvSpPr>
        <p:spPr>
          <a:xfrm>
            <a:off x="731520" y="2011680"/>
            <a:ext cx="2628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841320" y="203004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Projet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6"/>
          <p:cNvSpPr/>
          <p:nvPr/>
        </p:nvSpPr>
        <p:spPr>
          <a:xfrm>
            <a:off x="3383280" y="2011680"/>
            <a:ext cx="2628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3493080" y="203004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Figures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8"/>
          <p:cNvSpPr/>
          <p:nvPr/>
        </p:nvSpPr>
        <p:spPr>
          <a:xfrm>
            <a:off x="6035040" y="2011680"/>
            <a:ext cx="2628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6144840" y="203004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Description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10"/>
          <p:cNvSpPr/>
          <p:nvPr/>
        </p:nvSpPr>
        <p:spPr>
          <a:xfrm>
            <a:off x="8686800" y="2011680"/>
            <a:ext cx="2628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11"/>
          <p:cNvSpPr/>
          <p:nvPr/>
        </p:nvSpPr>
        <p:spPr>
          <a:xfrm>
            <a:off x="8796600" y="203004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Choisir l'outil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12"/>
          <p:cNvSpPr/>
          <p:nvPr/>
        </p:nvSpPr>
        <p:spPr>
          <a:xfrm>
            <a:off x="731520" y="2724840"/>
            <a:ext cx="2628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13"/>
          <p:cNvSpPr/>
          <p:nvPr/>
        </p:nvSpPr>
        <p:spPr>
          <a:xfrm>
            <a:off x="841320" y="274320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Suivre les données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14"/>
          <p:cNvSpPr/>
          <p:nvPr/>
        </p:nvSpPr>
        <p:spPr>
          <a:xfrm>
            <a:off x="3383280" y="2724840"/>
            <a:ext cx="2628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3493080" y="274320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Choisir une vue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16"/>
          <p:cNvSpPr/>
          <p:nvPr/>
        </p:nvSpPr>
        <p:spPr>
          <a:xfrm>
            <a:off x="6035040" y="2724840"/>
            <a:ext cx="2628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17"/>
          <p:cNvSpPr/>
          <p:nvPr/>
        </p:nvSpPr>
        <p:spPr>
          <a:xfrm>
            <a:off x="6144840" y="274320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Comparer A et B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18"/>
          <p:cNvSpPr/>
          <p:nvPr/>
        </p:nvSpPr>
        <p:spPr>
          <a:xfrm>
            <a:off x="8686800" y="2724840"/>
            <a:ext cx="2628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9"/>
          <p:cNvSpPr/>
          <p:nvPr/>
        </p:nvSpPr>
        <p:spPr>
          <a:xfrm>
            <a:off x="8796600" y="274320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Welch, distance ou autre test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20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1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 code sera ouvert directement dans VS Code ; le diaporama sert à guider le raisonnement.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2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3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VOS RÉALISATIONS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Commencer par vos résultats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À MONTRER DANS GOOGLE MEET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Votre histogramme superposé A/B.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Une seule fenêtre lisible.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Les groupes A et B restent visibles séparément.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À EXPLIQUER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Ce que vous observez.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 choix de code ou de graphique.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 résultat obtenu ou le premier blocage rencontré.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Les tentatives sont présentées avant l'ouverture du projet de référence.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PASSAGE À LA RÉFÉRENCE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Ouvrir le projet de référence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4"/>
          <p:cNvSpPr/>
          <p:nvPr/>
        </p:nvSpPr>
        <p:spPr>
          <a:xfrm>
            <a:off x="731520" y="1609200"/>
            <a:ext cx="10698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lab/gaussian_project_solution.zip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5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ectangle 6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7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ARCHIVE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8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Extraire gaussian_project_solution.zip.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Ouvrir dans VS Code :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dossier extrait.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Se placer à la racine du projet.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9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10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11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REPÈRES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2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README.md explique le lancement.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run_gaussian.py produit les figures.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compare_processes.py réalise la comparaison.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tests/ protège les contrats.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13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14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Ne pas exécuter les fichiers à l'intérieur du ZIP.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5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6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DANS VS CODE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Obtenir trois preuves d'exécution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731520" y="1609200"/>
            <a:ext cx="10698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lab/gaussian_project_solution/README.md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5"/>
          <p:cNvSpPr/>
          <p:nvPr/>
        </p:nvSpPr>
        <p:spPr>
          <a:xfrm>
            <a:off x="731520" y="2011680"/>
            <a:ext cx="57373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6"/>
          <p:cNvSpPr/>
          <p:nvPr/>
        </p:nvSpPr>
        <p:spPr>
          <a:xfrm>
            <a:off x="841320" y="2030040"/>
            <a:ext cx="55407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Commande depuis la racine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7"/>
          <p:cNvSpPr/>
          <p:nvPr/>
        </p:nvSpPr>
        <p:spPr>
          <a:xfrm>
            <a:off x="6492240" y="2011680"/>
            <a:ext cx="48229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8"/>
          <p:cNvSpPr/>
          <p:nvPr/>
        </p:nvSpPr>
        <p:spPr>
          <a:xfrm>
            <a:off x="6602040" y="2030040"/>
            <a:ext cx="46263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Preuve attendue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9"/>
          <p:cNvSpPr/>
          <p:nvPr/>
        </p:nvSpPr>
        <p:spPr>
          <a:xfrm>
            <a:off x="731520" y="2724840"/>
            <a:ext cx="57373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10"/>
          <p:cNvSpPr/>
          <p:nvPr/>
        </p:nvSpPr>
        <p:spPr>
          <a:xfrm>
            <a:off x="841320" y="2743200"/>
            <a:ext cx="55407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python run_gaussian.py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11"/>
          <p:cNvSpPr/>
          <p:nvPr/>
        </p:nvSpPr>
        <p:spPr>
          <a:xfrm>
            <a:off x="6492240" y="2724840"/>
            <a:ext cx="48229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2"/>
          <p:cNvSpPr/>
          <p:nvPr/>
        </p:nvSpPr>
        <p:spPr>
          <a:xfrm>
            <a:off x="6602040" y="2743200"/>
            <a:ext cx="46263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Résumé + un tableau de bord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13"/>
          <p:cNvSpPr/>
          <p:nvPr/>
        </p:nvSpPr>
        <p:spPr>
          <a:xfrm>
            <a:off x="731520" y="3438000"/>
            <a:ext cx="57373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14"/>
          <p:cNvSpPr/>
          <p:nvPr/>
        </p:nvSpPr>
        <p:spPr>
          <a:xfrm>
            <a:off x="841320" y="3456360"/>
            <a:ext cx="55407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python compare_processes.py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15"/>
          <p:cNvSpPr/>
          <p:nvPr/>
        </p:nvSpPr>
        <p:spPr>
          <a:xfrm>
            <a:off x="6492240" y="3438000"/>
            <a:ext cx="48229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16"/>
          <p:cNvSpPr/>
          <p:nvPr/>
        </p:nvSpPr>
        <p:spPr>
          <a:xfrm>
            <a:off x="6602040" y="3456360"/>
            <a:ext cx="46263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Description + résultat de Welch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17"/>
          <p:cNvSpPr/>
          <p:nvPr/>
        </p:nvSpPr>
        <p:spPr>
          <a:xfrm>
            <a:off x="731520" y="4151520"/>
            <a:ext cx="57373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18"/>
          <p:cNvSpPr/>
          <p:nvPr/>
        </p:nvSpPr>
        <p:spPr>
          <a:xfrm>
            <a:off x="841320" y="4169520"/>
            <a:ext cx="55407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python -m unittest discover -s tests -v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19"/>
          <p:cNvSpPr/>
          <p:nvPr/>
        </p:nvSpPr>
        <p:spPr>
          <a:xfrm>
            <a:off x="6492240" y="4151520"/>
            <a:ext cx="48229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20"/>
          <p:cNvSpPr/>
          <p:nvPr/>
        </p:nvSpPr>
        <p:spPr>
          <a:xfrm>
            <a:off x="6602040" y="4169520"/>
            <a:ext cx="46263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17 tests réussis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21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22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Une preuve d'exécution précède l'explication du résultat.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3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4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5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ARCHITECTURE DU PROJET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Suivre le trajet des données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Rounded Rectangle 4"/>
          <p:cNvSpPr/>
          <p:nvPr/>
        </p:nvSpPr>
        <p:spPr>
          <a:xfrm>
            <a:off x="658440" y="2514600"/>
            <a:ext cx="1874160" cy="1325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5"/>
          <p:cNvSpPr/>
          <p:nvPr/>
        </p:nvSpPr>
        <p:spPr>
          <a:xfrm>
            <a:off x="768240" y="2660760"/>
            <a:ext cx="1654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Paramètres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ight Arrow 6"/>
          <p:cNvSpPr/>
          <p:nvPr/>
        </p:nvSpPr>
        <p:spPr>
          <a:xfrm>
            <a:off x="2578680" y="2917080"/>
            <a:ext cx="24660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Rounded Rectangle 7"/>
          <p:cNvSpPr/>
          <p:nvPr/>
        </p:nvSpPr>
        <p:spPr>
          <a:xfrm>
            <a:off x="2853000" y="2514600"/>
            <a:ext cx="1874160" cy="1325520"/>
          </a:xfrm>
          <a:prstGeom prst="roundRect">
            <a:avLst>
              <a:gd name="adj" fmla="val 16667"/>
            </a:avLst>
          </a:prstGeom>
          <a:solidFill>
            <a:srgbClr val="e7ef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8"/>
          <p:cNvSpPr/>
          <p:nvPr/>
        </p:nvSpPr>
        <p:spPr>
          <a:xfrm>
            <a:off x="2962800" y="2660760"/>
            <a:ext cx="1654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Modèle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ight Arrow 9"/>
          <p:cNvSpPr/>
          <p:nvPr/>
        </p:nvSpPr>
        <p:spPr>
          <a:xfrm>
            <a:off x="4773240" y="2917080"/>
            <a:ext cx="24660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ounded Rectangle 10"/>
          <p:cNvSpPr/>
          <p:nvPr/>
        </p:nvSpPr>
        <p:spPr>
          <a:xfrm>
            <a:off x="5047560" y="2514600"/>
            <a:ext cx="1874160" cy="1325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11"/>
          <p:cNvSpPr/>
          <p:nvPr/>
        </p:nvSpPr>
        <p:spPr>
          <a:xfrm>
            <a:off x="5157360" y="2660760"/>
            <a:ext cx="1654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Dataframe stocké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ight Arrow 12"/>
          <p:cNvSpPr/>
          <p:nvPr/>
        </p:nvSpPr>
        <p:spPr>
          <a:xfrm>
            <a:off x="6967800" y="2917080"/>
            <a:ext cx="24660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ounded Rectangle 13"/>
          <p:cNvSpPr/>
          <p:nvPr/>
        </p:nvSpPr>
        <p:spPr>
          <a:xfrm>
            <a:off x="7242120" y="2514600"/>
            <a:ext cx="1874160" cy="1325520"/>
          </a:xfrm>
          <a:prstGeom prst="roundRect">
            <a:avLst>
              <a:gd name="adj" fmla="val 16667"/>
            </a:avLst>
          </a:prstGeom>
          <a:solidFill>
            <a:srgbClr val="e7ef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14"/>
          <p:cNvSpPr/>
          <p:nvPr/>
        </p:nvSpPr>
        <p:spPr>
          <a:xfrm>
            <a:off x="7351920" y="2660760"/>
            <a:ext cx="1654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Fonctions graphiques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ight Arrow 15"/>
          <p:cNvSpPr/>
          <p:nvPr/>
        </p:nvSpPr>
        <p:spPr>
          <a:xfrm>
            <a:off x="9162360" y="2917080"/>
            <a:ext cx="24660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ounded Rectangle 16"/>
          <p:cNvSpPr/>
          <p:nvPr/>
        </p:nvSpPr>
        <p:spPr>
          <a:xfrm>
            <a:off x="9436680" y="2514600"/>
            <a:ext cx="1874160" cy="1325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17"/>
          <p:cNvSpPr/>
          <p:nvPr/>
        </p:nvSpPr>
        <p:spPr>
          <a:xfrm>
            <a:off x="9546480" y="2660760"/>
            <a:ext cx="1654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Affichage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18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19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La génération crée et conserve les valeurs ; les fonctions graphiques les lisent sans effectuer un nouveau tirage.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20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1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6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LECTURE DU PROJET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Dans VS Code : suivre un échantillon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4"/>
          <p:cNvSpPr/>
          <p:nvPr/>
        </p:nvSpPr>
        <p:spPr>
          <a:xfrm>
            <a:off x="731520" y="1609200"/>
            <a:ext cx="10698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lab/gaussian_project_solution/run_gaussian.py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5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6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7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TRAJET À SUIVRE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8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Ouvrir run_gaussian.py.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Aller à GaussianMixture.sample().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Repérer où le dataframe est stocké.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Suivre l'appel à plot_dashboard().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9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10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1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QUESTIONS À RÉSOUDRE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2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Où naissent les valeurs ?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Quel objet les conserve ?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Qui construit la figure ?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Qui appelle .show() ?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13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4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Explication attendue : paramètres → modèle → échantillon stocké → figure → affichage.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5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6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7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RÉPARER LE PROJET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Diagnostiquer puis prouver la correction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CHERCHER LE PREMIER CONTRAT CASSÉ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Environnement ou import.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Simulation.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Colonnes du dataframe.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État de l'objet.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Figure ou test.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APPORTER UNE PREUVE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projet se relance.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Les tests passent.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Une modification produit l'effet prévu.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trajet des données est expliqué.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Les noms peuvent différer du corrigé ; les responsabilités et les résultats doivent rester explicites.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8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LIRE LES FIGURES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Observations et modèle connu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HISTOGRAMME OBSERVÉ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Barres calculées avec les valeurs tirées.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Chaque histogramme A/B est normalisé en densité.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Son aire totale vaut 1.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COURBE NORMALE THÉORIQUE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Calculée avec les paramètres du modèle simulé.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Elle n'est pas ajustée aux observations.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La hauteur des barres compare les formes ; elle ne représente pas directement la composition 60 % / 40 %.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9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LIRE LES FIGURES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Comprendre le mélange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CONTRIBUTIONS PONDÉRÉES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 : 60 % × densité de A.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B : 40 % × densité de B.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L'aire de chaque contribution vaut son poids.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DENSITÉ DU MÉLANGE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Contribution de A + contribution de B.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somme est calculée point par point.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Elle peut masquer les groupes pris séparément.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Les poids appartiennent au modèle ; avec un petit échantillon, les proportions observées peuvent différer après arrondi.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10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LIRE LES FIGURES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Une vue répond à une question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Rectangle 4"/>
          <p:cNvSpPr/>
          <p:nvPr/>
        </p:nvSpPr>
        <p:spPr>
          <a:xfrm>
            <a:off x="731520" y="2011680"/>
            <a:ext cx="2628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5"/>
          <p:cNvSpPr/>
          <p:nvPr/>
        </p:nvSpPr>
        <p:spPr>
          <a:xfrm>
            <a:off x="841320" y="203004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Boîte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6"/>
          <p:cNvSpPr/>
          <p:nvPr/>
        </p:nvSpPr>
        <p:spPr>
          <a:xfrm>
            <a:off x="3383280" y="2011680"/>
            <a:ext cx="2628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7"/>
          <p:cNvSpPr/>
          <p:nvPr/>
        </p:nvSpPr>
        <p:spPr>
          <a:xfrm>
            <a:off x="3493080" y="203004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Violon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8"/>
          <p:cNvSpPr/>
          <p:nvPr/>
        </p:nvSpPr>
        <p:spPr>
          <a:xfrm>
            <a:off x="6035040" y="2011680"/>
            <a:ext cx="2628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9"/>
          <p:cNvSpPr/>
          <p:nvPr/>
        </p:nvSpPr>
        <p:spPr>
          <a:xfrm>
            <a:off x="6144840" y="203004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ECDF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10"/>
          <p:cNvSpPr/>
          <p:nvPr/>
        </p:nvSpPr>
        <p:spPr>
          <a:xfrm>
            <a:off x="8686800" y="2011680"/>
            <a:ext cx="2628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11"/>
          <p:cNvSpPr/>
          <p:nvPr/>
        </p:nvSpPr>
        <p:spPr>
          <a:xfrm>
            <a:off x="8796600" y="203004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Tableau de bord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ectangle 12"/>
          <p:cNvSpPr/>
          <p:nvPr/>
        </p:nvSpPr>
        <p:spPr>
          <a:xfrm>
            <a:off x="731520" y="2724840"/>
            <a:ext cx="2628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13"/>
          <p:cNvSpPr/>
          <p:nvPr/>
        </p:nvSpPr>
        <p:spPr>
          <a:xfrm>
            <a:off x="841320" y="274320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Centre, dispersion, atypiques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ectangle 14"/>
          <p:cNvSpPr/>
          <p:nvPr/>
        </p:nvSpPr>
        <p:spPr>
          <a:xfrm>
            <a:off x="3383280" y="2724840"/>
            <a:ext cx="2628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15"/>
          <p:cNvSpPr/>
          <p:nvPr/>
        </p:nvSpPr>
        <p:spPr>
          <a:xfrm>
            <a:off x="3493080" y="274320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Forme lissée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16"/>
          <p:cNvSpPr/>
          <p:nvPr/>
        </p:nvSpPr>
        <p:spPr>
          <a:xfrm>
            <a:off x="6035040" y="2724840"/>
            <a:ext cx="2628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17"/>
          <p:cNvSpPr/>
          <p:nvPr/>
        </p:nvSpPr>
        <p:spPr>
          <a:xfrm>
            <a:off x="6144840" y="274320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Proportion ≤ x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18"/>
          <p:cNvSpPr/>
          <p:nvPr/>
        </p:nvSpPr>
        <p:spPr>
          <a:xfrm>
            <a:off x="8686800" y="2724840"/>
            <a:ext cx="2628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19"/>
          <p:cNvSpPr/>
          <p:nvPr/>
        </p:nvSpPr>
        <p:spPr>
          <a:xfrm>
            <a:off x="8796600" y="274320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Relier quatre lectures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ectangle 20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21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ECDF signifie fonction de répartition empirique : pour chaque x, elle donne la proportion des observations ≤ x.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22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23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11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POINT DE VIGILANCE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Indépendant : deux sens différents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OBJETS PYTHON SÉPARÉS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Chaque instance conserve ses paramètres et son dataframe.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Modifier un objet ne doit pas modifier l'autre.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OBSERVATIONS INDÉPENDANTES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Hypothèse du plan de collecte : une mesure ne doit pas déterminer une autre mesure.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code ne peut pas la prouver.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Toujours préciser si vous parlez de l'état du programme ou des données collectées.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12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"/>
          <p:cNvSpPr/>
          <p:nvPr/>
        </p:nvSpPr>
        <p:spPr>
          <a:xfrm>
            <a:off x="0" y="0"/>
            <a:ext cx="12197880" cy="68576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2"/>
          <p:cNvSpPr/>
          <p:nvPr/>
        </p:nvSpPr>
        <p:spPr>
          <a:xfrm>
            <a:off x="777240" y="749880"/>
            <a:ext cx="10606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COMPARAISON DES GROUPES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ctangle 3"/>
          <p:cNvSpPr/>
          <p:nvPr/>
        </p:nvSpPr>
        <p:spPr>
          <a:xfrm>
            <a:off x="795600" y="1463040"/>
            <a:ext cx="914040" cy="543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4"/>
          <p:cNvSpPr/>
          <p:nvPr/>
        </p:nvSpPr>
        <p:spPr>
          <a:xfrm>
            <a:off x="777240" y="1847160"/>
            <a:ext cx="106066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40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Décrire deux distributions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5"/>
          <p:cNvSpPr/>
          <p:nvPr/>
        </p:nvSpPr>
        <p:spPr>
          <a:xfrm>
            <a:off x="777240" y="4325040"/>
            <a:ext cx="10606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Commencer par les observations, le contexte et la question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6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7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13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CENTRE · DISPERSION · FORME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Une distribution peut changer de plusieurs façons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0" name="Picture 4" descr="distribution_change_patterns.png"/>
          <p:cNvPicPr/>
          <p:nvPr/>
        </p:nvPicPr>
        <p:blipFill>
          <a:blip r:embed="rId1"/>
          <a:srcRect l="0" t="2002" r="0" b="3002"/>
          <a:stretch/>
        </p:blipFill>
        <p:spPr>
          <a:xfrm>
            <a:off x="749880" y="1874520"/>
            <a:ext cx="1069812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Rectangle 5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6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La même variable peut changer de centre, de dispersion, de forme, de queue ou de composition.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7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8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14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EXEMPLES PRATIQUES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Comparer une distribution dans le temps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COMMERCE ET ÉCONOMIE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  <a:defRPr sz="2000"/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Commerce : montant du panier avant et pendant une promotion.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  <a:defRPr sz="2000"/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Économie : revenu réel ou prix entre deux années.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  <a:defRPr sz="2000"/>
            </a:pP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  <a:defRPr sz="2000"/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centre, la queue et le poids des sous-populations peuvent changer.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INGÉNIERIE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  <a:defRPr sz="2000"/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Diamètre en début et en fin de poste.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  <a:defRPr sz="2000"/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Vibration avant et après maintenance.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  <a:defRPr sz="2000"/>
            </a:pP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  <a:defRPr sz="2000"/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Usure, dérive du capteur ou température peuvent déplacer ou élargir la distribution.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Une évolution temporelle décrit une différence ; elle n'en établit pas automatiquement la cause.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15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EXEMPLES PRATIQUES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Comparer une distribution entre deux lieux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COMMERCE ET ÉCONOMIE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  <a:defRPr sz="2000"/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Magasin de centre-ville ou de périphérie.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  <a:defRPr sz="2000"/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Salaires ou prix dans deux régions.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  <a:defRPr sz="2000"/>
            </a:pP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  <a:defRPr sz="2000"/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Clientèle, secteurs d'activité, coût de la vie et sélection peuvent différer.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INGÉNIERIE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  <a:defRPr sz="2000"/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Capteur en amont ou en aval d'un procédé.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  <a:defRPr sz="2000"/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Deux usines ou deux sources de matière.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  <a:defRPr sz="2000"/>
            </a:pP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  <a:defRPr sz="2000"/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Environnement, équipement et système de mesure peuvent différer.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Avant de comparer, nommer l'unité observée, le lieu, la période et la règle de sélection.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16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CONTEXTE ET DONNÉES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Un changement dans un procédé physique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DEUX LOTS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Groupe A : réglage A.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Groupe B : réglage B.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Les lots sont non appariés.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Une mesure par unité observée.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UN DATAFRAME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Une ligne = une mesure simulée.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value = variable quantitative.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component = étiquette A ou B.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Dans la simulation, le code fixe les mécanismes ; avec des données réelles, la cause resterait à établir.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17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NOTATION PROGRESSIVE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Lire une loi normale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Rounded Rectangle 4"/>
          <p:cNvSpPr/>
          <p:nvPr/>
        </p:nvSpPr>
        <p:spPr>
          <a:xfrm>
            <a:off x="749880" y="2011680"/>
            <a:ext cx="10698120" cy="141696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Box 5"/>
          <p:cNvSpPr/>
          <p:nvPr/>
        </p:nvSpPr>
        <p:spPr>
          <a:xfrm>
            <a:off x="960120" y="2258640"/>
            <a:ext cx="102409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4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X₁ ∼ 𝒩(μ₁, σ₁²)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6"/>
          <p:cNvSpPr/>
          <p:nvPr/>
        </p:nvSpPr>
        <p:spPr>
          <a:xfrm>
            <a:off x="1005840" y="3822120"/>
            <a:ext cx="101494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X₁ représente les valeurs possibles dans la population 1.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∼ se lit « suit la loi » ; 𝒩 désigne le modèle normal.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μ₁ est la moyenne ; σ₁ est l'écart-type ; σ₁² est la variance de population.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ectangle 7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8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Cette écriture décrit un modèle avant l'observation des données.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9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10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18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NOTATION PROGRESSIVE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Deux groupes, deux modèles normaux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GROUPE A · INDICE 1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X₁ ∼ 𝒩(μ₁, σ₁²)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Projet :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X₁ ∼ 𝒩(100, 18²)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GROUPE B · INDICE 2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X₂ ∼ 𝒩(μ₂, σ₂²)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Projet :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X₂ ∼ 𝒩(106, 24²)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Les indices 1 et 2 désignent les groupes, pas des numéros de ligne ; le code reçoit les écarts-types 18 et 24.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19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NOTATION PROGRESSIVE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Du modèle aux observations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Rounded Rectangle 4"/>
          <p:cNvSpPr/>
          <p:nvPr/>
        </p:nvSpPr>
        <p:spPr>
          <a:xfrm>
            <a:off x="658440" y="2514600"/>
            <a:ext cx="1874160" cy="1325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TextBox 5"/>
          <p:cNvSpPr/>
          <p:nvPr/>
        </p:nvSpPr>
        <p:spPr>
          <a:xfrm>
            <a:off x="768240" y="2660760"/>
            <a:ext cx="1654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X₁ et X₂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modèles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Right Arrow 6"/>
          <p:cNvSpPr/>
          <p:nvPr/>
        </p:nvSpPr>
        <p:spPr>
          <a:xfrm>
            <a:off x="2578680" y="2917080"/>
            <a:ext cx="24660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Rounded Rectangle 7"/>
          <p:cNvSpPr/>
          <p:nvPr/>
        </p:nvSpPr>
        <p:spPr>
          <a:xfrm>
            <a:off x="2853000" y="2514600"/>
            <a:ext cx="1874160" cy="1325520"/>
          </a:xfrm>
          <a:prstGeom prst="roundRect">
            <a:avLst>
              <a:gd name="adj" fmla="val 16667"/>
            </a:avLst>
          </a:prstGeom>
          <a:solidFill>
            <a:srgbClr val="e7ef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TextBox 8"/>
          <p:cNvSpPr/>
          <p:nvPr/>
        </p:nvSpPr>
        <p:spPr>
          <a:xfrm>
            <a:off x="2962800" y="2660760"/>
            <a:ext cx="1654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Tirages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Right Arrow 9"/>
          <p:cNvSpPr/>
          <p:nvPr/>
        </p:nvSpPr>
        <p:spPr>
          <a:xfrm>
            <a:off x="4773240" y="2917080"/>
            <a:ext cx="24660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Rounded Rectangle 10"/>
          <p:cNvSpPr/>
          <p:nvPr/>
        </p:nvSpPr>
        <p:spPr>
          <a:xfrm>
            <a:off x="5047560" y="2514600"/>
            <a:ext cx="1874160" cy="1325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TextBox 11"/>
          <p:cNvSpPr/>
          <p:nvPr/>
        </p:nvSpPr>
        <p:spPr>
          <a:xfrm>
            <a:off x="5157360" y="2660760"/>
            <a:ext cx="1654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Valeurs observées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A et B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ight Arrow 12"/>
          <p:cNvSpPr/>
          <p:nvPr/>
        </p:nvSpPr>
        <p:spPr>
          <a:xfrm>
            <a:off x="6967800" y="2917080"/>
            <a:ext cx="24660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Rounded Rectangle 13"/>
          <p:cNvSpPr/>
          <p:nvPr/>
        </p:nvSpPr>
        <p:spPr>
          <a:xfrm>
            <a:off x="7242120" y="2514600"/>
            <a:ext cx="1874160" cy="1325520"/>
          </a:xfrm>
          <a:prstGeom prst="roundRect">
            <a:avLst>
              <a:gd name="adj" fmla="val 16667"/>
            </a:avLst>
          </a:prstGeom>
          <a:solidFill>
            <a:srgbClr val="e7ef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Box 14"/>
          <p:cNvSpPr/>
          <p:nvPr/>
        </p:nvSpPr>
        <p:spPr>
          <a:xfrm>
            <a:off x="7351920" y="2660760"/>
            <a:ext cx="1654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Échantillons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ight Arrow 15"/>
          <p:cNvSpPr/>
          <p:nvPr/>
        </p:nvSpPr>
        <p:spPr>
          <a:xfrm>
            <a:off x="9162360" y="2917080"/>
            <a:ext cx="24660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Rounded Rectangle 16"/>
          <p:cNvSpPr/>
          <p:nvPr/>
        </p:nvSpPr>
        <p:spPr>
          <a:xfrm>
            <a:off x="9436680" y="2514600"/>
            <a:ext cx="1874160" cy="1325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Box 17"/>
          <p:cNvSpPr/>
          <p:nvPr/>
        </p:nvSpPr>
        <p:spPr>
          <a:xfrm>
            <a:off x="9546480" y="2660760"/>
            <a:ext cx="1654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avg(A)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avg(B)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Rectangle 18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Box 19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Une variable aléatoire X décrit des valeurs possibles ; un tirage produit une valeur observée ; avg(...) résume l'échantillon.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20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21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20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NOTATION PROGRESSIVE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Population et échantillon : ne pas confondre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Rectangle 4"/>
          <p:cNvSpPr/>
          <p:nvPr/>
        </p:nvSpPr>
        <p:spPr>
          <a:xfrm>
            <a:off x="731520" y="2011680"/>
            <a:ext cx="21715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TextBox 5"/>
          <p:cNvSpPr/>
          <p:nvPr/>
        </p:nvSpPr>
        <p:spPr>
          <a:xfrm>
            <a:off x="841320" y="2030040"/>
            <a:ext cx="19746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Objet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Rectangle 6"/>
          <p:cNvSpPr/>
          <p:nvPr/>
        </p:nvSpPr>
        <p:spPr>
          <a:xfrm>
            <a:off x="2926080" y="2011680"/>
            <a:ext cx="418284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TextBox 7"/>
          <p:cNvSpPr/>
          <p:nvPr/>
        </p:nvSpPr>
        <p:spPr>
          <a:xfrm>
            <a:off x="3035880" y="2030040"/>
            <a:ext cx="39862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Population ou modèle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Rectangle 8"/>
          <p:cNvSpPr/>
          <p:nvPr/>
        </p:nvSpPr>
        <p:spPr>
          <a:xfrm>
            <a:off x="7132320" y="2011680"/>
            <a:ext cx="418284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4" name="TextBox 9"/>
          <p:cNvSpPr/>
          <p:nvPr/>
        </p:nvSpPr>
        <p:spPr>
          <a:xfrm>
            <a:off x="7242120" y="2030040"/>
            <a:ext cx="39862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Échantillon observé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Rectangle 10"/>
          <p:cNvSpPr/>
          <p:nvPr/>
        </p:nvSpPr>
        <p:spPr>
          <a:xfrm>
            <a:off x="731520" y="272484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TextBox 11"/>
          <p:cNvSpPr/>
          <p:nvPr/>
        </p:nvSpPr>
        <p:spPr>
          <a:xfrm>
            <a:off x="841320" y="2743200"/>
            <a:ext cx="19746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Centre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Rectangle 12"/>
          <p:cNvSpPr/>
          <p:nvPr/>
        </p:nvSpPr>
        <p:spPr>
          <a:xfrm>
            <a:off x="2926080" y="2724840"/>
            <a:ext cx="41828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TextBox 13"/>
          <p:cNvSpPr/>
          <p:nvPr/>
        </p:nvSpPr>
        <p:spPr>
          <a:xfrm>
            <a:off x="3035880" y="2743200"/>
            <a:ext cx="39862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μ₁ · μ₂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Rectangle 14"/>
          <p:cNvSpPr/>
          <p:nvPr/>
        </p:nvSpPr>
        <p:spPr>
          <a:xfrm>
            <a:off x="7132320" y="2724840"/>
            <a:ext cx="41828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TextBox 15"/>
          <p:cNvSpPr/>
          <p:nvPr/>
        </p:nvSpPr>
        <p:spPr>
          <a:xfrm>
            <a:off x="7242120" y="2743200"/>
            <a:ext cx="39862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avg(A) · avg(B)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Rectangle 16"/>
          <p:cNvSpPr/>
          <p:nvPr/>
        </p:nvSpPr>
        <p:spPr>
          <a:xfrm>
            <a:off x="731520" y="343800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Box 17"/>
          <p:cNvSpPr/>
          <p:nvPr/>
        </p:nvSpPr>
        <p:spPr>
          <a:xfrm>
            <a:off x="841320" y="3456360"/>
            <a:ext cx="19746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Dispersion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ectangle 18"/>
          <p:cNvSpPr/>
          <p:nvPr/>
        </p:nvSpPr>
        <p:spPr>
          <a:xfrm>
            <a:off x="2926080" y="3438000"/>
            <a:ext cx="41828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TextBox 19"/>
          <p:cNvSpPr/>
          <p:nvPr/>
        </p:nvSpPr>
        <p:spPr>
          <a:xfrm>
            <a:off x="3035880" y="3456360"/>
            <a:ext cx="39862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σ₁ · σ₂ · variances σ₁² · σ₂²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Rectangle 20"/>
          <p:cNvSpPr/>
          <p:nvPr/>
        </p:nvSpPr>
        <p:spPr>
          <a:xfrm>
            <a:off x="7132320" y="3438000"/>
            <a:ext cx="41828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6" name="TextBox 21"/>
          <p:cNvSpPr/>
          <p:nvPr/>
        </p:nvSpPr>
        <p:spPr>
          <a:xfrm>
            <a:off x="7242120" y="3456360"/>
            <a:ext cx="39862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écarts-types observés s₁ · s₂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Rectangle 22"/>
          <p:cNvSpPr/>
          <p:nvPr/>
        </p:nvSpPr>
        <p:spPr>
          <a:xfrm>
            <a:off x="731520" y="415152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8" name="TextBox 23"/>
          <p:cNvSpPr/>
          <p:nvPr/>
        </p:nvSpPr>
        <p:spPr>
          <a:xfrm>
            <a:off x="841320" y="4169520"/>
            <a:ext cx="19746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Différence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ectangle 24"/>
          <p:cNvSpPr/>
          <p:nvPr/>
        </p:nvSpPr>
        <p:spPr>
          <a:xfrm>
            <a:off x="2926080" y="4151520"/>
            <a:ext cx="41828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TextBox 25"/>
          <p:cNvSpPr/>
          <p:nvPr/>
        </p:nvSpPr>
        <p:spPr>
          <a:xfrm>
            <a:off x="3035880" y="4169520"/>
            <a:ext cx="39862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μ₂ − μ₁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Rectangle 26"/>
          <p:cNvSpPr/>
          <p:nvPr/>
        </p:nvSpPr>
        <p:spPr>
          <a:xfrm>
            <a:off x="7132320" y="4151520"/>
            <a:ext cx="41828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2" name="TextBox 27"/>
          <p:cNvSpPr/>
          <p:nvPr/>
        </p:nvSpPr>
        <p:spPr>
          <a:xfrm>
            <a:off x="7242120" y="4169520"/>
            <a:ext cx="39862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avg(B) − avg(A)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ectangle 28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4" name="TextBox 29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Les statistiques observées varient d'un échantillon à l'autre et servent à estimer les paramètres de population.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30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31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21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DESCRIPTION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Résultats avec la graine aléatoire seed=404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Rectangle 4"/>
          <p:cNvSpPr/>
          <p:nvPr/>
        </p:nvSpPr>
        <p:spPr>
          <a:xfrm>
            <a:off x="731520" y="2011680"/>
            <a:ext cx="144000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Box 5"/>
          <p:cNvSpPr/>
          <p:nvPr/>
        </p:nvSpPr>
        <p:spPr>
          <a:xfrm>
            <a:off x="841320" y="2030040"/>
            <a:ext cx="12430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Groupe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Rectangle 6"/>
          <p:cNvSpPr/>
          <p:nvPr/>
        </p:nvSpPr>
        <p:spPr>
          <a:xfrm>
            <a:off x="2194560" y="2011680"/>
            <a:ext cx="162288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3" name="TextBox 7"/>
          <p:cNvSpPr/>
          <p:nvPr/>
        </p:nvSpPr>
        <p:spPr>
          <a:xfrm>
            <a:off x="2304360" y="2030040"/>
            <a:ext cx="14259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Rectangle 8"/>
          <p:cNvSpPr/>
          <p:nvPr/>
        </p:nvSpPr>
        <p:spPr>
          <a:xfrm>
            <a:off x="3840480" y="2011680"/>
            <a:ext cx="226296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Box 9"/>
          <p:cNvSpPr/>
          <p:nvPr/>
        </p:nvSpPr>
        <p:spPr>
          <a:xfrm>
            <a:off x="3950280" y="2030040"/>
            <a:ext cx="20660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Moyenne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Rectangle 10"/>
          <p:cNvSpPr/>
          <p:nvPr/>
        </p:nvSpPr>
        <p:spPr>
          <a:xfrm>
            <a:off x="6126480" y="2011680"/>
            <a:ext cx="226296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7" name="TextBox 11"/>
          <p:cNvSpPr/>
          <p:nvPr/>
        </p:nvSpPr>
        <p:spPr>
          <a:xfrm>
            <a:off x="6236280" y="2030040"/>
            <a:ext cx="20660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Écart-type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Rectangle 12"/>
          <p:cNvSpPr/>
          <p:nvPr/>
        </p:nvSpPr>
        <p:spPr>
          <a:xfrm>
            <a:off x="8412480" y="2011680"/>
            <a:ext cx="290304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9" name="TextBox 13"/>
          <p:cNvSpPr/>
          <p:nvPr/>
        </p:nvSpPr>
        <p:spPr>
          <a:xfrm>
            <a:off x="8522280" y="2030040"/>
            <a:ext cx="27061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avg(B) − avg(A)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Rectangle 14"/>
          <p:cNvSpPr/>
          <p:nvPr/>
        </p:nvSpPr>
        <p:spPr>
          <a:xfrm>
            <a:off x="731520" y="2724840"/>
            <a:ext cx="14400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15"/>
          <p:cNvSpPr/>
          <p:nvPr/>
        </p:nvSpPr>
        <p:spPr>
          <a:xfrm>
            <a:off x="841320" y="2743200"/>
            <a:ext cx="12430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ectangle 16"/>
          <p:cNvSpPr/>
          <p:nvPr/>
        </p:nvSpPr>
        <p:spPr>
          <a:xfrm>
            <a:off x="2194560" y="2724840"/>
            <a:ext cx="162288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TextBox 17"/>
          <p:cNvSpPr/>
          <p:nvPr/>
        </p:nvSpPr>
        <p:spPr>
          <a:xfrm>
            <a:off x="2304360" y="2743200"/>
            <a:ext cx="14259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1 200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Rectangle 18"/>
          <p:cNvSpPr/>
          <p:nvPr/>
        </p:nvSpPr>
        <p:spPr>
          <a:xfrm>
            <a:off x="3840480" y="2724840"/>
            <a:ext cx="22629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" name="TextBox 19"/>
          <p:cNvSpPr/>
          <p:nvPr/>
        </p:nvSpPr>
        <p:spPr>
          <a:xfrm>
            <a:off x="3950280" y="2743200"/>
            <a:ext cx="20660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100.07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Rectangle 20"/>
          <p:cNvSpPr/>
          <p:nvPr/>
        </p:nvSpPr>
        <p:spPr>
          <a:xfrm>
            <a:off x="6126480" y="2724840"/>
            <a:ext cx="22629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7" name="TextBox 21"/>
          <p:cNvSpPr/>
          <p:nvPr/>
        </p:nvSpPr>
        <p:spPr>
          <a:xfrm>
            <a:off x="6236280" y="2743200"/>
            <a:ext cx="20660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18.10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Rectangle 22"/>
          <p:cNvSpPr/>
          <p:nvPr/>
        </p:nvSpPr>
        <p:spPr>
          <a:xfrm>
            <a:off x="8412480" y="2724840"/>
            <a:ext cx="29030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Box 23"/>
          <p:cNvSpPr/>
          <p:nvPr/>
        </p:nvSpPr>
        <p:spPr>
          <a:xfrm>
            <a:off x="8522280" y="2743200"/>
            <a:ext cx="27061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2000" strike="noStrike" u="none">
              <a:solidFill>
                <a:srgbClr val="203645"/>
              </a:solidFill>
              <a:effectLst/>
              <a:uFillTx/>
              <a:latin typeface="Aptos"/>
            </a:endParaRPr>
          </a:p>
        </p:txBody>
      </p:sp>
      <p:sp>
        <p:nvSpPr>
          <p:cNvPr id="430" name="Rectangle 24"/>
          <p:cNvSpPr/>
          <p:nvPr/>
        </p:nvSpPr>
        <p:spPr>
          <a:xfrm>
            <a:off x="731520" y="3438000"/>
            <a:ext cx="14400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TextBox 25"/>
          <p:cNvSpPr/>
          <p:nvPr/>
        </p:nvSpPr>
        <p:spPr>
          <a:xfrm>
            <a:off x="841320" y="3456360"/>
            <a:ext cx="12430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B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Rectangle 26"/>
          <p:cNvSpPr/>
          <p:nvPr/>
        </p:nvSpPr>
        <p:spPr>
          <a:xfrm>
            <a:off x="2194560" y="3438000"/>
            <a:ext cx="162288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TextBox 27"/>
          <p:cNvSpPr/>
          <p:nvPr/>
        </p:nvSpPr>
        <p:spPr>
          <a:xfrm>
            <a:off x="2304360" y="3456360"/>
            <a:ext cx="14259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800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Rectangle 28"/>
          <p:cNvSpPr/>
          <p:nvPr/>
        </p:nvSpPr>
        <p:spPr>
          <a:xfrm>
            <a:off x="3840480" y="3438000"/>
            <a:ext cx="22629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TextBox 29"/>
          <p:cNvSpPr/>
          <p:nvPr/>
        </p:nvSpPr>
        <p:spPr>
          <a:xfrm>
            <a:off x="3950280" y="3456360"/>
            <a:ext cx="20660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105.93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Rectangle 30"/>
          <p:cNvSpPr/>
          <p:nvPr/>
        </p:nvSpPr>
        <p:spPr>
          <a:xfrm>
            <a:off x="6126480" y="3438000"/>
            <a:ext cx="22629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7" name="TextBox 31"/>
          <p:cNvSpPr/>
          <p:nvPr/>
        </p:nvSpPr>
        <p:spPr>
          <a:xfrm>
            <a:off x="6236280" y="3456360"/>
            <a:ext cx="20660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24.51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Rectangle 32"/>
          <p:cNvSpPr/>
          <p:nvPr/>
        </p:nvSpPr>
        <p:spPr>
          <a:xfrm>
            <a:off x="8412480" y="3438000"/>
            <a:ext cx="29030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9" name="TextBox 33"/>
          <p:cNvSpPr/>
          <p:nvPr/>
        </p:nvSpPr>
        <p:spPr>
          <a:xfrm>
            <a:off x="8522280" y="3456360"/>
            <a:ext cx="27061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≈ 5.86 unités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Rectangle 34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1" name="TextBox 35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avg(G) désigne la moyenne observée du groupe G ; 105.93 − 100.07 ≈ 5.86 unités.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36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37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22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DIFFÉRENCE DES MOYENNES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Lire avg(B) − avg(A)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7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CALCUL À PARTIR DES MOYENNES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avg(B) = 105.93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avg(A) = 100.07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avg(B) − avg(A) ≈ 5.86 unités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2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3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INTERPRÉTATION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Dans cet échantillon, la moyenne de B est supérieure d'environ 5.86 unités à celle de A.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L'ordre compte : avg(A) − avg(B) ≈ −5.86 unités.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Cette comparaison est calculée à partir des deux moyennes : ce n'est ni un écart-type, ni une nouvelle variable mesurée, ni une soustraction ligne par ligne. A et B ne sont pas appariés.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23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DESCRIPTION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Quatre lectures du même échantillon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2" name="Picture 4" descr="group_and_pooled_histograms.png"/>
          <p:cNvPicPr/>
          <p:nvPr/>
        </p:nvPicPr>
        <p:blipFill>
          <a:blip r:embed="rId1"/>
          <a:srcRect l="0" t="10001" r="0" b="5998"/>
          <a:stretch/>
        </p:blipFill>
        <p:spPr>
          <a:xfrm>
            <a:off x="749880" y="1874520"/>
            <a:ext cx="1069812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Rectangle 5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4" name="TextBox 6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Histogrammes = observations ; courbes = modèles connus de la simulation.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7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8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24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DESCRIPTION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Ce que les figures montrent — et ne prouvent pas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0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2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ELLES MONTRENT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Chevauchement.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Décalage du centre.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Dispersion plus grande pour B.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Formes observées.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5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6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ELLES NE PROUVENT PAS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Cause du changement.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Importance opérationnelle.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Différence des populations.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Qualité du plan de collecte.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9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Décrire précisément les figures précède toute décision formelle.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25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HYPOTHÈSES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H₀ et H₁ portent sur les populations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5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7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H₀ · SCÉNARIO DE RÉFÉRENCE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μ₁ = μ₂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Donc μ₂ − μ₁ = 0.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test calcule ce qui serait attendu si ce scénario décrivait les populations.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0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1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H₁ · SCÉNARIO ALTERNATIF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μ₁ ≠ μ₂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Donc μ₂ − μ₁ ≠ 0.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L'alternative répond à la question posée avant d'observer le résultat.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4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 test n'accepte ni ne prouve H₀ ou H₁ ; il mesure la compatibilité des données avec H₀ sous ses hypothèses.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26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INCERTITUDE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La variation d'échantillonnage n'est pas une faute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0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1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2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VARIATION ATTENDUE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Deux tirages corrects donnent des moyennes légèrement différentes.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avg(A), avg(B) et leur différence varient.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 effectif plus grand réduit généralement cette variation.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5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6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AUTRES PROBLÈMES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Biais de sélection.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Erreur de mesure.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Valeur mal saisie.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Changement de définition ou de population.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Répéter le tirage ne les corrige pas.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9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La variation d'échantillonnage vient du hasard du tirage ; un biais vient de la façon d'observer les données.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27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VARIATION D'ÉCHANTILLONNAGE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Pourquoi répéter le tirage ?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5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6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7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UN SEUL ÉCHANTILLON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Nous venons de calculer avg(B) − avg(A) ≈ 5.86 unités.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Cette différence décrit les données observées.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Elle peut combiner une différence entre les moyennes de population et une variation due au tirage.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0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1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H₀ · HYPOTHÈSE NULLE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Ici, H₀ suppose que μ₂ − μ₁ = 0.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Quelles différences avg(B) − avg(A) restent possibles avec les mêmes effectifs et dispersions ?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4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Nous construisons une distribution de différences de moyennes, pas une distribution des valeurs individuelles.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28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SIMULATION SOUS H₀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Comment construire cette distribution ?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0" name="TextBox 4"/>
          <p:cNvSpPr/>
          <p:nvPr/>
        </p:nvSpPr>
        <p:spPr>
          <a:xfrm>
            <a:off x="731520" y="1609200"/>
            <a:ext cx="10698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lab/gaussian_project_solution/analysis/sampling_variation.py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Rounded Rectangle 5"/>
          <p:cNvSpPr/>
          <p:nvPr/>
        </p:nvSpPr>
        <p:spPr>
          <a:xfrm>
            <a:off x="658440" y="2514600"/>
            <a:ext cx="1874160" cy="1325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2" name="TextBox 6"/>
          <p:cNvSpPr/>
          <p:nvPr/>
        </p:nvSpPr>
        <p:spPr>
          <a:xfrm>
            <a:off x="768240" y="2660760"/>
            <a:ext cx="1654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Même moyenne 103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Right Arrow 7"/>
          <p:cNvSpPr/>
          <p:nvPr/>
        </p:nvSpPr>
        <p:spPr>
          <a:xfrm>
            <a:off x="2578680" y="2917080"/>
            <a:ext cx="24660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4" name="Rounded Rectangle 8"/>
          <p:cNvSpPr/>
          <p:nvPr/>
        </p:nvSpPr>
        <p:spPr>
          <a:xfrm>
            <a:off x="2853000" y="2514600"/>
            <a:ext cx="1874160" cy="1325520"/>
          </a:xfrm>
          <a:prstGeom prst="roundRect">
            <a:avLst>
              <a:gd name="adj" fmla="val 16667"/>
            </a:avLst>
          </a:prstGeom>
          <a:solidFill>
            <a:srgbClr val="e7ef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5" name="TextBox 9"/>
          <p:cNvSpPr/>
          <p:nvPr/>
        </p:nvSpPr>
        <p:spPr>
          <a:xfrm>
            <a:off x="2962800" y="2660760"/>
            <a:ext cx="1654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Nouvelle seed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Right Arrow 10"/>
          <p:cNvSpPr/>
          <p:nvPr/>
        </p:nvSpPr>
        <p:spPr>
          <a:xfrm>
            <a:off x="4773240" y="2917080"/>
            <a:ext cx="24660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7" name="Rounded Rectangle 11"/>
          <p:cNvSpPr/>
          <p:nvPr/>
        </p:nvSpPr>
        <p:spPr>
          <a:xfrm>
            <a:off x="5047560" y="2514600"/>
            <a:ext cx="1874160" cy="1325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8" name="TextBox 12"/>
          <p:cNvSpPr/>
          <p:nvPr/>
        </p:nvSpPr>
        <p:spPr>
          <a:xfrm>
            <a:off x="5157360" y="2660760"/>
            <a:ext cx="1654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sample()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2 000 valeurs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Right Arrow 13"/>
          <p:cNvSpPr/>
          <p:nvPr/>
        </p:nvSpPr>
        <p:spPr>
          <a:xfrm>
            <a:off x="6967800" y="2917080"/>
            <a:ext cx="24660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0" name="Rounded Rectangle 14"/>
          <p:cNvSpPr/>
          <p:nvPr/>
        </p:nvSpPr>
        <p:spPr>
          <a:xfrm>
            <a:off x="7242120" y="2514600"/>
            <a:ext cx="1874160" cy="1325520"/>
          </a:xfrm>
          <a:prstGeom prst="roundRect">
            <a:avLst>
              <a:gd name="adj" fmla="val 16667"/>
            </a:avLst>
          </a:prstGeom>
          <a:solidFill>
            <a:srgbClr val="e7ef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1" name="TextBox 15"/>
          <p:cNvSpPr/>
          <p:nvPr/>
        </p:nvSpPr>
        <p:spPr>
          <a:xfrm>
            <a:off x="7351920" y="2660760"/>
            <a:ext cx="1654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avg(B)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− avg(A)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Right Arrow 16"/>
          <p:cNvSpPr/>
          <p:nvPr/>
        </p:nvSpPr>
        <p:spPr>
          <a:xfrm>
            <a:off x="9162360" y="2917080"/>
            <a:ext cx="24660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3" name="Rounded Rectangle 17"/>
          <p:cNvSpPr/>
          <p:nvPr/>
        </p:nvSpPr>
        <p:spPr>
          <a:xfrm>
            <a:off x="9436680" y="2514600"/>
            <a:ext cx="1874160" cy="1325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4" name="TextBox 18"/>
          <p:cNvSpPr/>
          <p:nvPr/>
        </p:nvSpPr>
        <p:spPr>
          <a:xfrm>
            <a:off x="9546480" y="2660760"/>
            <a:ext cx="1654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5 000 répétitions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Rectangle 19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6" name="TextBox 20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Sous H₀, μ₁ = μ₂ = 103 ; GaussianMixture conserve σ₁ = 18, σ₂ = 24 et la répartition 1 200 A / 800 B.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Box 21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Box 22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29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VARIATION D'ÉCHANTILLONNAGE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Comparer la différence observée aux tirages sous H₀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52" name="Picture 4" descr="sampling_variation.png"/>
          <p:cNvPicPr/>
          <p:nvPr/>
        </p:nvPicPr>
        <p:blipFill>
          <a:blip r:embed="rId1"/>
          <a:stretch/>
        </p:blipFill>
        <p:spPr>
          <a:xfrm>
            <a:off x="749880" y="1874520"/>
            <a:ext cx="1069812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Rectangle 5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4" name="TextBox 6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Chaque barre compte les répétitions dont avg(B) − avg(A) tombe dans le même intervalle ; cette simulation ne remplace pas Welch.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Box 7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Box 8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30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PROBABILITÉ SOUS H₀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Quelle probabilité calcule une valeur p ?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0" name="Rounded Rectangle 4"/>
          <p:cNvSpPr/>
          <p:nvPr/>
        </p:nvSpPr>
        <p:spPr>
          <a:xfrm>
            <a:off x="749880" y="2011680"/>
            <a:ext cx="10698120" cy="141696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1" name="TextBox 5"/>
          <p:cNvSpPr/>
          <p:nvPr/>
        </p:nvSpPr>
        <p:spPr>
          <a:xfrm>
            <a:off x="960120" y="2258640"/>
            <a:ext cx="102409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4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p = P(|T| ≥ |t observé|  |  H₀)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Box 6"/>
          <p:cNvSpPr/>
          <p:nvPr/>
        </p:nvSpPr>
        <p:spPr>
          <a:xfrm>
            <a:off x="1005840" y="3822120"/>
            <a:ext cx="101494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 est la statistique du test et varie d'un échantillon à l'autre sous H₀.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Pour le test bilatéral utilisé ici, p mesure sous H₀ la probabilité d'un résultat au moins aussi extrême que celui observé.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Une petite valeur p indique peu de compatibilité avec H₀ et le modèle utilisé.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Rectangle 7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4" name="TextBox 8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Ce n'est ni P(H₀ vraie), ni la probabilité du hasard, ni la taille de la différence ; le seuil α est choisi avant l'analyse.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Box 9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Box 10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31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Rectangle 1"/>
          <p:cNvSpPr/>
          <p:nvPr/>
        </p:nvSpPr>
        <p:spPr>
          <a:xfrm>
            <a:off x="0" y="0"/>
            <a:ext cx="12197880" cy="68576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8" name="TextBox 2"/>
          <p:cNvSpPr/>
          <p:nvPr/>
        </p:nvSpPr>
        <p:spPr>
          <a:xfrm>
            <a:off x="777240" y="749880"/>
            <a:ext cx="10606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LA SUITE PEUT COMMENCER ICI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Rectangle 3"/>
          <p:cNvSpPr/>
          <p:nvPr/>
        </p:nvSpPr>
        <p:spPr>
          <a:xfrm>
            <a:off x="795600" y="1463040"/>
            <a:ext cx="914040" cy="543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0" name="TextBox 4"/>
          <p:cNvSpPr/>
          <p:nvPr/>
        </p:nvSpPr>
        <p:spPr>
          <a:xfrm>
            <a:off x="777240" y="1847160"/>
            <a:ext cx="106066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40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Point de reprise · le test de Welch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Box 5"/>
          <p:cNvSpPr/>
          <p:nvPr/>
        </p:nvSpPr>
        <p:spPr>
          <a:xfrm>
            <a:off x="777240" y="4325040"/>
            <a:ext cx="10606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Passer de la description à une décision formelle sur les moyennes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Box 6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Box 7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32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RÉCAPITULATIF AUTONOME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Les éléments nécessaires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7" name="Rectangle 4"/>
          <p:cNvSpPr/>
          <p:nvPr/>
        </p:nvSpPr>
        <p:spPr>
          <a:xfrm>
            <a:off x="731520" y="2011680"/>
            <a:ext cx="2628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8" name="TextBox 5"/>
          <p:cNvSpPr/>
          <p:nvPr/>
        </p:nvSpPr>
        <p:spPr>
          <a:xfrm>
            <a:off x="841320" y="203004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Donnée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Rectangle 6"/>
          <p:cNvSpPr/>
          <p:nvPr/>
        </p:nvSpPr>
        <p:spPr>
          <a:xfrm>
            <a:off x="3383280" y="2011680"/>
            <a:ext cx="2628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0" name="TextBox 7"/>
          <p:cNvSpPr/>
          <p:nvPr/>
        </p:nvSpPr>
        <p:spPr>
          <a:xfrm>
            <a:off x="3493080" y="203004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Groupes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Rectangle 8"/>
          <p:cNvSpPr/>
          <p:nvPr/>
        </p:nvSpPr>
        <p:spPr>
          <a:xfrm>
            <a:off x="6035040" y="2011680"/>
            <a:ext cx="2628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2" name="TextBox 9"/>
          <p:cNvSpPr/>
          <p:nvPr/>
        </p:nvSpPr>
        <p:spPr>
          <a:xfrm>
            <a:off x="6144840" y="203004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Estimation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Rectangle 10"/>
          <p:cNvSpPr/>
          <p:nvPr/>
        </p:nvSpPr>
        <p:spPr>
          <a:xfrm>
            <a:off x="8686800" y="2011680"/>
            <a:ext cx="2628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4" name="TextBox 11"/>
          <p:cNvSpPr/>
          <p:nvPr/>
        </p:nvSpPr>
        <p:spPr>
          <a:xfrm>
            <a:off x="8796600" y="203004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Question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Rectangle 12"/>
          <p:cNvSpPr/>
          <p:nvPr/>
        </p:nvSpPr>
        <p:spPr>
          <a:xfrm>
            <a:off x="731520" y="2724840"/>
            <a:ext cx="2628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6" name="TextBox 13"/>
          <p:cNvSpPr/>
          <p:nvPr/>
        </p:nvSpPr>
        <p:spPr>
          <a:xfrm>
            <a:off x="841320" y="274320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value quantitative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Rectangle 14"/>
          <p:cNvSpPr/>
          <p:nvPr/>
        </p:nvSpPr>
        <p:spPr>
          <a:xfrm>
            <a:off x="3383280" y="2724840"/>
            <a:ext cx="2628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8" name="TextBox 15"/>
          <p:cNvSpPr/>
          <p:nvPr/>
        </p:nvSpPr>
        <p:spPr>
          <a:xfrm>
            <a:off x="3493080" y="274320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 et B non appariés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Rectangle 16"/>
          <p:cNvSpPr/>
          <p:nvPr/>
        </p:nvSpPr>
        <p:spPr>
          <a:xfrm>
            <a:off x="6035040" y="2724840"/>
            <a:ext cx="2628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0" name="TextBox 17"/>
          <p:cNvSpPr/>
          <p:nvPr/>
        </p:nvSpPr>
        <p:spPr>
          <a:xfrm>
            <a:off x="6144840" y="274320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avg(B) − avg(A) ≈ 5.86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Rectangle 18"/>
          <p:cNvSpPr/>
          <p:nvPr/>
        </p:nvSpPr>
        <p:spPr>
          <a:xfrm>
            <a:off x="8686800" y="2724840"/>
            <a:ext cx="2628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2" name="TextBox 19"/>
          <p:cNvSpPr/>
          <p:nvPr/>
        </p:nvSpPr>
        <p:spPr>
          <a:xfrm>
            <a:off x="8796600" y="274320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Les moyennes diffèrent-elles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Rectangle 20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4" name="TextBox 21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Les dispersions diffèrent ; nous choisissons une méthode qui ne les suppose pas égales.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Box 22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Box 23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33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TEST DE WELCH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Formuler la question avant le calcul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0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1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2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HYPOTHÈSE NULLE H₀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μ₁ = μ₂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différence de population μ₂ − μ₁ vaut 0.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5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6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HYPOTHÈSE ALTERNATIVE H₁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μ₁ ≠ μ₂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différence de population μ₂ − μ₁ ne vaut pas 0.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9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 test est bilatéral : aucune direction n'est imposée avant d'observer les données.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34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TEST DE WELCH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Pourquoi choisir le test de Welch ?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5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6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7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SITUATION ÉTUDIÉE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Variable quantitative.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Deux groupes non appariés.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Observations supposées indépendantes.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moyenne répond à la question.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0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1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CE QUE WELCH ACCEPTE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Effectifs différents.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Variances différentes.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Pas d'hypothèse d'égalité des variances.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4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Welch compare les moyennes ; il ne compare pas les distributions complètes.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35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TEST DE WELCH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Comment Welch mesure le signal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0" name="Rounded Rectangle 4"/>
          <p:cNvSpPr/>
          <p:nvPr/>
        </p:nvSpPr>
        <p:spPr>
          <a:xfrm>
            <a:off x="749880" y="2011680"/>
            <a:ext cx="10698120" cy="141696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1" name="TextBox 5"/>
          <p:cNvSpPr/>
          <p:nvPr/>
        </p:nvSpPr>
        <p:spPr>
          <a:xfrm>
            <a:off x="960120" y="2258640"/>
            <a:ext cx="102409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4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t = [avg(B) − avg(A)] / √(s₁²/n₁ + s₂²/n₂)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Box 6"/>
          <p:cNvSpPr/>
          <p:nvPr/>
        </p:nvSpPr>
        <p:spPr>
          <a:xfrm>
            <a:off x="1005840" y="3822120"/>
            <a:ext cx="101494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numérateur est la différence observée. Le dénominateur est son erreur-type estimée.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|t| indique combien d'erreurs-types séparent l'estimation de 0.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Welch calcule ensuite les degrés de liberté adaptés aux deux dispersions.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Rectangle 7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4" name="TextBox 8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 grand |t| peut venir d'une grande différence, d'une faible dispersion, d'un grand effectif, ou d'une combinaison de ces éléments.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Box 9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Box 10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36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LECTURE DU PROJET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Dans VS Code : suivre l'analyse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0" name="TextBox 4"/>
          <p:cNvSpPr/>
          <p:nvPr/>
        </p:nvSpPr>
        <p:spPr>
          <a:xfrm>
            <a:off x="731520" y="1609200"/>
            <a:ext cx="10698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lab/gaussian_project_solution/compare_processes.py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Rounded Rectangle 5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2" name="Rectangle 6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3" name="TextBox 7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TRAJET À SUIVRE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Box 8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Ouvrir compare_processes.py.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Suivre describe_groups().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Suivre mean_comparison().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Suivre welch_mean_test().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Rounded Rectangle 9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6" name="Rectangle 10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7" name="TextBox 11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POINTS À VÉRIFIER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Box 12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sens comparison − reference.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L'option qui sélectionne Welch.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Estimation et intervalle.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 : statistique du test.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ddl : degrés de liberté.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Valeur p.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Rectangle 13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0" name="TextBox 14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 code produit les nombres ; l'interprétation doit rester reliée à la question et aux hypothèses.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Box 15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Box 16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37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INTERVALLE DE CONFIANCE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Estimer avant de conclure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56" name="Picture 4" descr="mean_difference_confidence_interval.png"/>
          <p:cNvPicPr/>
          <p:nvPr/>
        </p:nvPicPr>
        <p:blipFill>
          <a:blip r:embed="rId1"/>
          <a:stretch/>
        </p:blipFill>
        <p:spPr>
          <a:xfrm>
            <a:off x="749880" y="1874520"/>
            <a:ext cx="1069812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7" name="Rectangle 5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8" name="TextBox 6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Valeurs plausibles pour la différence de population μ₂ − μ₁ sous le modèle utilisé ; 0 est exclu.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Box 7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Box 8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38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RÉSULTAT FORMEL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Résultat du test de Welch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4" name="Rectangle 4"/>
          <p:cNvSpPr/>
          <p:nvPr/>
        </p:nvSpPr>
        <p:spPr>
          <a:xfrm>
            <a:off x="731520" y="2011680"/>
            <a:ext cx="189720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5" name="TextBox 5"/>
          <p:cNvSpPr/>
          <p:nvPr/>
        </p:nvSpPr>
        <p:spPr>
          <a:xfrm>
            <a:off x="841320" y="2030040"/>
            <a:ext cx="17002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avg(B) − avg(A)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Rectangle 6"/>
          <p:cNvSpPr/>
          <p:nvPr/>
        </p:nvSpPr>
        <p:spPr>
          <a:xfrm>
            <a:off x="2651760" y="2011680"/>
            <a:ext cx="253728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7" name="TextBox 7"/>
          <p:cNvSpPr/>
          <p:nvPr/>
        </p:nvSpPr>
        <p:spPr>
          <a:xfrm>
            <a:off x="2761560" y="2030040"/>
            <a:ext cx="23403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IC à 95 %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pour μ₂ − μ₁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Rectangle 8"/>
          <p:cNvSpPr/>
          <p:nvPr/>
        </p:nvSpPr>
        <p:spPr>
          <a:xfrm>
            <a:off x="5212080" y="2011680"/>
            <a:ext cx="272016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9" name="TextBox 9"/>
          <p:cNvSpPr/>
          <p:nvPr/>
        </p:nvSpPr>
        <p:spPr>
          <a:xfrm>
            <a:off x="5321880" y="2030040"/>
            <a:ext cx="25232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Valeur p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Rectangle 10"/>
          <p:cNvSpPr/>
          <p:nvPr/>
        </p:nvSpPr>
        <p:spPr>
          <a:xfrm>
            <a:off x="7955280" y="2011680"/>
            <a:ext cx="336024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1" name="TextBox 11"/>
          <p:cNvSpPr/>
          <p:nvPr/>
        </p:nvSpPr>
        <p:spPr>
          <a:xfrm>
            <a:off x="8065080" y="2030040"/>
            <a:ext cx="31633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Statistique t · ddl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Rectangle 12"/>
          <p:cNvSpPr/>
          <p:nvPr/>
        </p:nvSpPr>
        <p:spPr>
          <a:xfrm>
            <a:off x="731520" y="2724840"/>
            <a:ext cx="18972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3" name="TextBox 13"/>
          <p:cNvSpPr/>
          <p:nvPr/>
        </p:nvSpPr>
        <p:spPr>
          <a:xfrm>
            <a:off x="841320" y="2743200"/>
            <a:ext cx="17002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≈ 5.86 unités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Rectangle 14"/>
          <p:cNvSpPr/>
          <p:nvPr/>
        </p:nvSpPr>
        <p:spPr>
          <a:xfrm>
            <a:off x="2651760" y="2724840"/>
            <a:ext cx="253728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5" name="TextBox 15"/>
          <p:cNvSpPr/>
          <p:nvPr/>
        </p:nvSpPr>
        <p:spPr>
          <a:xfrm>
            <a:off x="2761560" y="2743200"/>
            <a:ext cx="23403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[3.88 ; 7.85]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Rectangle 16"/>
          <p:cNvSpPr/>
          <p:nvPr/>
        </p:nvSpPr>
        <p:spPr>
          <a:xfrm>
            <a:off x="5212080" y="2724840"/>
            <a:ext cx="27201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7" name="TextBox 17"/>
          <p:cNvSpPr/>
          <p:nvPr/>
        </p:nvSpPr>
        <p:spPr>
          <a:xfrm>
            <a:off x="5321880" y="2743200"/>
            <a:ext cx="25232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≈ 8.54 × 10⁻⁹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Rectangle 18"/>
          <p:cNvSpPr/>
          <p:nvPr/>
        </p:nvSpPr>
        <p:spPr>
          <a:xfrm>
            <a:off x="7955280" y="2724840"/>
            <a:ext cx="33602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9" name="TextBox 19"/>
          <p:cNvSpPr/>
          <p:nvPr/>
        </p:nvSpPr>
        <p:spPr>
          <a:xfrm>
            <a:off x="8065080" y="2743200"/>
            <a:ext cx="31633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 ≈ 5.79 · ddl ≈ 1 365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Rectangle 20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1" name="TextBox 21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t est la statistique du test ; ddl signifie degrés de liberté. L'intervalle exclut 0.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Box 22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Box 23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39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INTERPRÉTATION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Lire la valeur p correctement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7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8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9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CE QU'ELLE EXPRIME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Sous H₀ et les hypothèses du test : probabilité d'un résultat au moins aussi extrême que celui observé.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2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3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CE QU'ELLE N'EST PAS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Probabilité que H₀ soit vraie.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Taille de l'effet.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Importance pratique.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Preuve de causalité.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6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Toujours présenter la différence et son intervalle avec la valeur p.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40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INTERPRÉTATION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Significatif ne veut pas dire important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2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3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4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SIGNAL STATISTIQUE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grand échantillon réduit l'incertitude.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L'intervalle exclut 0.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valeur p est très petite.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7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8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IMPORTANCE PRATIQUE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avg(B) − avg(A) vaut environ 5.86 unités.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Différence standardisée ≈ 0.28.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seuil utile dépend du procédé.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1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Une décision métier exige un seuil, un coût ou une conséquence concrète.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41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EXEMPLES HYPOTHÉTIQUES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Deux exemples : évidence et ampleur peuvent diverger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7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8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9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COMMERCE · GRAND EFFECTIF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Panier moyen : +0.20 €.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IC très étroit ; petite valeur p.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Évidence forte, mais le gain peut être inférieur au coût.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2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3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INGÉNIERIE · PETIT EFFECTIF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Dimension : +3 mm sur 8 prototypes.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IC large ; test non concluant.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Ampleur critique possible, mais information insuffisante.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6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La décision combine estimation, incertitude, seuil pratique, coût et conséquence ; « non significatif » ne veut pas dire « égal ».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42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INTERPRÉTATION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Limites à annoncer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2" name="Rectangle 4"/>
          <p:cNvSpPr/>
          <p:nvPr/>
        </p:nvSpPr>
        <p:spPr>
          <a:xfrm>
            <a:off x="731520" y="2011680"/>
            <a:ext cx="363456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3" name="TextBox 5"/>
          <p:cNvSpPr/>
          <p:nvPr/>
        </p:nvSpPr>
        <p:spPr>
          <a:xfrm>
            <a:off x="841320" y="2030040"/>
            <a:ext cx="34376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Point à vérifier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Rectangle 6"/>
          <p:cNvSpPr/>
          <p:nvPr/>
        </p:nvSpPr>
        <p:spPr>
          <a:xfrm>
            <a:off x="4389120" y="2011680"/>
            <a:ext cx="692604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5" name="TextBox 7"/>
          <p:cNvSpPr/>
          <p:nvPr/>
        </p:nvSpPr>
        <p:spPr>
          <a:xfrm>
            <a:off x="4498920" y="2030040"/>
            <a:ext cx="67294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Conséquence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Rectangle 8"/>
          <p:cNvSpPr/>
          <p:nvPr/>
        </p:nvSpPr>
        <p:spPr>
          <a:xfrm>
            <a:off x="731520" y="2724840"/>
            <a:ext cx="36345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7" name="TextBox 9"/>
          <p:cNvSpPr/>
          <p:nvPr/>
        </p:nvSpPr>
        <p:spPr>
          <a:xfrm>
            <a:off x="841320" y="2743200"/>
            <a:ext cx="34376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Asymétrie forte ou valeurs extrêmes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Rectangle 10"/>
          <p:cNvSpPr/>
          <p:nvPr/>
        </p:nvSpPr>
        <p:spPr>
          <a:xfrm>
            <a:off x="4389120" y="2724840"/>
            <a:ext cx="69260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9" name="TextBox 11"/>
          <p:cNvSpPr/>
          <p:nvPr/>
        </p:nvSpPr>
        <p:spPr>
          <a:xfrm>
            <a:off x="4498920" y="2743200"/>
            <a:ext cx="67294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Vérifier la stabilité avant d'appliquer Welch à d'autres données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Rectangle 12"/>
          <p:cNvSpPr/>
          <p:nvPr/>
        </p:nvSpPr>
        <p:spPr>
          <a:xfrm>
            <a:off x="731520" y="3438000"/>
            <a:ext cx="36345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1" name="TextBox 13"/>
          <p:cNvSpPr/>
          <p:nvPr/>
        </p:nvSpPr>
        <p:spPr>
          <a:xfrm>
            <a:off x="841320" y="3456360"/>
            <a:ext cx="34376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Observations dépendantes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Rectangle 14"/>
          <p:cNvSpPr/>
          <p:nvPr/>
        </p:nvSpPr>
        <p:spPr>
          <a:xfrm>
            <a:off x="4389120" y="3438000"/>
            <a:ext cx="69260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3" name="TextBox 15"/>
          <p:cNvSpPr/>
          <p:nvPr/>
        </p:nvSpPr>
        <p:spPr>
          <a:xfrm>
            <a:off x="4498920" y="3456360"/>
            <a:ext cx="67294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plan ne correspond plus au test utilisé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Rectangle 16"/>
          <p:cNvSpPr/>
          <p:nvPr/>
        </p:nvSpPr>
        <p:spPr>
          <a:xfrm>
            <a:off x="731520" y="4151520"/>
            <a:ext cx="36345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5" name="TextBox 17"/>
          <p:cNvSpPr/>
          <p:nvPr/>
        </p:nvSpPr>
        <p:spPr>
          <a:xfrm>
            <a:off x="841320" y="4169520"/>
            <a:ext cx="34376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Mesures avant/après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Rectangle 18"/>
          <p:cNvSpPr/>
          <p:nvPr/>
        </p:nvSpPr>
        <p:spPr>
          <a:xfrm>
            <a:off x="4389120" y="4151520"/>
            <a:ext cx="69260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7" name="TextBox 19"/>
          <p:cNvSpPr/>
          <p:nvPr/>
        </p:nvSpPr>
        <p:spPr>
          <a:xfrm>
            <a:off x="4498920" y="4169520"/>
            <a:ext cx="67294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Utiliser une méthode appariée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Rectangle 20"/>
          <p:cNvSpPr/>
          <p:nvPr/>
        </p:nvSpPr>
        <p:spPr>
          <a:xfrm>
            <a:off x="731520" y="4864680"/>
            <a:ext cx="36345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9" name="TextBox 21"/>
          <p:cNvSpPr/>
          <p:nvPr/>
        </p:nvSpPr>
        <p:spPr>
          <a:xfrm>
            <a:off x="841320" y="4883040"/>
            <a:ext cx="34376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Cause ou forme complète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Rectangle 22"/>
          <p:cNvSpPr/>
          <p:nvPr/>
        </p:nvSpPr>
        <p:spPr>
          <a:xfrm>
            <a:off x="4389120" y="4864680"/>
            <a:ext cx="69260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1" name="TextBox 23"/>
          <p:cNvSpPr/>
          <p:nvPr/>
        </p:nvSpPr>
        <p:spPr>
          <a:xfrm>
            <a:off x="4498920" y="4883040"/>
            <a:ext cx="67294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Welch ne répond pas à ces questions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Rectangle 24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3" name="TextBox 25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 résultat significatif ne prouve ni une cause ni l'égalité ou la différence des distributions complètes.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Box 26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Box 27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43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Rectangle 1"/>
          <p:cNvSpPr/>
          <p:nvPr/>
        </p:nvSpPr>
        <p:spPr>
          <a:xfrm>
            <a:off x="0" y="0"/>
            <a:ext cx="12197880" cy="68576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7" name="TextBox 2"/>
          <p:cNvSpPr/>
          <p:nvPr/>
        </p:nvSpPr>
        <p:spPr>
          <a:xfrm>
            <a:off x="777240" y="749880"/>
            <a:ext cx="10606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EXTENSION · AUTRES DIFFÉRENCES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Rectangle 3"/>
          <p:cNvSpPr/>
          <p:nvPr/>
        </p:nvSpPr>
        <p:spPr>
          <a:xfrm>
            <a:off x="795600" y="1463040"/>
            <a:ext cx="914040" cy="543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9" name="TextBox 4"/>
          <p:cNvSpPr/>
          <p:nvPr/>
        </p:nvSpPr>
        <p:spPr>
          <a:xfrm>
            <a:off x="777240" y="1847160"/>
            <a:ext cx="106066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40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Comparer au-delà des moyennes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Box 5"/>
          <p:cNvSpPr/>
          <p:nvPr/>
        </p:nvSpPr>
        <p:spPr>
          <a:xfrm>
            <a:off x="777240" y="4325040"/>
            <a:ext cx="10606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Choisir une mesure ou un test qui répond exactement à la question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Box 6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Box 7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44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TESTS D'HYPOTHÈSES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Trois questions, trois tests formels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6" name="Rectangle 4"/>
          <p:cNvSpPr/>
          <p:nvPr/>
        </p:nvSpPr>
        <p:spPr>
          <a:xfrm>
            <a:off x="731520" y="2011680"/>
            <a:ext cx="2354400" cy="84528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7" name="TextBox 5"/>
          <p:cNvSpPr/>
          <p:nvPr/>
        </p:nvSpPr>
        <p:spPr>
          <a:xfrm>
            <a:off x="841320" y="2030040"/>
            <a:ext cx="21574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Question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Rectangle 6"/>
          <p:cNvSpPr/>
          <p:nvPr/>
        </p:nvSpPr>
        <p:spPr>
          <a:xfrm>
            <a:off x="3108960" y="2011680"/>
            <a:ext cx="2354400" cy="84528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9" name="TextBox 7"/>
          <p:cNvSpPr/>
          <p:nvPr/>
        </p:nvSpPr>
        <p:spPr>
          <a:xfrm>
            <a:off x="3218760" y="2030040"/>
            <a:ext cx="21574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Test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Rectangle 8"/>
          <p:cNvSpPr/>
          <p:nvPr/>
        </p:nvSpPr>
        <p:spPr>
          <a:xfrm>
            <a:off x="5486400" y="2011680"/>
            <a:ext cx="2811600" cy="84528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1" name="TextBox 9"/>
          <p:cNvSpPr/>
          <p:nvPr/>
        </p:nvSpPr>
        <p:spPr>
          <a:xfrm>
            <a:off x="5596200" y="2030040"/>
            <a:ext cx="26146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H₀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Rectangle 10"/>
          <p:cNvSpPr/>
          <p:nvPr/>
        </p:nvSpPr>
        <p:spPr>
          <a:xfrm>
            <a:off x="8321040" y="2011680"/>
            <a:ext cx="2994480" cy="84528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3" name="TextBox 11"/>
          <p:cNvSpPr/>
          <p:nvPr/>
        </p:nvSpPr>
        <p:spPr>
          <a:xfrm>
            <a:off x="8430840" y="2030040"/>
            <a:ext cx="279756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Vigilance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Rectangle 12"/>
          <p:cNvSpPr/>
          <p:nvPr/>
        </p:nvSpPr>
        <p:spPr>
          <a:xfrm>
            <a:off x="731520" y="2880360"/>
            <a:ext cx="235440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5" name="TextBox 13"/>
          <p:cNvSpPr/>
          <p:nvPr/>
        </p:nvSpPr>
        <p:spPr>
          <a:xfrm>
            <a:off x="841320" y="2898720"/>
            <a:ext cx="21574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Moyennes 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Rectangle 14"/>
          <p:cNvSpPr/>
          <p:nvPr/>
        </p:nvSpPr>
        <p:spPr>
          <a:xfrm>
            <a:off x="3108960" y="2880360"/>
            <a:ext cx="235440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7" name="TextBox 15"/>
          <p:cNvSpPr/>
          <p:nvPr/>
        </p:nvSpPr>
        <p:spPr>
          <a:xfrm>
            <a:off x="3218760" y="2898720"/>
            <a:ext cx="21574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Welch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Rectangle 16"/>
          <p:cNvSpPr/>
          <p:nvPr/>
        </p:nvSpPr>
        <p:spPr>
          <a:xfrm>
            <a:off x="5486400" y="2880360"/>
            <a:ext cx="281160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9" name="TextBox 17"/>
          <p:cNvSpPr/>
          <p:nvPr/>
        </p:nvSpPr>
        <p:spPr>
          <a:xfrm>
            <a:off x="5596200" y="2898720"/>
            <a:ext cx="26146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μ₁ = μ₂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Rectangle 18"/>
          <p:cNvSpPr/>
          <p:nvPr/>
        </p:nvSpPr>
        <p:spPr>
          <a:xfrm>
            <a:off x="8321040" y="2880360"/>
            <a:ext cx="299448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1" name="TextBox 19"/>
          <p:cNvSpPr/>
          <p:nvPr/>
        </p:nvSpPr>
        <p:spPr>
          <a:xfrm>
            <a:off x="8430840" y="2898720"/>
            <a:ext cx="279756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Groupes indépendants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Rectangle 20"/>
          <p:cNvSpPr/>
          <p:nvPr/>
        </p:nvSpPr>
        <p:spPr>
          <a:xfrm>
            <a:off x="731520" y="3749040"/>
            <a:ext cx="235440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3" name="TextBox 21"/>
          <p:cNvSpPr/>
          <p:nvPr/>
        </p:nvSpPr>
        <p:spPr>
          <a:xfrm>
            <a:off x="841320" y="3767400"/>
            <a:ext cx="21574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Variances 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Rectangle 22"/>
          <p:cNvSpPr/>
          <p:nvPr/>
        </p:nvSpPr>
        <p:spPr>
          <a:xfrm>
            <a:off x="3108960" y="3749040"/>
            <a:ext cx="235440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5" name="TextBox 23"/>
          <p:cNvSpPr/>
          <p:nvPr/>
        </p:nvSpPr>
        <p:spPr>
          <a:xfrm>
            <a:off x="3218760" y="3767400"/>
            <a:ext cx="21574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Ratio / test 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Rectangle 24"/>
          <p:cNvSpPr/>
          <p:nvPr/>
        </p:nvSpPr>
        <p:spPr>
          <a:xfrm>
            <a:off x="5486400" y="3749040"/>
            <a:ext cx="281160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7" name="TextBox 25"/>
          <p:cNvSpPr/>
          <p:nvPr/>
        </p:nvSpPr>
        <p:spPr>
          <a:xfrm>
            <a:off x="5596200" y="3767400"/>
            <a:ext cx="26146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σ₁² = σ₂²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Rectangle 26"/>
          <p:cNvSpPr/>
          <p:nvPr/>
        </p:nvSpPr>
        <p:spPr>
          <a:xfrm>
            <a:off x="8321040" y="3749040"/>
            <a:ext cx="299448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9" name="TextBox 27"/>
          <p:cNvSpPr/>
          <p:nvPr/>
        </p:nvSpPr>
        <p:spPr>
          <a:xfrm>
            <a:off x="8430840" y="3767400"/>
            <a:ext cx="279756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Normalité forte · valeurs extrêmes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Rectangle 28"/>
          <p:cNvSpPr/>
          <p:nvPr/>
        </p:nvSpPr>
        <p:spPr>
          <a:xfrm>
            <a:off x="731520" y="4617720"/>
            <a:ext cx="235440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1" name="TextBox 29"/>
          <p:cNvSpPr/>
          <p:nvPr/>
        </p:nvSpPr>
        <p:spPr>
          <a:xfrm>
            <a:off x="841320" y="4636080"/>
            <a:ext cx="21574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Même distribution 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Rectangle 30"/>
          <p:cNvSpPr/>
          <p:nvPr/>
        </p:nvSpPr>
        <p:spPr>
          <a:xfrm>
            <a:off x="3108960" y="4617720"/>
            <a:ext cx="235440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3" name="TextBox 31"/>
          <p:cNvSpPr/>
          <p:nvPr/>
        </p:nvSpPr>
        <p:spPr>
          <a:xfrm>
            <a:off x="3218760" y="4636080"/>
            <a:ext cx="21574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KS (Kolmogorov–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Smirnov)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Rectangle 32"/>
          <p:cNvSpPr/>
          <p:nvPr/>
        </p:nvSpPr>
        <p:spPr>
          <a:xfrm>
            <a:off x="5486400" y="4617720"/>
            <a:ext cx="281160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5" name="TextBox 33"/>
          <p:cNvSpPr/>
          <p:nvPr/>
        </p:nvSpPr>
        <p:spPr>
          <a:xfrm>
            <a:off x="5596200" y="4636080"/>
            <a:ext cx="26146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Même loi de population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Rectangle 34"/>
          <p:cNvSpPr/>
          <p:nvPr/>
        </p:nvSpPr>
        <p:spPr>
          <a:xfrm>
            <a:off x="8321040" y="4617720"/>
            <a:ext cx="299448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7" name="TextBox 35"/>
          <p:cNvSpPr/>
          <p:nvPr/>
        </p:nvSpPr>
        <p:spPr>
          <a:xfrm>
            <a:off x="8430840" y="4636080"/>
            <a:ext cx="279756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Variable continue · égalités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Rectangle 36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9" name="TextBox 37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Levene ou Brown–Forsythe sont des pistes plus robustes pour la dispersion ; un rejet KS ne dit pas quelle caractéristique a changé.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Box 38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Box 39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45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DISTANCE GLOBALE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Wasserstein-2 : deux lois normales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5" name="Rounded Rectangle 4"/>
          <p:cNvSpPr/>
          <p:nvPr/>
        </p:nvSpPr>
        <p:spPr>
          <a:xfrm>
            <a:off x="749880" y="2011680"/>
            <a:ext cx="10698120" cy="141696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6" name="TextBox 5"/>
          <p:cNvSpPr/>
          <p:nvPr/>
        </p:nvSpPr>
        <p:spPr>
          <a:xfrm>
            <a:off x="960120" y="2258640"/>
            <a:ext cx="102409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4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W₂ = √((μ₁ − μ₂)² + (σ₁ − σ₂)²)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Box 6"/>
          <p:cNvSpPr/>
          <p:nvPr/>
        </p:nvSpPr>
        <p:spPr>
          <a:xfrm>
            <a:off x="1005840" y="3822120"/>
            <a:ext cx="101494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Pour les lois normales univariées X₁ ∼ 𝒩(μ₁, σ₁²) et X₂ ∼ 𝒩(μ₂, σ₂²).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|μ₁ − μ₂| mesure le décalage des centres ; |σ₁ − σ₂| mesure le changement de dispersion.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Interprétation : deux lois sont proches seulement si leurs moyennes et leurs écarts-types sont tous deux proches.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Rectangle 7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9" name="TextBox 8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W₂ utilise σ, pas σ² ; même unité que value ; W₂ = 0 seulement si μ₁ = μ₂ et σ₁ = σ₂ ; pas de valeur p.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TextBox 9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Box 10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46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WASSERSTEIN-2 · APPLICATION GAUSSIENNE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Dans le projet, centre et dispersion contribuent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15" name="Picture 4" descr="wasserstein_gaussian_geometry.png"/>
          <p:cNvPicPr/>
          <p:nvPr/>
        </p:nvPicPr>
        <p:blipFill>
          <a:blip r:embed="rId1"/>
          <a:srcRect l="0" t="1998" r="0" b="3002"/>
          <a:stretch/>
        </p:blipFill>
        <p:spPr>
          <a:xfrm>
            <a:off x="749880" y="1874520"/>
            <a:ext cx="1069812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6" name="Rectangle 5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7" name="TextBox 6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Ici, |μ₁ − μ₂| = 6 et |σ₁ − σ₂| = 6 : W₂ = √(6² + 6²) ≈ 8.49 unités.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Box 7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Box 8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47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DISTANCES ET SIMILARITÉ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Trois mesures descriptives globales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3" name="Rectangle 4"/>
          <p:cNvSpPr/>
          <p:nvPr/>
        </p:nvSpPr>
        <p:spPr>
          <a:xfrm>
            <a:off x="731520" y="2011680"/>
            <a:ext cx="2354400" cy="84528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4" name="TextBox 5"/>
          <p:cNvSpPr/>
          <p:nvPr/>
        </p:nvSpPr>
        <p:spPr>
          <a:xfrm>
            <a:off x="841320" y="2030040"/>
            <a:ext cx="21574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Mesure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Rectangle 6"/>
          <p:cNvSpPr/>
          <p:nvPr/>
        </p:nvSpPr>
        <p:spPr>
          <a:xfrm>
            <a:off x="3108960" y="2011680"/>
            <a:ext cx="3177360" cy="84528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6" name="TextBox 7"/>
          <p:cNvSpPr/>
          <p:nvPr/>
        </p:nvSpPr>
        <p:spPr>
          <a:xfrm>
            <a:off x="3218760" y="2030040"/>
            <a:ext cx="298044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Question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Rectangle 8"/>
          <p:cNvSpPr/>
          <p:nvPr/>
        </p:nvSpPr>
        <p:spPr>
          <a:xfrm>
            <a:off x="6309360" y="2011680"/>
            <a:ext cx="5006160" cy="84528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8" name="TextBox 9"/>
          <p:cNvSpPr/>
          <p:nvPr/>
        </p:nvSpPr>
        <p:spPr>
          <a:xfrm>
            <a:off x="6419160" y="2030040"/>
            <a:ext cx="480924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Lecture et limite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Rectangle 10"/>
          <p:cNvSpPr/>
          <p:nvPr/>
        </p:nvSpPr>
        <p:spPr>
          <a:xfrm>
            <a:off x="731520" y="2880360"/>
            <a:ext cx="235440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0" name="TextBox 11"/>
          <p:cNvSpPr/>
          <p:nvPr/>
        </p:nvSpPr>
        <p:spPr>
          <a:xfrm>
            <a:off x="841320" y="2898720"/>
            <a:ext cx="21574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Wasserstein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Rectangle 12"/>
          <p:cNvSpPr/>
          <p:nvPr/>
        </p:nvSpPr>
        <p:spPr>
          <a:xfrm>
            <a:off x="3108960" y="2880360"/>
            <a:ext cx="317736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2" name="TextBox 13"/>
          <p:cNvSpPr/>
          <p:nvPr/>
        </p:nvSpPr>
        <p:spPr>
          <a:xfrm>
            <a:off x="3218760" y="2898720"/>
            <a:ext cx="298044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Déplacement global 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Rectangle 14"/>
          <p:cNvSpPr/>
          <p:nvPr/>
        </p:nvSpPr>
        <p:spPr>
          <a:xfrm>
            <a:off x="6309360" y="2880360"/>
            <a:ext cx="500616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4" name="TextBox 15"/>
          <p:cNvSpPr/>
          <p:nvPr/>
        </p:nvSpPr>
        <p:spPr>
          <a:xfrm>
            <a:off x="6419160" y="2898720"/>
            <a:ext cx="480924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Même unité que value · dépend de l'échelle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Rectangle 16"/>
          <p:cNvSpPr/>
          <p:nvPr/>
        </p:nvSpPr>
        <p:spPr>
          <a:xfrm>
            <a:off x="731520" y="3749040"/>
            <a:ext cx="235440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6" name="TextBox 17"/>
          <p:cNvSpPr/>
          <p:nvPr/>
        </p:nvSpPr>
        <p:spPr>
          <a:xfrm>
            <a:off x="841320" y="3767400"/>
            <a:ext cx="21574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Coefficient de recouvrement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Rectangle 18"/>
          <p:cNvSpPr/>
          <p:nvPr/>
        </p:nvSpPr>
        <p:spPr>
          <a:xfrm>
            <a:off x="3108960" y="3749040"/>
            <a:ext cx="317736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8" name="TextBox 19"/>
          <p:cNvSpPr/>
          <p:nvPr/>
        </p:nvSpPr>
        <p:spPr>
          <a:xfrm>
            <a:off x="3218760" y="3767400"/>
            <a:ext cx="298044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Quelle part commune 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Rectangle 20"/>
          <p:cNvSpPr/>
          <p:nvPr/>
        </p:nvSpPr>
        <p:spPr>
          <a:xfrm>
            <a:off x="6309360" y="3749040"/>
            <a:ext cx="500616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0" name="TextBox 21"/>
          <p:cNvSpPr/>
          <p:nvPr/>
        </p:nvSpPr>
        <p:spPr>
          <a:xfrm>
            <a:off x="6419160" y="3767400"/>
            <a:ext cx="480924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0 à 1 · dépend de l'estimation des densités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Rectangle 22"/>
          <p:cNvSpPr/>
          <p:nvPr/>
        </p:nvSpPr>
        <p:spPr>
          <a:xfrm>
            <a:off x="731520" y="4617720"/>
            <a:ext cx="235440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2" name="TextBox 23"/>
          <p:cNvSpPr/>
          <p:nvPr/>
        </p:nvSpPr>
        <p:spPr>
          <a:xfrm>
            <a:off x="841320" y="4636080"/>
            <a:ext cx="21574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Divergence KL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(Kullback–Leibler)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Rectangle 24"/>
          <p:cNvSpPr/>
          <p:nvPr/>
        </p:nvSpPr>
        <p:spPr>
          <a:xfrm>
            <a:off x="3108960" y="4617720"/>
            <a:ext cx="317736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4" name="TextBox 25"/>
          <p:cNvSpPr/>
          <p:nvPr/>
        </p:nvSpPr>
        <p:spPr>
          <a:xfrm>
            <a:off x="3218760" y="4636080"/>
            <a:ext cx="298044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 représente-t-elle bien P 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Rectangle 26"/>
          <p:cNvSpPr/>
          <p:nvPr/>
        </p:nvSpPr>
        <p:spPr>
          <a:xfrm>
            <a:off x="6309360" y="4617720"/>
            <a:ext cx="5006160" cy="845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6" name="TextBox 27"/>
          <p:cNvSpPr/>
          <p:nvPr/>
        </p:nvSpPr>
        <p:spPr>
          <a:xfrm>
            <a:off x="6419160" y="4636080"/>
            <a:ext cx="480924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Directionnelle · Q &gt; 0 partout où P &gt; 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Rectangle 28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8" name="TextBox 29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KL est directionnelle ; si Q donne une densité nulle à une valeur possible sous P, KL(P ‖ Q) peut être infinie.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Box 30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Box 31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48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CHOISIR UNE STRATÉGIE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Une distance n'est pas un test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4" name="Rounded Rectangle 4"/>
          <p:cNvSpPr/>
          <p:nvPr/>
        </p:nvSpPr>
        <p:spPr>
          <a:xfrm>
            <a:off x="7315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5" name="Rectangle 5"/>
          <p:cNvSpPr/>
          <p:nvPr/>
        </p:nvSpPr>
        <p:spPr>
          <a:xfrm>
            <a:off x="731520" y="2011680"/>
            <a:ext cx="54360" cy="361152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6" name="TextBox 6"/>
          <p:cNvSpPr/>
          <p:nvPr/>
        </p:nvSpPr>
        <p:spPr>
          <a:xfrm>
            <a:off x="9417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MESURE DESCRIPTIVE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Box 7"/>
          <p:cNvSpPr/>
          <p:nvPr/>
        </p:nvSpPr>
        <p:spPr>
          <a:xfrm>
            <a:off x="9417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Quantifie une différence ou une similarité.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Exemples : Wasserstein, recouvrement, KL.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résultat décrit une ampleur selon une définition choisie.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Rounded Rectangle 8"/>
          <p:cNvSpPr/>
          <p:nvPr/>
        </p:nvSpPr>
        <p:spPr>
          <a:xfrm>
            <a:off x="6217920" y="2011680"/>
            <a:ext cx="5248440" cy="3611520"/>
          </a:xfrm>
          <a:prstGeom prst="roundRect">
            <a:avLst>
              <a:gd name="adj" fmla="val 16667"/>
            </a:avLst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9" name="Rectangle 9"/>
          <p:cNvSpPr/>
          <p:nvPr/>
        </p:nvSpPr>
        <p:spPr>
          <a:xfrm>
            <a:off x="6217920" y="2011680"/>
            <a:ext cx="54360" cy="36115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0" name="TextBox 10"/>
          <p:cNvSpPr/>
          <p:nvPr/>
        </p:nvSpPr>
        <p:spPr>
          <a:xfrm>
            <a:off x="6428160" y="2267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TEST D'HYPOTHÈSE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Box 11"/>
          <p:cNvSpPr/>
          <p:nvPr/>
        </p:nvSpPr>
        <p:spPr>
          <a:xfrm>
            <a:off x="6428160" y="288036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Évalue la compatibilité avec H₀ sous un modèle.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Exemples : Welch, F, KS.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valeur p dépend aussi de l'effectif et des hypothèses.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Rectangle 12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3" name="TextBox 13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Choisir la question avant l'outil ; si une incertitude sur une distance est nécessaire, utiliser par exemple bootstrap ou permutation.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Box 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Box 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49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TextBox 1"/>
          <p:cNvSpPr/>
          <p:nvPr/>
        </p:nvSpPr>
        <p:spPr>
          <a:xfrm>
            <a:off x="658440" y="274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SYNTHÈSE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Box 2"/>
          <p:cNvSpPr/>
          <p:nvPr/>
        </p:nvSpPr>
        <p:spPr>
          <a:xfrm>
            <a:off x="658440" y="74988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Cadre de lecture final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Rectangle 3"/>
          <p:cNvSpPr/>
          <p:nvPr/>
        </p:nvSpPr>
        <p:spPr>
          <a:xfrm>
            <a:off x="676800" y="151776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9" name="TextBox 4"/>
          <p:cNvSpPr/>
          <p:nvPr/>
        </p:nvSpPr>
        <p:spPr>
          <a:xfrm>
            <a:off x="731520" y="1609200"/>
            <a:ext cx="10698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notebooks/01_Comparer_deux_distributions_gaussiennes_FR.ipynb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Rectangle 5"/>
          <p:cNvSpPr/>
          <p:nvPr/>
        </p:nvSpPr>
        <p:spPr>
          <a:xfrm>
            <a:off x="731520" y="2011680"/>
            <a:ext cx="2628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1" name="TextBox 6"/>
          <p:cNvSpPr/>
          <p:nvPr/>
        </p:nvSpPr>
        <p:spPr>
          <a:xfrm>
            <a:off x="841320" y="203004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Question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Rectangle 7"/>
          <p:cNvSpPr/>
          <p:nvPr/>
        </p:nvSpPr>
        <p:spPr>
          <a:xfrm>
            <a:off x="3383280" y="2011680"/>
            <a:ext cx="2628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3" name="TextBox 8"/>
          <p:cNvSpPr/>
          <p:nvPr/>
        </p:nvSpPr>
        <p:spPr>
          <a:xfrm>
            <a:off x="3493080" y="203004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Quantité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Rectangle 9"/>
          <p:cNvSpPr/>
          <p:nvPr/>
        </p:nvSpPr>
        <p:spPr>
          <a:xfrm>
            <a:off x="6035040" y="2011680"/>
            <a:ext cx="2628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5" name="TextBox 10"/>
          <p:cNvSpPr/>
          <p:nvPr/>
        </p:nvSpPr>
        <p:spPr>
          <a:xfrm>
            <a:off x="6144840" y="203004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Évidence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Rectangle 11"/>
          <p:cNvSpPr/>
          <p:nvPr/>
        </p:nvSpPr>
        <p:spPr>
          <a:xfrm>
            <a:off x="8686800" y="2011680"/>
            <a:ext cx="2628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7" name="TextBox 12"/>
          <p:cNvSpPr/>
          <p:nvPr/>
        </p:nvSpPr>
        <p:spPr>
          <a:xfrm>
            <a:off x="8796600" y="203004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Décision suivante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Rectangle 13"/>
          <p:cNvSpPr/>
          <p:nvPr/>
        </p:nvSpPr>
        <p:spPr>
          <a:xfrm>
            <a:off x="731520" y="2724840"/>
            <a:ext cx="2628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9" name="TextBox 14"/>
          <p:cNvSpPr/>
          <p:nvPr/>
        </p:nvSpPr>
        <p:spPr>
          <a:xfrm>
            <a:off x="841320" y="274320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Ce qui doit être comparé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Rectangle 15"/>
          <p:cNvSpPr/>
          <p:nvPr/>
        </p:nvSpPr>
        <p:spPr>
          <a:xfrm>
            <a:off x="3383280" y="2724840"/>
            <a:ext cx="2628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1" name="TextBox 16"/>
          <p:cNvSpPr/>
          <p:nvPr/>
        </p:nvSpPr>
        <p:spPr>
          <a:xfrm>
            <a:off x="3493080" y="274320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Différence ou distance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Rectangle 17"/>
          <p:cNvSpPr/>
          <p:nvPr/>
        </p:nvSpPr>
        <p:spPr>
          <a:xfrm>
            <a:off x="6035040" y="2724840"/>
            <a:ext cx="2628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3" name="TextBox 18"/>
          <p:cNvSpPr/>
          <p:nvPr/>
        </p:nvSpPr>
        <p:spPr>
          <a:xfrm>
            <a:off x="6144840" y="274320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IC ou test adapté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Rectangle 19"/>
          <p:cNvSpPr/>
          <p:nvPr/>
        </p:nvSpPr>
        <p:spPr>
          <a:xfrm>
            <a:off x="8686800" y="2724840"/>
            <a:ext cx="2628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5" name="TextBox 20"/>
          <p:cNvSpPr/>
          <p:nvPr/>
        </p:nvSpPr>
        <p:spPr>
          <a:xfrm>
            <a:off x="8796600" y="2743200"/>
            <a:ext cx="2431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Seuil pratique + limites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Rectangle 21"/>
          <p:cNvSpPr/>
          <p:nvPr/>
        </p:nvSpPr>
        <p:spPr>
          <a:xfrm>
            <a:off x="749880" y="6071760"/>
            <a:ext cx="45360" cy="347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7" name="TextBox 22"/>
          <p:cNvSpPr/>
          <p:nvPr/>
        </p:nvSpPr>
        <p:spPr>
          <a:xfrm>
            <a:off x="941760" y="605340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Décrire → quantifier → évaluer l'incertitude → interpréter l'ampleur → annoncer les limites.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Box 23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OLIVIER DELRIEU  /  29.09 + 01.10.2026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Box 24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50 / 50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Olivier Delrieu</dc:creator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>Du projet gaussien à la comparaison statistique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