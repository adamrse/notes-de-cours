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f77QYnmPC4SxftZuyERyM/LgC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49808" y="75895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ATELIER INDIVIDUEL · APRÈS-MIDI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749808" y="1408176"/>
            <a:ext cx="822960" cy="64008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808" y="1755648"/>
            <a:ext cx="10561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Choisir un exercice,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approfondir une compétence Python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49808" y="4005072"/>
            <a:ext cx="10561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Fonctions · classe et module · unittest · performance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49808" y="5010912"/>
            <a:ext cx="10561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Quatre options indépendantes ; une production courte et vérifiable.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01 / 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INDIVIDUEL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Choisir selon l’objectif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31520" y="1828800"/>
            <a:ext cx="5193792" cy="152704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31520" y="1828800"/>
            <a:ext cx="640080" cy="1527048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731520" y="22219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609344" y="2011680"/>
            <a:ext cx="4041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609344" y="2487168"/>
            <a:ext cx="4041648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Nettoyer quatre valeurs et calculer une proportion.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245352" y="1828800"/>
            <a:ext cx="5193792" cy="152704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245352" y="1828800"/>
            <a:ext cx="640080" cy="1527048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45352" y="22219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123176" y="2011680"/>
            <a:ext cx="4041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CLASSE + MODULE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123176" y="2487168"/>
            <a:ext cx="4041648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Conserver trois températures puis importer la classe.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731520" y="3694176"/>
            <a:ext cx="5193792" cy="152704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731520" y="3694176"/>
            <a:ext cx="640080" cy="1527048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31520" y="408736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609344" y="3877056"/>
            <a:ext cx="4041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UNITTEST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609344" y="4352544"/>
            <a:ext cx="4041648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Spécifier trois comportements d’une fonction simple.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245352" y="3694176"/>
            <a:ext cx="5193792" cy="152704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245352" y="3694176"/>
            <a:ext cx="640080" cy="1527048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245352" y="408736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123176" y="3877056"/>
            <a:ext cx="4041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7123176" y="4352544"/>
            <a:ext cx="4041648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une boucle Python et un calcul NumPy.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713232" y="557784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905256" y="5577840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Choisir une option principale. Une seconde reste possible ensuite.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02 / 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INDIVIDUEL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contrat commun, trois preuves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31520" y="2011680"/>
            <a:ext cx="3264408" cy="2423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31520" y="2011680"/>
            <a:ext cx="50292" cy="24231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14400" y="2139696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PETITES DONNÉES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914400" y="2633472"/>
            <a:ext cx="2898648" cy="1691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entrée lisible et un résultat calculable à la main.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434840" y="2011680"/>
            <a:ext cx="3264408" cy="2423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434840" y="2011680"/>
            <a:ext cx="50292" cy="24231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617720" y="2139696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CODE CIBLÉ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4617720" y="2633472"/>
            <a:ext cx="2898648" cy="1691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Écrire uniquement les fonctions, la classe ou les tests demandés.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8138160" y="2011680"/>
            <a:ext cx="3264408" cy="2423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138160" y="2011680"/>
            <a:ext cx="50292" cy="242316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8321040" y="2139696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EXÉCUTION PROPRE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8321040" y="2633472"/>
            <a:ext cx="2898648" cy="1691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Relancer dans un noyau ou un processus neuf et conserver la preuve.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713232" y="509320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905256" y="5093208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Lire d’abord le résultat attendu ; coder ensuite ; vérifier enfin.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03 / 20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INDIVIDUEL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Quatre productions distinctes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41248" y="1828800"/>
            <a:ext cx="1188720" cy="694944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905256" y="1865376"/>
            <a:ext cx="10607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OPTION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2029968" y="1828800"/>
            <a:ext cx="2743200" cy="694944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2093976" y="1865376"/>
            <a:ext cx="26151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4773168" y="1828800"/>
            <a:ext cx="6446520" cy="694944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4837176" y="1865376"/>
            <a:ext cx="63185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841248" y="2523744"/>
            <a:ext cx="1188720" cy="69494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905256" y="2560320"/>
            <a:ext cx="10607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2029968" y="2523744"/>
            <a:ext cx="2743200" cy="69494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2093976" y="2560320"/>
            <a:ext cx="26151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Fonctions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4773168" y="2523744"/>
            <a:ext cx="6446520" cy="69494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837176" y="2560320"/>
            <a:ext cx="63185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notebook + 2 fonctions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841248" y="3218688"/>
            <a:ext cx="1188720" cy="69494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905256" y="3255264"/>
            <a:ext cx="10607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2029968" y="3218688"/>
            <a:ext cx="2743200" cy="69494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2093976" y="3255264"/>
            <a:ext cx="26151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Classe et module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773168" y="3218688"/>
            <a:ext cx="6446520" cy="69494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4837176" y="3255264"/>
            <a:ext cx="63185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temperature_tools.py + notebook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841248" y="3913632"/>
            <a:ext cx="1188720" cy="69494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905256" y="3950208"/>
            <a:ext cx="10607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2029968" y="3913632"/>
            <a:ext cx="2743200" cy="69494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2093976" y="3950208"/>
            <a:ext cx="26151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unittest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4773168" y="3913632"/>
            <a:ext cx="6446520" cy="69494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4837176" y="3950208"/>
            <a:ext cx="63185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delay_tools.py + test_delay_tools.py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841248" y="4608576"/>
            <a:ext cx="1188720" cy="69494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05256" y="4645152"/>
            <a:ext cx="10607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2029968" y="4608576"/>
            <a:ext cx="2743200" cy="69494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2093976" y="4645152"/>
            <a:ext cx="26151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4773168" y="4608576"/>
            <a:ext cx="6446520" cy="69494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4837176" y="4645152"/>
            <a:ext cx="63185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notebook + deux médianes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713232" y="5340096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905256" y="5340096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Chaque option est autonome : aucune arborescence complète n’est exigée.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04 / 20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749808" y="777240"/>
            <a:ext cx="9966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OPTION A · SLIDES 5–8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749808" y="1508760"/>
            <a:ext cx="749808" cy="59436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749808" y="182880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Deux fonctions dans un notebook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749808" y="3950208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Traiter des valeurs manquantes sans construire de classe ni de module.</a:t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05 / 20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OPTION A · DONNÉES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· Quatre durées, dont une valeur manquante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731520" y="1901952"/>
            <a:ext cx="4956048" cy="2176272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923544" y="2020824"/>
            <a:ext cx="4572000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pandas as pd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values = pd.Series(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[0, 120, pd.NA, 180],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dtype="Float64"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053328" y="1901952"/>
            <a:ext cx="5193792" cy="11430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053328" y="1901952"/>
            <a:ext cx="50292" cy="114300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6236208" y="2029968"/>
            <a:ext cx="48280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VALEURS CONNUES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6236208" y="2523744"/>
            <a:ext cx="4828031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0, 120 et 180 minutes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6053328" y="3246120"/>
            <a:ext cx="2450592" cy="11430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053328" y="3246120"/>
            <a:ext cx="50292" cy="114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6236208" y="3374136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MOYENNE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6236208" y="3867911"/>
            <a:ext cx="2084832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100 minutes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8796528" y="3246120"/>
            <a:ext cx="2450592" cy="11430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796528" y="3246120"/>
            <a:ext cx="50292" cy="114300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8979407" y="3374136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≥ 180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8979407" y="3867911"/>
            <a:ext cx="2084832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713232" y="5001768"/>
            <a:ext cx="50292" cy="621792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905256" y="5001768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Zéro est une valeur connue ; pd.NA ne participe pas au calcul.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06 / 20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OPTION A · FONCTIONS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· Deux fonctions, deux responsabilités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731520" y="1874519"/>
            <a:ext cx="5879592" cy="34747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923544" y="1993391"/>
            <a:ext cx="5495544" cy="323697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known_minutes(values: pd.Series) -&gt; pd.Series: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return values without NA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...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fraction_at_or_above(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values: pd.Series, threshold: float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 -&gt; float: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reuse known_minutes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...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903720" y="1874519"/>
            <a:ext cx="4361688" cy="129844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903720" y="1874519"/>
            <a:ext cx="50292" cy="1298448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7086600" y="2002536"/>
            <a:ext cx="39959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KNOWN_MINUTES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7086600" y="2496312"/>
            <a:ext cx="3995927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Retirer uniquement les valeurs manquantes.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903720" y="3410712"/>
            <a:ext cx="4361688" cy="148132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903720" y="3410712"/>
            <a:ext cx="50292" cy="1481328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7086600" y="3538728"/>
            <a:ext cx="39959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7086600" y="4032504"/>
            <a:ext cx="3995927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Compter les valeurs ≥ au seuil et diviser par le nombre connu.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713232" y="5577840"/>
            <a:ext cx="50292" cy="621792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905256" y="5577840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seuil est inclusif : 180 compte pour threshold=180.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07 / 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OPTION A · VALIDATION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· Vérifier directement les trois résultats</a:t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822960" y="1874519"/>
            <a:ext cx="6629400" cy="3511296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1014984" y="1993391"/>
            <a:ext cx="6245352" cy="32735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clean = known_minutes(values)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clean.tolist() == [0, 120, 180]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clean.mean() == 100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np.isclose(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fraction_at_or_above(values, 180), 1 / 3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754112" y="1874519"/>
            <a:ext cx="3456432" cy="1307592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7754112" y="1874519"/>
            <a:ext cx="50292" cy="1307592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7936992" y="200253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TERMINÉ</a:t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7936992" y="2496312"/>
            <a:ext cx="3090672" cy="576071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trois assertions s’exécutent sans erreur.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7754112" y="3438144"/>
            <a:ext cx="3456432" cy="1444752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754112" y="3438144"/>
            <a:ext cx="50292" cy="144475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7936992" y="356616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À EXPLIQUER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7936992" y="4059935"/>
            <a:ext cx="309067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Pourquoi zéro reste présent et NA disparaît.</a:t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713232" y="5614416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905256" y="5614416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Aucun fichier Python séparé n’est demandé dans cette option.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08 / 20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"/>
          <p:cNvSpPr txBox="1"/>
          <p:nvPr/>
        </p:nvSpPr>
        <p:spPr>
          <a:xfrm>
            <a:off x="749808" y="777240"/>
            <a:ext cx="9966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OPTION B · SLIDES 9–12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749808" y="1508760"/>
            <a:ext cx="749808" cy="59436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749808" y="182880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Une classe dans un module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749808" y="3950208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Construire une petite classe, la déplacer dans un fichier et l’importer.</a:t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09 / 20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OPTION B · CLASSE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 · Une classe qui conserve trois mesures</a:t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31520" y="1847088"/>
            <a:ext cx="6629400" cy="36118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923544" y="1965960"/>
            <a:ext cx="62454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TemperatureSeries: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__init__(self, fahrenheit: np.ndarray):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# store a float copy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...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celsius(self) -&gt; np.ndarray: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# (fahrenheit - 32) * 5 / 9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...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671816" y="1847088"/>
            <a:ext cx="3566160" cy="1234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671816" y="1847088"/>
            <a:ext cx="50292" cy="12344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7854696" y="197510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ENTRÉE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7854696" y="24688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np.array([32, 68, 86])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7671816" y="3346704"/>
            <a:ext cx="3566160" cy="1234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671816" y="3346704"/>
            <a:ext cx="50292" cy="123444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7854696" y="3474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SORTIE</a:t>
            </a:r>
            <a:endParaRPr/>
          </a:p>
        </p:txBody>
      </p:sp>
      <p:sp>
        <p:nvSpPr>
          <p:cNvPr id="298" name="Google Shape;298;p10"/>
          <p:cNvSpPr txBox="1"/>
          <p:nvPr/>
        </p:nvSpPr>
        <p:spPr>
          <a:xfrm>
            <a:off x="7854696" y="396849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np.array([0, 20, 30])</a:t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13232" y="562356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905256" y="5623560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classe copie l’entrée afin de conserver son propre état.</a:t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10 / 20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OPTION B · ARCHITECTURE</a:t>
            </a:r>
            <a:endParaRPr/>
          </a:p>
        </p:txBody>
      </p:sp>
      <p:sp>
        <p:nvSpPr>
          <p:cNvPr id="309" name="Google Shape;309;p11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 · Le module définit ; le notebook appelle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731520" y="1719072"/>
            <a:ext cx="5047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temperature_tools.py</a:t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731520" y="2176272"/>
            <a:ext cx="5047488" cy="2340864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923544" y="2295144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TemperatureSeries: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your completed class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...</a:t>
            </a:r>
            <a:endParaRPr/>
          </a:p>
        </p:txBody>
      </p:sp>
      <p:sp>
        <p:nvSpPr>
          <p:cNvPr id="314" name="Google Shape;314;p11"/>
          <p:cNvSpPr txBox="1"/>
          <p:nvPr/>
        </p:nvSpPr>
        <p:spPr>
          <a:xfrm>
            <a:off x="6217920" y="1719072"/>
            <a:ext cx="5047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explore.ipynb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217920" y="2176272"/>
            <a:ext cx="5047488" cy="2340864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6409944" y="2295144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temperature_tools as tt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series = tt.TemperatureSeries(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np.array([32, 68, 86])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series.celsius()</a:t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713232" y="500176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905256" y="5001768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deux fichiers sont dans le même dossier ; la classe n’est pas recopiée.</a:t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11 / 20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OPTION B · VALIDATION</a:t>
            </a:r>
            <a:endParaRPr/>
          </a:p>
        </p:txBody>
      </p:sp>
      <p:sp>
        <p:nvSpPr>
          <p:cNvPr id="327" name="Google Shape;327;p12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 · Trois preuves suffisent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731520" y="2029968"/>
            <a:ext cx="3264408" cy="2423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731520" y="2029968"/>
            <a:ext cx="50292" cy="24231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 txBox="1"/>
          <p:nvPr/>
        </p:nvSpPr>
        <p:spPr>
          <a:xfrm>
            <a:off x="914400" y="2157984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FICHIER</a:t>
            </a:r>
            <a:endParaRPr/>
          </a:p>
        </p:txBody>
      </p:sp>
      <p:sp>
        <p:nvSpPr>
          <p:cNvPr id="332" name="Google Shape;332;p12"/>
          <p:cNvSpPr txBox="1"/>
          <p:nvPr/>
        </p:nvSpPr>
        <p:spPr>
          <a:xfrm>
            <a:off x="914400" y="2651760"/>
            <a:ext cx="2898648" cy="1691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temperature_tools.py contient la seule définition de la classe.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434840" y="2029968"/>
            <a:ext cx="3264408" cy="2423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434840" y="2029968"/>
            <a:ext cx="50292" cy="24231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4617720" y="2157984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endParaRPr/>
          </a:p>
        </p:txBody>
      </p:sp>
      <p:sp>
        <p:nvSpPr>
          <p:cNvPr id="336" name="Google Shape;336;p12"/>
          <p:cNvSpPr txBox="1"/>
          <p:nvPr/>
        </p:nvSpPr>
        <p:spPr>
          <a:xfrm>
            <a:off x="4617720" y="2651760"/>
            <a:ext cx="2898648" cy="1691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Après redémarrage, le notebook importe le module sans cellule préalable.</a:t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8138160" y="2029968"/>
            <a:ext cx="3264408" cy="2423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138160" y="2029968"/>
            <a:ext cx="50292" cy="242316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8321040" y="2157984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RÉSULTAT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8321040" y="2651760"/>
            <a:ext cx="2898648" cy="1691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np.allclose(series.celsius(), [0, 20, 30]) est vrai.</a:t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713232" y="512064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905256" y="5120640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Afficher tt.__file__ pour confirmer quel fichier a été importé.</a:t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12 / 20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 txBox="1"/>
          <p:nvPr/>
        </p:nvSpPr>
        <p:spPr>
          <a:xfrm>
            <a:off x="749808" y="777240"/>
            <a:ext cx="9966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OPTION C · SLIDES 13–16</a:t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749808" y="1508760"/>
            <a:ext cx="749808" cy="59436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749808" y="182880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Trois tests unitaires</a:t>
            </a:r>
            <a:endParaRPr/>
          </a:p>
        </p:txBody>
      </p:sp>
      <p:sp>
        <p:nvSpPr>
          <p:cNvPr id="353" name="Google Shape;353;p13"/>
          <p:cNvSpPr txBox="1"/>
          <p:nvPr/>
        </p:nvSpPr>
        <p:spPr>
          <a:xfrm>
            <a:off x="749808" y="3950208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Écrire une fonction scalaire, puis formaliser ses trois comportements.</a:t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356" name="Google Shape;356;p13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13 / 20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OPTION C · FONCTION</a:t>
            </a:r>
            <a:endParaRPr/>
          </a:p>
        </p:txBody>
      </p:sp>
      <p:sp>
        <p:nvSpPr>
          <p:cNvPr id="362" name="Google Shape;362;p14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 · Une fonction et trois cas métier</a:t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731520" y="1901952"/>
            <a:ext cx="5212080" cy="2542032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923544" y="2020824"/>
            <a:ext cx="4828032" cy="2304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delay_minutes(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actual: int, promised: int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 -&gt; int: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never return a negative delay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...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6263640" y="1901952"/>
            <a:ext cx="1481328" cy="603504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 txBox="1"/>
          <p:nvPr/>
        </p:nvSpPr>
        <p:spPr>
          <a:xfrm>
            <a:off x="6327648" y="1938528"/>
            <a:ext cx="135331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7744967" y="1901952"/>
            <a:ext cx="1755648" cy="603504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7808975" y="1938528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PROMISED</a:t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9500615" y="1901952"/>
            <a:ext cx="1755648" cy="603504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9564624" y="1938528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RÉSULTAT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263640" y="2505456"/>
            <a:ext cx="1481328" cy="60350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 txBox="1"/>
          <p:nvPr/>
        </p:nvSpPr>
        <p:spPr>
          <a:xfrm>
            <a:off x="6327648" y="2542032"/>
            <a:ext cx="135331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7744967" y="2505456"/>
            <a:ext cx="1755648" cy="60350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7808975" y="2542032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9500615" y="2505456"/>
            <a:ext cx="1755648" cy="60350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9564624" y="2542032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6263640" y="3108960"/>
            <a:ext cx="1481328" cy="60350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 txBox="1"/>
          <p:nvPr/>
        </p:nvSpPr>
        <p:spPr>
          <a:xfrm>
            <a:off x="6327648" y="3145536"/>
            <a:ext cx="135331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7744967" y="3108960"/>
            <a:ext cx="1755648" cy="60350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 txBox="1"/>
          <p:nvPr/>
        </p:nvSpPr>
        <p:spPr>
          <a:xfrm>
            <a:off x="7808975" y="3145536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9500615" y="3108960"/>
            <a:ext cx="1755648" cy="603504"/>
          </a:xfrm>
          <a:prstGeom prst="rect">
            <a:avLst/>
          </a:prstGeom>
          <a:solidFill>
            <a:srgbClr val="F1F5F7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9564624" y="3145536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6263640" y="3712464"/>
            <a:ext cx="1481328" cy="60350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6327648" y="3749040"/>
            <a:ext cx="135331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7744967" y="3712464"/>
            <a:ext cx="1755648" cy="60350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7808975" y="3749040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9500615" y="3712464"/>
            <a:ext cx="1755648" cy="603504"/>
          </a:xfrm>
          <a:prstGeom prst="rect">
            <a:avLst/>
          </a:prstGeom>
          <a:solidFill>
            <a:srgbClr val="FCFCFB"/>
          </a:solidFill>
          <a:ln cap="flat" cmpd="sng" w="12700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9564624" y="3749040"/>
            <a:ext cx="1627631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713232" y="5074920"/>
            <a:ext cx="50292" cy="621792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905256" y="5074920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expression avec max(...) suffit ; aucune classe n’est demandée.</a:t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394" name="Google Shape;394;p14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14 / 20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OPTION C · UNITTEST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 · Le test importe la fonction réelle</a:t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731520" y="1719072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delay_tools.py</a:t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731520" y="2176272"/>
            <a:ext cx="4069080" cy="11887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923544" y="2295144"/>
            <a:ext cx="3685032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delay_minutes(actual, promised):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...</a:t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5138928" y="1719072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test_delay_tools.py</a:t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5138928" y="2176272"/>
            <a:ext cx="6126480" cy="3182112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5330952" y="2295144"/>
            <a:ext cx="5742432" cy="29443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unittest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from delay_tools import delay_minutes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TestDelay(unittest.TestCase):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test_early(self):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self.assertEqual(delay_minutes(25, 30), ...)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test_exact(self):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self.assertEqual(delay_minutes(45, 45), ...)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test_late(self):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self.assertEqual(delay_minutes(42, 30), ...)</a:t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713232" y="5605272"/>
            <a:ext cx="50292" cy="621792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 txBox="1"/>
          <p:nvPr/>
        </p:nvSpPr>
        <p:spPr>
          <a:xfrm>
            <a:off x="905256" y="5605272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points de suspension sont les trois résultats du tableau précédent.</a:t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15 / 20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OPTION C · VALIDATION</a:t>
            </a:r>
            <a:endParaRPr/>
          </a:p>
        </p:txBody>
      </p:sp>
      <p:sp>
        <p:nvSpPr>
          <p:cNvPr id="418" name="Google Shape;418;p16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 · Exécuter depuis le dossier des deux fichiers</a:t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847088" y="1920240"/>
            <a:ext cx="8503920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2039112" y="2039112"/>
            <a:ext cx="8119872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python -m unittest -v</a:t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731520" y="3337560"/>
            <a:ext cx="3264408" cy="157276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731520" y="3337560"/>
            <a:ext cx="50292" cy="1572768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 txBox="1"/>
          <p:nvPr/>
        </p:nvSpPr>
        <p:spPr>
          <a:xfrm>
            <a:off x="914400" y="3465576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3 TESTS</a:t>
            </a:r>
            <a:endParaRPr/>
          </a:p>
        </p:txBody>
      </p:sp>
      <p:sp>
        <p:nvSpPr>
          <p:cNvPr id="425" name="Google Shape;425;p16"/>
          <p:cNvSpPr txBox="1"/>
          <p:nvPr/>
        </p:nvSpPr>
        <p:spPr>
          <a:xfrm>
            <a:off x="914400" y="3959352"/>
            <a:ext cx="2898648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trois méthodes commencent par test_.</a:t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4434840" y="3337560"/>
            <a:ext cx="3264408" cy="157276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434840" y="3337560"/>
            <a:ext cx="50292" cy="1572768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 txBox="1"/>
          <p:nvPr/>
        </p:nvSpPr>
        <p:spPr>
          <a:xfrm>
            <a:off x="4617720" y="3465576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/>
          </a:p>
        </p:txBody>
      </p:sp>
      <p:sp>
        <p:nvSpPr>
          <p:cNvPr id="429" name="Google Shape;429;p16"/>
          <p:cNvSpPr txBox="1"/>
          <p:nvPr/>
        </p:nvSpPr>
        <p:spPr>
          <a:xfrm>
            <a:off x="4617720" y="3959352"/>
            <a:ext cx="2898648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commande termine sans échec.</a:t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8138160" y="3337560"/>
            <a:ext cx="3264408" cy="157276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8138160" y="3337560"/>
            <a:ext cx="50292" cy="1572768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8321040" y="3465576"/>
            <a:ext cx="2898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endParaRPr/>
          </a:p>
        </p:txBody>
      </p:sp>
      <p:sp>
        <p:nvSpPr>
          <p:cNvPr id="433" name="Google Shape;433;p16"/>
          <p:cNvSpPr txBox="1"/>
          <p:nvPr/>
        </p:nvSpPr>
        <p:spPr>
          <a:xfrm>
            <a:off x="8321040" y="3959352"/>
            <a:ext cx="2898648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test utilise delay_tools.py, sans recopier la fonction.</a:t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713232" y="532180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 txBox="1"/>
          <p:nvPr/>
        </p:nvSpPr>
        <p:spPr>
          <a:xfrm>
            <a:off x="905256" y="5321808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Si un test échoue, corriger d’abord le premier message affiché.</a:t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438" name="Google Shape;438;p16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16 / 20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7"/>
          <p:cNvSpPr txBox="1"/>
          <p:nvPr/>
        </p:nvSpPr>
        <p:spPr>
          <a:xfrm>
            <a:off x="749808" y="777240"/>
            <a:ext cx="9966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OPTION D · SLIDES 17–19</a:t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749808" y="1508760"/>
            <a:ext cx="749808" cy="59436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749808" y="182880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Boucle Python ou NumPy</a:t>
            </a:r>
            <a:endParaRPr/>
          </a:p>
        </p:txBody>
      </p:sp>
      <p:sp>
        <p:nvSpPr>
          <p:cNvPr id="446" name="Google Shape;446;p17"/>
          <p:cNvSpPr txBox="1"/>
          <p:nvPr/>
        </p:nvSpPr>
        <p:spPr>
          <a:xfrm>
            <a:off x="749808" y="3950208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Comparer deux implémentations du même calcul après avoir vérifié leurs résultats.</a:t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449" name="Google Shape;449;p17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17 / 20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OPTION D · IMPLÉMENTATIONS</a:t>
            </a:r>
            <a:endParaRPr/>
          </a:p>
        </p:txBody>
      </p:sp>
      <p:sp>
        <p:nvSpPr>
          <p:cNvPr id="455" name="Google Shape;455;p18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 · Deux chemins pour diviser par 60</a:t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731520" y="1847088"/>
            <a:ext cx="5285232" cy="3273552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 txBox="1"/>
          <p:nvPr/>
        </p:nvSpPr>
        <p:spPr>
          <a:xfrm>
            <a:off x="923544" y="1965960"/>
            <a:ext cx="4901184" cy="30358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timeit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loop_hours(values: list[float]) -&gt; list[float]: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result = []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for value in values: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# append value / 60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...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return result</a:t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6291072" y="1847088"/>
            <a:ext cx="4974336" cy="1874519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 txBox="1"/>
          <p:nvPr/>
        </p:nvSpPr>
        <p:spPr>
          <a:xfrm>
            <a:off x="6483096" y="1965960"/>
            <a:ext cx="4590288" cy="1636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numpy_hours(values: np.ndarray) -&gt; np.ndarray: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return the vectorized calculation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...</a:t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6291072" y="3977639"/>
            <a:ext cx="4974336" cy="11430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6291072" y="3977639"/>
            <a:ext cx="50292" cy="114300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6473952" y="4105655"/>
            <a:ext cx="46085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endParaRPr/>
          </a:p>
        </p:txBody>
      </p:sp>
      <p:sp>
        <p:nvSpPr>
          <p:cNvPr id="464" name="Google Shape;464;p18"/>
          <p:cNvSpPr txBox="1"/>
          <p:nvPr/>
        </p:nvSpPr>
        <p:spPr>
          <a:xfrm>
            <a:off x="6473952" y="4599431"/>
            <a:ext cx="4608576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values = np.arange(300_000, dtype=float)</a:t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713232" y="553212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 txBox="1"/>
          <p:nvPr/>
        </p:nvSpPr>
        <p:spPr>
          <a:xfrm>
            <a:off x="905256" y="5532120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deux fonctions appliquent exactement value / 60.</a:t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469" name="Google Shape;469;p18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18 / 20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9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OPTION D · BENCHMARK</a:t>
            </a:r>
            <a:endParaRPr/>
          </a:p>
        </p:txBody>
      </p:sp>
      <p:sp>
        <p:nvSpPr>
          <p:cNvPr id="475" name="Google Shape;475;p19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 · Vérifier, puis mesurer</a:t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658368" y="1719072"/>
            <a:ext cx="7479792" cy="3858768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850392" y="1837943"/>
            <a:ext cx="7095744" cy="362102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values = np.arange(300_000, dtype=float)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list_values = values.tolist()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loop_result = loop_hours(list_values)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numpy_result = numpy_hours(values)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np.allclose(loop_result, numpy_result)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loop_times = timeit.repeat(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lambda: loop_hours(list_values), repeat=5, number=1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numpy_times = timeit.repeat(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lambda: numpy_hours(values), repeat=5, number=1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print(np.median(loop_times), np.median(numpy_times))</a:t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8430768" y="1719072"/>
            <a:ext cx="2788920" cy="1335024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430768" y="1719072"/>
            <a:ext cx="50292" cy="1335024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 txBox="1"/>
          <p:nvPr/>
        </p:nvSpPr>
        <p:spPr>
          <a:xfrm>
            <a:off x="8613648" y="184708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À RAPPORTER</a:t>
            </a:r>
            <a:endParaRPr/>
          </a:p>
        </p:txBody>
      </p:sp>
      <p:sp>
        <p:nvSpPr>
          <p:cNvPr id="482" name="Google Shape;482;p19"/>
          <p:cNvSpPr txBox="1"/>
          <p:nvPr/>
        </p:nvSpPr>
        <p:spPr>
          <a:xfrm>
            <a:off x="8613648" y="2340864"/>
            <a:ext cx="2423160" cy="603503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Médiane boucle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Médiane NumPy</a:t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8430768" y="3346704"/>
            <a:ext cx="2788920" cy="1572768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8430768" y="3346704"/>
            <a:ext cx="50292" cy="1572768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8613648" y="34747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486" name="Google Shape;486;p19"/>
          <p:cNvSpPr txBox="1"/>
          <p:nvPr/>
        </p:nvSpPr>
        <p:spPr>
          <a:xfrm>
            <a:off x="8613648" y="3968496"/>
            <a:ext cx="2423160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phrase limitée à cette machine, cette taille et ce calcul.</a:t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713232" y="5632704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 txBox="1"/>
          <p:nvPr/>
        </p:nvSpPr>
        <p:spPr>
          <a:xfrm>
            <a:off x="905256" y="5632704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Créer les données avant la mesure ; l’assertion précède toujours timeit.</a:t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491" name="Google Shape;491;p19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19 / 20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0"/>
          <p:cNvSpPr txBox="1"/>
          <p:nvPr/>
        </p:nvSpPr>
        <p:spPr>
          <a:xfrm>
            <a:off x="658368" y="24688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497" name="Google Shape;497;p20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Terminer l’option par une preuve courte</a:t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731520" y="1920240"/>
            <a:ext cx="5193792" cy="1280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731520" y="1920240"/>
            <a:ext cx="50292" cy="12801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 txBox="1"/>
          <p:nvPr/>
        </p:nvSpPr>
        <p:spPr>
          <a:xfrm>
            <a:off x="914400" y="2048256"/>
            <a:ext cx="48280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 · FONCTIONS</a:t>
            </a:r>
            <a:endParaRPr/>
          </a:p>
        </p:txBody>
      </p:sp>
      <p:sp>
        <p:nvSpPr>
          <p:cNvPr id="502" name="Google Shape;502;p20"/>
          <p:cNvSpPr txBox="1"/>
          <p:nvPr/>
        </p:nvSpPr>
        <p:spPr>
          <a:xfrm>
            <a:off x="914400" y="2542032"/>
            <a:ext cx="482803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Trois assertions passent.</a:t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6245352" y="1920240"/>
            <a:ext cx="5193792" cy="1280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6245352" y="1920240"/>
            <a:ext cx="50292" cy="12801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6428232" y="2048256"/>
            <a:ext cx="48280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B · MODULE</a:t>
            </a:r>
            <a:endParaRPr/>
          </a:p>
        </p:txBody>
      </p:sp>
      <p:sp>
        <p:nvSpPr>
          <p:cNvPr id="506" name="Google Shape;506;p20"/>
          <p:cNvSpPr txBox="1"/>
          <p:nvPr/>
        </p:nvSpPr>
        <p:spPr>
          <a:xfrm>
            <a:off x="6428232" y="2542032"/>
            <a:ext cx="482803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Import neuf + résultat [0, 20, 30].</a:t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731520" y="3547872"/>
            <a:ext cx="5193792" cy="1280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731520" y="3547872"/>
            <a:ext cx="50292" cy="128016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914400" y="3675887"/>
            <a:ext cx="48280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87C72"/>
                </a:solidFill>
                <a:latin typeface="Arial"/>
                <a:ea typeface="Arial"/>
                <a:cs typeface="Arial"/>
                <a:sym typeface="Arial"/>
              </a:rPr>
              <a:t>C · UNITTEST</a:t>
            </a:r>
            <a:endParaRPr/>
          </a:p>
        </p:txBody>
      </p:sp>
      <p:sp>
        <p:nvSpPr>
          <p:cNvPr id="510" name="Google Shape;510;p20"/>
          <p:cNvSpPr txBox="1"/>
          <p:nvPr/>
        </p:nvSpPr>
        <p:spPr>
          <a:xfrm>
            <a:off x="914400" y="4169663"/>
            <a:ext cx="482803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Trois tests terminent par OK.</a:t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6245352" y="3547872"/>
            <a:ext cx="5193792" cy="1280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6245352" y="3547872"/>
            <a:ext cx="50292" cy="12801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 txBox="1"/>
          <p:nvPr/>
        </p:nvSpPr>
        <p:spPr>
          <a:xfrm>
            <a:off x="6428232" y="3675887"/>
            <a:ext cx="48280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 · PERFORMANCE</a:t>
            </a:r>
            <a:endParaRPr/>
          </a:p>
        </p:txBody>
      </p:sp>
      <p:sp>
        <p:nvSpPr>
          <p:cNvPr id="514" name="Google Shape;514;p20"/>
          <p:cNvSpPr txBox="1"/>
          <p:nvPr/>
        </p:nvSpPr>
        <p:spPr>
          <a:xfrm>
            <a:off x="6428232" y="4169663"/>
            <a:ext cx="4828031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Résultats égaux + deux médianes.</a:t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713232" y="534924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 txBox="1"/>
          <p:nvPr/>
        </p:nvSpPr>
        <p:spPr>
          <a:xfrm>
            <a:off x="905256" y="5349240"/>
            <a:ext cx="105338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Conserver les fichiers et une phrase expliquant le résultat obtenu.</a:t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 txBox="1"/>
          <p:nvPr/>
        </p:nvSpPr>
        <p:spPr>
          <a:xfrm>
            <a:off x="667512" y="644652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ATELIER INDIVIDUEL  /  22.09.2026</a:t>
            </a:r>
            <a:endParaRPr/>
          </a:p>
        </p:txBody>
      </p:sp>
      <p:sp>
        <p:nvSpPr>
          <p:cNvPr id="519" name="Google Shape;519;p20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20 / 20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