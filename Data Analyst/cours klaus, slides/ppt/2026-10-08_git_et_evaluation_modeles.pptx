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jXFWVBHWHxnO6BS7/AbXyv4WhB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1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4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5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5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5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5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5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5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5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5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59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59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59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59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5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5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5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6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6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6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61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6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6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6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2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62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6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6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6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63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6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6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6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4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64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6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6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6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65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65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6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6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6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6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6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6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7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67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67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6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6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6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8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68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68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6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6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6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G404-DataAnalyst/atelier-git-2026.gi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numpy.org/doc/stable/reference/generated/numpy.polyfit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OLIVIER DELRIEU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777240" y="1828800"/>
            <a:ext cx="1078956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Travailler avec Git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 évaluer une prédiction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804600" y="4114800"/>
            <a:ext cx="1051524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Du fichier partagé au modèle vérifié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Jeudi 8 octobre 2026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/ 56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LE PARCOURS DU JEUDI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 que vous allez réaliser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94360" y="2084760"/>
            <a:ext cx="352008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777240" y="2350080"/>
            <a:ext cx="31543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PARTAGER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777240" y="3099960"/>
            <a:ext cx="315432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Publier une modification et récupérer celle d'un collègue.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334400" y="2084760"/>
            <a:ext cx="352008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17280" y="2350080"/>
            <a:ext cx="31543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COMPARER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517280" y="3099960"/>
            <a:ext cx="315432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Choisir un modèle à partir de ses erreurs sur d'autres observations.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074080" y="2084760"/>
            <a:ext cx="352008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8256960" y="2350080"/>
            <a:ext cx="31543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INTERPRÉTER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8256960" y="3099960"/>
            <a:ext cx="315432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Reprendre l'enquête âge–achats dans un notebook d'exercice.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Supports : guides/GIT_PRACTICE.md et notebooks/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LES OUTILS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Google/One/DropBox Drive et Git : deux rôles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94360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1" name="Google Shape;111;p3"/>
          <p:cNvSpPr txBox="1"/>
          <p:nvPr/>
        </p:nvSpPr>
        <p:spPr>
          <a:xfrm>
            <a:off x="777240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SYNCHRONISATION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77240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Google/One/DropBox Drive actualise les fichiers entre emplacements connectés.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204204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4" name="Google Shape;114;p3"/>
          <p:cNvSpPr txBox="1"/>
          <p:nvPr/>
        </p:nvSpPr>
        <p:spPr>
          <a:xfrm>
            <a:off x="6387084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BASE LOCALE DE VERSIONS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387084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Git gère dans .git une base locale : contenu des fichiers, commits et liens entre versions.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7" name="Google Shape;117;p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 l’analyste : travailler sur des fichiers, préparer une version, puis l’inscrire dans l’historique local.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 / 56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 commit ajoute une version à l’historique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94360" y="1993320"/>
            <a:ext cx="6766200" cy="362052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04600" y="2094120"/>
            <a:ext cx="6263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SCHÉMA · VERSIONS RÉCENTES EN HAUT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 flipH="1" rot="10800000">
            <a:off x="1170360" y="4480560"/>
            <a:ext cx="360" cy="6584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4"/>
          <p:cNvCxnSpPr/>
          <p:nvPr/>
        </p:nvCxnSpPr>
        <p:spPr>
          <a:xfrm flipH="1" rot="10800000">
            <a:off x="1170360" y="3163680"/>
            <a:ext cx="360" cy="13172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4"/>
          <p:cNvSpPr/>
          <p:nvPr/>
        </p:nvSpPr>
        <p:spPr>
          <a:xfrm>
            <a:off x="1005840" y="497448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005840" y="499716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532960" y="498348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Créer les fichiers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05840" y="431604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05840" y="433872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532960" y="432504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les données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05840" y="299916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05840" y="302220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532960" y="300852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Préciser le README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44040" y="3008520"/>
            <a:ext cx="1023840" cy="319680"/>
          </a:xfrm>
          <a:prstGeom prst="rect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062400" y="302220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653600" y="2048400"/>
            <a:ext cx="3867480" cy="3638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 point = un commit : une version enregistrée du projet.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 trait relie un commit à son parent, la version précédente.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Après le commit C, le repère main passe de B à C.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commit enregistre le contenu sélectionné avec add. Les versions A et B restent accessibles.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Deux branches poursuivent un historique commun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94360" y="1993320"/>
            <a:ext cx="6766200" cy="362052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04600" y="2094120"/>
            <a:ext cx="6263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SCHÉMA · VERSIONS RÉCENTES EN HAUT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 flipH="1" rot="10800000">
            <a:off x="1170360" y="4480560"/>
            <a:ext cx="360" cy="6584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5"/>
          <p:cNvCxnSpPr/>
          <p:nvPr/>
        </p:nvCxnSpPr>
        <p:spPr>
          <a:xfrm flipH="1" rot="10800000">
            <a:off x="1170360" y="3163680"/>
            <a:ext cx="360" cy="13172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5"/>
          <p:cNvCxnSpPr/>
          <p:nvPr/>
        </p:nvCxnSpPr>
        <p:spPr>
          <a:xfrm flipH="1" rot="10800000">
            <a:off x="1170360" y="4160520"/>
            <a:ext cx="859680" cy="32040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5"/>
          <p:cNvCxnSpPr/>
          <p:nvPr/>
        </p:nvCxnSpPr>
        <p:spPr>
          <a:xfrm flipH="1" rot="10800000">
            <a:off x="2029680" y="3822120"/>
            <a:ext cx="360" cy="33876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1005840" y="497448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005840" y="499716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532960" y="498348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Créer les fichiers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005840" y="431604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005840" y="433872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532960" y="432504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les données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05840" y="299916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005840" y="302220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532960" y="300852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Préciser le README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865520" y="3657600"/>
            <a:ext cx="328680" cy="328680"/>
          </a:xfrm>
          <a:prstGeom prst="ellipse">
            <a:avLst/>
          </a:prstGeom>
          <a:solidFill>
            <a:srgbClr val="5DDFC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865520" y="368028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532960" y="366660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un graphique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044040" y="3008520"/>
            <a:ext cx="1023840" cy="319680"/>
          </a:xfrm>
          <a:prstGeom prst="rect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62400" y="302220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044040" y="3666600"/>
            <a:ext cx="1023840" cy="319680"/>
          </a:xfrm>
          <a:prstGeom prst="rect">
            <a:avLst/>
          </a:prstGeom>
          <a:solidFill>
            <a:srgbClr val="5DDFC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062400" y="368028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essai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653600" y="2048400"/>
            <a:ext cx="3867480" cy="3638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Depuis B, main reçoit C et la branche essai reçoit 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branche est un repère vers un commit. Elle avance avec ses nouveaux commits.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 et B sont communs aux deux branches.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Tout cet historique peut exister dans un seul dépôt local. Une couleur ne représente pas une personne.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fusion réunit les deux contributions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94360" y="1993320"/>
            <a:ext cx="6766200" cy="362052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804600" y="2094120"/>
            <a:ext cx="6263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SCHÉMA · VERSIONS RÉCENTES EN HAUT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 flipH="1" rot="10800000">
            <a:off x="1170360" y="4480560"/>
            <a:ext cx="360" cy="6584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6"/>
          <p:cNvCxnSpPr/>
          <p:nvPr/>
        </p:nvCxnSpPr>
        <p:spPr>
          <a:xfrm flipH="1" rot="10800000">
            <a:off x="1170360" y="3163680"/>
            <a:ext cx="360" cy="13172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6"/>
          <p:cNvCxnSpPr/>
          <p:nvPr/>
        </p:nvCxnSpPr>
        <p:spPr>
          <a:xfrm flipH="1" rot="10800000">
            <a:off x="1170360" y="4160520"/>
            <a:ext cx="859680" cy="32040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6"/>
          <p:cNvCxnSpPr/>
          <p:nvPr/>
        </p:nvCxnSpPr>
        <p:spPr>
          <a:xfrm flipH="1" rot="10800000">
            <a:off x="2029680" y="3822120"/>
            <a:ext cx="360" cy="33876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6"/>
          <p:cNvCxnSpPr/>
          <p:nvPr/>
        </p:nvCxnSpPr>
        <p:spPr>
          <a:xfrm flipH="1" rot="10800000">
            <a:off x="1170360" y="2505240"/>
            <a:ext cx="360" cy="65880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6"/>
          <p:cNvCxnSpPr/>
          <p:nvPr/>
        </p:nvCxnSpPr>
        <p:spPr>
          <a:xfrm flipH="1" rot="10800000">
            <a:off x="2029680" y="2852640"/>
            <a:ext cx="360" cy="96984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6"/>
          <p:cNvCxnSpPr/>
          <p:nvPr/>
        </p:nvCxnSpPr>
        <p:spPr>
          <a:xfrm rot="10800000">
            <a:off x="1170360" y="2505240"/>
            <a:ext cx="859680" cy="34776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1005840" y="497448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005840" y="499716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532960" y="498348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Créer les fichiers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05840" y="431604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05840" y="433872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532960" y="432504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les données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05840" y="299916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005840" y="302220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532960" y="300852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Préciser le README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865520" y="3657600"/>
            <a:ext cx="328680" cy="328680"/>
          </a:xfrm>
          <a:prstGeom prst="ellipse">
            <a:avLst/>
          </a:prstGeom>
          <a:solidFill>
            <a:srgbClr val="5DDFC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865520" y="368028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532960" y="366660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un graphique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005840" y="2340720"/>
            <a:ext cx="328680" cy="328680"/>
          </a:xfrm>
          <a:prstGeom prst="ellipse">
            <a:avLst/>
          </a:prstGeom>
          <a:solidFill>
            <a:srgbClr val="FFD09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005840" y="236376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532960" y="235008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Réunir les changements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044040" y="2350080"/>
            <a:ext cx="1023840" cy="319680"/>
          </a:xfrm>
          <a:prstGeom prst="rect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062400" y="236376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044040" y="3666600"/>
            <a:ext cx="1023840" cy="319680"/>
          </a:xfrm>
          <a:prstGeom prst="rect">
            <a:avLst/>
          </a:prstGeom>
          <a:solidFill>
            <a:srgbClr val="5DDFC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062400" y="368028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essai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653600" y="2048400"/>
            <a:ext cx="3867480" cy="3638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Ici, les deux branches ont avancé depuis B.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 commit de fusion M a deux parents : C et 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pointe vers M ; essai reste sur 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 conserve les changements de C et D. Si des modifications sont incompatibles, il faut les résoudre.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6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Afficher l’historique dans VS Code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94360" y="1993320"/>
            <a:ext cx="6766200" cy="362052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04600" y="2094120"/>
            <a:ext cx="6263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SCHÉMA · VERSIONS RÉCENTES EN HAUT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7"/>
          <p:cNvCxnSpPr/>
          <p:nvPr/>
        </p:nvCxnSpPr>
        <p:spPr>
          <a:xfrm flipH="1" rot="10800000">
            <a:off x="1170360" y="4480560"/>
            <a:ext cx="360" cy="6584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7"/>
          <p:cNvCxnSpPr/>
          <p:nvPr/>
        </p:nvCxnSpPr>
        <p:spPr>
          <a:xfrm flipH="1" rot="10800000">
            <a:off x="1170360" y="3163680"/>
            <a:ext cx="360" cy="131724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7"/>
          <p:cNvCxnSpPr/>
          <p:nvPr/>
        </p:nvCxnSpPr>
        <p:spPr>
          <a:xfrm flipH="1" rot="10800000">
            <a:off x="1170360" y="4160520"/>
            <a:ext cx="859680" cy="32040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7"/>
          <p:cNvCxnSpPr/>
          <p:nvPr/>
        </p:nvCxnSpPr>
        <p:spPr>
          <a:xfrm flipH="1" rot="10800000">
            <a:off x="2029680" y="3822120"/>
            <a:ext cx="360" cy="33876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7"/>
          <p:cNvCxnSpPr/>
          <p:nvPr/>
        </p:nvCxnSpPr>
        <p:spPr>
          <a:xfrm flipH="1" rot="10800000">
            <a:off x="1170360" y="2505240"/>
            <a:ext cx="360" cy="658800"/>
          </a:xfrm>
          <a:prstGeom prst="straightConnector1">
            <a:avLst/>
          </a:prstGeom>
          <a:noFill/>
          <a:ln cap="flat" cmpd="sng" w="38100">
            <a:solidFill>
              <a:srgbClr val="87C6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7"/>
          <p:cNvCxnSpPr/>
          <p:nvPr/>
        </p:nvCxnSpPr>
        <p:spPr>
          <a:xfrm flipH="1" rot="10800000">
            <a:off x="2029680" y="2852640"/>
            <a:ext cx="360" cy="96984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7"/>
          <p:cNvCxnSpPr/>
          <p:nvPr/>
        </p:nvCxnSpPr>
        <p:spPr>
          <a:xfrm rot="10800000">
            <a:off x="1170360" y="2505240"/>
            <a:ext cx="859680" cy="347760"/>
          </a:xfrm>
          <a:prstGeom prst="straightConnector1">
            <a:avLst/>
          </a:prstGeom>
          <a:noFill/>
          <a:ln cap="flat" cmpd="sng" w="38100">
            <a:solidFill>
              <a:srgbClr val="5DDF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7"/>
          <p:cNvSpPr/>
          <p:nvPr/>
        </p:nvSpPr>
        <p:spPr>
          <a:xfrm>
            <a:off x="1005840" y="497448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005840" y="499716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532960" y="498348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Créer les fichiers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005840" y="431604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005840" y="433872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532960" y="432504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les données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005840" y="2999160"/>
            <a:ext cx="328680" cy="328680"/>
          </a:xfrm>
          <a:prstGeom prst="ellipse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005840" y="302220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532960" y="300852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Préciser le README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1865520" y="3657600"/>
            <a:ext cx="328680" cy="328680"/>
          </a:xfrm>
          <a:prstGeom prst="ellipse">
            <a:avLst/>
          </a:prstGeom>
          <a:solidFill>
            <a:srgbClr val="5DDFC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865520" y="368028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532960" y="366660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Ajouter un graphique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005840" y="2340720"/>
            <a:ext cx="328680" cy="328680"/>
          </a:xfrm>
          <a:prstGeom prst="ellipse">
            <a:avLst/>
          </a:prstGeom>
          <a:solidFill>
            <a:srgbClr val="FFD09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005840" y="2363760"/>
            <a:ext cx="3286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2532960" y="2350080"/>
            <a:ext cx="3172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Réunir les changements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044040" y="2350080"/>
            <a:ext cx="1023840" cy="319680"/>
          </a:xfrm>
          <a:prstGeom prst="rect">
            <a:avLst/>
          </a:prstGeom>
          <a:solidFill>
            <a:srgbClr val="87C6F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062400" y="236376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044040" y="3666600"/>
            <a:ext cx="1023840" cy="319680"/>
          </a:xfrm>
          <a:prstGeom prst="rect">
            <a:avLst/>
          </a:prstGeom>
          <a:solidFill>
            <a:srgbClr val="5DDFC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062400" y="3680280"/>
            <a:ext cx="987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essai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653600" y="2048400"/>
            <a:ext cx="3867480" cy="3638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Ouvrir un dépôt Git dans VS Code.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Ctrl+Shift+G, puis ouvrir Source Control Graph.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Cliquer sur un commit, puis sur un fichier : lire ce qui a changé.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Autre vue : extension Git Graph (mhutchie) → Ctrl+Shift+P → « Git Graph: View Git Graph ».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7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GIT · DÉMONSTRATION LOCALE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Pratiquer Git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dans un dépôt local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Créer des commits, changer de branche et fusionner.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Démonstration au terminal : Bash ou PowerShell.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/ 56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COMPRENDRE OÙ SE TROUVE LE CONTENU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Git : une base locale et un flux de versions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621792" y="1819656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SUR VOTRE POSTE · Git gère la base de versions du projet dans .git.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94360" y="2450592"/>
            <a:ext cx="3063240" cy="222199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4" name="Google Shape;274;p9"/>
          <p:cNvSpPr txBox="1"/>
          <p:nvPr/>
        </p:nvSpPr>
        <p:spPr>
          <a:xfrm>
            <a:off x="731520" y="2633472"/>
            <a:ext cx="2788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FICHIERS DE TRAVAIL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731520" y="3364992"/>
            <a:ext cx="278892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CSV, script, notebook.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Contenu modifié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puis enregistré.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562856" y="2450592"/>
            <a:ext cx="3063240" cy="222199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7" name="Google Shape;277;p9"/>
          <p:cNvSpPr txBox="1"/>
          <p:nvPr/>
        </p:nvSpPr>
        <p:spPr>
          <a:xfrm>
            <a:off x="4700016" y="2633472"/>
            <a:ext cx="2788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ZONE DE PRÉPARATION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4700016" y="3364992"/>
            <a:ext cx="278892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staging / index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Contenu « staged »,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prêt pour le commit.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8531352" y="2450592"/>
            <a:ext cx="3063240" cy="222199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80" name="Google Shape;280;p9"/>
          <p:cNvSpPr txBox="1"/>
          <p:nvPr/>
        </p:nvSpPr>
        <p:spPr>
          <a:xfrm>
            <a:off x="8668512" y="2633472"/>
            <a:ext cx="2788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HISTORIQUE LOCAL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8668512" y="3364992"/>
            <a:ext cx="278892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Versions enregistrées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par les commits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dans la base .git.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3767328" y="3584448"/>
            <a:ext cx="64008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83" name="Google Shape;283;p9"/>
          <p:cNvSpPr txBox="1"/>
          <p:nvPr/>
        </p:nvSpPr>
        <p:spPr>
          <a:xfrm>
            <a:off x="3456432" y="3136392"/>
            <a:ext cx="12618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git add</a:t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7735824" y="3584448"/>
            <a:ext cx="64008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85" name="Google Shape;285;p9"/>
          <p:cNvSpPr txBox="1"/>
          <p:nvPr/>
        </p:nvSpPr>
        <p:spPr>
          <a:xfrm>
            <a:off x="7424928" y="3136392"/>
            <a:ext cx="12618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758952" y="4937760"/>
            <a:ext cx="106527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git add copie le contenu actuel dans la préparation ; les fichiers restent à leur place.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Refaire add pour inclure une modification ultérieure.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88" name="Google Shape;288;p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git diff --staged compare la préparation au dernier commit : les changements à enregistrer.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9 / 56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LOCALE · BASH ET POWERSHELL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Vérifier et définir son identité Git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Git installé · remplacer les exemples par vos valeurs ; modifier seulement si nécessaire.</a:t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99" name="Google Shape;299;p10"/>
          <p:cNvSpPr txBox="1"/>
          <p:nvPr/>
        </p:nvSpPr>
        <p:spPr>
          <a:xfrm>
            <a:off x="768096" y="2057400"/>
            <a:ext cx="6793992" cy="3813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Check the global identity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--global --get user.name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--global --get user.email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Replace examples; set only if needed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--global user.name "Votre nom"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--global user.email "VOTRE_EMAIL"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Check again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--global --get user.name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--global --get user.email</a:t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user.name : votre nom d’auteur des commits.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user.email : adresse vérifiée dans GitHub ou adresse noreply.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Sans résultat : valeur globale absente.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02" name="Google Shape;302;p10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 votre compte sur ce poste, sauf réglage local prioritaire. Cela ne connecte pas à GitHub.</a:t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10 / 56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LOCALE · BASH ET POWERSHELL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1. Préparer le contenu, puis créer le commit</a:t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Identité globale vérifiée · partir hors d’un dépôt · le dossier git-demo ne doit pas déjà exister.</a:t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3" name="Google Shape;313;p11"/>
          <p:cNvSpPr txBox="1"/>
          <p:nvPr/>
        </p:nvSpPr>
        <p:spPr>
          <a:xfrm>
            <a:off x="768096" y="2057400"/>
            <a:ext cx="6794100" cy="3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Windows PowerShell: same commands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mkdir git-demo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cd git-demo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init </a:t>
            </a: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echo 'hello' &gt; readme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add readme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 --staged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commit -m "Add readme"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 --staged # no output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branch -M main</a:t>
            </a:r>
            <a:endParaRPr/>
          </a:p>
        </p:txBody>
      </p:sp>
      <p:sp>
        <p:nvSpPr>
          <p:cNvPr id="314" name="Google Shape;314;p11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init crée la base locale dans .git.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Avant commit : les changements préparés.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Après commit : aucun écart entre la préparation et le dernier commit.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6" name="Google Shape;316;p11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Flux local : add → contenu staged → commit. Après une nouvelle modification, refaire add pour l’inclure.</a:t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318" name="Google Shape;318;p1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11 / 56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LOCALE · BASH ET POWERSHELL</a:t>
            </a:r>
            <a:endParaRPr/>
          </a:p>
        </p:txBody>
      </p:sp>
      <p:sp>
        <p:nvSpPr>
          <p:cNvPr id="324" name="Google Shape;324;p1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2. Changer de branche et comparer les fichiers</a:t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Suite : garder le même dossier git-demo et le même terminal ; ne pas refaire git init.</a:t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27" name="Google Shape;327;p12"/>
          <p:cNvSpPr txBox="1"/>
          <p:nvPr/>
        </p:nvSpPr>
        <p:spPr>
          <a:xfrm>
            <a:off x="768100" y="2057400"/>
            <a:ext cx="6794100" cy="4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Create and switch to a new branch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switch -c essai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branch # * essai, main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echo 'branch' &gt; essai.txt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add essai.txt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 --staged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commit -m "Add branch file"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Windows PowerShell: replace ls by dir -Name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ls # essai.txt readme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Return to main: essai.txt disappears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switch main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ls # readme</a:t>
            </a:r>
            <a:endParaRPr/>
          </a:p>
        </p:txBody>
      </p:sp>
      <p:sp>
        <p:nvSpPr>
          <p:cNvPr id="328" name="Google Shape;328;p12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git branch liste les branches locales ; * indique la branche active.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essai.txt reste enregistré sur essai ; main montre ses propres fichiers.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PowerShell : remplacer ls par dir -Name.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30" name="Google Shape;330;p12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À la fin : retour sur main ; seul readme est visible. Après # : commentaires ou noms de fichiers attendus.</a:t>
            </a:r>
            <a:endParaRPr/>
          </a:p>
        </p:txBody>
      </p:sp>
      <p:sp>
        <p:nvSpPr>
          <p:cNvPr id="331" name="Google Shape;331;p1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332" name="Google Shape;332;p1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12 / 56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LOCALE · BASH ET POWERSHELL</a:t>
            </a:r>
            <a:endParaRPr/>
          </a:p>
        </p:txBody>
      </p:sp>
      <p:sp>
        <p:nvSpPr>
          <p:cNvPr id="338" name="Google Shape;338;p1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3. Faire avancer main séparément</a:t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Suite : même dossier git-demo, même terminal ; la branche active est main.</a:t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41" name="Google Shape;341;p13"/>
          <p:cNvSpPr txBox="1"/>
          <p:nvPr/>
        </p:nvSpPr>
        <p:spPr>
          <a:xfrm>
            <a:off x="768096" y="2057400"/>
            <a:ext cx="6793992" cy="3813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Record a different file on main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echo 'main' &gt; main.txt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add main.txt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 --staged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commit -m "Add main file"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switch essai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Windows PowerShell: replace ls by dir -Name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ls # essai.txt readme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a reçu son propre commit : les deux branches ont avancé.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Sur essai, main.txt n'apparaît pas encore.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PowerShell : remplacer ls par dir -Name.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44" name="Google Shape;344;p13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À la fin : essai est active. main et essai ont chacune un fichier différent à réunir.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13 / 56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LOCALE · BASH ET POWERSHELL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4. Fusionner les deux branches locales</a:t>
            </a:r>
            <a:endParaRPr/>
          </a:p>
        </p:txBody>
      </p:sp>
      <p:sp>
        <p:nvSpPr>
          <p:cNvPr id="353" name="Google Shape;353;p14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Suite : même dossier git-demo ; essai est active et les deux contributions sont committées.</a:t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55" name="Google Shape;355;p14"/>
          <p:cNvSpPr txBox="1"/>
          <p:nvPr/>
        </p:nvSpPr>
        <p:spPr>
          <a:xfrm>
            <a:off x="768096" y="2057400"/>
            <a:ext cx="6793992" cy="3813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Merge into the receiving branch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switch main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merge essai -m "Merge essai"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Windows PowerShell: replace ls by dir -Name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ls # essai.txt main.txt readme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log --graph --oneline --decorate --all</a:t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reçoit les changements d'essai.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ajouts portent sur des fichiers distincts : la fusion réussit sans conflit.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--all montre les historiques des différentes branches.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58" name="Google Shape;358;p14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À la fin : main contient readme, essai.txt et main.txt. Le graphe montre une fusion à deux parents.</a:t>
            </a:r>
            <a:endParaRPr/>
          </a:p>
        </p:txBody>
      </p:sp>
      <p:sp>
        <p:nvSpPr>
          <p:cNvPr id="359" name="Google Shape;359;p1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360" name="Google Shape;360;p1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14 / 56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GIT · TRAVAILLER ENSEMBLE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Collaborer sur un même dépôt</a:t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De l’historique local au dépôt partagé sur GitHub.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Après la démo : cd .., puis cloner dans un autre dossier.</a:t>
            </a:r>
            <a:endParaRPr/>
          </a:p>
        </p:txBody>
      </p:sp>
      <p:sp>
        <p:nvSpPr>
          <p:cNvPr id="368" name="Google Shape;368;p1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/ 56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COMPRENDRE ET PRATIQUER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594360" y="841320"/>
            <a:ext cx="10972440" cy="494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Préparer son poste et ouvrir le bon terminal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841320" y="2011680"/>
            <a:ext cx="10515240" cy="35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Vérifier Git, son compte GitHub et l'accès au dépôt fourni par Olivier.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Dans VS Code sous Windows, choisir le terminal Git Bash.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Ouvrir la copie locale du dépôt ; choisir le noyau Python pour les notebooks.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guide détaille l'installation et la connexion. Garder le dépôt hors d'un dossier synchronisé.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16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ÉCHANGER DES VERSIONS ENTRE DÉPÔTS</a:t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GitHub : prolonger le flux vers une base distante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621792" y="190195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SUR VOTRE POSTE</a:t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9454896" y="190195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SUR GITHUB</a:t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594360" y="2450592"/>
            <a:ext cx="2167128" cy="21762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90" name="Google Shape;390;p17"/>
          <p:cNvSpPr txBox="1"/>
          <p:nvPr/>
        </p:nvSpPr>
        <p:spPr>
          <a:xfrm>
            <a:off x="704088" y="2660904"/>
            <a:ext cx="19476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FICHIERS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704088" y="3337560"/>
            <a:ext cx="194767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Contenu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modifié et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enregistré.</a:t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3538728" y="2450592"/>
            <a:ext cx="2167128" cy="21762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93" name="Google Shape;393;p17"/>
          <p:cNvSpPr txBox="1"/>
          <p:nvPr/>
        </p:nvSpPr>
        <p:spPr>
          <a:xfrm>
            <a:off x="3648456" y="2660904"/>
            <a:ext cx="19476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PRÉPARATION</a:t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3648456" y="3337560"/>
            <a:ext cx="194767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staging / index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Contenu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« staged ».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6483096" y="2450592"/>
            <a:ext cx="2167128" cy="21762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96" name="Google Shape;396;p17"/>
          <p:cNvSpPr txBox="1"/>
          <p:nvPr/>
        </p:nvSpPr>
        <p:spPr>
          <a:xfrm>
            <a:off x="6592824" y="2660904"/>
            <a:ext cx="19476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BASE LOCALE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6592824" y="3337560"/>
            <a:ext cx="194767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.git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Historique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des commits.</a:t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9427464" y="2450592"/>
            <a:ext cx="2167128" cy="2176272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99" name="Google Shape;399;p17"/>
          <p:cNvSpPr txBox="1"/>
          <p:nvPr/>
        </p:nvSpPr>
        <p:spPr>
          <a:xfrm>
            <a:off x="9537192" y="2660904"/>
            <a:ext cx="19476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BASE DISTANTE</a:t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9537192" y="3337560"/>
            <a:ext cx="194767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Dépôt Git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hébergé sur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GitHub.</a:t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2862072" y="3584448"/>
            <a:ext cx="576072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02" name="Google Shape;402;p17"/>
          <p:cNvSpPr txBox="1"/>
          <p:nvPr/>
        </p:nvSpPr>
        <p:spPr>
          <a:xfrm>
            <a:off x="2505456" y="3136392"/>
            <a:ext cx="1289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git add</a:t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5806440" y="3584448"/>
            <a:ext cx="576072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04" name="Google Shape;404;p17"/>
          <p:cNvSpPr txBox="1"/>
          <p:nvPr/>
        </p:nvSpPr>
        <p:spPr>
          <a:xfrm>
            <a:off x="5449824" y="3136392"/>
            <a:ext cx="1289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8750808" y="3584448"/>
            <a:ext cx="576072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06" name="Google Shape;406;p17"/>
          <p:cNvSpPr txBox="1"/>
          <p:nvPr/>
        </p:nvSpPr>
        <p:spPr>
          <a:xfrm>
            <a:off x="8394192" y="3136392"/>
            <a:ext cx="1289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749808" y="4956048"/>
            <a:ext cx="55046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push publie les commits.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 contenu seulement staged reste local.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7104888" y="5157216"/>
            <a:ext cx="3383280" cy="27432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BD5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09" name="Google Shape;409;p17"/>
          <p:cNvSpPr txBox="1"/>
          <p:nvPr/>
        </p:nvSpPr>
        <p:spPr>
          <a:xfrm>
            <a:off x="6537960" y="4690872"/>
            <a:ext cx="47274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pull : récupérer + intégrer</a:t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11" name="Google Shape;411;p1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pull récupère les commits, puis actualise la branche locale et ses fichiers si l’intégration réussit.</a:t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17 / 56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TERMINAL GIT BASH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Créer sa copie locale une seule fois</a:t>
            </a:r>
            <a:endParaRPr/>
          </a:p>
        </p:txBody>
      </p:sp>
      <p:sp>
        <p:nvSpPr>
          <p:cNvPr id="420" name="Google Shape;420;p18"/>
          <p:cNvSpPr txBox="1"/>
          <p:nvPr/>
        </p:nvSpPr>
        <p:spPr>
          <a:xfrm>
            <a:off x="621792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https://github.com/G404-DataAnalyst/atelier-git-2026.git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594360" y="2359152"/>
            <a:ext cx="6766560" cy="325526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22" name="Google Shape;422;p18"/>
          <p:cNvSpPr txBox="1"/>
          <p:nvPr/>
        </p:nvSpPr>
        <p:spPr>
          <a:xfrm>
            <a:off x="795528" y="2615184"/>
            <a:ext cx="6355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clone URL_DU_DEPOT atelier-git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cd atelier-git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code 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7653527" y="2450592"/>
            <a:ext cx="3867912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Remplacer URL_DU_DEPOT par l'adresse ci-dessus.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clone copie l'historique distant et prépare les fichiers localement.</a:t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25" name="Google Shape;425;p1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Toutes les commandes suivantes se lancent dans ce dossier.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18 / 56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TERMINAL GIT BASH</a:t>
            </a:r>
            <a:endParaRPr/>
          </a:p>
        </p:txBody>
      </p:sp>
      <p:sp>
        <p:nvSpPr>
          <p:cNvPr id="433" name="Google Shape;433;p1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Observer chaque étape du flux</a:t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35" name="Google Shape;435;p19"/>
          <p:cNvSpPr txBox="1"/>
          <p:nvPr/>
        </p:nvSpPr>
        <p:spPr>
          <a:xfrm>
            <a:off x="795528" y="2221992"/>
            <a:ext cx="63552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 --staged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log --oneline -5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status : état des fichiers.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diff : écarts travail / index (fichiers suivis).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diff --staged : écarts index / dernier commit.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log : historique local.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38" name="Google Shape;438;p1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Avant une commande, prévoir ce qu'elle changera puis vérifier son résultat.</a:t>
            </a:r>
            <a:endParaRPr/>
          </a:p>
        </p:txBody>
      </p:sp>
      <p:sp>
        <p:nvSpPr>
          <p:cNvPr id="439" name="Google Shape;439;p1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19 / 56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TERMINAL GIT BASH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Préparer une contribution personnelle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594360" y="1993320"/>
            <a:ext cx="6766200" cy="362052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800088" y="2208420"/>
            <a:ext cx="6354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mkdir -p work/IDENTIFIANT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code work/IDENTIFIANT/notes.md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7653600" y="2075760"/>
            <a:ext cx="3867480" cy="347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Remplacer IDENTIFIANT par son identifiant GitHub.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Écrire la première note du guide : ce que l'historique permettra de retrouver. Enregistrer le fichier.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 fichier distinct par étudiant permet de commencer sans collision.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20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TERMINAL GIT BASH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Enregistrer une version expliquée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61" name="Google Shape;461;p21"/>
          <p:cNvSpPr txBox="1"/>
          <p:nvPr/>
        </p:nvSpPr>
        <p:spPr>
          <a:xfrm>
            <a:off x="795528" y="2221992"/>
            <a:ext cx="63550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add work/IDENTIFIANT/notes.md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diff --staged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commit -m "Add analysis note"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add prépare le contenu : il est staged.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diff --staged montre les écarts à enregistrer.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commit inscrit la version préparée dans la base Git locale.</a:t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64" name="Google Shape;464;p2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fichier enregistré dans VS Code devient un commit seulement après ces actions.</a:t>
            </a:r>
            <a:endParaRPr/>
          </a:p>
        </p:txBody>
      </p:sp>
      <p:sp>
        <p:nvSpPr>
          <p:cNvPr id="465" name="Google Shape;465;p2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21 / 56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TERMINAL GIT BASH</a:t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Publier sa version sur GitHub</a:t>
            </a:r>
            <a:endParaRPr/>
          </a:p>
        </p:txBody>
      </p:sp>
      <p:sp>
        <p:nvSpPr>
          <p:cNvPr id="473" name="Google Shape;473;p22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74" name="Google Shape;474;p22"/>
          <p:cNvSpPr txBox="1"/>
          <p:nvPr/>
        </p:nvSpPr>
        <p:spPr>
          <a:xfrm>
            <a:off x="795528" y="2221992"/>
            <a:ext cx="63550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push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push publie les commits dans le dépôt GitHub.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 contenu seulement modifié ou staged reste local.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Vérifier le commit sur GitHub.</a:t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77" name="Google Shape;477;p2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Si push est refusé, lire le message et consulter la procédure ; ne pas forcer l'envoi.</a:t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22 / 56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RÉCUPÉRER PUIS CHOISIR L’INTÉGRATION</a:t>
            </a:r>
            <a:endParaRPr/>
          </a:p>
        </p:txBody>
      </p:sp>
      <p:sp>
        <p:nvSpPr>
          <p:cNvPr id="485" name="Google Shape;485;p2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Trois choix quand les historiques divergent</a:t>
            </a:r>
            <a:endParaRPr/>
          </a:p>
        </p:txBody>
      </p:sp>
      <p:sp>
        <p:nvSpPr>
          <p:cNvPr id="486" name="Google Shape;486;p23"/>
          <p:cNvSpPr txBox="1"/>
          <p:nvPr/>
        </p:nvSpPr>
        <p:spPr>
          <a:xfrm>
            <a:off x="621792" y="1618488"/>
            <a:ext cx="10972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Même départ : A commun, L local, R distant. L n’a pas encore été partagé.</a:t>
            </a:r>
            <a:endParaRPr/>
          </a:p>
        </p:txBody>
      </p:sp>
      <p:sp>
        <p:nvSpPr>
          <p:cNvPr id="487" name="Google Shape;487;p23"/>
          <p:cNvSpPr/>
          <p:nvPr/>
        </p:nvSpPr>
        <p:spPr>
          <a:xfrm>
            <a:off x="594360" y="2130552"/>
            <a:ext cx="3520440" cy="312724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88" name="Google Shape;488;p23"/>
          <p:cNvSpPr txBox="1"/>
          <p:nvPr/>
        </p:nvSpPr>
        <p:spPr>
          <a:xfrm>
            <a:off x="749808" y="228600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FAST-FORWARD ONLY</a:t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749808" y="266090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Avance rapide seulement</a:t>
            </a:r>
            <a:endParaRPr/>
          </a:p>
        </p:txBody>
      </p:sp>
      <p:cxnSp>
        <p:nvCxnSpPr>
          <p:cNvPr id="490" name="Google Shape;490;p23"/>
          <p:cNvCxnSpPr/>
          <p:nvPr/>
        </p:nvCxnSpPr>
        <p:spPr>
          <a:xfrm flipH="1" rot="10800000">
            <a:off x="1321450" y="3545089"/>
            <a:ext cx="1298163" cy="270741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1" name="Google Shape;491;p23"/>
          <p:cNvCxnSpPr/>
          <p:nvPr/>
        </p:nvCxnSpPr>
        <p:spPr>
          <a:xfrm>
            <a:off x="1320531" y="3905898"/>
            <a:ext cx="1300001" cy="298931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23"/>
          <p:cNvSpPr/>
          <p:nvPr/>
        </p:nvSpPr>
        <p:spPr>
          <a:xfrm>
            <a:off x="923544" y="3666744"/>
            <a:ext cx="393192" cy="393192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3" name="Google Shape;493;p23"/>
          <p:cNvSpPr txBox="1"/>
          <p:nvPr/>
        </p:nvSpPr>
        <p:spPr>
          <a:xfrm>
            <a:off x="914400" y="3675887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2633472" y="3310128"/>
            <a:ext cx="393192" cy="393192"/>
          </a:xfrm>
          <a:prstGeom prst="ellipse">
            <a:avLst/>
          </a:prstGeom>
          <a:solidFill>
            <a:srgbClr val="236D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5" name="Google Shape;495;p23"/>
          <p:cNvSpPr txBox="1"/>
          <p:nvPr/>
        </p:nvSpPr>
        <p:spPr>
          <a:xfrm>
            <a:off x="2624328" y="3319272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633472" y="4059936"/>
            <a:ext cx="393192" cy="393192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7" name="Google Shape;497;p23"/>
          <p:cNvSpPr txBox="1"/>
          <p:nvPr/>
        </p:nvSpPr>
        <p:spPr>
          <a:xfrm>
            <a:off x="2624328" y="4069080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498" name="Google Shape;498;p23"/>
          <p:cNvSpPr txBox="1"/>
          <p:nvPr/>
        </p:nvSpPr>
        <p:spPr>
          <a:xfrm>
            <a:off x="749808" y="4617720"/>
            <a:ext cx="32095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Arrêt de l’intégration.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La branche locale reste sur L.</a:t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4334256" y="2130552"/>
            <a:ext cx="3520440" cy="312724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00" name="Google Shape;500;p23"/>
          <p:cNvSpPr txBox="1"/>
          <p:nvPr/>
        </p:nvSpPr>
        <p:spPr>
          <a:xfrm>
            <a:off x="4489704" y="228600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/>
          </a:p>
        </p:txBody>
      </p:sp>
      <p:sp>
        <p:nvSpPr>
          <p:cNvPr id="501" name="Google Shape;501;p23"/>
          <p:cNvSpPr txBox="1"/>
          <p:nvPr/>
        </p:nvSpPr>
        <p:spPr>
          <a:xfrm>
            <a:off x="4489704" y="266090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Fusion</a:t>
            </a:r>
            <a:endParaRPr/>
          </a:p>
        </p:txBody>
      </p:sp>
      <p:cxnSp>
        <p:nvCxnSpPr>
          <p:cNvPr id="502" name="Google Shape;502;p23"/>
          <p:cNvCxnSpPr/>
          <p:nvPr/>
        </p:nvCxnSpPr>
        <p:spPr>
          <a:xfrm flipH="1" rot="10800000">
            <a:off x="4947304" y="3562161"/>
            <a:ext cx="794727" cy="236597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3" name="Google Shape;503;p23"/>
          <p:cNvCxnSpPr/>
          <p:nvPr/>
        </p:nvCxnSpPr>
        <p:spPr>
          <a:xfrm>
            <a:off x="4945558" y="3924358"/>
            <a:ext cx="798219" cy="262011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4" name="Google Shape;504;p23"/>
          <p:cNvCxnSpPr/>
          <p:nvPr/>
        </p:nvCxnSpPr>
        <p:spPr>
          <a:xfrm>
            <a:off x="6146501" y="3557488"/>
            <a:ext cx="901789" cy="245943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5" name="Google Shape;505;p23"/>
          <p:cNvCxnSpPr/>
          <p:nvPr/>
        </p:nvCxnSpPr>
        <p:spPr>
          <a:xfrm flipH="1" rot="10800000">
            <a:off x="6145003" y="3919329"/>
            <a:ext cx="904785" cy="272069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6" name="Google Shape;506;p23"/>
          <p:cNvSpPr/>
          <p:nvPr/>
        </p:nvSpPr>
        <p:spPr>
          <a:xfrm>
            <a:off x="4553712" y="3666744"/>
            <a:ext cx="393192" cy="393192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07" name="Google Shape;507;p23"/>
          <p:cNvSpPr txBox="1"/>
          <p:nvPr/>
        </p:nvSpPr>
        <p:spPr>
          <a:xfrm>
            <a:off x="4544568" y="3675887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08" name="Google Shape;508;p23"/>
          <p:cNvSpPr/>
          <p:nvPr/>
        </p:nvSpPr>
        <p:spPr>
          <a:xfrm>
            <a:off x="5751576" y="3310128"/>
            <a:ext cx="393192" cy="393192"/>
          </a:xfrm>
          <a:prstGeom prst="ellipse">
            <a:avLst/>
          </a:prstGeom>
          <a:solidFill>
            <a:srgbClr val="236D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09" name="Google Shape;509;p23"/>
          <p:cNvSpPr txBox="1"/>
          <p:nvPr/>
        </p:nvSpPr>
        <p:spPr>
          <a:xfrm>
            <a:off x="5742432" y="3319272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5751576" y="4059936"/>
            <a:ext cx="393192" cy="393192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1" name="Google Shape;511;p23"/>
          <p:cNvSpPr txBox="1"/>
          <p:nvPr/>
        </p:nvSpPr>
        <p:spPr>
          <a:xfrm>
            <a:off x="5742432" y="4069080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7059168" y="3666744"/>
            <a:ext cx="393192" cy="393192"/>
          </a:xfrm>
          <a:prstGeom prst="ellipse">
            <a:avLst/>
          </a:prstGeom>
          <a:solidFill>
            <a:srgbClr val="BD5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3" name="Google Shape;513;p23"/>
          <p:cNvSpPr txBox="1"/>
          <p:nvPr/>
        </p:nvSpPr>
        <p:spPr>
          <a:xfrm>
            <a:off x="7050024" y="3675887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14" name="Google Shape;514;p23"/>
          <p:cNvSpPr txBox="1"/>
          <p:nvPr/>
        </p:nvSpPr>
        <p:spPr>
          <a:xfrm>
            <a:off x="4489704" y="4617720"/>
            <a:ext cx="32095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Après résolution éventuelle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 relie les deux historiques.</a:t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8074152" y="2130552"/>
            <a:ext cx="3520440" cy="312724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6" name="Google Shape;516;p23"/>
          <p:cNvSpPr txBox="1"/>
          <p:nvPr/>
        </p:nvSpPr>
        <p:spPr>
          <a:xfrm>
            <a:off x="8229600" y="228600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REBASE</a:t>
            </a:r>
            <a:endParaRPr/>
          </a:p>
        </p:txBody>
      </p:sp>
      <p:sp>
        <p:nvSpPr>
          <p:cNvPr id="517" name="Google Shape;517;p23"/>
          <p:cNvSpPr txBox="1"/>
          <p:nvPr/>
        </p:nvSpPr>
        <p:spPr>
          <a:xfrm>
            <a:off x="8229600" y="266090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Rejouer les commits locaux</a:t>
            </a:r>
            <a:endParaRPr/>
          </a:p>
        </p:txBody>
      </p:sp>
      <p:cxnSp>
        <p:nvCxnSpPr>
          <p:cNvPr id="518" name="Google Shape;518;p23"/>
          <p:cNvCxnSpPr/>
          <p:nvPr/>
        </p:nvCxnSpPr>
        <p:spPr>
          <a:xfrm>
            <a:off x="8695944" y="3858768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23"/>
          <p:cNvCxnSpPr/>
          <p:nvPr/>
        </p:nvCxnSpPr>
        <p:spPr>
          <a:xfrm>
            <a:off x="9893808" y="3858768"/>
            <a:ext cx="886968" cy="0"/>
          </a:xfrm>
          <a:prstGeom prst="straightConnector1">
            <a:avLst/>
          </a:prstGeom>
          <a:noFill/>
          <a:ln cap="flat" cmpd="sng" w="25400">
            <a:solidFill>
              <a:srgbClr val="56697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3"/>
          <p:cNvSpPr/>
          <p:nvPr/>
        </p:nvSpPr>
        <p:spPr>
          <a:xfrm>
            <a:off x="8293608" y="3666744"/>
            <a:ext cx="393192" cy="393192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21" name="Google Shape;521;p23"/>
          <p:cNvSpPr txBox="1"/>
          <p:nvPr/>
        </p:nvSpPr>
        <p:spPr>
          <a:xfrm>
            <a:off x="8284464" y="3675887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9491472" y="3666744"/>
            <a:ext cx="393192" cy="393192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23" name="Google Shape;523;p23"/>
          <p:cNvSpPr txBox="1"/>
          <p:nvPr/>
        </p:nvSpPr>
        <p:spPr>
          <a:xfrm>
            <a:off x="9482328" y="3675887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10799064" y="3666744"/>
            <a:ext cx="393192" cy="393192"/>
          </a:xfrm>
          <a:prstGeom prst="ellipse">
            <a:avLst/>
          </a:prstGeom>
          <a:solidFill>
            <a:srgbClr val="236D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25" name="Google Shape;525;p23"/>
          <p:cNvSpPr txBox="1"/>
          <p:nvPr/>
        </p:nvSpPr>
        <p:spPr>
          <a:xfrm>
            <a:off x="10789920" y="3675887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L′</a:t>
            </a:r>
            <a:endParaRPr/>
          </a:p>
        </p:txBody>
      </p:sp>
      <p:sp>
        <p:nvSpPr>
          <p:cNvPr id="526" name="Google Shape;526;p23"/>
          <p:cNvSpPr txBox="1"/>
          <p:nvPr/>
        </p:nvSpPr>
        <p:spPr>
          <a:xfrm>
            <a:off x="8229600" y="4617720"/>
            <a:ext cx="32095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Après résolution éventuelle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L′ est un nouveau commit.</a:t>
            </a:r>
            <a:endParaRPr/>
          </a:p>
        </p:txBody>
      </p:sp>
      <p:sp>
        <p:nvSpPr>
          <p:cNvPr id="527" name="Google Shape;527;p23"/>
          <p:cNvSpPr txBox="1"/>
          <p:nvPr/>
        </p:nvSpPr>
        <p:spPr>
          <a:xfrm>
            <a:off x="621792" y="5394960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Flèches : parent → nouveau commit. Divergence ne signifie pas forcément conflit de contenu.</a:t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29" name="Google Shape;529;p2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Jeudi : observer l'arrêt ff-only, puis fusionner sans conflit. Vendredi : résoudre des conflits.</a:t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531" name="Google Shape;531;p2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23 / 56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DÉMONSTRATION À DEUX COPIES · GUIDE § 6</a:t>
            </a:r>
            <a:endParaRPr/>
          </a:p>
        </p:txBody>
      </p:sp>
      <p:sp>
        <p:nvSpPr>
          <p:cNvPr id="537" name="Google Shape;537;p2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1. Essayer l'avance rapide seulement</a:t>
            </a:r>
            <a:endParaRPr/>
          </a:p>
        </p:txBody>
      </p:sp>
      <p:sp>
        <p:nvSpPr>
          <p:cNvPr id="538" name="Google Shape;538;p24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Même commit de départ, deux clones, deux fichiers différents committés ; un seul clone a publié.</a:t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40" name="Google Shape;540;p24"/>
          <p:cNvSpPr txBox="1"/>
          <p:nvPr/>
        </p:nvSpPr>
        <p:spPr>
          <a:xfrm>
            <a:off x="768096" y="2057400"/>
            <a:ext cx="6793992" cy="3813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Use the clone that has not pushed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switch main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pull --ff-only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branch -a</a:t>
            </a: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Partir d'un dossier propre.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pull récupère les commits : origin/main est actualisée.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Ici, main a aussi avancé : l'intégration est refusée. Le commit local est conservé.</a:t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43" name="Google Shape;543;p24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Sans divergence : main avance sans commit de fusion. Ici : l'arrêt permet d'examiner les deux historiques.</a:t>
            </a:r>
            <a:endParaRPr/>
          </a:p>
        </p:txBody>
      </p:sp>
      <p:sp>
        <p:nvSpPr>
          <p:cNvPr id="544" name="Google Shape;544;p2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545" name="Google Shape;545;p2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24 / 56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SUITE DE LA DÉMONSTRATION · GUIDE § 6</a:t>
            </a:r>
            <a:endParaRPr/>
          </a:p>
        </p:txBody>
      </p:sp>
      <p:sp>
        <p:nvSpPr>
          <p:cNvPr id="551" name="Google Shape;551;p2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2. Réunir les contributions sans conflit</a:t>
            </a:r>
            <a:endParaRPr/>
          </a:p>
        </p:txBody>
      </p:sp>
      <p:sp>
        <p:nvSpPr>
          <p:cNvPr id="552" name="Google Shape;552;p25"/>
          <p:cNvSpPr txBox="1"/>
          <p:nvPr/>
        </p:nvSpPr>
        <p:spPr>
          <a:xfrm>
            <a:off x="621792" y="151790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Suite du refus ff-only : main est active, le dossier est propre et origin/main vient d'être récupérée.</a:t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594360" y="1956816"/>
            <a:ext cx="7132320" cy="3977639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54" name="Google Shape;554;p25"/>
          <p:cNvSpPr txBox="1"/>
          <p:nvPr/>
        </p:nvSpPr>
        <p:spPr>
          <a:xfrm>
            <a:off x="768096" y="2057400"/>
            <a:ext cx="6793992" cy="3813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branch -a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log --graph --oneline --decorate --all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# Merge the fetched remote history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merge origin/main -m "Merge remote main"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log --graph --oneline --decorate --all</a:t>
            </a:r>
            <a:endParaRPr/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status</a:t>
            </a:r>
            <a:endParaRPr/>
          </a:p>
        </p:txBody>
      </p:sp>
      <p:sp>
        <p:nvSpPr>
          <p:cNvPr id="555" name="Google Shape;555;p25"/>
          <p:cNvSpPr txBox="1"/>
          <p:nvPr/>
        </p:nvSpPr>
        <p:spPr>
          <a:xfrm>
            <a:off x="7955279" y="2048256"/>
            <a:ext cx="3611880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: branche locale.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origin/main : repère local de la branche distante, actualisé par la récupération.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Ici, Git réunit deux ajouts distincts dans un commit à deux parents.</a:t>
            </a:r>
            <a:endParaRPr/>
          </a:p>
        </p:txBody>
      </p:sp>
      <p:sp>
        <p:nvSpPr>
          <p:cNvPr id="556" name="Google Shape;556;p25"/>
          <p:cNvSpPr/>
          <p:nvPr/>
        </p:nvSpPr>
        <p:spPr>
          <a:xfrm>
            <a:off x="594360" y="6117336"/>
            <a:ext cx="11000232" cy="3383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57" name="Google Shape;557;p25"/>
          <p:cNvSpPr txBox="1"/>
          <p:nvPr/>
        </p:nvSpPr>
        <p:spPr>
          <a:xfrm>
            <a:off x="758952" y="6126480"/>
            <a:ext cx="10652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graphe réunit les deux chemins. origin/main reste au commit récupéré ; git push publiera la fusion.</a:t>
            </a:r>
            <a:endParaRPr/>
          </a:p>
        </p:txBody>
      </p:sp>
      <p:sp>
        <p:nvSpPr>
          <p:cNvPr id="558" name="Google Shape;558;p2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559" name="Google Shape;559;p2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25 / 56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EXERCICE · GUIDÉ PAR guides/GIT_PRACTICE.md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À deux : retrouver une modification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841320" y="2011680"/>
            <a:ext cx="10515240" cy="35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Chacun publie sa note dans son propre fichier, à tour de rôle.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binôme actualise sa copie et retrouve le fichier et le commit.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Chacun explique ce qui était local, puis ce qui a été publié.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Réussite : les deux copies contiennent les contributions et chacun peut expliquer les étapes.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26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7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DIAGNOSTIQUER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Quand une commande s'arrête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594360" y="2084760"/>
            <a:ext cx="352008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777240" y="2350080"/>
            <a:ext cx="31543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DROITS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777240" y="3099960"/>
            <a:ext cx="315432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Permission refusée : vérifier le compte connecté et l'accès au dépôt.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4334400" y="2084760"/>
            <a:ext cx="352008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4517280" y="2350080"/>
            <a:ext cx="31543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ÉTAT LOCAL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4517280" y="3099960"/>
            <a:ext cx="315432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Fichiers modifiés : examiner et enregistrer le travail avant l'intégration.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8074080" y="2084760"/>
            <a:ext cx="352008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8256960" y="2350080"/>
            <a:ext cx="31543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HISTOIRES DIFFÉRENTES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8256960" y="3099960"/>
            <a:ext cx="315432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Push ou pull refusé : lire le guide et demander une revue de l'état.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Garder son travail. Le guide distingue mise à jour simple, divergence et conflit.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27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8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MATHS ET STATISTIQUES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77240" y="1828800"/>
            <a:ext cx="1078956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bonne prédiction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vérifie ailleurs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804600" y="4114800"/>
            <a:ext cx="1051524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Évaluation des modèles et surapprentissage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Notebook guidé 01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28 / 56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PRÉVOIR SUR D’AUTRES OBSERVATIONS</a:t>
            </a:r>
            <a:endParaRPr/>
          </a:p>
        </p:txBody>
      </p:sp>
      <p:sp>
        <p:nvSpPr>
          <p:cNvPr id="604" name="Google Shape;604;p2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Pourquoi séparer les données ?</a:t>
            </a:r>
            <a:endParaRPr/>
          </a:p>
        </p:txBody>
      </p:sp>
      <p:sp>
        <p:nvSpPr>
          <p:cNvPr id="605" name="Google Shape;605;p29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But : prévoir la durée de préparation à partir du nombre d’articles. Une ligne = une commande.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Ajuster un modèle : calculer ses coefficients, comme la pente d’une droite, sur des commandes observées.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Une petite erreur sur ces commandes garantit-elle une petite erreur sur de nouvelles commandes ?</a:t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07" name="Google Shape;607;p2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modèle a été ajusté aux commandes connues : son erreur sur celles-ci peut être trop flatteuse.</a:t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609" name="Google Shape;609;p2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29 / 56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NOTEBOOK 01 · TROIS JEUX DISTINCTS</a:t>
            </a:r>
            <a:endParaRPr/>
          </a:p>
        </p:txBody>
      </p:sp>
      <p:sp>
        <p:nvSpPr>
          <p:cNvPr id="615" name="Google Shape;615;p30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Séparer les rôles des données</a:t>
            </a:r>
            <a:endParaRPr/>
          </a:p>
        </p:txBody>
      </p:sp>
      <p:sp>
        <p:nvSpPr>
          <p:cNvPr id="616" name="Google Shape;616;p30"/>
          <p:cNvSpPr txBox="1"/>
          <p:nvPr/>
        </p:nvSpPr>
        <p:spPr>
          <a:xfrm>
            <a:off x="685800" y="1874519"/>
            <a:ext cx="10835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344 commandes simulées : réserver les trois jeux avant tout ajustement.</a:t>
            </a:r>
            <a:endParaRPr/>
          </a:p>
        </p:txBody>
      </p:sp>
      <p:sp>
        <p:nvSpPr>
          <p:cNvPr id="617" name="Google Shape;617;p30"/>
          <p:cNvSpPr/>
          <p:nvPr/>
        </p:nvSpPr>
        <p:spPr>
          <a:xfrm>
            <a:off x="4197096" y="2651760"/>
            <a:ext cx="3794760" cy="54864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18" name="Google Shape;618;p30"/>
          <p:cNvSpPr txBox="1"/>
          <p:nvPr/>
        </p:nvSpPr>
        <p:spPr>
          <a:xfrm>
            <a:off x="4288536" y="27432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MÊME SITUATION SIMULÉE</a:t>
            </a:r>
            <a:endParaRPr/>
          </a:p>
        </p:txBody>
      </p:sp>
      <p:cxnSp>
        <p:nvCxnSpPr>
          <p:cNvPr id="619" name="Google Shape;619;p30"/>
          <p:cNvCxnSpPr/>
          <p:nvPr/>
        </p:nvCxnSpPr>
        <p:spPr>
          <a:xfrm flipH="1">
            <a:off x="2354580" y="3200400"/>
            <a:ext cx="3739896" cy="374904"/>
          </a:xfrm>
          <a:prstGeom prst="straightConnector1">
            <a:avLst/>
          </a:prstGeom>
          <a:noFill/>
          <a:ln cap="flat" cmpd="sng" w="254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30"/>
          <p:cNvSpPr/>
          <p:nvPr/>
        </p:nvSpPr>
        <p:spPr>
          <a:xfrm>
            <a:off x="594360" y="3584448"/>
            <a:ext cx="3520440" cy="192024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21" name="Google Shape;621;p30"/>
          <p:cNvSpPr txBox="1"/>
          <p:nvPr/>
        </p:nvSpPr>
        <p:spPr>
          <a:xfrm>
            <a:off x="749808" y="3739896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ENTRAÎNEMENT</a:t>
            </a:r>
            <a:endParaRPr/>
          </a:p>
        </p:txBody>
      </p:sp>
      <p:sp>
        <p:nvSpPr>
          <p:cNvPr id="622" name="Google Shape;622;p30"/>
          <p:cNvSpPr txBox="1"/>
          <p:nvPr/>
        </p:nvSpPr>
        <p:spPr>
          <a:xfrm>
            <a:off x="749808" y="420624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training · 24 commandes</a:t>
            </a:r>
            <a:endParaRPr/>
          </a:p>
        </p:txBody>
      </p:sp>
      <p:sp>
        <p:nvSpPr>
          <p:cNvPr id="623" name="Google Shape;623;p30"/>
          <p:cNvSpPr txBox="1"/>
          <p:nvPr/>
        </p:nvSpPr>
        <p:spPr>
          <a:xfrm>
            <a:off x="749808" y="4663440"/>
            <a:ext cx="32095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Calculer les coefficients de chaque modèle.</a:t>
            </a:r>
            <a:endParaRPr/>
          </a:p>
        </p:txBody>
      </p:sp>
      <p:cxnSp>
        <p:nvCxnSpPr>
          <p:cNvPr id="624" name="Google Shape;624;p30"/>
          <p:cNvCxnSpPr/>
          <p:nvPr/>
        </p:nvCxnSpPr>
        <p:spPr>
          <a:xfrm>
            <a:off x="6094476" y="3200400"/>
            <a:ext cx="0" cy="374904"/>
          </a:xfrm>
          <a:prstGeom prst="straightConnector1">
            <a:avLst/>
          </a:prstGeom>
          <a:noFill/>
          <a:ln cap="flat" cmpd="sng" w="254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0"/>
          <p:cNvSpPr/>
          <p:nvPr/>
        </p:nvSpPr>
        <p:spPr>
          <a:xfrm>
            <a:off x="4334256" y="3584448"/>
            <a:ext cx="3520440" cy="192024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26" name="Google Shape;626;p30"/>
          <p:cNvSpPr txBox="1"/>
          <p:nvPr/>
        </p:nvSpPr>
        <p:spPr>
          <a:xfrm>
            <a:off x="4489704" y="3739896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627" name="Google Shape;627;p30"/>
          <p:cNvSpPr txBox="1"/>
          <p:nvPr/>
        </p:nvSpPr>
        <p:spPr>
          <a:xfrm>
            <a:off x="4489704" y="420624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validation · 160 commandes</a:t>
            </a:r>
            <a:endParaRPr/>
          </a:p>
        </p:txBody>
      </p:sp>
      <p:sp>
        <p:nvSpPr>
          <p:cNvPr id="628" name="Google Shape;628;p30"/>
          <p:cNvSpPr txBox="1"/>
          <p:nvPr/>
        </p:nvSpPr>
        <p:spPr>
          <a:xfrm>
            <a:off x="4489704" y="4663440"/>
            <a:ext cx="32095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Comparer les modèles et choisir lequel garder.</a:t>
            </a:r>
            <a:endParaRPr/>
          </a:p>
        </p:txBody>
      </p:sp>
      <p:cxnSp>
        <p:nvCxnSpPr>
          <p:cNvPr id="629" name="Google Shape;629;p30"/>
          <p:cNvCxnSpPr/>
          <p:nvPr/>
        </p:nvCxnSpPr>
        <p:spPr>
          <a:xfrm>
            <a:off x="6094476" y="3200400"/>
            <a:ext cx="3739896" cy="374904"/>
          </a:xfrm>
          <a:prstGeom prst="straightConnector1">
            <a:avLst/>
          </a:prstGeom>
          <a:noFill/>
          <a:ln cap="flat" cmpd="sng" w="254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p30"/>
          <p:cNvSpPr/>
          <p:nvPr/>
        </p:nvSpPr>
        <p:spPr>
          <a:xfrm>
            <a:off x="8074152" y="3584448"/>
            <a:ext cx="3520440" cy="192024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31" name="Google Shape;631;p30"/>
          <p:cNvSpPr txBox="1"/>
          <p:nvPr/>
        </p:nvSpPr>
        <p:spPr>
          <a:xfrm>
            <a:off x="8229600" y="3739896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TEST FINAL</a:t>
            </a:r>
            <a:endParaRPr/>
          </a:p>
        </p:txBody>
      </p:sp>
      <p:sp>
        <p:nvSpPr>
          <p:cNvPr id="632" name="Google Shape;632;p30"/>
          <p:cNvSpPr txBox="1"/>
          <p:nvPr/>
        </p:nvSpPr>
        <p:spPr>
          <a:xfrm>
            <a:off x="8229600" y="420624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test · 160 commandes</a:t>
            </a:r>
            <a:endParaRPr/>
          </a:p>
        </p:txBody>
      </p:sp>
      <p:sp>
        <p:nvSpPr>
          <p:cNvPr id="633" name="Google Shape;633;p30"/>
          <p:cNvSpPr txBox="1"/>
          <p:nvPr/>
        </p:nvSpPr>
        <p:spPr>
          <a:xfrm>
            <a:off x="8229600" y="4663440"/>
            <a:ext cx="32095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Estimer l’erreur du modèle choisi et fixé.</a:t>
            </a:r>
            <a:endParaRPr/>
          </a:p>
        </p:txBody>
      </p:sp>
      <p:sp>
        <p:nvSpPr>
          <p:cNvPr id="634" name="Google Shape;634;p30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35" name="Google Shape;635;p30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Commandes distinctes, même simulation. Les tailles 24 / 160 / 160 sont propres à cet exemple.</a:t>
            </a:r>
            <a:endParaRPr/>
          </a:p>
        </p:txBody>
      </p:sp>
      <p:sp>
        <p:nvSpPr>
          <p:cNvPr id="636" name="Google Shape;636;p3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637" name="Google Shape;637;p3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30 / 56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DISTINGUER CHOISIR ET ÉVALUER</a:t>
            </a:r>
            <a:endParaRPr/>
          </a:p>
        </p:txBody>
      </p:sp>
      <p:sp>
        <p:nvSpPr>
          <p:cNvPr id="643" name="Google Shape;643;p3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Pourquoi garder un troisième jeu ?</a:t>
            </a:r>
            <a:endParaRPr/>
          </a:p>
        </p:txBody>
      </p:sp>
      <p:sp>
        <p:nvSpPr>
          <p:cNvPr id="644" name="Google Shape;644;p31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La validation sert à choisir entre plusieurs modèles : elle participe donc à la décision.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meilleur résultat peut aussi profiter du hasard des commandes de validation.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test final estime l’erreur du modèle choisi sur d’autres commandes comparables.</a:t>
            </a:r>
            <a:endParaRPr/>
          </a:p>
        </p:txBody>
      </p:sp>
      <p:sp>
        <p:nvSpPr>
          <p:cNvPr id="645" name="Google Shape;645;p3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46" name="Google Shape;646;p3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Même sans y calculer les coefficients, choisir avec la validation utilise déjà ses données.</a:t>
            </a:r>
            <a:endParaRPr/>
          </a:p>
        </p:txBody>
      </p:sp>
      <p:sp>
        <p:nvSpPr>
          <p:cNvPr id="647" name="Google Shape;647;p3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648" name="Google Shape;648;p3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31 / 56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PRÉSERVER L’ÉVALUATION FINALE</a:t>
            </a:r>
            <a:endParaRPr/>
          </a:p>
        </p:txBody>
      </p:sp>
      <p:sp>
        <p:nvSpPr>
          <p:cNvPr id="654" name="Google Shape;654;p3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Quand peut-on utiliser le test final ?</a:t>
            </a:r>
            <a:endParaRPr/>
          </a:p>
        </p:txBody>
      </p:sp>
      <p:sp>
        <p:nvSpPr>
          <p:cNvPr id="655" name="Google Shape;655;p32"/>
          <p:cNvSpPr/>
          <p:nvPr/>
        </p:nvSpPr>
        <p:spPr>
          <a:xfrm>
            <a:off x="594360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56" name="Google Shape;656;p32"/>
          <p:cNvSpPr txBox="1"/>
          <p:nvPr/>
        </p:nvSpPr>
        <p:spPr>
          <a:xfrm>
            <a:off x="777240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UNE FOIS LE CHOIX FIXÉ</a:t>
            </a:r>
            <a:endParaRPr/>
          </a:p>
        </p:txBody>
      </p:sp>
      <p:sp>
        <p:nvSpPr>
          <p:cNvPr id="657" name="Google Shape;657;p32"/>
          <p:cNvSpPr txBox="1"/>
          <p:nvPr/>
        </p:nvSpPr>
        <p:spPr>
          <a:xfrm>
            <a:off x="777240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Appliquer le modèle au test, sans modifier ses coefficients, puis mesurer ses erreurs.</a:t>
            </a:r>
            <a:endParaRPr/>
          </a:p>
        </p:txBody>
      </p:sp>
      <p:sp>
        <p:nvSpPr>
          <p:cNvPr id="658" name="Google Shape;658;p32"/>
          <p:cNvSpPr/>
          <p:nvPr/>
        </p:nvSpPr>
        <p:spPr>
          <a:xfrm>
            <a:off x="6204204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59" name="Google Shape;659;p32"/>
          <p:cNvSpPr txBox="1"/>
          <p:nvPr/>
        </p:nvSpPr>
        <p:spPr>
          <a:xfrm>
            <a:off x="6387084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SI LE TEST GUIDE UN NOUVEAU CHOIX</a:t>
            </a:r>
            <a:endParaRPr/>
          </a:p>
        </p:txBody>
      </p:sp>
      <p:sp>
        <p:nvSpPr>
          <p:cNvPr id="660" name="Google Shape;660;p32"/>
          <p:cNvSpPr txBox="1"/>
          <p:nvPr/>
        </p:nvSpPr>
        <p:spPr>
          <a:xfrm>
            <a:off x="6387084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Ce test perd son rôle de contrôle indépendant si son résultat guide une modification du modèle.</a:t>
            </a:r>
            <a:endParaRPr/>
          </a:p>
        </p:txBody>
      </p:sp>
      <p:sp>
        <p:nvSpPr>
          <p:cNvPr id="661" name="Google Shape;661;p3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62" name="Google Shape;662;p3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 évaluer ce nouveau choix, il faut d’autres observations qui n’ont servi à aucune décision.</a:t>
            </a:r>
            <a:endParaRPr/>
          </a:p>
        </p:txBody>
      </p:sp>
      <p:sp>
        <p:nvSpPr>
          <p:cNvPr id="663" name="Google Shape;663;p3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664" name="Google Shape;664;p3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32 / 56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3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OBSERVER ET EXPLIQUER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Prévoir le temps de préparation d'une commande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data.png" id="671" name="Google Shape;6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00" y="1847160"/>
            <a:ext cx="703224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3"/>
          <p:cNvSpPr/>
          <p:nvPr/>
        </p:nvSpPr>
        <p:spPr>
          <a:xfrm>
            <a:off x="8577000" y="2048400"/>
            <a:ext cx="2925720" cy="358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ligne = une commande. X : nombre d'articles. Y : temps en minutes.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Quelle forme de relation attendez-vous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Données simulées dans un contexte concret ; le bruit représente des différences entre commandes.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3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3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33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ANNONCER LES CANDIDATS AVANT DE COMPARER</a:t>
            </a:r>
            <a:endParaRPr/>
          </a:p>
        </p:txBody>
      </p:sp>
      <p:sp>
        <p:nvSpPr>
          <p:cNvPr id="682" name="Google Shape;682;p3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Quatre candidats pour la même prédiction</a:t>
            </a:r>
            <a:endParaRPr/>
          </a:p>
        </p:txBody>
      </p:sp>
      <p:sp>
        <p:nvSpPr>
          <p:cNvPr id="683" name="Google Shape;683;p34"/>
          <p:cNvSpPr/>
          <p:nvPr/>
        </p:nvSpPr>
        <p:spPr>
          <a:xfrm>
            <a:off x="594360" y="1993392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84" name="Google Shape;684;p34"/>
          <p:cNvSpPr txBox="1"/>
          <p:nvPr/>
        </p:nvSpPr>
        <p:spPr>
          <a:xfrm>
            <a:off x="758952" y="2148840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CONSTANTE · DEGRÉ 0</a:t>
            </a:r>
            <a:endParaRPr/>
          </a:p>
        </p:txBody>
      </p:sp>
      <p:sp>
        <p:nvSpPr>
          <p:cNvPr id="685" name="Google Shape;685;p34"/>
          <p:cNvSpPr txBox="1"/>
          <p:nvPr/>
        </p:nvSpPr>
        <p:spPr>
          <a:xfrm>
            <a:off x="758952" y="2697480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Toujours la moyenne des durées d’entraînement.</a:t>
            </a:r>
            <a:endParaRPr/>
          </a:p>
        </p:txBody>
      </p:sp>
      <p:sp>
        <p:nvSpPr>
          <p:cNvPr id="686" name="Google Shape;686;p34"/>
          <p:cNvSpPr/>
          <p:nvPr/>
        </p:nvSpPr>
        <p:spPr>
          <a:xfrm>
            <a:off x="6208776" y="1993392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87" name="Google Shape;687;p34"/>
          <p:cNvSpPr txBox="1"/>
          <p:nvPr/>
        </p:nvSpPr>
        <p:spPr>
          <a:xfrm>
            <a:off x="6373368" y="2148840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DROITE · DEGRÉ 1</a:t>
            </a:r>
            <a:endParaRPr/>
          </a:p>
        </p:txBody>
      </p:sp>
      <p:sp>
        <p:nvSpPr>
          <p:cNvPr id="688" name="Google Shape;688;p34"/>
          <p:cNvSpPr txBox="1"/>
          <p:nvPr/>
        </p:nvSpPr>
        <p:spPr>
          <a:xfrm>
            <a:off x="6373368" y="2697480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augmentation constante de durée par article.</a:t>
            </a:r>
            <a:endParaRPr/>
          </a:p>
        </p:txBody>
      </p:sp>
      <p:sp>
        <p:nvSpPr>
          <p:cNvPr id="689" name="Google Shape;689;p34"/>
          <p:cNvSpPr/>
          <p:nvPr/>
        </p:nvSpPr>
        <p:spPr>
          <a:xfrm>
            <a:off x="594360" y="3803904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90" name="Google Shape;690;p34"/>
          <p:cNvSpPr txBox="1"/>
          <p:nvPr/>
        </p:nvSpPr>
        <p:spPr>
          <a:xfrm>
            <a:off x="758952" y="3959352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COURBE · DEGRÉ 2</a:t>
            </a:r>
            <a:endParaRPr/>
          </a:p>
        </p:txBody>
      </p:sp>
      <p:sp>
        <p:nvSpPr>
          <p:cNvPr id="691" name="Google Shape;691;p34"/>
          <p:cNvSpPr txBox="1"/>
          <p:nvPr/>
        </p:nvSpPr>
        <p:spPr>
          <a:xfrm>
            <a:off x="758952" y="4507992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courbure simple grâce au terme en X².</a:t>
            </a:r>
            <a:endParaRPr/>
          </a:p>
        </p:txBody>
      </p:sp>
      <p:sp>
        <p:nvSpPr>
          <p:cNvPr id="692" name="Google Shape;692;p34"/>
          <p:cNvSpPr/>
          <p:nvPr/>
        </p:nvSpPr>
        <p:spPr>
          <a:xfrm>
            <a:off x="6208776" y="3803904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93" name="Google Shape;693;p34"/>
          <p:cNvSpPr txBox="1"/>
          <p:nvPr/>
        </p:nvSpPr>
        <p:spPr>
          <a:xfrm>
            <a:off x="6373368" y="3959352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COURBE · DEGRÉ 12</a:t>
            </a:r>
            <a:endParaRPr/>
          </a:p>
        </p:txBody>
      </p:sp>
      <p:sp>
        <p:nvSpPr>
          <p:cNvPr id="694" name="Google Shape;694;p34"/>
          <p:cNvSpPr txBox="1"/>
          <p:nvPr/>
        </p:nvSpPr>
        <p:spPr>
          <a:xfrm>
            <a:off x="6373368" y="4507992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Des termes jusqu’à X¹² : davantage de souplesse.</a:t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96" name="Google Shape;696;p34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Chaque candidat utilisera les mêmes commandes d’entraînement pour calculer ses coefficients.</a:t>
            </a:r>
            <a:endParaRPr/>
          </a:p>
        </p:txBody>
      </p:sp>
      <p:sp>
        <p:nvSpPr>
          <p:cNvPr id="697" name="Google Shape;697;p3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698" name="Google Shape;698;p3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34 / 56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RAPPEL · INTERPRÉTER UN RÉSIDU</a:t>
            </a:r>
            <a:endParaRPr/>
          </a:p>
        </p:txBody>
      </p:sp>
      <p:sp>
        <p:nvSpPr>
          <p:cNvPr id="704" name="Google Shape;704;p3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résidu mesure un écart signé</a:t>
            </a:r>
            <a:endParaRPr/>
          </a:p>
        </p:txBody>
      </p:sp>
      <p:pic>
        <p:nvPicPr>
          <p:cNvPr descr="residual_example.png" id="705" name="Google Shape;7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16" y="1847088"/>
            <a:ext cx="7032567" cy="3867912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5"/>
          <p:cNvSpPr txBox="1"/>
          <p:nvPr/>
        </p:nvSpPr>
        <p:spPr>
          <a:xfrm>
            <a:off x="8577072" y="2048256"/>
            <a:ext cx="2926080" cy="3584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Temps observé − temps prédit.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 résidu positif signifie que la commande a pris plus de temps que prévu.</a:t>
            </a:r>
            <a:endParaRPr/>
          </a:p>
        </p:txBody>
      </p:sp>
      <p:sp>
        <p:nvSpPr>
          <p:cNvPr id="707" name="Google Shape;707;p3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08" name="Google Shape;708;p3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signe indique le sens de l’erreur ; il ne dit pas à lui seul si un modèle prédit bien.</a:t>
            </a:r>
            <a:endParaRPr/>
          </a:p>
        </p:txBody>
      </p:sp>
      <p:sp>
        <p:nvSpPr>
          <p:cNvPr id="709" name="Google Shape;709;p3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710" name="Google Shape;710;p3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35 / 56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UNE NOUVELLE MESURE · PASSER DU RÉSIDU À LA MAE</a:t>
            </a:r>
            <a:endParaRPr/>
          </a:p>
        </p:txBody>
      </p:sp>
      <p:sp>
        <p:nvSpPr>
          <p:cNvPr id="716" name="Google Shape;716;p3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Mesurer la taille moyenne des erreurs</a:t>
            </a:r>
            <a:endParaRPr/>
          </a:p>
        </p:txBody>
      </p:sp>
      <p:sp>
        <p:nvSpPr>
          <p:cNvPr id="717" name="Google Shape;717;p36"/>
          <p:cNvSpPr txBox="1"/>
          <p:nvPr/>
        </p:nvSpPr>
        <p:spPr>
          <a:xfrm>
            <a:off x="658368" y="1764792"/>
            <a:ext cx="10881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MAE = Mean Absolute Error</a:t>
            </a:r>
            <a:endParaRPr/>
          </a:p>
        </p:txBody>
      </p:sp>
      <p:sp>
        <p:nvSpPr>
          <p:cNvPr id="718" name="Google Shape;718;p36"/>
          <p:cNvSpPr txBox="1"/>
          <p:nvPr/>
        </p:nvSpPr>
        <p:spPr>
          <a:xfrm>
            <a:off x="685800" y="2606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Erreur absolue moyenne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685800" y="3282696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Exemple de trois prédictions : des erreurs exprimées en minutes.</a:t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594360" y="3941063"/>
            <a:ext cx="3520440" cy="1362456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21" name="Google Shape;721;p36"/>
          <p:cNvSpPr txBox="1"/>
          <p:nvPr/>
        </p:nvSpPr>
        <p:spPr>
          <a:xfrm>
            <a:off x="749808" y="4123944"/>
            <a:ext cx="320954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RÉSIDUS SIGNÉS</a:t>
            </a:r>
            <a:endParaRPr/>
          </a:p>
        </p:txBody>
      </p:sp>
      <p:sp>
        <p:nvSpPr>
          <p:cNvPr id="722" name="Google Shape;722;p36"/>
          <p:cNvSpPr txBox="1"/>
          <p:nvPr/>
        </p:nvSpPr>
        <p:spPr>
          <a:xfrm>
            <a:off x="749808" y="4663440"/>
            <a:ext cx="32095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+3 ; −2 ; +1</a:t>
            </a:r>
            <a:endParaRPr/>
          </a:p>
        </p:txBody>
      </p:sp>
      <p:sp>
        <p:nvSpPr>
          <p:cNvPr id="723" name="Google Shape;723;p36"/>
          <p:cNvSpPr/>
          <p:nvPr/>
        </p:nvSpPr>
        <p:spPr>
          <a:xfrm>
            <a:off x="4334256" y="3941063"/>
            <a:ext cx="3520440" cy="1362456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24" name="Google Shape;724;p36"/>
          <p:cNvSpPr txBox="1"/>
          <p:nvPr/>
        </p:nvSpPr>
        <p:spPr>
          <a:xfrm>
            <a:off x="4489704" y="4123944"/>
            <a:ext cx="320954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VALEURS ABSOLUES</a:t>
            </a:r>
            <a:endParaRPr/>
          </a:p>
        </p:txBody>
      </p:sp>
      <p:sp>
        <p:nvSpPr>
          <p:cNvPr id="725" name="Google Shape;725;p36"/>
          <p:cNvSpPr txBox="1"/>
          <p:nvPr/>
        </p:nvSpPr>
        <p:spPr>
          <a:xfrm>
            <a:off x="4489704" y="4663440"/>
            <a:ext cx="32095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 ; 2 ; 1</a:t>
            </a:r>
            <a:endParaRPr/>
          </a:p>
        </p:txBody>
      </p:sp>
      <p:sp>
        <p:nvSpPr>
          <p:cNvPr id="726" name="Google Shape;726;p36"/>
          <p:cNvSpPr/>
          <p:nvPr/>
        </p:nvSpPr>
        <p:spPr>
          <a:xfrm>
            <a:off x="8074152" y="3941063"/>
            <a:ext cx="3520440" cy="1362456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27" name="Google Shape;727;p36"/>
          <p:cNvSpPr txBox="1"/>
          <p:nvPr/>
        </p:nvSpPr>
        <p:spPr>
          <a:xfrm>
            <a:off x="8229600" y="4123944"/>
            <a:ext cx="320954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MOYENNE</a:t>
            </a:r>
            <a:endParaRPr/>
          </a:p>
        </p:txBody>
      </p:sp>
      <p:sp>
        <p:nvSpPr>
          <p:cNvPr id="728" name="Google Shape;728;p36"/>
          <p:cNvSpPr txBox="1"/>
          <p:nvPr/>
        </p:nvSpPr>
        <p:spPr>
          <a:xfrm>
            <a:off x="8229600" y="4663440"/>
            <a:ext cx="32095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(3 + 2 + 1) / 3 = 2 min</a:t>
            </a:r>
            <a:endParaRPr/>
          </a:p>
        </p:txBody>
      </p:sp>
      <p:sp>
        <p:nvSpPr>
          <p:cNvPr id="729" name="Google Shape;729;p3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30" name="Google Shape;730;p3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valeurs absolues empêchent les signes de s’annuler. Une MAE plus petite signifie moins d’erreur moyenne.</a:t>
            </a:r>
            <a:endParaRPr/>
          </a:p>
        </p:txBody>
      </p:sp>
      <p:sp>
        <p:nvSpPr>
          <p:cNvPr id="731" name="Google Shape;731;p3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732" name="Google Shape;732;p3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36 / 56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NOUVEAU DANS CET EXEMPLE · COMPARER SUR DEUX JEUX</a:t>
            </a:r>
            <a:endParaRPr/>
          </a:p>
        </p:txBody>
      </p:sp>
      <p:sp>
        <p:nvSpPr>
          <p:cNvPr id="738" name="Google Shape;738;p3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même MAE, deux usages</a:t>
            </a:r>
            <a:endParaRPr/>
          </a:p>
        </p:txBody>
      </p:sp>
      <p:sp>
        <p:nvSpPr>
          <p:cNvPr id="739" name="Google Shape;739;p37"/>
          <p:cNvSpPr/>
          <p:nvPr/>
        </p:nvSpPr>
        <p:spPr>
          <a:xfrm>
            <a:off x="594360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40" name="Google Shape;740;p37"/>
          <p:cNvSpPr txBox="1"/>
          <p:nvPr/>
        </p:nvSpPr>
        <p:spPr>
          <a:xfrm>
            <a:off x="777240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MAE D’ENTRAÎNEMENT</a:t>
            </a:r>
            <a:endParaRPr/>
          </a:p>
        </p:txBody>
      </p:sp>
      <p:sp>
        <p:nvSpPr>
          <p:cNvPr id="741" name="Google Shape;741;p37"/>
          <p:cNvSpPr txBox="1"/>
          <p:nvPr/>
        </p:nvSpPr>
        <p:spPr>
          <a:xfrm>
            <a:off x="777240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Mesurer les erreurs sur les 24 commandes qui ont servi à calculer les coefficients.</a:t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6204204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43" name="Google Shape;743;p37"/>
          <p:cNvSpPr txBox="1"/>
          <p:nvPr/>
        </p:nvSpPr>
        <p:spPr>
          <a:xfrm>
            <a:off x="6387084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MAE DE VALIDATION</a:t>
            </a:r>
            <a:endParaRPr/>
          </a:p>
        </p:txBody>
      </p:sp>
      <p:sp>
        <p:nvSpPr>
          <p:cNvPr id="744" name="Google Shape;744;p37"/>
          <p:cNvSpPr txBox="1"/>
          <p:nvPr/>
        </p:nvSpPr>
        <p:spPr>
          <a:xfrm>
            <a:off x="6387084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Mesurer les erreurs sur 160 autres commandes pour comparer les modèles.</a:t>
            </a:r>
            <a:endParaRPr/>
          </a:p>
        </p:txBody>
      </p:sp>
      <p:sp>
        <p:nvSpPr>
          <p:cNvPr id="745" name="Google Shape;745;p3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46" name="Google Shape;746;p3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Même calcul, jeux différents, coefficients inchangés. Critère annoncé : la plus petite MAE de validation.</a:t>
            </a:r>
            <a:endParaRPr/>
          </a:p>
        </p:txBody>
      </p:sp>
      <p:sp>
        <p:nvSpPr>
          <p:cNvPr id="747" name="Google Shape;747;p3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748" name="Google Shape;748;p3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37 / 56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ENTRAÎNEMENT · CALCULER LES COEFFICIENTS</a:t>
            </a:r>
            <a:endParaRPr/>
          </a:p>
        </p:txBody>
      </p:sp>
      <p:sp>
        <p:nvSpPr>
          <p:cNvPr id="754" name="Google Shape;754;p3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Ajuster les quatre candidats sur l’entraînement</a:t>
            </a:r>
            <a:endParaRPr/>
          </a:p>
        </p:txBody>
      </p:sp>
      <p:sp>
        <p:nvSpPr>
          <p:cNvPr id="755" name="Google Shape;755;p38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56" name="Google Shape;756;p38"/>
          <p:cNvSpPr txBox="1"/>
          <p:nvPr/>
        </p:nvSpPr>
        <p:spPr>
          <a:xfrm>
            <a:off x="795528" y="2221992"/>
            <a:ext cx="63550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from numpy.polynomial import Polynomial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model = Polynomial.fit(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  x_train, y_train, deg=2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sp>
        <p:nvSpPr>
          <p:cNvPr id="757" name="Google Shape;757;p38"/>
          <p:cNvSpPr txBox="1"/>
          <p:nvPr/>
        </p:nvSpPr>
        <p:spPr>
          <a:xfrm>
            <a:off x="795528" y="3877056"/>
            <a:ext cx="6355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DCD4"/>
                </a:solidFill>
                <a:latin typeface="Arial"/>
                <a:ea typeface="Arial"/>
                <a:cs typeface="Arial"/>
                <a:sym typeface="Arial"/>
              </a:rPr>
              <a:t>Pourquoi Polynomial.fit ?</a:t>
            </a:r>
            <a:endParaRPr/>
          </a:p>
        </p:txBody>
      </p:sp>
      <p:sp>
        <p:nvSpPr>
          <p:cNvPr id="758" name="Google Shape;758;p38"/>
          <p:cNvSpPr txBox="1"/>
          <p:nvPr/>
        </p:nvSpPr>
        <p:spPr>
          <a:xfrm>
            <a:off x="795528" y="4242816"/>
            <a:ext cx="635508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Polynomial.fit remet X à l’échelle en interne pour améliorer la stabilité numérique.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NumPy le recommande pour le nouveau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np.polyfit accepte aussi les degrés élevés.</a:t>
            </a:r>
            <a:endParaRPr/>
          </a:p>
        </p:txBody>
      </p:sp>
      <p:sp>
        <p:nvSpPr>
          <p:cNvPr id="759" name="Google Shape;759;p38">
            <a:hlinkClick r:id="rId3"/>
          </p:cNvPr>
          <p:cNvSpPr txBox="1"/>
          <p:nvPr/>
        </p:nvSpPr>
        <p:spPr>
          <a:xfrm>
            <a:off x="795528" y="5330952"/>
            <a:ext cx="6355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EDCD4"/>
                </a:solidFill>
                <a:latin typeface="Arial"/>
                <a:ea typeface="Arial"/>
                <a:cs typeface="Arial"/>
                <a:sym typeface="Arial"/>
              </a:rPr>
              <a:t>Référence : documentation NumPy</a:t>
            </a:r>
            <a:endParaRPr/>
          </a:p>
        </p:txBody>
      </p:sp>
      <p:sp>
        <p:nvSpPr>
          <p:cNvPr id="760" name="Google Shape;760;p38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 : degré 2.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Ajuster : minimiser la somme des carrés des résidus.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Utiliser les 24 commandes d’entraînement.</a:t>
            </a:r>
            <a:endParaRPr/>
          </a:p>
        </p:txBody>
      </p:sp>
      <p:sp>
        <p:nvSpPr>
          <p:cNvPr id="761" name="Google Shape;761;p3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62" name="Google Shape;762;p3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Extrait à lire : les tableaux sont définis dans le notebook. Chaque candidat utilise les mêmes données d’entraînement.</a:t>
            </a:r>
            <a:endParaRPr/>
          </a:p>
        </p:txBody>
      </p:sp>
      <p:sp>
        <p:nvSpPr>
          <p:cNvPr id="763" name="Google Shape;763;p3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764" name="Google Shape;764;p3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38 / 56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OBSERVER ET EXPLIQUER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Comparer les courbes sur les mêmes axes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candidates.png" id="771" name="Google Shape;7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00" y="1847160"/>
            <a:ext cx="703224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39"/>
          <p:cNvSpPr/>
          <p:nvPr/>
        </p:nvSpPr>
        <p:spPr>
          <a:xfrm>
            <a:off x="8577000" y="2048400"/>
            <a:ext cx="2925720" cy="358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Où les modèles se ressemblent-ils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Où la courbe la plus souple change-t-elle fortement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Que faut-il mesurer pour choisir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9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9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courbe visuellement proche des points d'entraînement peut mal prédire ailleurs.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39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ENTRAÎNEMENT · MESURER LES ERREURS SUR LES DONNÉES UTILISÉES</a:t>
            </a:r>
            <a:endParaRPr/>
          </a:p>
        </p:txBody>
      </p:sp>
      <p:sp>
        <p:nvSpPr>
          <p:cNvPr id="782" name="Google Shape;782;p40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Comparer les MAE sur l’entraînement</a:t>
            </a:r>
            <a:endParaRPr/>
          </a:p>
        </p:txBody>
      </p:sp>
      <p:sp>
        <p:nvSpPr>
          <p:cNvPr id="783" name="Google Shape;783;p40"/>
          <p:cNvSpPr txBox="1"/>
          <p:nvPr/>
        </p:nvSpPr>
        <p:spPr>
          <a:xfrm>
            <a:off x="685800" y="1810512"/>
            <a:ext cx="108356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mêmes 24 commandes ont servi à ajuster chaque candidat.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MAE = moyenne de leurs 24 erreurs absolues, en minutes.</a:t>
            </a:r>
            <a:endParaRPr/>
          </a:p>
        </p:txBody>
      </p:sp>
      <p:sp>
        <p:nvSpPr>
          <p:cNvPr id="784" name="Google Shape;784;p40"/>
          <p:cNvSpPr/>
          <p:nvPr/>
        </p:nvSpPr>
        <p:spPr>
          <a:xfrm>
            <a:off x="685800" y="2761488"/>
            <a:ext cx="576072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85" name="Google Shape;785;p40"/>
          <p:cNvSpPr txBox="1"/>
          <p:nvPr/>
        </p:nvSpPr>
        <p:spPr>
          <a:xfrm>
            <a:off x="832104" y="2834640"/>
            <a:ext cx="54681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/>
          </a:p>
        </p:txBody>
      </p:sp>
      <p:sp>
        <p:nvSpPr>
          <p:cNvPr id="786" name="Google Shape;786;p40"/>
          <p:cNvSpPr/>
          <p:nvPr/>
        </p:nvSpPr>
        <p:spPr>
          <a:xfrm>
            <a:off x="6446520" y="2761488"/>
            <a:ext cx="507492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87" name="Google Shape;787;p40"/>
          <p:cNvSpPr txBox="1"/>
          <p:nvPr/>
        </p:nvSpPr>
        <p:spPr>
          <a:xfrm>
            <a:off x="6592824" y="2834640"/>
            <a:ext cx="47823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d’entraînement (min)</a:t>
            </a:r>
            <a:endParaRPr/>
          </a:p>
        </p:txBody>
      </p:sp>
      <p:sp>
        <p:nvSpPr>
          <p:cNvPr id="788" name="Google Shape;788;p40"/>
          <p:cNvSpPr/>
          <p:nvPr/>
        </p:nvSpPr>
        <p:spPr>
          <a:xfrm>
            <a:off x="685800" y="3273552"/>
            <a:ext cx="57607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89" name="Google Shape;789;p40"/>
          <p:cNvSpPr txBox="1"/>
          <p:nvPr/>
        </p:nvSpPr>
        <p:spPr>
          <a:xfrm>
            <a:off x="832104" y="3346704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Constante · degré 0</a:t>
            </a:r>
            <a:endParaRPr/>
          </a:p>
        </p:txBody>
      </p:sp>
      <p:sp>
        <p:nvSpPr>
          <p:cNvPr id="790" name="Google Shape;790;p40"/>
          <p:cNvSpPr/>
          <p:nvPr/>
        </p:nvSpPr>
        <p:spPr>
          <a:xfrm>
            <a:off x="6446520" y="3273552"/>
            <a:ext cx="50749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91" name="Google Shape;791;p40"/>
          <p:cNvSpPr txBox="1"/>
          <p:nvPr/>
        </p:nvSpPr>
        <p:spPr>
          <a:xfrm>
            <a:off x="6592824" y="3346704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14,66</a:t>
            </a:r>
            <a:endParaRPr/>
          </a:p>
        </p:txBody>
      </p:sp>
      <p:sp>
        <p:nvSpPr>
          <p:cNvPr id="792" name="Google Shape;792;p40"/>
          <p:cNvSpPr/>
          <p:nvPr/>
        </p:nvSpPr>
        <p:spPr>
          <a:xfrm>
            <a:off x="685800" y="3794760"/>
            <a:ext cx="57607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93" name="Google Shape;793;p40"/>
          <p:cNvSpPr txBox="1"/>
          <p:nvPr/>
        </p:nvSpPr>
        <p:spPr>
          <a:xfrm>
            <a:off x="832104" y="3867912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Droite · degré 1</a:t>
            </a:r>
            <a:endParaRPr/>
          </a:p>
        </p:txBody>
      </p:sp>
      <p:sp>
        <p:nvSpPr>
          <p:cNvPr id="794" name="Google Shape;794;p40"/>
          <p:cNvSpPr/>
          <p:nvPr/>
        </p:nvSpPr>
        <p:spPr>
          <a:xfrm>
            <a:off x="6446520" y="3794760"/>
            <a:ext cx="50749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95" name="Google Shape;795;p40"/>
          <p:cNvSpPr txBox="1"/>
          <p:nvPr/>
        </p:nvSpPr>
        <p:spPr>
          <a:xfrm>
            <a:off x="6592824" y="3867912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3,57</a:t>
            </a:r>
            <a:endParaRPr/>
          </a:p>
        </p:txBody>
      </p:sp>
      <p:sp>
        <p:nvSpPr>
          <p:cNvPr id="796" name="Google Shape;796;p40"/>
          <p:cNvSpPr/>
          <p:nvPr/>
        </p:nvSpPr>
        <p:spPr>
          <a:xfrm>
            <a:off x="685800" y="4315968"/>
            <a:ext cx="57607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97" name="Google Shape;797;p40"/>
          <p:cNvSpPr txBox="1"/>
          <p:nvPr/>
        </p:nvSpPr>
        <p:spPr>
          <a:xfrm>
            <a:off x="832104" y="4389120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Courbe · degré 2</a:t>
            </a:r>
            <a:endParaRPr/>
          </a:p>
        </p:txBody>
      </p:sp>
      <p:sp>
        <p:nvSpPr>
          <p:cNvPr id="798" name="Google Shape;798;p40"/>
          <p:cNvSpPr/>
          <p:nvPr/>
        </p:nvSpPr>
        <p:spPr>
          <a:xfrm>
            <a:off x="6446520" y="4315968"/>
            <a:ext cx="50749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799" name="Google Shape;799;p40"/>
          <p:cNvSpPr txBox="1"/>
          <p:nvPr/>
        </p:nvSpPr>
        <p:spPr>
          <a:xfrm>
            <a:off x="6592824" y="4389120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1,74</a:t>
            </a:r>
            <a:endParaRPr/>
          </a:p>
        </p:txBody>
      </p:sp>
      <p:sp>
        <p:nvSpPr>
          <p:cNvPr id="800" name="Google Shape;800;p40"/>
          <p:cNvSpPr/>
          <p:nvPr/>
        </p:nvSpPr>
        <p:spPr>
          <a:xfrm>
            <a:off x="685800" y="4837176"/>
            <a:ext cx="5760720" cy="502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01" name="Google Shape;801;p40"/>
          <p:cNvSpPr txBox="1"/>
          <p:nvPr/>
        </p:nvSpPr>
        <p:spPr>
          <a:xfrm>
            <a:off x="832104" y="4910328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Courbe · degré 12</a:t>
            </a:r>
            <a:endParaRPr/>
          </a:p>
        </p:txBody>
      </p:sp>
      <p:sp>
        <p:nvSpPr>
          <p:cNvPr id="802" name="Google Shape;802;p40"/>
          <p:cNvSpPr/>
          <p:nvPr/>
        </p:nvSpPr>
        <p:spPr>
          <a:xfrm>
            <a:off x="6446520" y="4837176"/>
            <a:ext cx="5074920" cy="502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03" name="Google Shape;803;p40"/>
          <p:cNvSpPr txBox="1"/>
          <p:nvPr/>
        </p:nvSpPr>
        <p:spPr>
          <a:xfrm>
            <a:off x="6592824" y="4910328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0,88  ← plus petite</a:t>
            </a:r>
            <a:endParaRPr/>
          </a:p>
        </p:txBody>
      </p:sp>
      <p:sp>
        <p:nvSpPr>
          <p:cNvPr id="804" name="Google Shape;804;p40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05" name="Google Shape;805;p40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degré 12 a la plus petite MAE sur ces 24 commandes. Cela ne suffit pas à choisir pour de nouvelles commandes.</a:t>
            </a:r>
            <a:endParaRPr/>
          </a:p>
        </p:txBody>
      </p:sp>
      <p:sp>
        <p:nvSpPr>
          <p:cNvPr id="806" name="Google Shape;806;p4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807" name="Google Shape;807;p4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40 / 56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VALIDATION · UTILISER LES COEFFICIENTS DÉJÀ CALCULÉS</a:t>
            </a:r>
            <a:endParaRPr/>
          </a:p>
        </p:txBody>
      </p:sp>
      <p:sp>
        <p:nvSpPr>
          <p:cNvPr id="813" name="Google Shape;813;p4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Appliquer les modèles à la validation</a:t>
            </a:r>
            <a:endParaRPr/>
          </a:p>
        </p:txBody>
      </p:sp>
      <p:sp>
        <p:nvSpPr>
          <p:cNvPr id="814" name="Google Shape;814;p41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15" name="Google Shape;815;p41"/>
          <p:cNvSpPr txBox="1"/>
          <p:nvPr/>
        </p:nvSpPr>
        <p:spPr>
          <a:xfrm>
            <a:off x="795528" y="2221992"/>
            <a:ext cx="63550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from numpy.polynomial import Polynomial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model = Polynomial.fit(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  x_train, y_train, deg=2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y_validation_hat = model(x_validation)</a:t>
            </a:r>
            <a:endParaRPr/>
          </a:p>
        </p:txBody>
      </p:sp>
      <p:sp>
        <p:nvSpPr>
          <p:cNvPr id="816" name="Google Shape;816;p41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 : degré 2, candidat déjà ajusté.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y_validation_hat : durées prédites en validation.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model(...) prédit sans changer les coefficients.</a:t>
            </a:r>
            <a:endParaRPr/>
          </a:p>
        </p:txBody>
      </p:sp>
      <p:sp>
        <p:nvSpPr>
          <p:cNvPr id="817" name="Google Shape;817;p4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18" name="Google Shape;818;p4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Lignes claires : rappel de l’ajustement déjà effectué. Ligne verte : prédictions sur les 160 commandes de validation.</a:t>
            </a:r>
            <a:endParaRPr/>
          </a:p>
        </p:txBody>
      </p:sp>
      <p:sp>
        <p:nvSpPr>
          <p:cNvPr id="819" name="Google Shape;819;p4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820" name="Google Shape;820;p4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41 / 56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FORMULER UNE PRÉVISION</a:t>
            </a:r>
            <a:endParaRPr/>
          </a:p>
        </p:txBody>
      </p:sp>
      <p:sp>
        <p:nvSpPr>
          <p:cNvPr id="826" name="Google Shape;826;p4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Prévoir le classement avant la validation</a:t>
            </a:r>
            <a:endParaRPr/>
          </a:p>
        </p:txBody>
      </p:sp>
      <p:sp>
        <p:nvSpPr>
          <p:cNvPr id="827" name="Google Shape;827;p42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Classez les quatre candidats selon la précision que vous attendez sur de nouvelles commandes.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La courbe la plus proche des points d’entraînement devrait-elle aussi gagner sur la validation ?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Expliquez votre prévision avant d’examiner les résultats.</a:t>
            </a:r>
            <a:endParaRPr/>
          </a:p>
        </p:txBody>
      </p:sp>
      <p:sp>
        <p:nvSpPr>
          <p:cNvPr id="828" name="Google Shape;828;p4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29" name="Google Shape;829;p4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La validation va comparer les mêmes modèles, sans recalculer leurs coefficients. Le test final reste fermé.</a:t>
            </a:r>
            <a:endParaRPr/>
          </a:p>
        </p:txBody>
      </p:sp>
      <p:sp>
        <p:nvSpPr>
          <p:cNvPr id="830" name="Google Shape;830;p4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831" name="Google Shape;831;p4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42 / 56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VOIR LES ERREURS SUR 160 NOUVELLES COMMANDES</a:t>
            </a:r>
            <a:endParaRPr/>
          </a:p>
        </p:txBody>
      </p:sp>
      <p:sp>
        <p:nvSpPr>
          <p:cNvPr id="837" name="Google Shape;837;p4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Validation : comparer les quatre modèles</a:t>
            </a:r>
            <a:endParaRPr/>
          </a:p>
        </p:txBody>
      </p:sp>
      <p:pic>
        <p:nvPicPr>
          <p:cNvPr descr="model_validation_predictions.png" id="838" name="Google Shape;83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438" y="1536192"/>
            <a:ext cx="10466363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40" name="Google Shape;840;p4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Points : durées observées. Courbes : prédictions. Segments verticaux : erreurs absolues.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MAE = moyenne sur les 160 commandes. Mêmes échelles ; coefficients conservés.</a:t>
            </a:r>
            <a:endParaRPr/>
          </a:p>
        </p:txBody>
      </p:sp>
      <p:sp>
        <p:nvSpPr>
          <p:cNvPr id="841" name="Google Shape;841;p4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842" name="Google Shape;842;p4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43 / 56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4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OBSERVER ET EXPLIQUER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4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Comparer les erreurs d'entraînement et de validation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errors.png" id="849" name="Google Shape;8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00" y="1847160"/>
            <a:ext cx="703224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44"/>
          <p:cNvSpPr/>
          <p:nvPr/>
        </p:nvSpPr>
        <p:spPr>
          <a:xfrm>
            <a:off x="8577000" y="2048400"/>
            <a:ext cx="2925720" cy="358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Quel candidat retenir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Justifier avec la validation, les unités et la complexité.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4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4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notebook donne les valeurs exactes ; une petite différence seule ne prouve pas une supériorité générale.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4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4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44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RÉSULTATS DE CETTE SIMULATION · INTERPRÉTER LA COMPARAISON</a:t>
            </a:r>
            <a:endParaRPr/>
          </a:p>
        </p:txBody>
      </p:sp>
      <p:sp>
        <p:nvSpPr>
          <p:cNvPr id="860" name="Google Shape;860;p4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Dans cet exemple, le classement s’inverse</a:t>
            </a:r>
            <a:endParaRPr/>
          </a:p>
        </p:txBody>
      </p:sp>
      <p:sp>
        <p:nvSpPr>
          <p:cNvPr id="861" name="Google Shape;861;p45"/>
          <p:cNvSpPr txBox="1"/>
          <p:nvPr/>
        </p:nvSpPr>
        <p:spPr>
          <a:xfrm>
            <a:off x="685800" y="1865376"/>
            <a:ext cx="108356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Deux des quatre candidats du notebook 01.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Même calcul de MAE ; commandes d’entraînement et de validation distinctes.</a:t>
            </a:r>
            <a:endParaRPr/>
          </a:p>
        </p:txBody>
      </p:sp>
      <p:sp>
        <p:nvSpPr>
          <p:cNvPr id="862" name="Google Shape;862;p45"/>
          <p:cNvSpPr/>
          <p:nvPr/>
        </p:nvSpPr>
        <p:spPr>
          <a:xfrm>
            <a:off x="685800" y="2816352"/>
            <a:ext cx="260604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63" name="Google Shape;863;p45"/>
          <p:cNvSpPr txBox="1"/>
          <p:nvPr/>
        </p:nvSpPr>
        <p:spPr>
          <a:xfrm>
            <a:off x="795528" y="2889504"/>
            <a:ext cx="2386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/>
          </a:p>
        </p:txBody>
      </p:sp>
      <p:sp>
        <p:nvSpPr>
          <p:cNvPr id="864" name="Google Shape;864;p45"/>
          <p:cNvSpPr/>
          <p:nvPr/>
        </p:nvSpPr>
        <p:spPr>
          <a:xfrm>
            <a:off x="3291840" y="2816352"/>
            <a:ext cx="411480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65" name="Google Shape;865;p45"/>
          <p:cNvSpPr txBox="1"/>
          <p:nvPr/>
        </p:nvSpPr>
        <p:spPr>
          <a:xfrm>
            <a:off x="3401568" y="2889504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entraînement (min)</a:t>
            </a:r>
            <a:endParaRPr/>
          </a:p>
        </p:txBody>
      </p:sp>
      <p:sp>
        <p:nvSpPr>
          <p:cNvPr id="866" name="Google Shape;866;p45"/>
          <p:cNvSpPr/>
          <p:nvPr/>
        </p:nvSpPr>
        <p:spPr>
          <a:xfrm>
            <a:off x="7406640" y="2816352"/>
            <a:ext cx="411480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67" name="Google Shape;867;p45"/>
          <p:cNvSpPr txBox="1"/>
          <p:nvPr/>
        </p:nvSpPr>
        <p:spPr>
          <a:xfrm>
            <a:off x="7516367" y="2889504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validation (min)</a:t>
            </a:r>
            <a:endParaRPr/>
          </a:p>
        </p:txBody>
      </p:sp>
      <p:sp>
        <p:nvSpPr>
          <p:cNvPr id="868" name="Google Shape;868;p45"/>
          <p:cNvSpPr/>
          <p:nvPr/>
        </p:nvSpPr>
        <p:spPr>
          <a:xfrm>
            <a:off x="685800" y="3328416"/>
            <a:ext cx="260604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69" name="Google Shape;869;p45"/>
          <p:cNvSpPr txBox="1"/>
          <p:nvPr/>
        </p:nvSpPr>
        <p:spPr>
          <a:xfrm>
            <a:off x="795528" y="3438144"/>
            <a:ext cx="23865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Degré 2</a:t>
            </a:r>
            <a:endParaRPr/>
          </a:p>
        </p:txBody>
      </p:sp>
      <p:sp>
        <p:nvSpPr>
          <p:cNvPr id="870" name="Google Shape;870;p45"/>
          <p:cNvSpPr/>
          <p:nvPr/>
        </p:nvSpPr>
        <p:spPr>
          <a:xfrm>
            <a:off x="3291840" y="3328416"/>
            <a:ext cx="411480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71" name="Google Shape;871;p45"/>
          <p:cNvSpPr txBox="1"/>
          <p:nvPr/>
        </p:nvSpPr>
        <p:spPr>
          <a:xfrm>
            <a:off x="3401568" y="343814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1,74</a:t>
            </a:r>
            <a:endParaRPr/>
          </a:p>
        </p:txBody>
      </p:sp>
      <p:sp>
        <p:nvSpPr>
          <p:cNvPr id="872" name="Google Shape;872;p45"/>
          <p:cNvSpPr/>
          <p:nvPr/>
        </p:nvSpPr>
        <p:spPr>
          <a:xfrm>
            <a:off x="7406640" y="3328416"/>
            <a:ext cx="4114800" cy="5760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73" name="Google Shape;873;p45"/>
          <p:cNvSpPr txBox="1"/>
          <p:nvPr/>
        </p:nvSpPr>
        <p:spPr>
          <a:xfrm>
            <a:off x="7516367" y="343814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2,06  ← plus petite</a:t>
            </a:r>
            <a:endParaRPr/>
          </a:p>
        </p:txBody>
      </p:sp>
      <p:sp>
        <p:nvSpPr>
          <p:cNvPr id="874" name="Google Shape;874;p45"/>
          <p:cNvSpPr/>
          <p:nvPr/>
        </p:nvSpPr>
        <p:spPr>
          <a:xfrm>
            <a:off x="685800" y="3922776"/>
            <a:ext cx="260604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75" name="Google Shape;875;p45"/>
          <p:cNvSpPr txBox="1"/>
          <p:nvPr/>
        </p:nvSpPr>
        <p:spPr>
          <a:xfrm>
            <a:off x="795528" y="4032504"/>
            <a:ext cx="23865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Degré 12</a:t>
            </a:r>
            <a:endParaRPr/>
          </a:p>
        </p:txBody>
      </p:sp>
      <p:sp>
        <p:nvSpPr>
          <p:cNvPr id="876" name="Google Shape;876;p45"/>
          <p:cNvSpPr/>
          <p:nvPr/>
        </p:nvSpPr>
        <p:spPr>
          <a:xfrm>
            <a:off x="3291840" y="3922776"/>
            <a:ext cx="4114800" cy="5760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77" name="Google Shape;877;p45"/>
          <p:cNvSpPr txBox="1"/>
          <p:nvPr/>
        </p:nvSpPr>
        <p:spPr>
          <a:xfrm>
            <a:off x="3401568" y="403250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0,88  ← plus petite</a:t>
            </a:r>
            <a:endParaRPr/>
          </a:p>
        </p:txBody>
      </p:sp>
      <p:sp>
        <p:nvSpPr>
          <p:cNvPr id="878" name="Google Shape;878;p45"/>
          <p:cNvSpPr/>
          <p:nvPr/>
        </p:nvSpPr>
        <p:spPr>
          <a:xfrm>
            <a:off x="7406640" y="3922776"/>
            <a:ext cx="411480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79" name="Google Shape;879;p45"/>
          <p:cNvSpPr txBox="1"/>
          <p:nvPr/>
        </p:nvSpPr>
        <p:spPr>
          <a:xfrm>
            <a:off x="7516367" y="403250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3,28</a:t>
            </a:r>
            <a:endParaRPr/>
          </a:p>
        </p:txBody>
      </p:sp>
      <p:sp>
        <p:nvSpPr>
          <p:cNvPr id="880" name="Google Shape;880;p45"/>
          <p:cNvSpPr txBox="1"/>
          <p:nvPr/>
        </p:nvSpPr>
        <p:spPr>
          <a:xfrm>
            <a:off x="685800" y="4581144"/>
            <a:ext cx="108356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Les coefficients sont ceux calculés sur l’entraînement. Chaque colonne compare les mêmes commandes.</a:t>
            </a:r>
            <a:endParaRPr/>
          </a:p>
        </p:txBody>
      </p:sp>
      <p:sp>
        <p:nvSpPr>
          <p:cNvPr id="881" name="Google Shape;881;p45"/>
          <p:cNvSpPr txBox="1"/>
          <p:nvPr/>
        </p:nvSpPr>
        <p:spPr>
          <a:xfrm>
            <a:off x="685800" y="5010912"/>
            <a:ext cx="1083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degré 12 gagne sur l’entraînement ; le degré 2 gagne sur la validation.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 qui ajuste le mieux les données connues ne prédit pas forcément le mieux.</a:t>
            </a:r>
            <a:endParaRPr/>
          </a:p>
        </p:txBody>
      </p:sp>
      <p:sp>
        <p:nvSpPr>
          <p:cNvPr id="882" name="Google Shape;882;p4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83" name="Google Shape;883;p4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degré 2 a ici la plus petite MAE de validation parmi les quatre candidats. Ce classement n’est pas universel.</a:t>
            </a:r>
            <a:endParaRPr/>
          </a:p>
        </p:txBody>
      </p:sp>
      <p:sp>
        <p:nvSpPr>
          <p:cNvPr id="884" name="Google Shape;884;p4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885" name="Google Shape;885;p4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45 / 56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INTERPRÉTER</a:t>
            </a:r>
            <a:endParaRPr/>
          </a:p>
        </p:txBody>
      </p:sp>
      <p:sp>
        <p:nvSpPr>
          <p:cNvPr id="891" name="Google Shape;891;p4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Reconnaître le surapprentissage</a:t>
            </a:r>
            <a:endParaRPr/>
          </a:p>
        </p:txBody>
      </p:sp>
      <p:sp>
        <p:nvSpPr>
          <p:cNvPr id="892" name="Google Shape;892;p46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L’erreur d’entraînement peut diminuer avec davantage de souplesse.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L’erreur de validation peut augmenter : la courbe suit aussi du bruit.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Chercher un modèle qui prédit utilement, avec une complexité justifiée.</a:t>
            </a:r>
            <a:endParaRPr/>
          </a:p>
        </p:txBody>
      </p:sp>
      <p:sp>
        <p:nvSpPr>
          <p:cNvPr id="893" name="Google Shape;893;p4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94" name="Google Shape;894;p4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forme trop simple peut aussi manquer une courbure réelle : examiner les deux erreurs.</a:t>
            </a:r>
            <a:endParaRPr/>
          </a:p>
        </p:txBody>
      </p:sp>
      <p:sp>
        <p:nvSpPr>
          <p:cNvPr id="895" name="Google Shape;895;p4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896" name="Google Shape;896;p4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46 / 56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7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VÉRIFIER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7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Fixer le choix, puis consulter le test final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7"/>
          <p:cNvSpPr/>
          <p:nvPr/>
        </p:nvSpPr>
        <p:spPr>
          <a:xfrm>
            <a:off x="841320" y="2011680"/>
            <a:ext cx="10515240" cy="35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Écrire le modèle choisi et sa justification avec la validation.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Appliquer ce modèle au test final, sans changer ses paramètres.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Rapporter l'erreur et les limites de cet échantillon d'évaluation.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7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7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Cette procédure évalue la prédiction ; elle ne prouve pas une relation causale.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7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7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47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LE CHOIX EST FIXÉ AVANT LE TEST</a:t>
            </a:r>
            <a:endParaRPr/>
          </a:p>
        </p:txBody>
      </p:sp>
      <p:sp>
        <p:nvSpPr>
          <p:cNvPr id="913" name="Google Shape;913;p4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Test final : évaluer le modèle retenu</a:t>
            </a:r>
            <a:endParaRPr/>
          </a:p>
        </p:txBody>
      </p:sp>
      <p:pic>
        <p:nvPicPr>
          <p:cNvPr descr="model_test_prediction.png" id="914" name="Google Shape;91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237" y="1536192"/>
            <a:ext cx="9718765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4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16" name="Google Shape;916;p4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Modèle retenu : degré 2, sans réajustement. Points observés ; courbe prédite ; segments d’erreur.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MAE = moyenne des 160 erreurs absolues du test. Aucun nouveau choix sur ces résultats.</a:t>
            </a:r>
            <a:endParaRPr/>
          </a:p>
        </p:txBody>
      </p:sp>
      <p:sp>
        <p:nvSpPr>
          <p:cNvPr id="917" name="Google Shape;917;p4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918" name="Google Shape;918;p4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48 / 56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DISTINGUER RÈGLE CONNUE ET ESTIMATION</a:t>
            </a:r>
            <a:endParaRPr/>
          </a:p>
        </p:txBody>
      </p:sp>
      <p:sp>
        <p:nvSpPr>
          <p:cNvPr id="924" name="Google Shape;924;p4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Pourquoi les coefficients estimés diffèrent-ils ?</a:t>
            </a:r>
            <a:endParaRPr/>
          </a:p>
        </p:txBody>
      </p:sp>
      <p:sp>
        <p:nvSpPr>
          <p:cNvPr id="925" name="Google Shape;925;p49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générateur utilise la règle 5 + 0,35 × X + 0,025 × X², puis ajoute du bruit.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modèle estime trois coefficients à partir de 24 commandes bruitées ; il ne reçoit pas la règle du générateur.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Un autre échantillon pourrait donner d’autres coefficients estimés.</a:t>
            </a:r>
            <a:endParaRPr/>
          </a:p>
        </p:txBody>
      </p:sp>
      <p:sp>
        <p:nvSpPr>
          <p:cNvPr id="926" name="Google Shape;926;p4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27" name="Google Shape;927;p4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Ici, la règle et le modèle retenu sont de degré 2. Le bruit suffit à créer des écarts entre leurs coefficients.</a:t>
            </a:r>
            <a:endParaRPr/>
          </a:p>
        </p:txBody>
      </p:sp>
      <p:sp>
        <p:nvSpPr>
          <p:cNvPr id="928" name="Google Shape;928;p4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929" name="Google Shape;929;p4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49 / 56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0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DÉFINIR LE PÉRIMÈTRE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0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Deux limites à vérifier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0"/>
          <p:cNvSpPr/>
          <p:nvPr/>
        </p:nvSpPr>
        <p:spPr>
          <a:xfrm>
            <a:off x="59436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50"/>
          <p:cNvSpPr/>
          <p:nvPr/>
        </p:nvSpPr>
        <p:spPr>
          <a:xfrm>
            <a:off x="77724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PLAGE OBSERVÉE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0"/>
          <p:cNvSpPr/>
          <p:nvPr/>
        </p:nvSpPr>
        <p:spPr>
          <a:xfrm>
            <a:off x="77724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Prédire loin des nombres d'articles observés est une extrapolation : la courbe peut devenir peu plausible.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0"/>
          <p:cNvSpPr/>
          <p:nvPr/>
        </p:nvSpPr>
        <p:spPr>
          <a:xfrm>
            <a:off x="620424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0"/>
          <p:cNvSpPr/>
          <p:nvPr/>
        </p:nvSpPr>
        <p:spPr>
          <a:xfrm>
            <a:off x="638712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OBSERVATIONS LIÉES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0"/>
          <p:cNvSpPr/>
          <p:nvPr/>
        </p:nvSpPr>
        <p:spPr>
          <a:xfrm>
            <a:off x="638712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Pour prévoir de nouveaux clients, garder toutes les visites d'un client dans un seul jeu de données.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0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0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Demander à quelles futures observations on souhaite appliquer le modèle.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0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0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50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APPLICATION GUIDÉE · UN PARCOURS CONTINU</a:t>
            </a:r>
            <a:endParaRPr/>
          </a:p>
        </p:txBody>
      </p:sp>
      <p:sp>
        <p:nvSpPr>
          <p:cNvPr id="951" name="Google Shape;951;p5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Rejouer l’exemple dans le notebook guidé</a:t>
            </a:r>
            <a:endParaRPr/>
          </a:p>
        </p:txBody>
      </p:sp>
      <p:sp>
        <p:nvSpPr>
          <p:cNvPr id="952" name="Google Shape;952;p51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Ouvrir le notebook 01 au début : données, MAE, puis ajustement des modèles.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Parcourir les sections 1 à 7 dans l’ordre et expliquer les graphiques obtenus.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Justifier le choix avec la validation, puis retrouver son évaluation sur le test final.</a:t>
            </a:r>
            <a:endParaRPr/>
          </a:p>
        </p:txBody>
      </p:sp>
      <p:sp>
        <p:nvSpPr>
          <p:cNvPr id="953" name="Google Shape;953;p5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54" name="Google Shape;954;p5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notebooks/01_evaluer_les_modeles.ipynb · Exemple guidé complet : reproduire et expliquer les décisions.</a:t>
            </a:r>
            <a:endParaRPr/>
          </a:p>
        </p:txBody>
      </p:sp>
      <p:sp>
        <p:nvSpPr>
          <p:cNvPr id="955" name="Google Shape;955;p5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/>
          </a:p>
        </p:txBody>
      </p:sp>
      <p:sp>
        <p:nvSpPr>
          <p:cNvPr id="956" name="Google Shape;956;p5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51 / 56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2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CLIENTS, VISITES ET INTERPRÉTATION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2"/>
          <p:cNvSpPr/>
          <p:nvPr/>
        </p:nvSpPr>
        <p:spPr>
          <a:xfrm>
            <a:off x="777240" y="1828800"/>
            <a:ext cx="1078956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Reprendre l'enquête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âge–achats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2"/>
          <p:cNvSpPr/>
          <p:nvPr/>
        </p:nvSpPr>
        <p:spPr>
          <a:xfrm>
            <a:off x="804600" y="4114800"/>
            <a:ext cx="1051524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Exercice autonome du jeudi après-midi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Notebook 02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2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2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52 / 56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53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REPRISE DE LA DIAPOSITIVE 37 DU 6 OCTOBRE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3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Deux hypothèses à examiner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3"/>
          <p:cNvSpPr/>
          <p:nvPr/>
        </p:nvSpPr>
        <p:spPr>
          <a:xfrm>
            <a:off x="59436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53"/>
          <p:cNvSpPr/>
          <p:nvPr/>
        </p:nvSpPr>
        <p:spPr>
          <a:xfrm>
            <a:off x="77724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RESSOURCES ET LIEU DE VIE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3"/>
          <p:cNvSpPr/>
          <p:nvPr/>
        </p:nvSpPr>
        <p:spPr>
          <a:xfrm>
            <a:off x="77724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clients plus âgés auraient davantage de ressources et habiteraient plus loin.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3"/>
          <p:cNvSpPr/>
          <p:nvPr/>
        </p:nvSpPr>
        <p:spPr>
          <a:xfrm>
            <a:off x="620424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3"/>
          <p:cNvSpPr/>
          <p:nvPr/>
        </p:nvSpPr>
        <p:spPr>
          <a:xfrm>
            <a:off x="638712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FRÉQUENCE DES VISITES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3"/>
          <p:cNvSpPr/>
          <p:nvPr/>
        </p:nvSpPr>
        <p:spPr>
          <a:xfrm>
            <a:off x="638712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clients qui viennent moins souvent dépenseraient davantage à chaque visite.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3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3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deux pistes peuvent coexister. Revenu, résidence rurale et temps de trajet ne sont pas mesurés.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3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3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53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4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EXERCICE · LIRE LES 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4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Deux CSV, deux unités d'observation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4"/>
          <p:cNvSpPr/>
          <p:nvPr/>
        </p:nvSpPr>
        <p:spPr>
          <a:xfrm>
            <a:off x="59436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4"/>
          <p:cNvSpPr/>
          <p:nvPr/>
        </p:nvSpPr>
        <p:spPr>
          <a:xfrm>
            <a:off x="77724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customers.csv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4"/>
          <p:cNvSpPr/>
          <p:nvPr/>
        </p:nvSpPr>
        <p:spPr>
          <a:xfrm>
            <a:off x="77724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400 clients : identifiant, magasin, âge et distance fixe du client.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54"/>
          <p:cNvSpPr/>
          <p:nvPr/>
        </p:nvSpPr>
        <p:spPr>
          <a:xfrm>
            <a:off x="620424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4"/>
          <p:cNvSpPr/>
          <p:nvPr/>
        </p:nvSpPr>
        <p:spPr>
          <a:xfrm>
            <a:off x="638712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visits.csv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54"/>
          <p:cNvSpPr/>
          <p:nvPr/>
        </p:nvSpPr>
        <p:spPr>
          <a:xfrm>
            <a:off x="638712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2 000 visites : identifiant de visite, client et montant d'achat.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4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4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La distance fixe des clients est différente de l'ancienne distance par transaction du 1er octobre.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4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54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54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5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EXERCICE · TRAVAIL AUTONOME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5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Construire, comparer et expliquer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55"/>
          <p:cNvSpPr/>
          <p:nvPr/>
        </p:nvSpPr>
        <p:spPr>
          <a:xfrm>
            <a:off x="841320" y="2011680"/>
            <a:ext cx="10515240" cy="35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Produire une ligne par client : visites et panier moyen par visite.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Examiner les cinq relations, ensemble puis dans chaque magasin.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Revenir à une visite pour la droite, les résidus et R², qui mesure l'ajustement sur ces achats.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5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notebooks/02_enquete_age_achats.ipynb : prévision, stratégie, outils et contrôles.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5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55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55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6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EXERCICE · RÉSULTATS ATTENDUS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6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 qui rend votre résultat vérifiable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6"/>
          <p:cNvSpPr/>
          <p:nvPr/>
        </p:nvSpPr>
        <p:spPr>
          <a:xfrm>
            <a:off x="841320" y="2011680"/>
            <a:ext cx="10515240" cy="35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Un notebook exécutable dans l'ordre et des unités explicites.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Des graphiques lisibles et une interprétation de chaque résultat.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Une conclusion : ce que les données soutiennent et ce qu'elles ne permettent pas de conclure.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6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6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Chaque client compte une fois dans la table clients ; chaque visite une fois dans la table des achats.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56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08.10.2026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56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56 / 56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