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5"/>
  </p:notesMasterIdLst>
  <p:sldIdLst>
    <p:sldId id="256" r:id="rId2"/>
    <p:sldId id="257" r:id="rId3"/>
    <p:sldId id="274" r:id="rId4"/>
    <p:sldId id="258" r:id="rId5"/>
    <p:sldId id="265" r:id="rId6"/>
    <p:sldId id="266" r:id="rId7"/>
    <p:sldId id="278" r:id="rId8"/>
    <p:sldId id="267" r:id="rId9"/>
    <p:sldId id="269" r:id="rId10"/>
    <p:sldId id="277" r:id="rId11"/>
    <p:sldId id="281" r:id="rId12"/>
    <p:sldId id="285" r:id="rId13"/>
    <p:sldId id="287" r:id="rId14"/>
    <p:sldId id="312" r:id="rId15"/>
    <p:sldId id="321" r:id="rId16"/>
    <p:sldId id="322" r:id="rId17"/>
    <p:sldId id="294" r:id="rId18"/>
    <p:sldId id="297" r:id="rId19"/>
    <p:sldId id="289" r:id="rId20"/>
    <p:sldId id="313" r:id="rId21"/>
    <p:sldId id="314" r:id="rId22"/>
    <p:sldId id="295" r:id="rId23"/>
    <p:sldId id="327" r:id="rId24"/>
    <p:sldId id="325" r:id="rId25"/>
    <p:sldId id="328" r:id="rId26"/>
    <p:sldId id="304" r:id="rId27"/>
    <p:sldId id="298" r:id="rId28"/>
    <p:sldId id="319" r:id="rId29"/>
    <p:sldId id="330" r:id="rId30"/>
    <p:sldId id="300" r:id="rId31"/>
    <p:sldId id="291" r:id="rId32"/>
    <p:sldId id="293" r:id="rId33"/>
    <p:sldId id="292" r:id="rId34"/>
    <p:sldId id="301" r:id="rId35"/>
    <p:sldId id="394" r:id="rId36"/>
    <p:sldId id="307" r:id="rId37"/>
    <p:sldId id="302" r:id="rId38"/>
    <p:sldId id="268" r:id="rId39"/>
    <p:sldId id="395" r:id="rId40"/>
    <p:sldId id="396" r:id="rId41"/>
    <p:sldId id="331" r:id="rId42"/>
    <p:sldId id="275" r:id="rId43"/>
    <p:sldId id="276" r:id="rId44"/>
    <p:sldId id="263" r:id="rId45"/>
    <p:sldId id="397" r:id="rId46"/>
    <p:sldId id="398" r:id="rId47"/>
    <p:sldId id="290" r:id="rId48"/>
    <p:sldId id="270" r:id="rId49"/>
    <p:sldId id="324" r:id="rId50"/>
    <p:sldId id="283" r:id="rId51"/>
    <p:sldId id="308" r:id="rId52"/>
    <p:sldId id="399" r:id="rId53"/>
    <p:sldId id="318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396B0-519A-F51C-78C8-EDA06E014B80}" name="Olivier Delrieu - perso" initials="OD" userId="6d675d449cf9d2e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F"/>
    <a:srgbClr val="F0EFFF"/>
    <a:srgbClr val="FF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145" autoAdjust="0"/>
    <p:restoredTop sz="74824" autoAdjust="0"/>
  </p:normalViewPr>
  <p:slideViewPr>
    <p:cSldViewPr snapToGrid="0">
      <p:cViewPr varScale="1">
        <p:scale>
          <a:sx n="96" d="100"/>
          <a:sy n="96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E8FD90-F779-4014-B125-1A2290CEA870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2B0003-5E34-4E60-8722-06B058E839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90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côté scientifique pour comprendre la tech sous-jacente et prendre de bonnes </a:t>
            </a:r>
            <a:r>
              <a:rPr lang="fr-FR" sz="1200" b="0" strike="noStrike" spc="-1">
                <a:solidFill>
                  <a:srgbClr val="000000"/>
                </a:solidFill>
                <a:latin typeface="Arial"/>
              </a:rPr>
              <a:t>décisions  vie de tous les jours &amp; professionnelle</a:t>
            </a:r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4751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noProof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 gigawatt = consommation maximale d’électricité de la métropole de Lyon en hiver le soir.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48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323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Comprendre pourquoi durant cette présentation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0391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pas réellement apprendre : plutôt s’entraîner.</a:t>
            </a:r>
          </a:p>
          <a:p>
            <a:endParaRPr lang="fr-FR" noProof="0" dirty="0"/>
          </a:p>
          <a:p>
            <a:r>
              <a:rPr lang="fr-FR" noProof="0" dirty="0"/>
              <a:t>IA pas __encore__ intelligente</a:t>
            </a:r>
          </a:p>
          <a:p>
            <a:endParaRPr lang="fr-FR" noProof="0" dirty="0"/>
          </a:p>
          <a:p>
            <a:r>
              <a:rPr lang="fr-FR" noProof="0" dirty="0"/>
              <a:t>ses objectifs =&gt; lien avec la conscience de soi</a:t>
            </a:r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D827B302-24A3-470A-943C-41082C4B08F5}" type="slidenum">
              <a:rPr lang="en-GB" sz="1400" b="0" strike="noStrike" spc="-1" smtClean="0">
                <a:solidFill>
                  <a:srgbClr val="000000"/>
                </a:solidFill>
                <a:latin typeface="Times New Roman"/>
              </a:rPr>
              <a:t>6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0702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8B36-5ED4-DCAF-86DD-DC96CFC9C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499AE-2F77-F5B5-4806-9B2AD9008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C9F926-16CE-CAF6-0CEC-D3108A6BD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L’IA actuelle est artificielle, provient d’une imitation du fonctionnement du cerveau. </a:t>
            </a:r>
          </a:p>
          <a:p>
            <a:endParaRPr lang="fr-FR" noProof="0" dirty="0"/>
          </a:p>
          <a:p>
            <a:r>
              <a:rPr lang="fr-FR" dirty="0"/>
              <a:t>l’IA : elle complète certaines capacités humaines, mais ne crée rien de nouveau pour l’instant</a:t>
            </a:r>
          </a:p>
          <a:p>
            <a:endParaRPr lang="fr-FR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strike="noStrike" spc="-1" dirty="0">
                <a:solidFill>
                  <a:srgbClr val="000000"/>
                </a:solidFill>
                <a:latin typeface="Arial"/>
              </a:rPr>
              <a:t>Art : nécessite connaissance et expérience pour la mettre en application correctement</a:t>
            </a:r>
            <a:endParaRPr lang="en-GB" sz="1200" b="0" strike="noStrike" spc="-1" dirty="0">
              <a:solidFill>
                <a:srgbClr val="000000"/>
              </a:solidFill>
              <a:latin typeface="Arial"/>
            </a:endParaRPr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E8603-B108-BE71-2BD7-46F36E4437A1}"/>
              </a:ext>
            </a:extLst>
          </p:cNvPr>
          <p:cNvSpPr>
            <a:spLocks noGrp="1"/>
          </p:cNvSpPr>
          <p:nvPr>
            <p:ph type="sldNum" idx="8"/>
          </p:nvPr>
        </p:nvSpPr>
        <p:spPr/>
        <p:txBody>
          <a:bodyPr/>
          <a:lstStyle/>
          <a:p>
            <a:pPr indent="0" algn="r">
              <a:buNone/>
            </a:pPr>
            <a:fld id="{D827B302-24A3-470A-943C-41082C4B08F5}" type="slidenum">
              <a:rPr lang="en-GB" sz="1400" b="0" strike="noStrike" spc="-1" smtClean="0">
                <a:solidFill>
                  <a:srgbClr val="000000"/>
                </a:solidFill>
                <a:latin typeface="Times New Roman"/>
              </a:rPr>
              <a:t>7</a:t>
            </a:fld>
            <a:endParaRPr lang="en-GB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13534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792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combine l’expérience de plusieurs médecins en une application</a:t>
            </a:r>
          </a:p>
          <a:p>
            <a:r>
              <a:rPr lang="fr-FR" noProof="0" dirty="0"/>
              <a:t>détection signaux faibles</a:t>
            </a:r>
          </a:p>
          <a:p>
            <a:r>
              <a:rPr lang="fr-FR" noProof="0" dirty="0"/>
              <a:t>rapidité, diminution coûts</a:t>
            </a:r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950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16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IA prédictive =&gt; IA générative : ne faire que prédire le mot suivant ou le pixel suivant en fonction du contexte, des mots précédents et des pixels </a:t>
            </a:r>
            <a:r>
              <a:rPr lang="fr-FR" noProof="0" dirty="0" err="1"/>
              <a:t>precedent</a:t>
            </a:r>
            <a:r>
              <a:rPr lang="fr-FR" noProof="0" dirty="0"/>
              <a:t>.</a:t>
            </a:r>
          </a:p>
          <a:p>
            <a:endParaRPr lang="fr-FR" noProof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Très utile dans la vie de tous les jours, dans les sociétés pour automatiser des processus de création de documents, ici un résumé.</a:t>
            </a:r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38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OpenAI</a:t>
            </a:r>
            <a:r>
              <a:rPr lang="fr-FR" dirty="0"/>
              <a:t> interdit à </a:t>
            </a:r>
            <a:r>
              <a:rPr lang="fr-FR" dirty="0" err="1"/>
              <a:t>ChatGPT</a:t>
            </a:r>
            <a:r>
              <a:rPr lang="fr-FR" dirty="0"/>
              <a:t> de fournir des conseils médicaux et juridiques personnalisés sans l’intervention de professionnels dûment habilités</a:t>
            </a:r>
          </a:p>
          <a:p>
            <a:r>
              <a:rPr lang="fr-FR" dirty="0"/>
              <a:t>car il peut commettre des erreurs.</a:t>
            </a:r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464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E81C-C129-23ED-9344-F44DDA6C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5B40FA-72BB-6D3A-7376-EDEB2E67B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F2A065-2D2A-41CA-72CA-2F632E79B3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erreurs manifestes et erreurs plus subtiles: mésinformation traduit en désinformation</a:t>
            </a:r>
          </a:p>
          <a:p>
            <a:pPr marL="0" indent="0">
              <a:buFont typeface="Symbol" panose="05050102010706020507" pitchFamily="18" charset="2"/>
              <a:buNone/>
            </a:pPr>
            <a:endParaRPr lang="fr-F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369694-C699-CAE8-3787-972AA9933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9619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ECD75-29C2-DD2C-0648-A828B9723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1D3A2A-D8B2-A9AD-832F-2FC563723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4CD4AB-70DC-93D7-4FA7-8B7C99ACF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AF82A-B466-5DC7-94D5-3B1E1AA59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672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expérience scientifique =&gt; observations</a:t>
            </a:r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9269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2E43A-BF34-7FCB-EBD5-F55AC53A1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4690D4-7314-1BD1-3E90-43506123C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0147BC-F20C-F658-058A-38061B3C14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modélisation linéaire</a:t>
            </a:r>
          </a:p>
          <a:p>
            <a:r>
              <a:rPr lang="fr-FR" noProof="0" dirty="0"/>
              <a:t>probable concepts physiques sous-jacent : le modèle fait sens et est explicable.</a:t>
            </a:r>
          </a:p>
          <a:p>
            <a:r>
              <a:rPr lang="fr-FR" noProof="0" dirty="0"/>
              <a:t>: paramètres déterminés à partir d’un algorithme mathématique prédéfini: minimiser les distances entres les points et la ligne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0" dirty="0"/>
              <a:t>modèle paramétrique avec des hypothèses très fortes 2 paramètres : y=</a:t>
            </a:r>
            <a:r>
              <a:rPr lang="fr-FR" noProof="0" dirty="0" err="1"/>
              <a:t>ax+b</a:t>
            </a:r>
            <a:endParaRPr lang="fr-FR" noProof="0" dirty="0"/>
          </a:p>
          <a:p>
            <a:r>
              <a:rPr lang="fr-FR" noProof="0" dirty="0"/>
              <a:t>modèle très bien explicable et interprétable</a:t>
            </a:r>
          </a:p>
          <a:p>
            <a:endParaRPr lang="fr-FR" noProof="0" dirty="0"/>
          </a:p>
          <a:p>
            <a:r>
              <a:rPr lang="fr-FR" noProof="0" dirty="0"/>
              <a:t>Lorsque les données sont plus complexes et qu’il n’y a pas de modèle prédéfini connu, il faut utiliser l’IA</a:t>
            </a:r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EFAB3-EA4C-F8D5-79F1-C0E90B5E68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573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 vous laisse </a:t>
            </a:r>
            <a:r>
              <a:rPr lang="en-US" dirty="0" err="1"/>
              <a:t>quelques</a:t>
            </a:r>
            <a:r>
              <a:rPr lang="en-US" dirty="0"/>
              <a:t> </a:t>
            </a:r>
            <a:r>
              <a:rPr lang="en-US" dirty="0" err="1"/>
              <a:t>secondes</a:t>
            </a:r>
            <a:r>
              <a:rPr lang="en-US" dirty="0"/>
              <a:t> pour </a:t>
            </a:r>
            <a:r>
              <a:rPr lang="en-US" dirty="0" err="1"/>
              <a:t>trouver</a:t>
            </a:r>
            <a:r>
              <a:rPr lang="en-US" dirty="0"/>
              <a:t> les </a:t>
            </a:r>
            <a:r>
              <a:rPr lang="en-US" dirty="0" err="1"/>
              <a:t>carrés</a:t>
            </a:r>
            <a:r>
              <a:rPr lang="en-US" dirty="0"/>
              <a:t> qui </a:t>
            </a:r>
            <a:r>
              <a:rPr lang="en-US" dirty="0" err="1"/>
              <a:t>contiennent</a:t>
            </a:r>
            <a:r>
              <a:rPr lang="en-US" dirty="0"/>
              <a:t> 2 petits </a:t>
            </a:r>
            <a:r>
              <a:rPr lang="en-US" dirty="0" err="1"/>
              <a:t>carrés</a:t>
            </a:r>
            <a:r>
              <a:rPr lang="en-US" dirty="0"/>
              <a:t> jaunes.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883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Avez-vous compté les petits carrés ou juste reconnu les carrés avec 2 parties jaunes?</a:t>
            </a:r>
          </a:p>
          <a:p>
            <a:endParaRPr lang="fr-FR" noProof="0" dirty="0"/>
          </a:p>
          <a:p>
            <a:r>
              <a:rPr lang="en-US" dirty="0"/>
              <a:t>Nous </a:t>
            </a:r>
            <a:r>
              <a:rPr lang="en-US" dirty="0" err="1"/>
              <a:t>allons</a:t>
            </a:r>
            <a:r>
              <a:rPr lang="en-US" dirty="0"/>
              <a:t> &amp; </a:t>
            </a:r>
            <a:r>
              <a:rPr lang="en-US" dirty="0" err="1"/>
              <a:t>construire</a:t>
            </a:r>
            <a:r>
              <a:rPr lang="en-US" dirty="0"/>
              <a:t> entrainer un réseau de neurons pour </a:t>
            </a:r>
            <a:r>
              <a:rPr lang="en-US" dirty="0" err="1"/>
              <a:t>trouver</a:t>
            </a:r>
            <a:r>
              <a:rPr lang="en-US" dirty="0"/>
              <a:t> les </a:t>
            </a:r>
            <a:r>
              <a:rPr lang="en-US" dirty="0" err="1"/>
              <a:t>carrés</a:t>
            </a:r>
            <a:r>
              <a:rPr lang="en-US" dirty="0"/>
              <a:t> </a:t>
            </a:r>
            <a:r>
              <a:rPr lang="en-US" dirty="0" err="1"/>
              <a:t>contenant</a:t>
            </a:r>
            <a:r>
              <a:rPr lang="en-US" dirty="0"/>
              <a:t> 2 petits carré jaunes.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734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( poids à chaque entré )</a:t>
            </a:r>
          </a:p>
          <a:p>
            <a:r>
              <a:rPr lang="fr-FR" noProof="0" dirty="0"/>
              <a:t>Somme des entrées (pondérées)</a:t>
            </a:r>
          </a:p>
          <a:p>
            <a:r>
              <a:rPr lang="fr-FR" noProof="0" dirty="0"/>
              <a:t>Somme supérieure à seuil =&gt; le neurone se déclenche / s’active</a:t>
            </a:r>
          </a:p>
          <a:p>
            <a:endParaRPr lang="fr-FR" noProof="0" dirty="0"/>
          </a:p>
          <a:p>
            <a:r>
              <a:rPr lang="fr-FR" noProof="0" dirty="0"/>
              <a:t>très simple. très flexible car beaucoup de paramètres.</a:t>
            </a:r>
          </a:p>
          <a:p>
            <a:endParaRPr lang="fr-FR" noProof="0" dirty="0"/>
          </a:p>
          <a:p>
            <a:r>
              <a:rPr lang="fr-FR" noProof="0" dirty="0"/>
              <a:t>poids &amp; seuil sont des paramètres, spécifiques de la fonction du neurone. </a:t>
            </a:r>
          </a:p>
          <a:p>
            <a:pPr marL="171450" indent="-171450">
              <a:buFontTx/>
              <a:buChar char="-"/>
            </a:pPr>
            <a:r>
              <a:rPr lang="fr-FR" noProof="0" dirty="0"/>
              <a:t>éducation =&gt; paramètres</a:t>
            </a:r>
          </a:p>
          <a:p>
            <a:pPr marL="171450" indent="-171450">
              <a:buFontTx/>
              <a:buChar char="-"/>
            </a:pPr>
            <a:r>
              <a:rPr lang="fr-FR" noProof="0" dirty="0"/>
              <a:t>entraînement =&gt; paramètres</a:t>
            </a:r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295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DEAD0-E9D8-24AC-6C9A-F706AF068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682ED-6EF6-49FB-CAFA-732FCF7C7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A310FB-2AB0-67F2-B07D-4D3D7D050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neurons </a:t>
            </a:r>
            <a:r>
              <a:rPr lang="en-US" dirty="0" err="1"/>
              <a:t>connectés</a:t>
            </a:r>
            <a:r>
              <a:rPr lang="en-US" dirty="0"/>
              <a:t> entre </a:t>
            </a:r>
            <a:r>
              <a:rPr lang="en-US" dirty="0" err="1"/>
              <a:t>eux</a:t>
            </a:r>
            <a:endParaRPr lang="en-US" dirty="0"/>
          </a:p>
          <a:p>
            <a:endParaRPr lang="en-US" dirty="0"/>
          </a:p>
          <a:p>
            <a:r>
              <a:rPr lang="en-US" dirty="0"/>
              <a:t>réseau de </a:t>
            </a:r>
            <a:r>
              <a:rPr lang="en-US" dirty="0" err="1"/>
              <a:t>neurones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B7171-74C1-57B8-E76C-0C310FBD9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89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E5705-C587-854B-C53D-A2B1BD53C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4FDAA-6136-872C-1EDA-A61A55B0DE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34FA43-3182-5852-2C53-4B592802A5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entrainer un réseau de </a:t>
            </a:r>
            <a:r>
              <a:rPr lang="en-US" dirty="0" err="1"/>
              <a:t>neurones</a:t>
            </a:r>
            <a:r>
              <a:rPr lang="en-US" dirty="0"/>
              <a:t> pour </a:t>
            </a:r>
            <a:r>
              <a:rPr lang="en-US" dirty="0" err="1"/>
              <a:t>prédire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il y a 2 petits </a:t>
            </a:r>
            <a:r>
              <a:rPr lang="en-US" dirty="0" err="1"/>
              <a:t>carrés</a:t>
            </a:r>
            <a:r>
              <a:rPr lang="en-US" dirty="0"/>
              <a:t> jaunes </a:t>
            </a:r>
            <a:r>
              <a:rPr lang="en-US" dirty="0" err="1"/>
              <a:t>ou</a:t>
            </a:r>
            <a:r>
              <a:rPr lang="en-US" dirty="0"/>
              <a:t> pas</a:t>
            </a:r>
          </a:p>
          <a:p>
            <a:r>
              <a:rPr lang="en-US" dirty="0"/>
              <a:t>neurons </a:t>
            </a:r>
            <a:r>
              <a:rPr lang="en-US" dirty="0" err="1"/>
              <a:t>artificiels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483A1-AFBC-406A-825B-AEFFB07CF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3874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réseau de neurons </a:t>
            </a:r>
            <a:r>
              <a:rPr lang="en-US" dirty="0" err="1"/>
              <a:t>artificiels</a:t>
            </a:r>
            <a:r>
              <a:rPr lang="en-US" dirty="0"/>
              <a:t>, </a:t>
            </a:r>
            <a:r>
              <a:rPr lang="en-US" dirty="0" err="1"/>
              <a:t>permettant</a:t>
            </a:r>
            <a:r>
              <a:rPr lang="en-US" dirty="0"/>
              <a:t> de savoir </a:t>
            </a:r>
            <a:r>
              <a:rPr lang="en-US" dirty="0" err="1"/>
              <a:t>s’il</a:t>
            </a:r>
            <a:r>
              <a:rPr lang="en-US" dirty="0"/>
              <a:t> il y a 2 petits </a:t>
            </a:r>
            <a:r>
              <a:rPr lang="en-US" dirty="0" err="1"/>
              <a:t>carrés</a:t>
            </a:r>
            <a:r>
              <a:rPr lang="en-US" dirty="0"/>
              <a:t> jaunes </a:t>
            </a:r>
            <a:r>
              <a:rPr lang="en-US" dirty="0" err="1"/>
              <a:t>ou</a:t>
            </a:r>
            <a:r>
              <a:rPr lang="en-US" dirty="0"/>
              <a:t> pas sur les 4</a:t>
            </a:r>
          </a:p>
          <a:p>
            <a:endParaRPr lang="en-US" dirty="0"/>
          </a:p>
          <a:p>
            <a:r>
              <a:rPr lang="en-US" dirty="0"/>
              <a:t>Total de 13 </a:t>
            </a:r>
            <a:r>
              <a:rPr lang="en-US" dirty="0" err="1"/>
              <a:t>paramètres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Fonctionne</a:t>
            </a:r>
            <a:r>
              <a:rPr lang="en-US" dirty="0"/>
              <a:t> très bien : 100% de </a:t>
            </a:r>
            <a:r>
              <a:rPr lang="en-US" dirty="0" err="1"/>
              <a:t>réussite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752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C5CB4-BB7A-B8C7-C038-110367BD3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8ED6C9-1AAD-6EFD-ED52-78A842653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DEA318-9D2D-5C44-25B2-8989F7AB13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réseau de neurons </a:t>
            </a:r>
            <a:r>
              <a:rPr lang="en-US" dirty="0" err="1"/>
              <a:t>artificiels</a:t>
            </a:r>
            <a:r>
              <a:rPr lang="en-US" dirty="0"/>
              <a:t>, </a:t>
            </a:r>
            <a:r>
              <a:rPr lang="en-US" dirty="0" err="1"/>
              <a:t>permettant</a:t>
            </a:r>
            <a:r>
              <a:rPr lang="en-US" dirty="0"/>
              <a:t> de </a:t>
            </a:r>
            <a:r>
              <a:rPr lang="en-US" dirty="0" err="1"/>
              <a:t>savoit</a:t>
            </a:r>
            <a:r>
              <a:rPr lang="en-US" dirty="0"/>
              <a:t> </a:t>
            </a:r>
            <a:r>
              <a:rPr lang="en-US" dirty="0" err="1"/>
              <a:t>dil</a:t>
            </a:r>
            <a:r>
              <a:rPr lang="en-US" dirty="0"/>
              <a:t> il y a 2 petits </a:t>
            </a:r>
            <a:r>
              <a:rPr lang="en-US" dirty="0" err="1"/>
              <a:t>carrés</a:t>
            </a:r>
            <a:r>
              <a:rPr lang="en-US" dirty="0"/>
              <a:t> noirs sur les 4</a:t>
            </a:r>
          </a:p>
          <a:p>
            <a:endParaRPr lang="en-US" dirty="0"/>
          </a:p>
          <a:p>
            <a:r>
              <a:rPr lang="en-US" dirty="0"/>
              <a:t>Total de 13 </a:t>
            </a:r>
            <a:r>
              <a:rPr lang="en-US" dirty="0" err="1"/>
              <a:t>paramètres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E9715-1D85-370A-8BCA-D09A8C01E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84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paramètres</a:t>
            </a:r>
            <a:r>
              <a:rPr lang="en-US" dirty="0"/>
              <a:t> =&gt; multiples </a:t>
            </a:r>
            <a:r>
              <a:rPr lang="en-US" dirty="0" err="1"/>
              <a:t>possibilités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function des points de </a:t>
            </a:r>
            <a:r>
              <a:rPr lang="en-US" dirty="0" err="1"/>
              <a:t>départ</a:t>
            </a:r>
            <a:r>
              <a:rPr lang="en-US" dirty="0"/>
              <a:t> : IA est un 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C88C-68BD-AE72-2192-4E7A5C5E0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16CD9-7B79-B686-5CBB-F3E0B2CF3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3D921E-FC83-B312-EF88-F0A17F6A2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paramètres</a:t>
            </a:r>
            <a:r>
              <a:rPr lang="en-US" dirty="0"/>
              <a:t> / </a:t>
            </a:r>
            <a:r>
              <a:rPr lang="en-US" dirty="0" err="1"/>
              <a:t>poids</a:t>
            </a:r>
            <a:r>
              <a:rPr lang="en-US" dirty="0"/>
              <a:t> </a:t>
            </a:r>
            <a:r>
              <a:rPr lang="en-US" dirty="0" err="1"/>
              <a:t>difficiles</a:t>
            </a:r>
            <a:r>
              <a:rPr lang="en-US" dirty="0"/>
              <a:t> à </a:t>
            </a:r>
            <a:r>
              <a:rPr lang="en-US" dirty="0" err="1"/>
              <a:t>trouver</a:t>
            </a:r>
            <a:r>
              <a:rPr lang="en-US" dirty="0"/>
              <a:t> : il faut du temp pour entrainer le </a:t>
            </a:r>
            <a:r>
              <a:rPr lang="en-US" dirty="0" err="1"/>
              <a:t>modèle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fois</a:t>
            </a:r>
            <a:r>
              <a:rPr lang="en-US" dirty="0"/>
              <a:t> les </a:t>
            </a:r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trouvés</a:t>
            </a:r>
            <a:r>
              <a:rPr lang="en-US" dirty="0"/>
              <a:t>,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fois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entraîné</a:t>
            </a:r>
            <a:r>
              <a:rPr lang="en-US" dirty="0"/>
              <a:t>, la prediction est très </a:t>
            </a:r>
            <a:r>
              <a:rPr lang="en-US" dirty="0" err="1"/>
              <a:t>rapide</a:t>
            </a:r>
            <a:r>
              <a:rPr lang="en-US" dirty="0"/>
              <a:t>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Fonctionne</a:t>
            </a:r>
            <a:r>
              <a:rPr lang="en-US" dirty="0"/>
              <a:t> très bien : 100% de </a:t>
            </a:r>
            <a:r>
              <a:rPr lang="en-US" dirty="0" err="1"/>
              <a:t>réussite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ici</a:t>
            </a:r>
            <a:r>
              <a:rPr lang="en-US" dirty="0"/>
              <a:t> 13 </a:t>
            </a:r>
            <a:r>
              <a:rPr lang="en-US" dirty="0" err="1"/>
              <a:t>paramètres</a:t>
            </a:r>
            <a:r>
              <a:rPr lang="en-US" dirty="0"/>
              <a:t>, 1 </a:t>
            </a:r>
            <a:r>
              <a:rPr lang="en-US" dirty="0" err="1"/>
              <a:t>seconde</a:t>
            </a:r>
            <a:r>
              <a:rPr lang="en-US" dirty="0"/>
              <a:t> vs 1 </a:t>
            </a:r>
            <a:r>
              <a:rPr lang="en-US" dirty="0" err="1"/>
              <a:t>microseconde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paramètres</a:t>
            </a:r>
            <a:r>
              <a:rPr lang="en-US" dirty="0"/>
              <a:t> non </a:t>
            </a:r>
            <a:r>
              <a:rPr lang="en-US" dirty="0" err="1"/>
              <a:t>détermisnistes</a:t>
            </a:r>
            <a:r>
              <a:rPr lang="en-US" dirty="0"/>
              <a:t> (stochastics ) : </a:t>
            </a:r>
            <a:r>
              <a:rPr lang="en-US" dirty="0" err="1"/>
              <a:t>nombreuses</a:t>
            </a:r>
            <a:r>
              <a:rPr lang="en-US" dirty="0"/>
              <a:t> solutions au </a:t>
            </a:r>
            <a:r>
              <a:rPr lang="en-US" dirty="0" err="1"/>
              <a:t>problème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B9EA0-B1F4-83E7-DB45-D3CA4F901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779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plus de neurons, plus de </a:t>
            </a:r>
            <a:r>
              <a:rPr lang="en-US" dirty="0" err="1"/>
              <a:t>paramètres</a:t>
            </a:r>
            <a:r>
              <a:rPr lang="en-US" dirty="0"/>
              <a:t> =&gt; predictions plus complexes</a:t>
            </a:r>
          </a:p>
          <a:p>
            <a:endParaRPr lang="en-US" dirty="0"/>
          </a:p>
          <a:p>
            <a:r>
              <a:rPr lang="en-US" dirty="0"/>
              <a:t>Exactitude : 90%</a:t>
            </a:r>
          </a:p>
          <a:p>
            <a:endParaRPr lang="en-US" dirty="0"/>
          </a:p>
          <a:p>
            <a:r>
              <a:rPr lang="en-US" dirty="0" err="1"/>
              <a:t>Méthodes</a:t>
            </a:r>
            <a:r>
              <a:rPr lang="en-US" dirty="0"/>
              <a:t> </a:t>
            </a:r>
            <a:r>
              <a:rPr lang="en-US" dirty="0" err="1"/>
              <a:t>classiques</a:t>
            </a:r>
            <a:r>
              <a:rPr lang="en-US" dirty="0"/>
              <a:t> incapables </a:t>
            </a:r>
            <a:r>
              <a:rPr lang="en-US" dirty="0" err="1"/>
              <a:t>d’analyser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7148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9A006-16AF-BA38-BE05-70532D5B9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307BD4-7ED9-4AA7-9DA6-1C3EDEEB3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BFAAB-8F3A-F71A-75C7-4B1CB3AA3E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Achieving 86 billion GPU cores (5.1M GPUs) by 2030 is feasible given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xAI’s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trajectory, assuming sustained funding, NVIDIA supply, and power infrastructure growth. However, this would represent a massive but not brain-equivalent compute system, as synapses (~860T) far outnumber neurons, and AI efficiency depends on architecture, not just raw core count. </a:t>
            </a:r>
            <a:r>
              <a:rPr lang="en-US" sz="1200" b="0" strike="noStrike" spc="-1" dirty="0" err="1">
                <a:solidFill>
                  <a:srgbClr val="000000"/>
                </a:solidFill>
                <a:latin typeface="Arial"/>
              </a:rPr>
              <a:t>xAI’s</a:t>
            </a:r>
            <a:r>
              <a:rPr lang="en-US" sz="1200" b="0" strike="noStrike" spc="-1" dirty="0">
                <a:solidFill>
                  <a:srgbClr val="000000"/>
                </a:solidFill>
                <a:latin typeface="Arial"/>
              </a:rPr>
              <a:t> plans for 50M GPU-equivalents suggest they may overshoot 86 billion cores well before 2030, potentially by 2028-2029, if power and supply constraints are resolved.</a:t>
            </a:r>
            <a:endParaRPr lang="en-GB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GB" sz="12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9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The best IT/GPU analog for synapses is neural network weights, stored in GPU memory and processed by CUDA/tensor cores. In Colossus 1 and 2, these could number 1-10T, far below the brain’s 860T synapses but closing the gap as models scale. By 2030, with </a:t>
            </a:r>
            <a:r>
              <a:rPr lang="en-US" sz="900" b="0" strike="noStrike" spc="-1" dirty="0" err="1">
                <a:solidFill>
                  <a:srgbClr val="000000"/>
                </a:solidFill>
                <a:latin typeface="+mn-lt"/>
                <a:ea typeface="+mn-ea"/>
              </a:rPr>
              <a:t>xAI’s</a:t>
            </a:r>
            <a:r>
              <a:rPr lang="en-US" sz="900" b="0" strike="noStrike" spc="-1" dirty="0">
                <a:solidFill>
                  <a:srgbClr val="000000"/>
                </a:solidFill>
                <a:latin typeface="+mn-lt"/>
                <a:ea typeface="+mn-ea"/>
              </a:rPr>
              <a:t> projected 50M GPU-equivalents (850B cores), models could approach 100T parameters, making the synapse analogy stronger, though fundamental differences in computation remain.</a:t>
            </a:r>
            <a:endParaRPr lang="en-GB" sz="9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GB" sz="9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lang="en-US" sz="900" b="0" strike="noStrike" spc="-1" dirty="0">
                <a:solidFill>
                  <a:srgbClr val="000000"/>
                </a:solidFill>
                <a:latin typeface="Arial"/>
              </a:rPr>
              <a:t>‘</a:t>
            </a:r>
            <a:r>
              <a:rPr lang="en-US" sz="900" b="0" strike="noStrike" spc="-1" dirty="0" err="1">
                <a:solidFill>
                  <a:srgbClr val="000000"/>
                </a:solidFill>
                <a:latin typeface="Arial"/>
              </a:rPr>
              <a:t>puces</a:t>
            </a:r>
            <a:r>
              <a:rPr lang="en-US" sz="900" b="0" strike="noStrike" spc="-1" dirty="0">
                <a:solidFill>
                  <a:srgbClr val="000000"/>
                </a:solidFill>
                <a:latin typeface="Arial"/>
              </a:rPr>
              <a:t>’: </a:t>
            </a:r>
            <a:r>
              <a:rPr lang="en-GB" sz="900" b="0" strike="noStrike" spc="-1" dirty="0" err="1">
                <a:solidFill>
                  <a:srgbClr val="000000"/>
                </a:solidFill>
                <a:latin typeface="Arial"/>
              </a:rPr>
              <a:t>calculs</a:t>
            </a:r>
            <a:r>
              <a:rPr lang="en-GB" sz="900" b="0" strike="noStrike" spc="-1" dirty="0">
                <a:solidFill>
                  <a:srgbClr val="000000"/>
                </a:solidFill>
                <a:latin typeface="Arial"/>
              </a:rPr>
              <a:t> très simples, très </a:t>
            </a:r>
            <a:r>
              <a:rPr lang="en-GB" sz="900" b="0" strike="noStrike" spc="-1" dirty="0" err="1">
                <a:solidFill>
                  <a:srgbClr val="000000"/>
                </a:solidFill>
                <a:latin typeface="Arial"/>
              </a:rPr>
              <a:t>rapidement</a:t>
            </a:r>
            <a:endParaRPr lang="en-GB" sz="900" b="0" strike="noStrike" spc="-1" dirty="0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  <a:tabLst>
                <a:tab pos="0" algn="l"/>
              </a:tabLst>
            </a:pPr>
            <a:endParaRPr lang="en-GB" sz="900" b="0" strike="noStrike" spc="-1" dirty="0">
              <a:solidFill>
                <a:srgbClr val="000000"/>
              </a:solidFill>
              <a:latin typeface="Arial"/>
            </a:endParaRPr>
          </a:p>
          <a:p>
            <a:r>
              <a:rPr lang="en-US" dirty="0"/>
              <a:t>as of now, that </a:t>
            </a:r>
            <a:r>
              <a:rPr lang="en-US" b="1" dirty="0"/>
              <a:t>≈$5T market cap for Nvidia </a:t>
            </a:r>
            <a:r>
              <a:rPr lang="en-US" b="1" i="1" dirty="0"/>
              <a:t>is</a:t>
            </a:r>
            <a:r>
              <a:rPr lang="en-US" b="1" dirty="0"/>
              <a:t> the highest ever reached by any publicly traded company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S&amp;P500 P/E ratio typically ~30</a:t>
            </a:r>
          </a:p>
          <a:p>
            <a:endParaRPr lang="en-US" dirty="0"/>
          </a:p>
          <a:p>
            <a:r>
              <a:rPr lang="en-US" b="1" dirty="0"/>
              <a:t>the ratio is high</a:t>
            </a:r>
            <a:r>
              <a:rPr lang="en-US" dirty="0"/>
              <a:t>, even by tech standards — but it’s broadly consistent with how markets are currently treating Nvidia: as the central toll booth on global AI infrastructure, with gigantic, still-growing earnings.</a:t>
            </a:r>
          </a:p>
          <a:p>
            <a:endParaRPr lang="en-US" dirty="0"/>
          </a:p>
          <a:p>
            <a:r>
              <a:rPr lang="en-US" dirty="0"/>
              <a:t>The real risk to Nvidia is not fraud; it's whether the AI capex ROI materializes over the next 2–3 years. Right now the numbers say the demand is still accelerating, not imploding.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F93AE-E887-66F1-7B1D-3578063A02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0968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dépendant</a:t>
            </a:r>
            <a:r>
              <a:rPr lang="en-US" dirty="0"/>
              <a:t> </a:t>
            </a:r>
            <a:r>
              <a:rPr lang="en-US" dirty="0" err="1"/>
              <a:t>paramètres</a:t>
            </a:r>
            <a:r>
              <a:rPr lang="en-US" dirty="0"/>
              <a:t> </a:t>
            </a:r>
            <a:r>
              <a:rPr lang="en-US" dirty="0" err="1"/>
              <a:t>initiaux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moitié</a:t>
            </a:r>
            <a:r>
              <a:rPr lang="en-US" dirty="0"/>
              <a:t> : entre beaucoup et pas beaucoup</a:t>
            </a:r>
          </a:p>
          <a:p>
            <a:endParaRPr lang="en-US" dirty="0"/>
          </a:p>
          <a:p>
            <a:r>
              <a:rPr lang="en-US" dirty="0"/>
              <a:t>probable </a:t>
            </a:r>
            <a:r>
              <a:rPr lang="en-US" dirty="0" err="1"/>
              <a:t>même</a:t>
            </a:r>
            <a:r>
              <a:rPr lang="en-US" dirty="0"/>
              <a:t> configuration dans </a:t>
            </a:r>
            <a:r>
              <a:rPr lang="en-US" dirty="0" err="1"/>
              <a:t>votre</a:t>
            </a:r>
            <a:r>
              <a:rPr lang="en-US" dirty="0"/>
              <a:t> </a:t>
            </a:r>
            <a:r>
              <a:rPr lang="en-US" dirty="0" err="1"/>
              <a:t>cerveau</a:t>
            </a:r>
            <a:r>
              <a:rPr lang="en-US" dirty="0"/>
              <a:t> in conscient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7661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B37D3-C47C-EFF1-3F08-3357C145B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BD219C-3032-1E3F-24D2-8CC8A2CC89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DBADA-040E-A529-F8F1-FEFEFEDC7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85093-78FE-EE71-4FDD-FBA21E2C3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6407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the anthropomorphism layer in your expectations</a:t>
            </a:r>
          </a:p>
          <a:p>
            <a:endParaRPr lang="en-US" dirty="0"/>
          </a:p>
          <a:p>
            <a:r>
              <a:rPr lang="en-US" dirty="0"/>
              <a:t>Dire “Merci” à </a:t>
            </a:r>
            <a:r>
              <a:rPr lang="en-US" dirty="0" err="1"/>
              <a:t>une</a:t>
            </a:r>
            <a:r>
              <a:rPr lang="en-US" dirty="0"/>
              <a:t> IA ?</a:t>
            </a:r>
          </a:p>
          <a:p>
            <a:endParaRPr lang="en-US" dirty="0"/>
          </a:p>
          <a:p>
            <a:r>
              <a:rPr lang="en-US" dirty="0" err="1"/>
              <a:t>Problème</a:t>
            </a:r>
            <a:r>
              <a:rPr lang="en-US" dirty="0"/>
              <a:t>: on ne </a:t>
            </a:r>
            <a:r>
              <a:rPr lang="en-US" dirty="0" err="1"/>
              <a:t>sait</a:t>
            </a:r>
            <a:r>
              <a:rPr lang="en-US" dirty="0"/>
              <a:t> pas </a:t>
            </a:r>
            <a:r>
              <a:rPr lang="en-US" dirty="0" err="1"/>
              <a:t>pourquoi</a:t>
            </a:r>
            <a:r>
              <a:rPr lang="en-US" dirty="0"/>
              <a:t> un </a:t>
            </a:r>
            <a:r>
              <a:rPr lang="en-US" dirty="0" err="1"/>
              <a:t>résulat</a:t>
            </a:r>
            <a:r>
              <a:rPr lang="en-US" dirty="0"/>
              <a:t> est faux. </a:t>
            </a:r>
            <a:r>
              <a:rPr lang="en-US" dirty="0" err="1"/>
              <a:t>SOlution</a:t>
            </a:r>
            <a:r>
              <a:rPr lang="en-US" dirty="0"/>
              <a:t> : plus de données, </a:t>
            </a:r>
            <a:r>
              <a:rPr lang="en-US" dirty="0" err="1"/>
              <a:t>boite</a:t>
            </a:r>
            <a:r>
              <a:rPr lang="en-US" dirty="0"/>
              <a:t> noire plus </a:t>
            </a:r>
            <a:r>
              <a:rPr lang="en-US" dirty="0" err="1"/>
              <a:t>complexe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9452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utilize pour </a:t>
            </a:r>
            <a:r>
              <a:rPr lang="en-US" dirty="0" err="1"/>
              <a:t>extrapoler</a:t>
            </a:r>
            <a:r>
              <a:rPr lang="en-US" dirty="0"/>
              <a:t> dans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autre</a:t>
            </a:r>
            <a:r>
              <a:rPr lang="en-US" dirty="0"/>
              <a:t> zone</a:t>
            </a:r>
          </a:p>
          <a:p>
            <a:endParaRPr lang="en-US" dirty="0"/>
          </a:p>
          <a:p>
            <a:r>
              <a:rPr lang="fr-FR" dirty="0"/>
              <a:t>Un algorithme est une suite finie et non ambiguë d'instructions et d’opérations permettant de résoudre une classe de problèmes.</a:t>
            </a:r>
          </a:p>
          <a:p>
            <a:endParaRPr lang="fr-FR" dirty="0"/>
          </a:p>
          <a:p>
            <a:r>
              <a:rPr lang="fr-FR" dirty="0"/>
              <a:t>IA : combinaison ambiguë d’algorithmes</a:t>
            </a:r>
          </a:p>
          <a:p>
            <a:endParaRPr lang="fr-FR" dirty="0"/>
          </a:p>
          <a:p>
            <a:r>
              <a:rPr lang="fr-FR" dirty="0" err="1"/>
              <a:t>Muḥammad</a:t>
            </a:r>
            <a:r>
              <a:rPr lang="fr-FR" dirty="0"/>
              <a:t> ibn </a:t>
            </a:r>
            <a:r>
              <a:rPr lang="fr-FR" dirty="0" err="1"/>
              <a:t>Mūsā</a:t>
            </a:r>
            <a:r>
              <a:rPr lang="fr-FR" dirty="0"/>
              <a:t> </a:t>
            </a:r>
            <a:r>
              <a:rPr lang="fr-FR" dirty="0" err="1"/>
              <a:t>al-Khwārizmī</a:t>
            </a:r>
            <a:r>
              <a:rPr lang="fr-FR" dirty="0"/>
              <a:t> latinisé en </a:t>
            </a:r>
            <a:r>
              <a:rPr lang="fr-FR" dirty="0" err="1"/>
              <a:t>Algoritmi</a:t>
            </a:r>
            <a:r>
              <a:rPr lang="fr-FR" dirty="0"/>
              <a:t> est un mathématicien persan du IXe siècle</a:t>
            </a:r>
          </a:p>
          <a:p>
            <a:endParaRPr lang="fr-FR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363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Job </a:t>
            </a:r>
            <a:r>
              <a:rPr lang="en-US" dirty="0" err="1"/>
              <a:t>entraînement</a:t>
            </a:r>
            <a:r>
              <a:rPr lang="en-US" dirty="0"/>
              <a:t> =&gt; Médecins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0166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</a:t>
            </a:r>
            <a:r>
              <a:rPr lang="en-US" dirty="0" err="1"/>
              <a:t>majeur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programmation</a:t>
            </a:r>
            <a:r>
              <a:rPr lang="en-US" dirty="0"/>
              <a:t> : language </a:t>
            </a:r>
            <a:r>
              <a:rPr lang="en-US" dirty="0" err="1"/>
              <a:t>informatique</a:t>
            </a:r>
            <a:r>
              <a:rPr lang="en-US" dirty="0"/>
              <a:t> </a:t>
            </a:r>
            <a:r>
              <a:rPr lang="en-US" dirty="0" err="1"/>
              <a:t>clair</a:t>
            </a:r>
            <a:r>
              <a:rPr lang="en-US" dirty="0"/>
              <a:t> &amp; précis : peu </a:t>
            </a:r>
            <a:r>
              <a:rPr lang="en-US" dirty="0" err="1"/>
              <a:t>d’erreur</a:t>
            </a:r>
            <a:r>
              <a:rPr lang="en-US" dirty="0"/>
              <a:t> de </a:t>
            </a:r>
            <a:r>
              <a:rPr lang="en-US" dirty="0" err="1"/>
              <a:t>l’IA</a:t>
            </a:r>
            <a:r>
              <a:rPr lang="en-US" dirty="0"/>
              <a:t> generative – sciences </a:t>
            </a:r>
            <a:r>
              <a:rPr lang="en-US" dirty="0" err="1"/>
              <a:t>exactes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Compound annual growth rate (CAGR)</a:t>
            </a:r>
          </a:p>
          <a:p>
            <a:endParaRPr lang="en-US" dirty="0"/>
          </a:p>
          <a:p>
            <a:r>
              <a:rPr lang="fr-FR" dirty="0"/>
              <a:t>le progrès technologique et technique est tout ce qui permet d'économiser le temps humain et de libérer les potentialités de chaque individu.</a:t>
            </a:r>
          </a:p>
          <a:p>
            <a:endParaRPr lang="fr-F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708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Bezos : We didn’t invent transformers. We discovered an algorithm that grows neural nets so complex we can’t fully explain how they think. </a:t>
            </a:r>
            <a:br>
              <a:rPr lang="en-US" dirty="0"/>
            </a:br>
            <a:r>
              <a:rPr lang="en-US" dirty="0"/>
              <a:t>Human intelligence was evolution’s discovery. Transformers (GPT) might be ours.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(2017 : transformers &amp; architecture: attention, positional encoding, …)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: self-supervised learning mimicking human reflection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Add Nasdaq &amp; 2000 dotcom bubble</a:t>
            </a:r>
          </a:p>
          <a:p>
            <a:endParaRPr lang="en-US" dirty="0"/>
          </a:p>
          <a:p>
            <a:r>
              <a:rPr lang="en-US" dirty="0"/>
              <a:t>Add star cloud</a:t>
            </a:r>
          </a:p>
          <a:p>
            <a:endParaRPr lang="en-US" dirty="0"/>
          </a:p>
          <a:p>
            <a:r>
              <a:rPr lang="en-US" dirty="0"/>
              <a:t>Add </a:t>
            </a:r>
            <a:r>
              <a:rPr lang="en-US" dirty="0" err="1"/>
              <a:t>Assimov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0925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Accepter sereinement ce qu’on ne peut changer — Comprendre pour rester libre et serein au milieu des tempêtes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dirty="0"/>
              <a:t>Imaginer </a:t>
            </a:r>
            <a:r>
              <a:rPr lang="en-US" dirty="0" err="1"/>
              <a:t>tous</a:t>
            </a:r>
            <a:r>
              <a:rPr lang="en-US" dirty="0"/>
              <a:t> les </a:t>
            </a:r>
            <a:r>
              <a:rPr lang="en-US" dirty="0" err="1"/>
              <a:t>avenirs</a:t>
            </a:r>
            <a:r>
              <a:rPr lang="en-US" dirty="0"/>
              <a:t> possibles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3356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787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88e4415f6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88e4415f6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Why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But ultimately depends on the objectives and dataset being analysed.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AI/ML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86E8"/>
                </a:solidFill>
              </a:rPr>
              <a:t>High accuracy if a signal is present in the data and enough data is provided.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A86E8"/>
                </a:solidFill>
              </a:rPr>
              <a:t>Hard to understand the relevant similarities/dissimilarities between subjects.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200" dirty="0">
              <a:solidFill>
                <a:srgbClr val="4A86E8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Linear Models: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27BA0"/>
                </a:solidFill>
              </a:rPr>
              <a:t>Good/Bad accuracy depending on the complexity (linear/non-linear) of the signal present in the data.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C27BA0"/>
                </a:solidFill>
              </a:rPr>
              <a:t>Explain well why subjects are seen as similar/dissimilar by the model.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200" dirty="0">
              <a:solidFill>
                <a:srgbClr val="C27BA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GB" sz="1200" dirty="0">
                <a:solidFill>
                  <a:srgbClr val="C27BA0"/>
                </a:solidFill>
              </a:rPr>
              <a:t>iDives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3C47D"/>
                </a:solidFill>
              </a:rPr>
              <a:t>Equal or superior accuracy than classic linear models.</a:t>
            </a:r>
            <a:endParaRPr lang="en-US" sz="1200" baseline="0" dirty="0">
              <a:solidFill>
                <a:srgbClr val="93C47D"/>
              </a:solidFill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3C47D"/>
                </a:solidFill>
              </a:rPr>
              <a:t>For small datasets (~100 observations, ~10 variables) can be as good as ML/AI method.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93C47D"/>
                </a:solidFill>
              </a:rPr>
              <a:t>Explainability is as good as linear models.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C27BA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rgbClr val="C27BA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endParaRPr lang="en-US" sz="1200" dirty="0">
              <a:solidFill>
                <a:srgbClr val="C27BA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53026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85726-45BE-53DF-EAA0-1DB8FA1DC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64D2AC-8FE6-4BA3-3681-4FBCA99DF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3C6B6E-20D8-B430-D354-303FE56C60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AEB7E-13AC-BA97-5A81-538ECB0D15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544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829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2599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46881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Asimov</a:t>
            </a:r>
          </a:p>
          <a:p>
            <a:r>
              <a:rPr lang="en-US" dirty="0" err="1"/>
              <a:t>Sénèque</a:t>
            </a:r>
            <a:r>
              <a:rPr lang="en-US" dirty="0"/>
              <a:t>, stoicism : the universe operated by reason. reason govern the world</a:t>
            </a:r>
          </a:p>
          <a:p>
            <a:r>
              <a:rPr lang="en-US" dirty="0"/>
              <a:t>Terminator</a:t>
            </a:r>
          </a:p>
          <a:p>
            <a:r>
              <a:rPr lang="en-US" dirty="0"/>
              <a:t>1984</a:t>
            </a:r>
          </a:p>
          <a:p>
            <a:r>
              <a:rPr lang="en-US" dirty="0"/>
              <a:t>War games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2B0003-5E34-4E60-8722-06B058E83995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295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838202"/>
            <a:ext cx="10363200" cy="21587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69860" y="3429001"/>
            <a:ext cx="8534400" cy="579715"/>
          </a:xfrm>
        </p:spPr>
        <p:txBody>
          <a:bodyPr/>
          <a:lstStyle>
            <a:lvl1pPr marL="0" indent="0" algn="ctr">
              <a:buNone/>
              <a:defRPr>
                <a:solidFill>
                  <a:srgbClr val="002774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3392" y="620563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F7F7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F3A72E16-A2E0-4CA2-815B-5A2312F18F31}" type="datetime1">
              <a:rPr lang="en-US" smtClean="0"/>
              <a:t>11/24/2025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164750" y="6097452"/>
            <a:ext cx="1632181" cy="738934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448800" y="6248400"/>
            <a:ext cx="2133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7003"/>
            <a:ext cx="2133600" cy="244475"/>
          </a:xfrm>
        </p:spPr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Groupe 13">
            <a:extLst>
              <a:ext uri="{FF2B5EF4-FFF2-40B4-BE49-F238E27FC236}">
                <a16:creationId xmlns:a16="http://schemas.microsoft.com/office/drawing/2014/main" id="{53805AC9-99EF-47DA-B254-D8762BB27C73}"/>
              </a:ext>
            </a:extLst>
          </p:cNvPr>
          <p:cNvGrpSpPr>
            <a:grpSpLocks noChangeAspect="1"/>
          </p:cNvGrpSpPr>
          <p:nvPr/>
        </p:nvGrpSpPr>
        <p:grpSpPr>
          <a:xfrm rot="15672858">
            <a:off x="10770634" y="5074267"/>
            <a:ext cx="1582642" cy="2046371"/>
            <a:chOff x="-2679170" y="-609600"/>
            <a:chExt cx="6077581" cy="7072535"/>
          </a:xfrm>
        </p:grpSpPr>
        <p:pic>
          <p:nvPicPr>
            <p:cNvPr id="16" name="Graphique 14">
              <a:extLst>
                <a:ext uri="{FF2B5EF4-FFF2-40B4-BE49-F238E27FC236}">
                  <a16:creationId xmlns:a16="http://schemas.microsoft.com/office/drawing/2014/main" id="{0A2F434D-55CA-4A0B-98E1-895196DA5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-1447800" y="-609600"/>
              <a:ext cx="4846211" cy="6858000"/>
            </a:xfrm>
            <a:prstGeom prst="rect">
              <a:avLst/>
            </a:prstGeom>
          </p:spPr>
        </p:pic>
        <p:pic>
          <p:nvPicPr>
            <p:cNvPr id="17" name="Graphique 15">
              <a:extLst>
                <a:ext uri="{FF2B5EF4-FFF2-40B4-BE49-F238E27FC236}">
                  <a16:creationId xmlns:a16="http://schemas.microsoft.com/office/drawing/2014/main" id="{11F34575-97B7-4ABD-A63D-2DFDABB7FC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-2679170" y="-395065"/>
              <a:ext cx="4846210" cy="6858000"/>
            </a:xfrm>
            <a:prstGeom prst="rect">
              <a:avLst/>
            </a:prstGeom>
          </p:spPr>
        </p:pic>
      </p:grp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>
            <a:off x="1871531" y="4293097"/>
            <a:ext cx="8544948" cy="1123325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1200"/>
              </a:spcBef>
              <a:buSzPct val="25000"/>
              <a:buFont typeface="Calibri" panose="020F0502020204030204" pitchFamily="34" charset="0"/>
              <a:buNone/>
              <a:defRPr sz="1400" b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7945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3" y="1371601"/>
            <a:ext cx="10465163" cy="4648200"/>
          </a:xfrm>
        </p:spPr>
        <p:txBody>
          <a:bodyPr>
            <a:normAutofit/>
          </a:bodyPr>
          <a:lstStyle>
            <a:lvl1pPr marL="0" indent="0">
              <a:spcBef>
                <a:spcPts val="2400"/>
              </a:spcBef>
              <a:buSzPct val="25000"/>
              <a:buFont typeface="Calibri" panose="020F0502020204030204" pitchFamily="34" charset="0"/>
              <a:buNone/>
              <a:defRPr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448800" y="6248400"/>
            <a:ext cx="2133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7003"/>
            <a:ext cx="2133600" cy="244475"/>
          </a:xfrm>
        </p:spPr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391D1873-049E-E23C-A77E-E2DEE5CE3B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604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403" y="2046447"/>
            <a:ext cx="10465163" cy="3973355"/>
          </a:xfrm>
        </p:spPr>
        <p:txBody>
          <a:bodyPr>
            <a:normAutofit/>
          </a:bodyPr>
          <a:lstStyle>
            <a:lvl1pPr marL="0" indent="0">
              <a:spcBef>
                <a:spcPts val="2400"/>
              </a:spcBef>
              <a:buSzPct val="25000"/>
              <a:buFont typeface="Calibri" panose="020F0502020204030204" pitchFamily="34" charset="0"/>
              <a:buNone/>
              <a:defRPr sz="18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4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448800" y="6248400"/>
            <a:ext cx="2133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7003"/>
            <a:ext cx="2133600" cy="244475"/>
          </a:xfrm>
        </p:spPr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719403" y="1182351"/>
            <a:ext cx="10465163" cy="691277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1200"/>
              </a:spcBef>
              <a:buSzPct val="25000"/>
              <a:buFont typeface="Calibri" panose="020F0502020204030204" pitchFamily="34" charset="0"/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164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4"/>
          </a:xfrm>
        </p:spPr>
        <p:txBody>
          <a:bodyPr anchor="t">
            <a:normAutofit/>
          </a:bodyPr>
          <a:lstStyle>
            <a:lvl1pPr algn="l">
              <a:defRPr sz="28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7F7F7F"/>
                </a:solidFill>
              </a:defRPr>
            </a:lvl1pPr>
          </a:lstStyle>
          <a:p>
            <a:fld id="{73C19088-CFB7-4415-A463-25A9A4766DC7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04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2"/>
            <a:ext cx="5384800" cy="483076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2"/>
            <a:ext cx="5384800" cy="483076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F2B99AB-7237-B169-364C-7F33E1FF6C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024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- over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209800"/>
            <a:ext cx="5384800" cy="3916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2209800"/>
            <a:ext cx="5384800" cy="3916364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609600" y="1182350"/>
            <a:ext cx="10972800" cy="951250"/>
          </a:xfrm>
        </p:spPr>
        <p:txBody>
          <a:bodyPr anchor="t" anchorCtr="0">
            <a:noAutofit/>
          </a:bodyPr>
          <a:lstStyle>
            <a:lvl1pPr marL="0" indent="0" algn="l">
              <a:spcBef>
                <a:spcPts val="1200"/>
              </a:spcBef>
              <a:buSzPct val="25000"/>
              <a:buFont typeface="Calibri" panose="020F0502020204030204" pitchFamily="34" charset="0"/>
              <a:buNone/>
              <a:defRPr sz="1100" b="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03449D13-74C4-5DF4-6945-4DE2DB7A44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2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70527"/>
            <a:ext cx="5386917" cy="523101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873555"/>
            <a:ext cx="5386917" cy="42526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184785"/>
            <a:ext cx="5389033" cy="508844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873555"/>
            <a:ext cx="5389033" cy="42526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1384F296-C564-EB18-0AE4-1D4A0EE725D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68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3CF33FF6-10A9-D24F-0C17-75AE79C286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211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No bottom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D0173494-BD84-E2C2-229D-D9CFE55A0F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825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EC3F3396-FDB7-0F9A-1185-91480D8182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52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19403" y="533401"/>
            <a:ext cx="10465163" cy="5486401"/>
          </a:xfrm>
        </p:spPr>
        <p:txBody>
          <a:bodyPr anchor="ctr">
            <a:normAutofit/>
          </a:bodyPr>
          <a:lstStyle>
            <a:lvl1pPr marL="342900" indent="-342900" algn="ctr">
              <a:spcBef>
                <a:spcPts val="2400"/>
              </a:spcBef>
              <a:buSzPct val="25000"/>
              <a:buFont typeface="Calibri" panose="020F0502020204030204" pitchFamily="34" charset="0"/>
              <a:buChar char=" "/>
              <a:defRPr sz="4400">
                <a:solidFill>
                  <a:srgbClr val="002774"/>
                </a:solidFill>
                <a:latin typeface="Montserrat Light" panose="00000400000000000000" pitchFamily="2" charset="0"/>
              </a:defRPr>
            </a:lvl1pPr>
            <a:lvl2pPr marL="457200" indent="0">
              <a:buFont typeface="Arial" panose="020B0604020202020204" pitchFamily="34" charset="0"/>
              <a:buNone/>
              <a:defRPr sz="1800">
                <a:solidFill>
                  <a:srgbClr val="626262"/>
                </a:solidFill>
              </a:defRPr>
            </a:lvl2pPr>
            <a:lvl3pPr>
              <a:defRPr sz="1600">
                <a:solidFill>
                  <a:srgbClr val="626262"/>
                </a:solidFill>
              </a:defRPr>
            </a:lvl3pPr>
            <a:lvl4pPr>
              <a:defRPr sz="1400">
                <a:solidFill>
                  <a:srgbClr val="626262"/>
                </a:solidFill>
              </a:defRPr>
            </a:lvl4pPr>
            <a:lvl5pPr>
              <a:defRPr sz="1400">
                <a:solidFill>
                  <a:srgbClr val="62626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FD941423-C6E1-3F6E-851C-6CD4FEC24DC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3012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822892"/>
          </a:xfrm>
        </p:spPr>
        <p:txBody>
          <a:bodyPr anchor="ctr" anchorCtr="0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71" y="1182351"/>
            <a:ext cx="4224469" cy="4943814"/>
          </a:xfrm>
        </p:spPr>
        <p:txBody>
          <a:bodyPr/>
          <a:lstStyle>
            <a:lvl1pPr marL="88900" indent="-88900">
              <a:buFont typeface="Montserrat SemiBold" panose="00000700000000000000" pitchFamily="2" charset="0"/>
              <a:buChar char=" "/>
              <a:defRPr sz="1400"/>
            </a:lvl1pPr>
            <a:lvl2pPr marL="268288" indent="-171450">
              <a:buFont typeface="Arial" panose="020B0604020202020204" pitchFamily="34" charset="0"/>
              <a:buChar char="•"/>
              <a:defRPr sz="1200"/>
            </a:lvl2pPr>
            <a:lvl3pPr marL="452438" indent="-171450">
              <a:buFont typeface="Montserrat" panose="00000500000000000000" pitchFamily="2" charset="0"/>
              <a:buChar char="›"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471E6E76-760B-793B-FECC-D9890E7F0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766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822892"/>
          </a:xfrm>
        </p:spPr>
        <p:txBody>
          <a:bodyPr anchor="ctr" anchorCtr="0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923123"/>
            <a:ext cx="6815667" cy="520304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4751851" y="318256"/>
            <a:ext cx="6816757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1200"/>
              </a:spcBef>
              <a:buSzPct val="25000"/>
              <a:buFont typeface="Calibri" panose="020F0502020204030204" pitchFamily="34" charset="0"/>
              <a:buNone/>
              <a:defRPr sz="1100" b="0">
                <a:latin typeface="Montserrat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71" y="1182351"/>
            <a:ext cx="4224469" cy="4943814"/>
          </a:xfrm>
        </p:spPr>
        <p:txBody>
          <a:bodyPr/>
          <a:lstStyle>
            <a:lvl1pPr marL="88900" indent="-88900">
              <a:buFont typeface="Montserrat SemiBold" panose="00000700000000000000" pitchFamily="2" charset="0"/>
              <a:buChar char=" "/>
              <a:defRPr sz="1400"/>
            </a:lvl1pPr>
            <a:lvl2pPr marL="268288" indent="-171450">
              <a:buFont typeface="Arial" panose="020B0604020202020204" pitchFamily="34" charset="0"/>
              <a:buChar char="•"/>
              <a:defRPr sz="1200"/>
            </a:lvl2pPr>
            <a:lvl3pPr marL="452438" indent="-171450">
              <a:buFont typeface="Montserrat" panose="00000500000000000000" pitchFamily="2" charset="0"/>
              <a:buChar char="›"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1DBE5CD2-9175-C308-88C5-283C3F085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09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-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910333" cy="822892"/>
          </a:xfrm>
        </p:spPr>
        <p:txBody>
          <a:bodyPr anchor="ctr" anchorCtr="0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1957" y="273053"/>
            <a:ext cx="5870443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71" y="1182351"/>
            <a:ext cx="5088565" cy="4943814"/>
          </a:xfrm>
        </p:spPr>
        <p:txBody>
          <a:bodyPr/>
          <a:lstStyle>
            <a:lvl1pPr marL="88900" indent="-88900">
              <a:buFont typeface="Montserrat SemiBold" panose="00000700000000000000" pitchFamily="2" charset="0"/>
              <a:buChar char=" "/>
              <a:defRPr sz="1400"/>
            </a:lvl1pPr>
            <a:lvl2pPr marL="268288" indent="-171450">
              <a:buFont typeface="Arial" panose="020B0604020202020204" pitchFamily="34" charset="0"/>
              <a:buChar char="•"/>
              <a:defRPr sz="1200"/>
            </a:lvl2pPr>
            <a:lvl3pPr marL="452438" indent="-171450">
              <a:buFont typeface="Montserrat" panose="00000500000000000000" pitchFamily="2" charset="0"/>
              <a:buChar char="›"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B49A7E30-DC4E-DE41-E6FF-968993A798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449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and subtitle - Me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910333" cy="822892"/>
          </a:xfrm>
        </p:spPr>
        <p:txBody>
          <a:bodyPr anchor="ctr" anchorCtr="0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1957" y="923123"/>
            <a:ext cx="5870443" cy="520304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71" y="1182351"/>
            <a:ext cx="5088565" cy="4943814"/>
          </a:xfrm>
        </p:spPr>
        <p:txBody>
          <a:bodyPr/>
          <a:lstStyle>
            <a:lvl1pPr marL="88900" indent="-88900">
              <a:buFont typeface="Montserrat SemiBold" panose="00000700000000000000" pitchFamily="2" charset="0"/>
              <a:buChar char=" "/>
              <a:defRPr sz="1400"/>
            </a:lvl1pPr>
            <a:lvl2pPr marL="268288" indent="-171450">
              <a:buFont typeface="Arial" panose="020B0604020202020204" pitchFamily="34" charset="0"/>
              <a:buChar char="•"/>
              <a:defRPr sz="1200"/>
            </a:lvl2pPr>
            <a:lvl3pPr marL="452438" indent="-171450">
              <a:buFont typeface="Montserrat" panose="00000500000000000000" pitchFamily="2" charset="0"/>
              <a:buChar char="›"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5697226" y="303313"/>
            <a:ext cx="5871383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1200"/>
              </a:spcBef>
              <a:buSzPct val="25000"/>
              <a:buFont typeface="Calibri" panose="020F0502020204030204" pitchFamily="34" charset="0"/>
              <a:buNone/>
              <a:defRPr sz="1100" b="0">
                <a:latin typeface="Montserrat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2F232441-6917-25A7-BE7D-641FAB037A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9785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5678419" cy="822892"/>
          </a:xfrm>
        </p:spPr>
        <p:txBody>
          <a:bodyPr anchor="ctr" anchorCtr="0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6053" y="273053"/>
            <a:ext cx="5006347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71" y="1182351"/>
            <a:ext cx="5856651" cy="4943814"/>
          </a:xfrm>
        </p:spPr>
        <p:txBody>
          <a:bodyPr/>
          <a:lstStyle>
            <a:lvl1pPr marL="88900" indent="-88900">
              <a:buFont typeface="Montserrat SemiBold" panose="00000700000000000000" pitchFamily="2" charset="0"/>
              <a:buChar char=" "/>
              <a:defRPr sz="1400"/>
            </a:lvl1pPr>
            <a:lvl2pPr marL="268288" indent="-171450">
              <a:buFont typeface="Arial" panose="020B0604020202020204" pitchFamily="34" charset="0"/>
              <a:buChar char="•"/>
              <a:defRPr sz="1200"/>
            </a:lvl2pPr>
            <a:lvl3pPr marL="452438" indent="-171450">
              <a:buFont typeface="Montserrat" panose="00000500000000000000" pitchFamily="2" charset="0"/>
              <a:buChar char="›"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FDFF5D87-A40E-351E-289C-A6EFE9E343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39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and subtitle -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5774429" cy="822892"/>
          </a:xfrm>
        </p:spPr>
        <p:txBody>
          <a:bodyPr anchor="ctr" anchorCtr="0">
            <a:normAutofit/>
          </a:bodyPr>
          <a:lstStyle>
            <a:lvl1pPr algn="l">
              <a:defRPr sz="18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6053" y="923123"/>
            <a:ext cx="5006347" cy="520304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1371" y="1182351"/>
            <a:ext cx="5952661" cy="4943814"/>
          </a:xfrm>
        </p:spPr>
        <p:txBody>
          <a:bodyPr/>
          <a:lstStyle>
            <a:lvl1pPr marL="88900" indent="-88900">
              <a:buFont typeface="Montserrat SemiBold" panose="00000700000000000000" pitchFamily="2" charset="0"/>
              <a:buChar char=" "/>
              <a:defRPr sz="1400"/>
            </a:lvl1pPr>
            <a:lvl2pPr marL="268288" indent="-171450">
              <a:buFont typeface="Arial" panose="020B0604020202020204" pitchFamily="34" charset="0"/>
              <a:buChar char="•"/>
              <a:defRPr sz="1200"/>
            </a:lvl2pPr>
            <a:lvl3pPr marL="452438" indent="-171450">
              <a:buFont typeface="Montserrat" panose="00000500000000000000" pitchFamily="2" charset="0"/>
              <a:buChar char="›"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6576056" y="303313"/>
            <a:ext cx="4992553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1200"/>
              </a:spcBef>
              <a:buSzPct val="25000"/>
              <a:buFont typeface="Calibri" panose="020F0502020204030204" pitchFamily="34" charset="0"/>
              <a:buNone/>
              <a:defRPr sz="1100" b="0">
                <a:latin typeface="Montserrat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395C57FD-2BB0-4BC5-1D8F-AD1849BD8F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289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11B3B5E5-1E54-17A2-C1F0-227442DCEE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75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FF58FE52-1C6C-ADD9-588A-D34F296DFB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2443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1727200" y="6172203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9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0209983A-9C0A-8BDD-878C-DA9083653B7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1219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5262768-932F-4F5B-9B45-D6E387C6B64E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3524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0600"/>
          </a:xfrm>
        </p:spPr>
        <p:txBody>
          <a:bodyPr>
            <a:normAutofit/>
          </a:bodyPr>
          <a:lstStyle>
            <a:lvl1pPr>
              <a:defRPr sz="384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371601"/>
            <a:ext cx="7924800" cy="4648200"/>
          </a:xfrm>
        </p:spPr>
        <p:txBody>
          <a:bodyPr>
            <a:normAutofit/>
          </a:bodyPr>
          <a:lstStyle>
            <a:lvl1pPr marL="411480" indent="-411480">
              <a:spcBef>
                <a:spcPts val="2880"/>
              </a:spcBef>
              <a:buSzPct val="25000"/>
              <a:buFont typeface="Calibri" panose="020F0502020204030204" pitchFamily="34" charset="0"/>
              <a:buChar char=" "/>
              <a:defRPr sz="2880">
                <a:solidFill>
                  <a:srgbClr val="002774"/>
                </a:solidFill>
                <a:latin typeface="Source Serif Pro" panose="02040603050405020204" pitchFamily="18" charset="0"/>
                <a:ea typeface="Source Serif Pro" panose="02040603050405020204" pitchFamily="18" charset="0"/>
              </a:defRPr>
            </a:lvl1pPr>
            <a:lvl2pPr marL="548640" indent="0">
              <a:buFont typeface="Arial" panose="020B0604020202020204" pitchFamily="34" charset="0"/>
              <a:buNone/>
              <a:defRPr sz="240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defRPr>
            </a:lvl2pPr>
            <a:lvl3pPr>
              <a:defRPr sz="216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defRPr>
            </a:lvl3pPr>
            <a:lvl4pPr>
              <a:defRPr sz="216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defRPr>
            </a:lvl4pPr>
            <a:lvl5pPr>
              <a:defRPr sz="2160">
                <a:solidFill>
                  <a:schemeClr val="tx1"/>
                </a:solidFill>
                <a:latin typeface="Source Serif Pro" panose="02040603050405020204" pitchFamily="18" charset="0"/>
                <a:ea typeface="Source Serif Pro" panose="020406030504050202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448800" y="6248400"/>
            <a:ext cx="2133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77003"/>
            <a:ext cx="2133600" cy="244475"/>
          </a:xfrm>
        </p:spPr>
        <p:txBody>
          <a:bodyPr/>
          <a:lstStyle>
            <a:lvl1pPr>
              <a:defRPr>
                <a:latin typeface="Source Serif Pro" panose="02040603050405020204" pitchFamily="18" charset="0"/>
                <a:ea typeface="Source Serif Pro" panose="02040603050405020204" pitchFamily="18" charset="0"/>
              </a:defRPr>
            </a:lvl1pPr>
          </a:lstStyle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idx="13"/>
          </p:nvPr>
        </p:nvSpPr>
        <p:spPr>
          <a:xfrm>
            <a:off x="1727200" y="6172204"/>
            <a:ext cx="7518400" cy="533401"/>
          </a:xfrm>
        </p:spPr>
        <p:txBody>
          <a:bodyPr anchor="b" anchorCtr="0">
            <a:noAutofit/>
          </a:bodyPr>
          <a:lstStyle>
            <a:lvl1pPr marL="0" indent="0" algn="ctr">
              <a:spcBef>
                <a:spcPts val="0"/>
              </a:spcBef>
              <a:buSzPct val="25000"/>
              <a:buFont typeface="Calibri" panose="020F0502020204030204" pitchFamily="34" charset="0"/>
              <a:buNone/>
              <a:defRPr sz="1080" b="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320"/>
            </a:lvl4pPr>
            <a:lvl5pPr marL="2194560" indent="0">
              <a:buNone/>
              <a:defRPr sz="132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15753FBC-8AA6-3883-894C-04E821445B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31117" y="6248400"/>
            <a:ext cx="776572" cy="351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764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00672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5635C-E220-C0F1-FA7B-F56A02CE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213D-696F-C562-A815-8F5D416186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E67C4-2B4F-96D7-59FC-C27E28859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93A42-2D9B-48FC-ADD1-221FA29B405C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9E6FE-FD06-D467-C84A-FA108680A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ECB10-2D5A-75BC-20DE-210C13D29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398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5">
              <a:lumMod val="40000"/>
              <a:lumOff val="60000"/>
              <a:alpha val="8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435" y="1355170"/>
            <a:ext cx="1027314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261600" y="6248402"/>
            <a:ext cx="1320800" cy="2127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1600" y="6477003"/>
            <a:ext cx="1320800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3BEE719-0210-4B6F-8E2C-A3771B0388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287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4" r:id="rId23"/>
    <p:sldLayoutId id="2147483685" r:id="rId24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3200" b="0" kern="1200">
          <a:solidFill>
            <a:schemeClr val="accent1">
              <a:lumMod val="50000"/>
            </a:schemeClr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0" indent="0" algn="l" defTabSz="914400" rtl="0" eaLnBrk="1" latinLnBrk="0" hangingPunct="1">
        <a:spcBef>
          <a:spcPts val="1800"/>
        </a:spcBef>
        <a:buSzPct val="25000"/>
        <a:buFont typeface="Calibri" panose="020F0502020204030204" pitchFamily="34" charset="0"/>
        <a:buNone/>
        <a:defRPr sz="2800" b="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Montserrat" panose="00000500000000000000" pitchFamily="2" charset="0"/>
        <a:buChar char="›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microsoft.com/office/2007/relationships/hdphoto" Target="../media/hdphoto1.wdp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slideLayout" Target="../slideLayouts/slideLayout23.xml"/><Relationship Id="rId7" Type="http://schemas.openxmlformats.org/officeDocument/2006/relationships/image" Target="../media/image23.png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6" Type="http://schemas.openxmlformats.org/officeDocument/2006/relationships/image" Target="../media/image22.png"/><Relationship Id="rId5" Type="http://schemas.openxmlformats.org/officeDocument/2006/relationships/image" Target="../media/image28.png"/><Relationship Id="rId4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30.png"/><Relationship Id="rId5" Type="http://schemas.openxmlformats.org/officeDocument/2006/relationships/image" Target="../media/image34.png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2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9.jpe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3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44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C3F-19D0-A4B1-8E00-C273EA94AB7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noProof="0" dirty="0"/>
              <a:t>Introduction à l’IA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305DA5-CD5B-6AB1-83E5-734ED83A1F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noProof="0" dirty="0"/>
              <a:t>Olivier Delrieu</a:t>
            </a:r>
          </a:p>
          <a:p>
            <a:r>
              <a:rPr lang="fr-FR" noProof="0" dirty="0" err="1"/>
              <a:t>Nov</a:t>
            </a:r>
            <a:r>
              <a:rPr lang="fr-FR" noProof="0" dirty="0"/>
              <a:t> 2025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0AB252-3682-4294-BD8A-5881E589A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655550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C9A8C2-D968-7429-8E1F-4E86F5694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Elon Musk dispose de la plus grande usine </a:t>
            </a:r>
            <a:r>
              <a:rPr lang="fr-FR" b="1" noProof="0" dirty="0"/>
              <a:t>d’entraînement</a:t>
            </a:r>
            <a:r>
              <a:rPr lang="fr-FR" noProof="0" dirty="0"/>
              <a:t> d’IA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2E55F5-B20B-18F9-7640-2FE800646A07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575959" y="1301656"/>
            <a:ext cx="5171475" cy="48642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729B66-E712-D3BB-01C5-CCFFA1D0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</a:t>
            </a:fld>
            <a:endParaRPr lang="fr-F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B1FC7D-34F5-0896-867B-F945ED33D6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308" y="3066157"/>
            <a:ext cx="4491403" cy="36284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0941B9D-E3B7-CD7B-AA7F-390E032005AA}"/>
              </a:ext>
            </a:extLst>
          </p:cNvPr>
          <p:cNvCxnSpPr>
            <a:cxnSpLocks/>
          </p:cNvCxnSpPr>
          <p:nvPr/>
        </p:nvCxnSpPr>
        <p:spPr>
          <a:xfrm>
            <a:off x="8944708" y="3393831"/>
            <a:ext cx="855784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60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C85B-ADC6-9721-E9D3-FF0B97FE5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C9C036-6F93-9BD4-F0DD-52D240A53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Elon Musk dispose de l’IA « la plus performante »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CD61D3-ED04-25E9-4AF2-1ACF35782FA7}"/>
              </a:ext>
            </a:extLst>
          </p:cNvPr>
          <p:cNvSpPr txBox="1"/>
          <p:nvPr/>
        </p:nvSpPr>
        <p:spPr>
          <a:xfrm>
            <a:off x="2228096" y="6227283"/>
            <a:ext cx="6936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https://x.com/xai/status/1969183328168263963</a:t>
            </a:r>
          </a:p>
          <a:p>
            <a:pPr algn="ctr"/>
            <a:r>
              <a:rPr lang="fr-FR" sz="1200" dirty="0"/>
              <a:t> </a:t>
            </a:r>
            <a:r>
              <a:rPr lang="fr-FR" sz="1200" noProof="0" dirty="0"/>
              <a:t>https://techconglobal.com/gpt5-vs-grok4-comparison/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CA499C0-C0C4-97A6-4418-405D77582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</a:t>
            </a:fld>
            <a:endParaRPr lang="fr-F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B04E596-1DCB-0B01-C6C0-BADF086CE7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473"/>
          <a:stretch>
            <a:fillRect/>
          </a:stretch>
        </p:blipFill>
        <p:spPr>
          <a:xfrm>
            <a:off x="2633449" y="990600"/>
            <a:ext cx="8948951" cy="45910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62B36B-B097-1CA7-5A1A-D3CDEF0BB015}"/>
              </a:ext>
            </a:extLst>
          </p:cNvPr>
          <p:cNvSpPr txBox="1"/>
          <p:nvPr/>
        </p:nvSpPr>
        <p:spPr>
          <a:xfrm>
            <a:off x="6986954" y="5336829"/>
            <a:ext cx="925253" cy="461665"/>
          </a:xfrm>
          <a:prstGeom prst="rect">
            <a:avLst/>
          </a:prstGeom>
          <a:solidFill>
            <a:srgbClr val="F5F5FF"/>
          </a:solidFill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Coût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3478BC-545E-BF3F-D68E-CD3C1D06E9E4}"/>
              </a:ext>
            </a:extLst>
          </p:cNvPr>
          <p:cNvSpPr txBox="1"/>
          <p:nvPr/>
        </p:nvSpPr>
        <p:spPr>
          <a:xfrm>
            <a:off x="293077" y="3013501"/>
            <a:ext cx="2446019" cy="830997"/>
          </a:xfrm>
          <a:prstGeom prst="rect">
            <a:avLst/>
          </a:prstGeom>
          <a:solidFill>
            <a:srgbClr val="F5F5FF"/>
          </a:solidFill>
        </p:spPr>
        <p:txBody>
          <a:bodyPr wrap="square" rtlCol="0">
            <a:spAutoFit/>
          </a:bodyPr>
          <a:lstStyle/>
          <a:p>
            <a:pPr algn="r"/>
            <a:r>
              <a:rPr lang="fr-FR" sz="2400" b="1" noProof="0" dirty="0"/>
              <a:t>Niveau </a:t>
            </a:r>
            <a:br>
              <a:rPr lang="fr-FR" sz="2400" b="1" noProof="0" dirty="0"/>
            </a:br>
            <a:r>
              <a:rPr lang="fr-FR" sz="2400" b="1" noProof="0" dirty="0"/>
              <a:t>d’intelligence</a:t>
            </a:r>
          </a:p>
        </p:txBody>
      </p:sp>
    </p:spTree>
    <p:extLst>
      <p:ext uri="{BB962C8B-B14F-4D97-AF65-F5344CB8AC3E}">
        <p14:creationId xmlns:p14="http://schemas.microsoft.com/office/powerpoint/2010/main" val="9053305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3D369-CF12-3C69-2042-9DB3A7E9E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70A1A7-5FF7-2CEE-8EA3-793C7DA26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Pourtant, Elon Musk n’utilise pas l’IA pour </a:t>
            </a:r>
            <a:r>
              <a:rPr lang="fr-FR" b="1" noProof="0" dirty="0"/>
              <a:t>concevoir</a:t>
            </a:r>
            <a:r>
              <a:rPr lang="fr-FR" noProof="0" dirty="0"/>
              <a:t> ses fusées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B1700D-7EA8-E6E9-51B2-F729A9EF399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796901" y="1626781"/>
            <a:ext cx="4075163" cy="4671382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DE9DE0-97CD-CA71-AAE6-CC7EB1B4C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rcRect l="14792"/>
          <a:stretch>
            <a:fillRect/>
          </a:stretch>
        </p:blipFill>
        <p:spPr>
          <a:xfrm>
            <a:off x="6917636" y="3040509"/>
            <a:ext cx="4883312" cy="849610"/>
          </a:xfrm>
          <a:prstGeom prst="rect">
            <a:avLst/>
          </a:prstGeom>
          <a:ln w="6350">
            <a:noFill/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19E702-3BA2-83E8-03CB-8B3E7194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4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80228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1071418" y="1371600"/>
            <a:ext cx="10112342" cy="46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Intelligence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Artificielle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CBD759A-D73B-3993-EC28-C7FF48D775D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5</a:t>
            </a:fld>
            <a:endParaRPr lang="fr-FR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/>
          </p:nvPr>
        </p:nvSpPr>
        <p:spPr>
          <a:xfrm>
            <a:off x="1089890" y="1371600"/>
            <a:ext cx="10093869" cy="46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sngStrike" spc="-1" noProof="0" dirty="0">
                <a:solidFill>
                  <a:srgbClr val="000000"/>
                </a:solidFill>
                <a:latin typeface="Calibri"/>
                <a:ea typeface="Calibri"/>
              </a:rPr>
              <a:t>Intelligence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333EE9-C260-2CA9-E123-F33D3377875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6</a:t>
            </a:fld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4C868-9E9A-01C7-2317-16ED7B18E13D}"/>
              </a:ext>
            </a:extLst>
          </p:cNvPr>
          <p:cNvSpPr txBox="1"/>
          <p:nvPr/>
        </p:nvSpPr>
        <p:spPr>
          <a:xfrm>
            <a:off x="5237018" y="1371600"/>
            <a:ext cx="69549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noProof="0" dirty="0"/>
              <a:t>Capacité à apprendre,  comprendre et s’adapter à un environnement changeant</a:t>
            </a:r>
            <a:br>
              <a:rPr lang="fr-FR" sz="2000" i="1" noProof="0" dirty="0"/>
            </a:br>
            <a:r>
              <a:rPr lang="fr-FR" sz="2000" i="1" noProof="0" dirty="0"/>
              <a:t>pour atteindre </a:t>
            </a:r>
            <a:r>
              <a:rPr lang="fr-FR" sz="2000" i="1" u="sng" noProof="0" dirty="0"/>
              <a:t>ses</a:t>
            </a:r>
            <a:r>
              <a:rPr lang="fr-FR" sz="2000" i="1" noProof="0" dirty="0"/>
              <a:t> objectifs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F8706-A647-E156-22DA-FE1B867BF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>
            <a:extLst>
              <a:ext uri="{FF2B5EF4-FFF2-40B4-BE49-F238E27FC236}">
                <a16:creationId xmlns:a16="http://schemas.microsoft.com/office/drawing/2014/main" id="{5529CD9C-3F9B-1B12-ED19-05512484D1D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71418" y="1371600"/>
            <a:ext cx="4005079" cy="46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sngStrike" spc="-1" noProof="0" dirty="0">
                <a:solidFill>
                  <a:schemeClr val="bg1">
                    <a:lumMod val="65000"/>
                  </a:schemeClr>
                </a:solidFill>
                <a:latin typeface="Calibri"/>
                <a:ea typeface="Calibri"/>
              </a:rPr>
              <a:t>Intelligence</a:t>
            </a:r>
            <a:endParaRPr lang="fr-FR" b="0" strike="noStrike" spc="-1" noProof="0" dirty="0">
              <a:solidFill>
                <a:schemeClr val="bg1">
                  <a:lumMod val="65000"/>
                </a:schemeClr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Artificielle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5908C5-22E7-7FA6-B402-8F4FA396D64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7</a:t>
            </a:fld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83666-B4BA-43D7-D930-2FEC1C207764}"/>
              </a:ext>
            </a:extLst>
          </p:cNvPr>
          <p:cNvSpPr txBox="1"/>
          <p:nvPr/>
        </p:nvSpPr>
        <p:spPr>
          <a:xfrm>
            <a:off x="4057650" y="3624654"/>
            <a:ext cx="795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sz="2000" i="1" spc="-1" dirty="0">
                <a:solidFill>
                  <a:srgbClr val="000000"/>
                </a:solidFill>
                <a:ea typeface="Calibri"/>
              </a:rPr>
              <a:t>Aristote &amp; Sénèque</a:t>
            </a:r>
            <a:r>
              <a:rPr lang="fr-FR" sz="2000" i="1" spc="-1" noProof="0" dirty="0">
                <a:solidFill>
                  <a:srgbClr val="000000"/>
                </a:solidFill>
                <a:ea typeface="Calibri"/>
              </a:rPr>
              <a:t> : Tout art est une imitation de la nature.</a:t>
            </a:r>
            <a:endParaRPr lang="fr-FR" sz="2000" i="1" spc="-1" noProof="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BAE5FA-A368-70A2-45B4-B119817F22C9}"/>
              </a:ext>
            </a:extLst>
          </p:cNvPr>
          <p:cNvSpPr txBox="1"/>
          <p:nvPr/>
        </p:nvSpPr>
        <p:spPr>
          <a:xfrm>
            <a:off x="5274481" y="1371600"/>
            <a:ext cx="691751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noProof="0" dirty="0">
                <a:solidFill>
                  <a:schemeClr val="bg1">
                    <a:lumMod val="65000"/>
                  </a:schemeClr>
                </a:solidFill>
              </a:rPr>
              <a:t>Capacité à apprendre,  comprendre et s’adapter à un environnement changeant </a:t>
            </a:r>
            <a:br>
              <a:rPr lang="fr-FR" sz="2000" i="1" noProof="0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fr-FR" sz="2000" i="1" noProof="0" dirty="0">
                <a:solidFill>
                  <a:schemeClr val="bg1">
                    <a:lumMod val="65000"/>
                  </a:schemeClr>
                </a:solidFill>
              </a:rPr>
              <a:t>pour atteindre </a:t>
            </a:r>
            <a:r>
              <a:rPr lang="fr-FR" sz="2000" i="1" u="sng" noProof="0" dirty="0">
                <a:solidFill>
                  <a:schemeClr val="bg1">
                    <a:lumMod val="65000"/>
                  </a:schemeClr>
                </a:solidFill>
              </a:rPr>
              <a:t>ses</a:t>
            </a:r>
            <a:r>
              <a:rPr lang="fr-FR" sz="2000" i="1" noProof="0" dirty="0">
                <a:solidFill>
                  <a:schemeClr val="bg1">
                    <a:lumMod val="65000"/>
                  </a:schemeClr>
                </a:solidFill>
              </a:rPr>
              <a:t> objectifs</a:t>
            </a:r>
          </a:p>
        </p:txBody>
      </p:sp>
    </p:spTree>
    <p:extLst>
      <p:ext uri="{BB962C8B-B14F-4D97-AF65-F5344CB8AC3E}">
        <p14:creationId xmlns:p14="http://schemas.microsoft.com/office/powerpoint/2010/main" val="3326844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/>
          </p:nvPr>
        </p:nvSpPr>
        <p:spPr>
          <a:xfrm>
            <a:off x="1062182" y="1371600"/>
            <a:ext cx="7177928" cy="46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sngStrike" spc="-1" noProof="0" dirty="0">
                <a:solidFill>
                  <a:srgbClr val="000000"/>
                </a:solidFill>
                <a:latin typeface="Calibri"/>
                <a:ea typeface="Calibri"/>
              </a:rPr>
              <a:t>Intelligence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Artificielle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1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sz="3200" b="1" strike="noStrike" spc="-1" noProof="0" dirty="0">
                <a:solidFill>
                  <a:schemeClr val="tx2">
                    <a:lumMod val="75000"/>
                  </a:schemeClr>
                </a:solidFill>
                <a:latin typeface="Calibri"/>
                <a:ea typeface="Calibri"/>
              </a:rPr>
              <a:t>Utile</a:t>
            </a:r>
            <a:endParaRPr lang="fr-FR" sz="3200" b="0" strike="noStrike" spc="-1" noProof="0" dirty="0">
              <a:solidFill>
                <a:schemeClr val="tx2">
                  <a:lumMod val="75000"/>
                </a:schemeClr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F765AFA-7C4F-0FF0-E5F6-60414E68D63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8</a:t>
            </a:fld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A971CC-3F38-17DC-7D8F-E7BD83315882}"/>
              </a:ext>
            </a:extLst>
          </p:cNvPr>
          <p:cNvSpPr txBox="1"/>
          <p:nvPr/>
        </p:nvSpPr>
        <p:spPr>
          <a:xfrm>
            <a:off x="5329383" y="1371600"/>
            <a:ext cx="6862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noProof="0" dirty="0"/>
              <a:t>Capacité à apprendre,  comprendre et s’adapter à un environnement changeant </a:t>
            </a:r>
            <a:br>
              <a:rPr lang="fr-FR" sz="2000" i="1" noProof="0" dirty="0"/>
            </a:br>
            <a:r>
              <a:rPr lang="fr-FR" sz="2000" i="1" noProof="0" dirty="0"/>
              <a:t>pour atteindre </a:t>
            </a:r>
            <a:r>
              <a:rPr lang="fr-FR" sz="2000" i="1" u="sng" noProof="0" dirty="0"/>
              <a:t>ses</a:t>
            </a:r>
            <a:r>
              <a:rPr lang="fr-FR" sz="2000" i="1" noProof="0" dirty="0"/>
              <a:t> objectifs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D53267-05BE-7249-38C0-9BBDA1182CC4}"/>
              </a:ext>
            </a:extLst>
          </p:cNvPr>
          <p:cNvSpPr txBox="1"/>
          <p:nvPr/>
        </p:nvSpPr>
        <p:spPr>
          <a:xfrm>
            <a:off x="4057650" y="3624654"/>
            <a:ext cx="795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sz="2000" i="1" spc="-1" dirty="0">
                <a:solidFill>
                  <a:srgbClr val="000000"/>
                </a:solidFill>
                <a:ea typeface="Calibri"/>
              </a:rPr>
              <a:t>Aristote &amp; Sénèque</a:t>
            </a:r>
            <a:r>
              <a:rPr lang="fr-FR" sz="2000" i="1" spc="-1" noProof="0" dirty="0">
                <a:solidFill>
                  <a:srgbClr val="000000"/>
                </a:solidFill>
                <a:ea typeface="Calibri"/>
              </a:rPr>
              <a:t> : Tout art est une imitation de la nature.</a:t>
            </a:r>
            <a:endParaRPr lang="fr-FR" sz="2000" i="1" spc="-1" noProof="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TinyMoves_TechStack_Excerpt">
            <a:hlinkClick r:id="" action="ppaction://media"/>
            <a:extLst>
              <a:ext uri="{FF2B5EF4-FFF2-40B4-BE49-F238E27FC236}">
                <a16:creationId xmlns:a16="http://schemas.microsoft.com/office/drawing/2014/main" id="{2EC18429-EAEB-2582-3FA8-66733B48B6D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45931" y="283668"/>
            <a:ext cx="10636469" cy="59830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C1642C-E044-550E-6456-B1F55B0E93B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9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471449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66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BBC1CC-6073-EA07-FC34-3D72501291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10</a:t>
            </a:fld>
            <a:endParaRPr lang="fr-FR" noProof="0" dirty="0"/>
          </a:p>
        </p:txBody>
      </p:sp>
      <p:pic>
        <p:nvPicPr>
          <p:cNvPr id="3" name="laserweeder">
            <a:hlinkClick r:id="" action="ppaction://media"/>
            <a:extLst>
              <a:ext uri="{FF2B5EF4-FFF2-40B4-BE49-F238E27FC236}">
                <a16:creationId xmlns:a16="http://schemas.microsoft.com/office/drawing/2014/main" id="{ACE52D56-E2D7-83D4-12A6-859E79A5227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510853" y="688427"/>
            <a:ext cx="5170293" cy="5481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8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7962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D944F0-E2D2-9296-6576-994907CA7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noProof="0" dirty="0"/>
              <a:t>Prédiction</a:t>
            </a:r>
            <a:r>
              <a:rPr lang="fr-FR" noProof="0" dirty="0"/>
              <a:t>, </a:t>
            </a:r>
            <a:r>
              <a:rPr lang="fr-FR" b="1" noProof="0" dirty="0"/>
              <a:t>génération</a:t>
            </a:r>
            <a:r>
              <a:rPr lang="fr-FR" noProof="0" dirty="0"/>
              <a:t> d’images, de vidéos, de textes =&gt; </a:t>
            </a:r>
            <a:r>
              <a:rPr lang="fr-FR" b="1" noProof="0" dirty="0"/>
              <a:t>même technologie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8F9835-EF39-0EAC-4E74-E7EF970B4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11</a:t>
            </a:fld>
            <a:endParaRPr lang="fr-F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A42830-33EA-36E3-38E1-465D7C4816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443" y="1345325"/>
            <a:ext cx="8552253" cy="41620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51A15B7-D36E-1636-B687-136DE24A703C}"/>
              </a:ext>
            </a:extLst>
          </p:cNvPr>
          <p:cNvSpPr/>
          <p:nvPr/>
        </p:nvSpPr>
        <p:spPr>
          <a:xfrm>
            <a:off x="2083791" y="4883729"/>
            <a:ext cx="3108695" cy="2216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427469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153E43-CB86-A076-A4B9-361AA3865C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255" y="1135303"/>
            <a:ext cx="7379854" cy="491990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7C1F5E-A9BA-B7BC-B7A3-F8E1F7F9B47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12</a:t>
            </a:fld>
            <a:endParaRPr lang="fr-FR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06A07B-5AAE-BDF3-A623-DC00A6848043}"/>
              </a:ext>
            </a:extLst>
          </p:cNvPr>
          <p:cNvSpPr/>
          <p:nvPr/>
        </p:nvSpPr>
        <p:spPr>
          <a:xfrm>
            <a:off x="2105892" y="3897746"/>
            <a:ext cx="3749963" cy="2401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60BADF-1982-F1E5-3D39-44B1D874BC92}"/>
              </a:ext>
            </a:extLst>
          </p:cNvPr>
          <p:cNvSpPr/>
          <p:nvPr/>
        </p:nvSpPr>
        <p:spPr>
          <a:xfrm>
            <a:off x="2138219" y="5569528"/>
            <a:ext cx="4585854" cy="2401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324512-EF4A-0C32-531A-7DA54C59D7DE}"/>
              </a:ext>
            </a:extLst>
          </p:cNvPr>
          <p:cNvSpPr/>
          <p:nvPr/>
        </p:nvSpPr>
        <p:spPr>
          <a:xfrm>
            <a:off x="4953000" y="3633354"/>
            <a:ext cx="4400550" cy="2401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2981012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2110-BAF3-6A7A-58A7-ABE4B7A1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82026F-E90F-9C19-D44E-F9341D11628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13</a:t>
            </a:fld>
            <a:endParaRPr lang="fr-F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92B565-195B-8157-8B73-E7774D7CA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255" y="1135303"/>
            <a:ext cx="7379854" cy="491990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3D68B32-AFAC-FD9C-DE5D-2ED27C8E8D42}"/>
              </a:ext>
            </a:extLst>
          </p:cNvPr>
          <p:cNvSpPr/>
          <p:nvPr/>
        </p:nvSpPr>
        <p:spPr>
          <a:xfrm>
            <a:off x="2105892" y="3897746"/>
            <a:ext cx="3749963" cy="2401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7ADAF5-A918-0802-AE53-DC16CBF0E9FA}"/>
              </a:ext>
            </a:extLst>
          </p:cNvPr>
          <p:cNvSpPr/>
          <p:nvPr/>
        </p:nvSpPr>
        <p:spPr>
          <a:xfrm>
            <a:off x="2138219" y="5569528"/>
            <a:ext cx="4585854" cy="24014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923CBB1-C44B-566E-D4BA-45FCC90B5043}"/>
              </a:ext>
            </a:extLst>
          </p:cNvPr>
          <p:cNvCxnSpPr>
            <a:cxnSpLocks/>
          </p:cNvCxnSpPr>
          <p:nvPr/>
        </p:nvCxnSpPr>
        <p:spPr>
          <a:xfrm>
            <a:off x="4724399" y="5213926"/>
            <a:ext cx="752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C44B435-8EE1-2D62-4F3E-115A9FBA9B80}"/>
              </a:ext>
            </a:extLst>
          </p:cNvPr>
          <p:cNvCxnSpPr>
            <a:cxnSpLocks/>
          </p:cNvCxnSpPr>
          <p:nvPr/>
        </p:nvCxnSpPr>
        <p:spPr>
          <a:xfrm>
            <a:off x="7111999" y="5213926"/>
            <a:ext cx="752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D0F707F-F262-87C6-E76A-0A1BCCD96A64}"/>
              </a:ext>
            </a:extLst>
          </p:cNvPr>
          <p:cNvCxnSpPr>
            <a:cxnSpLocks/>
          </p:cNvCxnSpPr>
          <p:nvPr/>
        </p:nvCxnSpPr>
        <p:spPr>
          <a:xfrm>
            <a:off x="7864764" y="4424217"/>
            <a:ext cx="752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B6AD0E-7819-8268-7C60-BEC93D0EB2E7}"/>
              </a:ext>
            </a:extLst>
          </p:cNvPr>
          <p:cNvCxnSpPr>
            <a:cxnSpLocks/>
          </p:cNvCxnSpPr>
          <p:nvPr/>
        </p:nvCxnSpPr>
        <p:spPr>
          <a:xfrm>
            <a:off x="8349673" y="2230580"/>
            <a:ext cx="752765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AAB4B1B-8839-9412-D96D-8F8A840F1713}"/>
              </a:ext>
            </a:extLst>
          </p:cNvPr>
          <p:cNvCxnSpPr>
            <a:cxnSpLocks/>
          </p:cNvCxnSpPr>
          <p:nvPr/>
        </p:nvCxnSpPr>
        <p:spPr>
          <a:xfrm>
            <a:off x="8005617" y="5089234"/>
            <a:ext cx="611912" cy="0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887AF3A-0507-5DC3-4150-F85D57EDC6D0}"/>
              </a:ext>
            </a:extLst>
          </p:cNvPr>
          <p:cNvCxnSpPr>
            <a:cxnSpLocks/>
          </p:cNvCxnSpPr>
          <p:nvPr/>
        </p:nvCxnSpPr>
        <p:spPr>
          <a:xfrm>
            <a:off x="2309090" y="4664363"/>
            <a:ext cx="752765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363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24057-799C-38EF-2FA5-938EB08F9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>
            <a:extLst>
              <a:ext uri="{FF2B5EF4-FFF2-40B4-BE49-F238E27FC236}">
                <a16:creationId xmlns:a16="http://schemas.microsoft.com/office/drawing/2014/main" id="{A6FE944C-B0CE-7282-1C37-39AB558598C5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1062181" y="1371600"/>
            <a:ext cx="8272319" cy="4647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sngStrike" spc="-1" noProof="0" dirty="0">
                <a:solidFill>
                  <a:srgbClr val="000000"/>
                </a:solidFill>
                <a:latin typeface="Calibri"/>
                <a:ea typeface="Calibri"/>
              </a:rPr>
              <a:t>Intelligence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b="0" strike="noStrike" spc="-1" noProof="0" dirty="0">
                <a:solidFill>
                  <a:srgbClr val="000000"/>
                </a:solidFill>
                <a:latin typeface="Calibri"/>
                <a:ea typeface="Calibri"/>
              </a:rPr>
              <a:t>Artificielle</a:t>
            </a: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1" strike="noStrike" spc="-1" noProof="0" dirty="0">
              <a:solidFill>
                <a:srgbClr val="000000"/>
              </a:solidFill>
              <a:latin typeface="Calibri"/>
              <a:ea typeface="Calibri"/>
            </a:endParaRPr>
          </a:p>
          <a:p>
            <a:pPr>
              <a:spcBef>
                <a:spcPts val="2401"/>
              </a:spcBef>
              <a:tabLst>
                <a:tab pos="0" algn="l"/>
              </a:tabLst>
            </a:pPr>
            <a:r>
              <a:rPr lang="fr-FR" sz="3200" b="1" strike="noStrike" spc="-1" noProof="0" dirty="0">
                <a:solidFill>
                  <a:schemeClr val="tx2">
                    <a:lumMod val="75000"/>
                  </a:schemeClr>
                </a:solidFill>
                <a:latin typeface="Calibri"/>
                <a:ea typeface="Calibri"/>
              </a:rPr>
              <a:t>Utile</a:t>
            </a:r>
            <a:r>
              <a:rPr lang="fr-FR" sz="3200" b="1" spc="-1" noProof="0" dirty="0">
                <a:solidFill>
                  <a:schemeClr val="tx2">
                    <a:lumMod val="75000"/>
                  </a:schemeClr>
                </a:solidFill>
                <a:latin typeface="Calibri"/>
                <a:ea typeface="Calibri"/>
              </a:rPr>
              <a:t> —  Mais peut commettre des erreurs</a:t>
            </a:r>
            <a:br>
              <a:rPr lang="fr-FR" sz="3200" b="1" spc="-1" noProof="0" dirty="0">
                <a:solidFill>
                  <a:schemeClr val="tx2">
                    <a:lumMod val="75000"/>
                  </a:schemeClr>
                </a:solidFill>
                <a:latin typeface="Calibri"/>
                <a:ea typeface="Calibri"/>
              </a:rPr>
            </a:br>
            <a:r>
              <a:rPr lang="fr-FR" sz="3200" b="1" spc="-1" noProof="0" dirty="0">
                <a:solidFill>
                  <a:srgbClr val="000000"/>
                </a:solidFill>
                <a:latin typeface="Calibri"/>
                <a:ea typeface="Calibri"/>
              </a:rPr>
              <a:t>Importance de comprendre son périmètre</a:t>
            </a:r>
            <a:endParaRPr lang="fr-FR" sz="3200" spc="-1" noProof="0" dirty="0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sz="3200" b="0" strike="noStrike" spc="-1" noProof="0" dirty="0">
              <a:solidFill>
                <a:schemeClr val="tx2">
                  <a:lumMod val="75000"/>
                </a:schemeClr>
              </a:solidFill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endParaRPr lang="fr-FR" b="0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41650-04E2-491D-CB5C-3BD2941899F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14</a:t>
            </a:fld>
            <a:endParaRPr lang="fr-FR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A95CA-C7A0-F851-7AC6-4E3D19C557FA}"/>
              </a:ext>
            </a:extLst>
          </p:cNvPr>
          <p:cNvSpPr txBox="1"/>
          <p:nvPr/>
        </p:nvSpPr>
        <p:spPr>
          <a:xfrm>
            <a:off x="5329383" y="1371600"/>
            <a:ext cx="6862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i="1" noProof="0" dirty="0"/>
              <a:t>Capacité à apprendre,  comprendre et s’adapter à un environnement changeant </a:t>
            </a:r>
            <a:br>
              <a:rPr lang="fr-FR" sz="2000" i="1" noProof="0" dirty="0"/>
            </a:br>
            <a:r>
              <a:rPr lang="fr-FR" sz="2000" i="1" noProof="0" dirty="0"/>
              <a:t>pour atteindre </a:t>
            </a:r>
            <a:r>
              <a:rPr lang="fr-FR" sz="2000" i="1" u="sng" noProof="0" dirty="0"/>
              <a:t>ses</a:t>
            </a:r>
            <a:r>
              <a:rPr lang="fr-FR" sz="2000" i="1" noProof="0" dirty="0"/>
              <a:t> objectifs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661E8C-DE05-830C-CADF-FE16A7541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951" y="4700751"/>
            <a:ext cx="1571297" cy="15712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9E87D7-31D0-0000-1884-15757016911A}"/>
              </a:ext>
            </a:extLst>
          </p:cNvPr>
          <p:cNvSpPr txBox="1"/>
          <p:nvPr/>
        </p:nvSpPr>
        <p:spPr>
          <a:xfrm>
            <a:off x="4057650" y="3624654"/>
            <a:ext cx="7950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>
              <a:lnSpc>
                <a:spcPct val="100000"/>
              </a:lnSpc>
              <a:spcBef>
                <a:spcPts val="2401"/>
              </a:spcBef>
              <a:buNone/>
              <a:tabLst>
                <a:tab pos="0" algn="l"/>
              </a:tabLst>
            </a:pPr>
            <a:r>
              <a:rPr lang="fr-FR" sz="2000" i="1" spc="-1" dirty="0">
                <a:solidFill>
                  <a:srgbClr val="000000"/>
                </a:solidFill>
                <a:ea typeface="Calibri"/>
              </a:rPr>
              <a:t>Aristote &amp; Sénèque</a:t>
            </a:r>
            <a:r>
              <a:rPr lang="fr-FR" sz="2000" i="1" spc="-1" noProof="0" dirty="0">
                <a:solidFill>
                  <a:srgbClr val="000000"/>
                </a:solidFill>
                <a:ea typeface="Calibri"/>
              </a:rPr>
              <a:t> : Tout art est une imitation de la nature.</a:t>
            </a:r>
            <a:endParaRPr lang="fr-FR" sz="2000" i="1" spc="-1" noProof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1866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BBD3F-118E-FBD5-61ED-D9E3BBF5D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78F73E-B917-A136-B279-3FE354BD04B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15</a:t>
            </a:fld>
            <a:endParaRPr lang="fr-F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79E8DF-FB80-F9FC-6FD3-0DE3C5BD9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832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60CC0-9579-264F-FD4B-B81571600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134CDB-0A85-8F41-06E9-5786C8E0F6E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16</a:t>
            </a:fld>
            <a:endParaRPr lang="fr-F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A2B5E-EEDD-3984-8D90-D1FBC85810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A20D2AB-1CB1-AEFC-6676-A3D1AEA5DAC0}"/>
              </a:ext>
            </a:extLst>
          </p:cNvPr>
          <p:cNvSpPr txBox="1"/>
          <p:nvPr/>
        </p:nvSpPr>
        <p:spPr>
          <a:xfrm>
            <a:off x="7513982" y="2951922"/>
            <a:ext cx="10038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y=</a:t>
            </a:r>
            <a:r>
              <a:rPr lang="en-US" dirty="0" err="1"/>
              <a:t>ax+b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12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701E167-2E54-1686-5E2B-99E6455254B7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17</a:t>
            </a:fld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C694A1-32B8-3E7F-F619-799AA8459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031" y="833075"/>
            <a:ext cx="5391902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921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95702-31AE-6515-4A36-F22B36160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F36691-5AD7-58F9-F119-9CD0BBDF72C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18</a:t>
            </a:fld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762E34-4F76-AC9C-E5F6-53041CCD00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3031" y="833075"/>
            <a:ext cx="5391902" cy="5191850"/>
          </a:xfrm>
          <a:prstGeom prst="rect">
            <a:avLst/>
          </a:prstGeom>
        </p:spPr>
      </p:pic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A1486D5-0574-D8B8-E3E6-2B6CEB44E13D}"/>
              </a:ext>
            </a:extLst>
          </p:cNvPr>
          <p:cNvSpPr/>
          <p:nvPr/>
        </p:nvSpPr>
        <p:spPr>
          <a:xfrm>
            <a:off x="3241964" y="2189018"/>
            <a:ext cx="5394036" cy="2503055"/>
          </a:xfrm>
          <a:custGeom>
            <a:avLst/>
            <a:gdLst>
              <a:gd name="connsiteX0" fmla="*/ 1376218 w 5394036"/>
              <a:gd name="connsiteY0" fmla="*/ 0 h 2503055"/>
              <a:gd name="connsiteX1" fmla="*/ 5394036 w 5394036"/>
              <a:gd name="connsiteY1" fmla="*/ 0 h 2503055"/>
              <a:gd name="connsiteX2" fmla="*/ 5384800 w 5394036"/>
              <a:gd name="connsiteY2" fmla="*/ 1191491 h 2503055"/>
              <a:gd name="connsiteX3" fmla="*/ 3962400 w 5394036"/>
              <a:gd name="connsiteY3" fmla="*/ 1182255 h 2503055"/>
              <a:gd name="connsiteX4" fmla="*/ 3962400 w 5394036"/>
              <a:gd name="connsiteY4" fmla="*/ 2503055 h 2503055"/>
              <a:gd name="connsiteX5" fmla="*/ 9236 w 5394036"/>
              <a:gd name="connsiteY5" fmla="*/ 2503055 h 2503055"/>
              <a:gd name="connsiteX6" fmla="*/ 0 w 5394036"/>
              <a:gd name="connsiteY6" fmla="*/ 1311564 h 2503055"/>
              <a:gd name="connsiteX7" fmla="*/ 1394691 w 5394036"/>
              <a:gd name="connsiteY7" fmla="*/ 1311564 h 2503055"/>
              <a:gd name="connsiteX8" fmla="*/ 1376218 w 5394036"/>
              <a:gd name="connsiteY8" fmla="*/ 0 h 2503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94036" h="2503055">
                <a:moveTo>
                  <a:pt x="1376218" y="0"/>
                </a:moveTo>
                <a:lnTo>
                  <a:pt x="5394036" y="0"/>
                </a:lnTo>
                <a:cubicBezTo>
                  <a:pt x="5390957" y="397164"/>
                  <a:pt x="5387879" y="794327"/>
                  <a:pt x="5384800" y="1191491"/>
                </a:cubicBezTo>
                <a:lnTo>
                  <a:pt x="3962400" y="1182255"/>
                </a:lnTo>
                <a:lnTo>
                  <a:pt x="3962400" y="2503055"/>
                </a:lnTo>
                <a:lnTo>
                  <a:pt x="9236" y="2503055"/>
                </a:lnTo>
                <a:cubicBezTo>
                  <a:pt x="6157" y="2105891"/>
                  <a:pt x="3079" y="1708728"/>
                  <a:pt x="0" y="1311564"/>
                </a:cubicBezTo>
                <a:lnTo>
                  <a:pt x="1394691" y="1311564"/>
                </a:lnTo>
                <a:lnTo>
                  <a:pt x="1376218" y="0"/>
                </a:lnTo>
                <a:close/>
              </a:path>
            </a:pathLst>
          </a:custGeom>
          <a:solidFill>
            <a:srgbClr val="FF9900">
              <a:alpha val="10196"/>
            </a:srgb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244322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CCF6BB-D9A1-3BAC-1B40-28536542927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19</a:t>
            </a:fld>
            <a:endParaRPr lang="fr-FR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DCCE5DC-C3F0-E193-09A2-FBBCD5B4CE5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71600"/>
            <a:ext cx="10464800" cy="4648200"/>
          </a:xfrm>
        </p:spPr>
        <p:txBody>
          <a:bodyPr/>
          <a:lstStyle/>
          <a:p>
            <a:endParaRPr lang="fr-FR" noProof="0" dirty="0"/>
          </a:p>
          <a:p>
            <a:endParaRPr lang="fr-FR" noProof="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EC12CAB-3411-0C7A-3A52-BE1995FAC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17" y="1371600"/>
            <a:ext cx="2600037" cy="26000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82CB5C-5DEC-6DEF-47C2-F76849BCD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3429" y="1814248"/>
            <a:ext cx="3134162" cy="1714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2EE5A8-C658-E4FC-A41A-B2C2D19C7195}"/>
              </a:ext>
            </a:extLst>
          </p:cNvPr>
          <p:cNvSpPr txBox="1"/>
          <p:nvPr/>
        </p:nvSpPr>
        <p:spPr>
          <a:xfrm>
            <a:off x="1611167" y="4672553"/>
            <a:ext cx="9417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noProof="0" dirty="0">
                <a:solidFill>
                  <a:srgbClr val="0070C0"/>
                </a:solidFill>
                <a:latin typeface="Consolas" panose="020B0609020204030204" pitchFamily="49" charset="0"/>
              </a:rPr>
              <a:t>entrée</a:t>
            </a:r>
            <a:r>
              <a:rPr lang="fr-FR" sz="2800" baseline="-25000" noProof="0" dirty="0">
                <a:solidFill>
                  <a:srgbClr val="0070C0"/>
                </a:solidFill>
                <a:latin typeface="Consolas" panose="020B0609020204030204" pitchFamily="49" charset="0"/>
              </a:rPr>
              <a:t>1</a:t>
            </a:r>
            <a:r>
              <a:rPr lang="fr-FR" sz="2800" noProof="0" dirty="0">
                <a:latin typeface="Consolas" panose="020B0609020204030204" pitchFamily="49" charset="0"/>
              </a:rPr>
              <a:t> x </a:t>
            </a:r>
            <a:r>
              <a:rPr lang="fr-FR" sz="2800" noProof="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poids</a:t>
            </a:r>
            <a:r>
              <a:rPr lang="fr-FR" sz="2800" baseline="-25000" noProof="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fr-FR" sz="2800" noProof="0" dirty="0">
                <a:latin typeface="Consolas" panose="020B0609020204030204" pitchFamily="49" charset="0"/>
              </a:rPr>
              <a:t> + </a:t>
            </a:r>
            <a:r>
              <a:rPr lang="fr-FR" sz="2800" noProof="0" dirty="0">
                <a:solidFill>
                  <a:srgbClr val="0070C0"/>
                </a:solidFill>
                <a:latin typeface="Consolas" panose="020B0609020204030204" pitchFamily="49" charset="0"/>
              </a:rPr>
              <a:t>entrée</a:t>
            </a:r>
            <a:r>
              <a:rPr lang="fr-FR" sz="2800" baseline="-25000" noProof="0" dirty="0">
                <a:solidFill>
                  <a:srgbClr val="0070C0"/>
                </a:solidFill>
                <a:latin typeface="Consolas" panose="020B0609020204030204" pitchFamily="49" charset="0"/>
              </a:rPr>
              <a:t>2</a:t>
            </a:r>
            <a:r>
              <a:rPr lang="fr-FR" sz="2800" noProof="0" dirty="0">
                <a:latin typeface="Consolas" panose="020B0609020204030204" pitchFamily="49" charset="0"/>
              </a:rPr>
              <a:t> x </a:t>
            </a:r>
            <a:r>
              <a:rPr lang="fr-FR" sz="2800" noProof="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poids</a:t>
            </a:r>
            <a:r>
              <a:rPr lang="fr-FR" sz="2800" baseline="-25000" noProof="0" dirty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2</a:t>
            </a:r>
            <a:r>
              <a:rPr lang="fr-FR" sz="2800" noProof="0" dirty="0">
                <a:latin typeface="Consolas" panose="020B0609020204030204" pitchFamily="49" charset="0"/>
              </a:rPr>
              <a:t> + … </a:t>
            </a:r>
            <a:r>
              <a:rPr lang="fr-FR" sz="3600" noProof="0" dirty="0">
                <a:latin typeface="Consolas" panose="020B0609020204030204" pitchFamily="49" charset="0"/>
              </a:rPr>
              <a:t>&gt;</a:t>
            </a:r>
            <a:r>
              <a:rPr lang="fr-FR" sz="2800" noProof="0" dirty="0">
                <a:latin typeface="Consolas" panose="020B0609020204030204" pitchFamily="49" charset="0"/>
              </a:rPr>
              <a:t> </a:t>
            </a:r>
            <a:r>
              <a:rPr lang="fr-FR" sz="2800" noProof="0" dirty="0">
                <a:solidFill>
                  <a:srgbClr val="00B050"/>
                </a:solidFill>
                <a:latin typeface="Consolas" panose="020B0609020204030204" pitchFamily="49" charset="0"/>
              </a:rPr>
              <a:t>seuil</a:t>
            </a:r>
          </a:p>
        </p:txBody>
      </p:sp>
    </p:spTree>
    <p:extLst>
      <p:ext uri="{BB962C8B-B14F-4D97-AF65-F5344CB8AC3E}">
        <p14:creationId xmlns:p14="http://schemas.microsoft.com/office/powerpoint/2010/main" val="374599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9F093-6579-0784-8FEB-2746A0D5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7941B-A089-4D2A-EEA1-0EBA74BE3B5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20</a:t>
            </a:fld>
            <a:endParaRPr lang="fr-FR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AFC62D-F436-E6B9-F254-E01C5376B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394" y="1916349"/>
            <a:ext cx="3239544" cy="2316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840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25CA6-99B7-3A48-86DB-999C0206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08CD15-E0B1-344D-20B7-91CDFE1A2B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21</a:t>
            </a:fld>
            <a:endParaRPr lang="fr-F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EB9120-9999-0503-A7B4-470CF973CB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394" y="1916349"/>
            <a:ext cx="3239544" cy="231658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EA31838-8F0C-802C-1D58-8252876F1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343" y="1117693"/>
            <a:ext cx="4039158" cy="3733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577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C55C5D-CE89-1B14-B81D-E88C65E6809D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22</a:t>
            </a:fld>
            <a:endParaRPr lang="fr-FR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2083A66-FE1F-CF96-FBFD-B55C0E1FF3A5}"/>
              </a:ext>
            </a:extLst>
          </p:cNvPr>
          <p:cNvGrpSpPr/>
          <p:nvPr/>
        </p:nvGrpSpPr>
        <p:grpSpPr>
          <a:xfrm>
            <a:off x="54715" y="0"/>
            <a:ext cx="2688485" cy="978195"/>
            <a:chOff x="54715" y="0"/>
            <a:chExt cx="3244530" cy="11831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05F338D-BCA7-A4E0-180F-D97DC9014B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4655" y="25418"/>
              <a:ext cx="1964590" cy="115774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C034717-4632-9C85-E0FD-ED7B03032DE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15" y="0"/>
              <a:ext cx="1279940" cy="1183158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6B12749-17BB-D6B8-AB36-DE3677E1EC9F}"/>
              </a:ext>
            </a:extLst>
          </p:cNvPr>
          <p:cNvGrpSpPr/>
          <p:nvPr/>
        </p:nvGrpSpPr>
        <p:grpSpPr>
          <a:xfrm>
            <a:off x="184935" y="1449427"/>
            <a:ext cx="9703637" cy="4201726"/>
            <a:chOff x="1218363" y="1839845"/>
            <a:chExt cx="9703637" cy="4201726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E3EAD57-C7F1-234D-BD40-464D9F9B96F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639" b="25151"/>
            <a:stretch>
              <a:fillRect/>
            </a:stretch>
          </p:blipFill>
          <p:spPr>
            <a:xfrm>
              <a:off x="1218363" y="1839845"/>
              <a:ext cx="9703637" cy="4201726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FDA3640-47CB-30DC-9682-BF140A68DE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5000"/>
            </a:blip>
            <a:srcRect l="50956" b="50309"/>
            <a:stretch>
              <a:fillRect/>
            </a:stretch>
          </p:blipFill>
          <p:spPr>
            <a:xfrm>
              <a:off x="3552372" y="3187241"/>
              <a:ext cx="812801" cy="74106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59864CC-060A-9305-57E2-CBB28A3B4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5000"/>
            </a:blip>
            <a:srcRect r="50956" b="50309"/>
            <a:stretch>
              <a:fillRect/>
            </a:stretch>
          </p:blipFill>
          <p:spPr>
            <a:xfrm>
              <a:off x="2492129" y="3199644"/>
              <a:ext cx="915100" cy="728661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0EBA867-CDEC-FDD9-46E4-C1A5694C0C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5000"/>
            </a:blip>
            <a:srcRect r="50956" b="50309"/>
            <a:stretch>
              <a:fillRect/>
            </a:stretch>
          </p:blipFill>
          <p:spPr>
            <a:xfrm>
              <a:off x="2547991" y="3994526"/>
              <a:ext cx="848964" cy="74106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4212D2F-B6CC-8427-524D-D7142BEA3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alphaModFix amt="25000"/>
            </a:blip>
            <a:srcRect l="50956" b="50309"/>
            <a:stretch>
              <a:fillRect/>
            </a:stretch>
          </p:blipFill>
          <p:spPr>
            <a:xfrm>
              <a:off x="3574141" y="3992783"/>
              <a:ext cx="769260" cy="741064"/>
            </a:xfrm>
            <a:prstGeom prst="rect">
              <a:avLst/>
            </a:prstGeom>
          </p:spPr>
        </p:pic>
      </p:grp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719623A-E8FC-88A0-CD77-63B3FA09A928}"/>
              </a:ext>
            </a:extLst>
          </p:cNvPr>
          <p:cNvSpPr/>
          <p:nvPr/>
        </p:nvSpPr>
        <p:spPr>
          <a:xfrm>
            <a:off x="585007" y="223736"/>
            <a:ext cx="271027" cy="26264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418EBC30-0EF6-15E0-48A1-81D1602E55F4}"/>
              </a:ext>
            </a:extLst>
          </p:cNvPr>
          <p:cNvCxnSpPr>
            <a:cxnSpLocks/>
            <a:stCxn id="19" idx="2"/>
            <a:endCxn id="23" idx="0"/>
          </p:cNvCxnSpPr>
          <p:nvPr/>
        </p:nvCxnSpPr>
        <p:spPr>
          <a:xfrm rot="16200000" flipH="1">
            <a:off x="514962" y="691942"/>
            <a:ext cx="2127376" cy="1716258"/>
          </a:xfrm>
          <a:prstGeom prst="curvedConnector3">
            <a:avLst/>
          </a:prstGeom>
          <a:ln w="25400">
            <a:solidFill>
              <a:schemeClr val="tx1">
                <a:lumMod val="95000"/>
                <a:lumOff val="5000"/>
              </a:schemeClr>
            </a:solidFill>
            <a:headEnd type="oval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709C05-C849-79FA-0E49-E9BEDE934003}"/>
              </a:ext>
            </a:extLst>
          </p:cNvPr>
          <p:cNvSpPr/>
          <p:nvPr/>
        </p:nvSpPr>
        <p:spPr>
          <a:xfrm>
            <a:off x="1342417" y="2613759"/>
            <a:ext cx="2188723" cy="1848256"/>
          </a:xfrm>
          <a:prstGeom prst="roundRect">
            <a:avLst/>
          </a:prstGeom>
          <a:noFill/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28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8BAC6-57B6-0D5A-8F2C-63C9E8B52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BF7D07-498D-A41B-4E05-DBD92400E1C2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23</a:t>
            </a:fld>
            <a:endParaRPr lang="fr-FR" noProof="0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7AFF785-89E1-E9EB-7924-8D52C96E61AC}"/>
              </a:ext>
            </a:extLst>
          </p:cNvPr>
          <p:cNvGrpSpPr/>
          <p:nvPr/>
        </p:nvGrpSpPr>
        <p:grpSpPr>
          <a:xfrm>
            <a:off x="54715" y="0"/>
            <a:ext cx="2688485" cy="978195"/>
            <a:chOff x="54715" y="0"/>
            <a:chExt cx="3244530" cy="118315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448A2FD-F39B-6D79-6748-FE877DDAE9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4655" y="25418"/>
              <a:ext cx="1964590" cy="115774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5C79CA9-622D-9620-87C0-658B09C345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15" y="0"/>
              <a:ext cx="1279940" cy="1183158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4299CE9-D3AB-BDF7-20E7-79AF8504CC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4" t="21580" b="20738"/>
          <a:stretch>
            <a:fillRect/>
          </a:stretch>
        </p:blipFill>
        <p:spPr>
          <a:xfrm>
            <a:off x="585007" y="1272735"/>
            <a:ext cx="8034932" cy="449746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CC824E-5048-FEE0-940D-F4D60CA94D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4564" y="1942785"/>
            <a:ext cx="2972429" cy="29724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07AB85-4061-48A3-15F4-F9D0B185A5DB}"/>
              </a:ext>
            </a:extLst>
          </p:cNvPr>
          <p:cNvSpPr txBox="1"/>
          <p:nvPr/>
        </p:nvSpPr>
        <p:spPr>
          <a:xfrm>
            <a:off x="5761308" y="304431"/>
            <a:ext cx="2677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Paramètres initiaux</a:t>
            </a:r>
            <a:endParaRPr lang="fr-FR" b="1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1F828C-3471-4D7B-EE7C-15D6C99AA1C3}"/>
              </a:ext>
            </a:extLst>
          </p:cNvPr>
          <p:cNvSpPr txBox="1"/>
          <p:nvPr/>
        </p:nvSpPr>
        <p:spPr>
          <a:xfrm>
            <a:off x="3629018" y="314939"/>
            <a:ext cx="1946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latin typeface="Arial" panose="020B0604020202020204" pitchFamily="34" charset="0"/>
                <a:cs typeface="Arial" panose="020B0604020202020204" pitchFamily="34" charset="0"/>
              </a:rPr>
              <a:t>à la naissance</a:t>
            </a:r>
            <a:endParaRPr lang="fr-FR" b="1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E029A86-1BD0-6E18-73D7-977AB5FCF4C8}"/>
              </a:ext>
            </a:extLst>
          </p:cNvPr>
          <p:cNvSpPr txBox="1"/>
          <p:nvPr/>
        </p:nvSpPr>
        <p:spPr>
          <a:xfrm>
            <a:off x="9401754" y="314939"/>
            <a:ext cx="1946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Réussite 6/16   37%</a:t>
            </a:r>
            <a:endParaRPr lang="fr-FR" b="1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13460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A8F9FA-3EC7-7852-1382-B1C19F05144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en-US" smtClean="0"/>
              <a:t>24</a:t>
            </a:fld>
            <a:endParaRPr lang="en-US"/>
          </a:p>
        </p:txBody>
      </p:sp>
      <p:pic>
        <p:nvPicPr>
          <p:cNvPr id="26" name="12_data_grid_prediction_history_param_probabilities__05">
            <a:hlinkClick r:id="" action="ppaction://media"/>
            <a:extLst>
              <a:ext uri="{FF2B5EF4-FFF2-40B4-BE49-F238E27FC236}">
                <a16:creationId xmlns:a16="http://schemas.microsoft.com/office/drawing/2014/main" id="{EB5CF2B9-CA1A-D87A-C179-F59E4945A10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403839" y="1475884"/>
            <a:ext cx="9149862" cy="441766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2753B0-BA11-C798-5147-EF35E5F7DA27}"/>
              </a:ext>
            </a:extLst>
          </p:cNvPr>
          <p:cNvSpPr txBox="1"/>
          <p:nvPr/>
        </p:nvSpPr>
        <p:spPr>
          <a:xfrm>
            <a:off x="5076092" y="0"/>
            <a:ext cx="2329484" cy="461665"/>
          </a:xfrm>
          <a:prstGeom prst="rect">
            <a:avLst/>
          </a:prstGeom>
          <a:solidFill>
            <a:srgbClr val="F5F5FF"/>
          </a:solidFill>
        </p:spPr>
        <p:txBody>
          <a:bodyPr wrap="none" rtlCol="0">
            <a:spAutoFit/>
          </a:bodyPr>
          <a:lstStyle/>
          <a:p>
            <a:r>
              <a:rPr lang="fr-FR" sz="2400" b="1" noProof="0" dirty="0"/>
              <a:t>Entraînement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B6AFBCB-20A0-6F50-D8FF-3AA35CB6AD2C}"/>
              </a:ext>
            </a:extLst>
          </p:cNvPr>
          <p:cNvGrpSpPr/>
          <p:nvPr/>
        </p:nvGrpSpPr>
        <p:grpSpPr>
          <a:xfrm>
            <a:off x="54715" y="0"/>
            <a:ext cx="2688485" cy="978195"/>
            <a:chOff x="54715" y="0"/>
            <a:chExt cx="3244530" cy="11831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22317E8-748C-8416-EB97-A843BB336D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4655" y="25418"/>
              <a:ext cx="1964590" cy="115774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1BF6486-FF73-ACE1-F61E-5EF4218FAD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4715" y="0"/>
              <a:ext cx="1279940" cy="1183158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AA20C5D-419F-6E0C-F07A-22A67E1BE0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1916" y="0"/>
            <a:ext cx="1635369" cy="1090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57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500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E657-4B05-D12F-5BE7-8629281A5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FD16CF-89CA-5E64-4FFD-22EF6494D22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25</a:t>
            </a:fld>
            <a:endParaRPr lang="fr-FR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010F37-B850-AAF1-8A45-7BA40103179F}"/>
              </a:ext>
            </a:extLst>
          </p:cNvPr>
          <p:cNvSpPr txBox="1"/>
          <p:nvPr/>
        </p:nvSpPr>
        <p:spPr>
          <a:xfrm>
            <a:off x="6667500" y="234410"/>
            <a:ext cx="54697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noProof="0" dirty="0">
                <a:latin typeface="Arial" panose="020B0604020202020204" pitchFamily="34" charset="0"/>
                <a:cs typeface="Arial" panose="020B0604020202020204" pitchFamily="34" charset="0"/>
              </a:rPr>
              <a:t>Trouver les paramètres adéquats : 1 seconde</a:t>
            </a:r>
          </a:p>
          <a:p>
            <a:endParaRPr lang="fr-FR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b="1" noProof="0" dirty="0">
                <a:latin typeface="Arial" panose="020B0604020202020204" pitchFamily="34" charset="0"/>
                <a:cs typeface="Arial" panose="020B0604020202020204" pitchFamily="34" charset="0"/>
              </a:rPr>
              <a:t>Utiliser le réseau : 1 </a:t>
            </a:r>
            <a:r>
              <a:rPr lang="fr-FR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micro-seconde</a:t>
            </a:r>
            <a:endParaRPr lang="fr-FR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499A333-2AAA-5298-B03B-5CAAAD050465}"/>
              </a:ext>
            </a:extLst>
          </p:cNvPr>
          <p:cNvGrpSpPr/>
          <p:nvPr/>
        </p:nvGrpSpPr>
        <p:grpSpPr>
          <a:xfrm>
            <a:off x="54715" y="0"/>
            <a:ext cx="2688485" cy="978195"/>
            <a:chOff x="54715" y="0"/>
            <a:chExt cx="3244530" cy="11831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2BD69700-2944-D82A-0C0E-6BCA2B19B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4655" y="25418"/>
              <a:ext cx="1964590" cy="115774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DAFD555-4F13-94CE-5546-076F96028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15" y="0"/>
              <a:ext cx="1279940" cy="1183158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3F603B49-83E3-C530-5B66-D33DBBBD76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7" t="21018" b="18302"/>
          <a:stretch>
            <a:fillRect/>
          </a:stretch>
        </p:blipFill>
        <p:spPr>
          <a:xfrm>
            <a:off x="548457" y="1216464"/>
            <a:ext cx="8184063" cy="4705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E499873-A42F-BAC1-D49A-FC22B0301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2732" y="1960952"/>
            <a:ext cx="2999668" cy="29996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A9FEA69-5D01-FA29-3C4A-E86AA11E3B4A}"/>
              </a:ext>
            </a:extLst>
          </p:cNvPr>
          <p:cNvSpPr txBox="1"/>
          <p:nvPr/>
        </p:nvSpPr>
        <p:spPr>
          <a:xfrm>
            <a:off x="3379470" y="489097"/>
            <a:ext cx="2716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i="1" dirty="0">
                <a:latin typeface="Arial" panose="020B0604020202020204" pitchFamily="34" charset="0"/>
                <a:cs typeface="Arial" panose="020B0604020202020204" pitchFamily="34" charset="0"/>
              </a:rPr>
              <a:t>après entraînement</a:t>
            </a:r>
            <a:endParaRPr lang="fr-FR" b="1" i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6077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3B0FD4-2BA9-BA3D-05CC-D952F5A34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8730" y="1383532"/>
            <a:ext cx="10488929" cy="501426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546716-F48A-5B6E-14B3-EDEA1C235F9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26</a:t>
            </a:fld>
            <a:endParaRPr lang="fr-FR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EA3268-B757-67D1-10D6-D7D8EA0B48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-193"/>
          <a:stretch>
            <a:fillRect/>
          </a:stretch>
        </p:blipFill>
        <p:spPr>
          <a:xfrm>
            <a:off x="434340" y="921867"/>
            <a:ext cx="3174379" cy="52006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E09C7B-2F96-9994-BC60-31872F54CD67}"/>
              </a:ext>
            </a:extLst>
          </p:cNvPr>
          <p:cNvSpPr txBox="1"/>
          <p:nvPr/>
        </p:nvSpPr>
        <p:spPr>
          <a:xfrm>
            <a:off x="5354020" y="460202"/>
            <a:ext cx="3576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50 « neurones »</a:t>
            </a:r>
          </a:p>
          <a:p>
            <a:r>
              <a:rPr lang="fr-FR" noProof="0" dirty="0"/>
              <a:t>9000 paramètres</a:t>
            </a:r>
          </a:p>
          <a:p>
            <a:r>
              <a:rPr lang="fr-FR" noProof="0" dirty="0"/>
              <a:t>90% exactitude + 10% erreurs</a:t>
            </a:r>
          </a:p>
        </p:txBody>
      </p:sp>
    </p:spTree>
    <p:extLst>
      <p:ext uri="{BB962C8B-B14F-4D97-AF65-F5344CB8AC3E}">
        <p14:creationId xmlns:p14="http://schemas.microsoft.com/office/powerpoint/2010/main" val="87169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D1C13-875B-5098-4DD0-62568CCB6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5233E-2204-38D9-E287-4A2BD85E5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27</a:t>
            </a:fld>
            <a:endParaRPr lang="fr-FR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0F2F9C-573A-3BD4-9EF7-B961FB86761A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fr-FR" noProof="0" dirty="0"/>
              <a:t>https://arxiv.org/abs/1906.01703</a:t>
            </a: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689E942E-6FA3-A448-7AF0-78BF0B65A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0935881"/>
              </p:ext>
            </p:extLst>
          </p:nvPr>
        </p:nvGraphicFramePr>
        <p:xfrm>
          <a:off x="1975425" y="706329"/>
          <a:ext cx="8831120" cy="1381680"/>
        </p:xfrm>
        <a:graphic>
          <a:graphicData uri="http://schemas.openxmlformats.org/drawingml/2006/table">
            <a:tbl>
              <a:tblPr/>
              <a:tblGrid>
                <a:gridCol w="3906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5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1" strike="noStrike" spc="-1" noProof="0" dirty="0">
                          <a:solidFill>
                            <a:schemeClr val="lt1"/>
                          </a:solidFill>
                          <a:latin typeface="Montserrat Medium"/>
                        </a:rPr>
                        <a:t>Cerveau humain</a:t>
                      </a:r>
                      <a:endParaRPr lang="fr-FR" sz="1800" b="0" strike="noStrike" spc="-1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1" strike="noStrike" spc="-1" noProof="0" dirty="0" err="1">
                          <a:solidFill>
                            <a:schemeClr val="lt1"/>
                          </a:solidFill>
                          <a:latin typeface="Montserrat Medium"/>
                        </a:rPr>
                        <a:t>Colossus</a:t>
                      </a:r>
                      <a:r>
                        <a:rPr lang="fr-FR" sz="1800" b="1" strike="noStrike" spc="-1" noProof="0" dirty="0">
                          <a:solidFill>
                            <a:schemeClr val="lt1"/>
                          </a:solidFill>
                          <a:latin typeface="Montserrat Medium"/>
                        </a:rPr>
                        <a:t> 2 (2026)</a:t>
                      </a:r>
                      <a:endParaRPr lang="fr-FR" sz="1800" b="0" strike="noStrike" spc="-1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Montserrat Medium"/>
                        </a:rPr>
                        <a:t>100 milliards de neurones</a:t>
                      </a:r>
                      <a:endParaRPr lang="fr-FR" sz="1800" b="0" strike="noStrike" spc="-1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+mn-lt"/>
                        </a:rPr>
                        <a:t>20 milliards de ‘</a:t>
                      </a:r>
                      <a:r>
                        <a:rPr lang="fr-FR" sz="1800" b="0" strike="noStrike" spc="-1" noProof="0" dirty="0" err="1">
                          <a:solidFill>
                            <a:schemeClr val="dk1"/>
                          </a:solidFill>
                          <a:latin typeface="+mn-lt"/>
                        </a:rPr>
                        <a:t>cores</a:t>
                      </a:r>
                      <a: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+mn-lt"/>
                        </a:rPr>
                        <a:t>’ (</a:t>
                      </a:r>
                      <a:r>
                        <a:rPr lang="fr-FR" sz="1800" b="0" strike="noStrike" spc="-1" noProof="0" dirty="0" err="1">
                          <a:solidFill>
                            <a:schemeClr val="dk1"/>
                          </a:solidFill>
                          <a:latin typeface="+mn-lt"/>
                        </a:rPr>
                        <a:t>mP</a:t>
                      </a:r>
                      <a: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+mn-lt"/>
                        </a:rPr>
                        <a:t>)</a:t>
                      </a:r>
                      <a:b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+mn-lt"/>
                        </a:rPr>
                      </a:br>
                      <a:r>
                        <a:rPr lang="fr-FR" sz="1800" b="0" strike="noStrike" spc="-1" noProof="0" dirty="0">
                          <a:solidFill>
                            <a:srgbClr val="7030A0"/>
                          </a:solidFill>
                          <a:latin typeface="Montserrat Medium"/>
                        </a:rPr>
                        <a:t>1 millions de </a:t>
                      </a:r>
                      <a:r>
                        <a:rPr lang="fr-FR" sz="1800" b="0" strike="noStrike" spc="-1" noProof="0" dirty="0" err="1">
                          <a:solidFill>
                            <a:srgbClr val="7030A0"/>
                          </a:solidFill>
                          <a:latin typeface="Montserrat Medium"/>
                        </a:rPr>
                        <a:t>GPUs</a:t>
                      </a:r>
                      <a:endParaRPr lang="fr-FR" sz="1800" b="0" strike="noStrike" spc="-1" noProof="0" dirty="0">
                        <a:solidFill>
                          <a:srgbClr val="7030A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Montserrat Medium"/>
                        </a:rPr>
                        <a:t>1 000 000 milliards de synapses</a:t>
                      </a:r>
                      <a:endParaRPr lang="fr-FR" sz="1800" b="0" strike="noStrike" spc="-1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fr-FR" sz="1800" b="0" strike="noStrike" spc="-1" noProof="0" dirty="0">
                          <a:solidFill>
                            <a:schemeClr val="dk1"/>
                          </a:solidFill>
                          <a:latin typeface="Montserrat Medium"/>
                        </a:rPr>
                        <a:t>10 000 milliards de paramètres</a:t>
                      </a:r>
                      <a:endParaRPr lang="fr-FR" sz="1800" b="0" strike="noStrike" spc="-1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>
                      <a:solidFill>
                        <a:srgbClr val="FFFFFF"/>
                      </a:solidFill>
                    </a:lnR>
                    <a:lnT w="12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9">
            <a:extLst>
              <a:ext uri="{FF2B5EF4-FFF2-40B4-BE49-F238E27FC236}">
                <a16:creationId xmlns:a16="http://schemas.microsoft.com/office/drawing/2014/main" id="{7E48FBCF-2C5F-9173-06DA-24090577A0FA}"/>
              </a:ext>
            </a:extLst>
          </p:cNvPr>
          <p:cNvSpPr/>
          <p:nvPr/>
        </p:nvSpPr>
        <p:spPr>
          <a:xfrm>
            <a:off x="5735781" y="3106561"/>
            <a:ext cx="5546436" cy="6448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1800" b="0" strike="noStrike" spc="-1" noProof="0" dirty="0">
                <a:solidFill>
                  <a:srgbClr val="000000"/>
                </a:solidFill>
                <a:latin typeface="Montserrat Medium"/>
                <a:ea typeface="DejaVu Sans"/>
              </a:rPr>
              <a:t>2030 : </a:t>
            </a:r>
            <a:r>
              <a:rPr lang="fr-FR" spc="-1" noProof="0" dirty="0">
                <a:solidFill>
                  <a:schemeClr val="dk1"/>
                </a:solidFill>
              </a:rPr>
              <a:t>100 000 milliards de paramètres</a:t>
            </a:r>
            <a:endParaRPr lang="fr-FR" spc="-1" noProof="0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lang="fr-FR" sz="1800" b="0" strike="noStrike" spc="-1" noProof="0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7FCD5B-AE65-1895-96F4-E910C85F9C52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228976" y="2702907"/>
            <a:ext cx="3093651" cy="3252588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1888A7-004C-9A99-219F-39AFE2096643}"/>
              </a:ext>
            </a:extLst>
          </p:cNvPr>
          <p:cNvSpPr txBox="1"/>
          <p:nvPr/>
        </p:nvSpPr>
        <p:spPr>
          <a:xfrm>
            <a:off x="5735781" y="5047016"/>
            <a:ext cx="48213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 err="1">
                <a:solidFill>
                  <a:srgbClr val="7030A0"/>
                </a:solidFill>
              </a:rPr>
              <a:t>nvidia</a:t>
            </a:r>
            <a:r>
              <a:rPr lang="fr-FR" noProof="0" dirty="0">
                <a:solidFill>
                  <a:srgbClr val="7030A0"/>
                </a:solidFill>
              </a:rPr>
              <a:t> : plus grosse capitalisation à ~$5T</a:t>
            </a:r>
          </a:p>
          <a:p>
            <a:r>
              <a:rPr lang="en-US" dirty="0">
                <a:solidFill>
                  <a:srgbClr val="7030A0"/>
                </a:solidFill>
              </a:rPr>
              <a:t>price-to-earnings (P/E) ratio</a:t>
            </a:r>
            <a:r>
              <a:rPr lang="fr-FR" dirty="0">
                <a:solidFill>
                  <a:srgbClr val="7030A0"/>
                </a:solidFill>
              </a:rPr>
              <a:t> ~60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E123C7-78A2-A601-F195-E4CA49957C6B}"/>
              </a:ext>
            </a:extLst>
          </p:cNvPr>
          <p:cNvSpPr txBox="1"/>
          <p:nvPr/>
        </p:nvSpPr>
        <p:spPr>
          <a:xfrm>
            <a:off x="5735781" y="3730633"/>
            <a:ext cx="584661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Entrainement de </a:t>
            </a:r>
            <a:r>
              <a:rPr lang="fr-FR" noProof="0" dirty="0" err="1"/>
              <a:t>Grok</a:t>
            </a:r>
            <a:r>
              <a:rPr lang="fr-FR" noProof="0" dirty="0"/>
              <a:t> 4 : « 310 GWh sur 3 mois »</a:t>
            </a:r>
          </a:p>
          <a:p>
            <a:r>
              <a:rPr lang="fr-FR" sz="1600" noProof="0" dirty="0"/>
              <a:t>« la même énergie que l’éducation de 250</a:t>
            </a:r>
            <a:r>
              <a:rPr lang="fr-FR" sz="1600" dirty="0"/>
              <a:t> personnes</a:t>
            </a:r>
            <a:r>
              <a:rPr lang="fr-FR" sz="1600" noProof="0" dirty="0"/>
              <a:t> de la naissance à 30 ans » (dixit </a:t>
            </a:r>
            <a:r>
              <a:rPr lang="fr-FR" sz="1600" noProof="0" dirty="0" err="1"/>
              <a:t>Grok</a:t>
            </a:r>
            <a:r>
              <a:rPr lang="fr-FR" sz="1600" noProof="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211715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7427C-38AC-C7A2-3306-666F4DF7F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A5918-B55A-0E95-E4C5-347989512B1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28</a:t>
            </a:fld>
            <a:endParaRPr lang="fr-FR" noProof="0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3D71A1D-FDC5-35E5-AD09-8EA2A4DC2956}"/>
              </a:ext>
            </a:extLst>
          </p:cNvPr>
          <p:cNvGrpSpPr/>
          <p:nvPr/>
        </p:nvGrpSpPr>
        <p:grpSpPr>
          <a:xfrm>
            <a:off x="54715" y="0"/>
            <a:ext cx="2688485" cy="978195"/>
            <a:chOff x="54715" y="0"/>
            <a:chExt cx="3244530" cy="118315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D6909AC-01E2-CBC6-DC41-9B9BF876C6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34655" y="25418"/>
              <a:ext cx="1964590" cy="1157740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B6CECD9-4C11-115A-5DD4-2AE732315F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715" y="0"/>
              <a:ext cx="1279940" cy="1183158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549CEE6F-5AA5-EE43-4CB2-491CBE1510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6054" y="1600351"/>
            <a:ext cx="5485946" cy="36572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F7E50A6-0832-584A-4349-84308DA0FA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0" t="18747" b="16667"/>
          <a:stretch>
            <a:fillRect/>
          </a:stretch>
        </p:blipFill>
        <p:spPr>
          <a:xfrm>
            <a:off x="0" y="1314449"/>
            <a:ext cx="6351997" cy="422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01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BE31C1-06CB-1A00-D8A1-B206D852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0F1689FC-7994-1461-08E1-13C1401275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64250"/>
          <a:stretch>
            <a:fillRect/>
          </a:stretch>
        </p:blipFill>
        <p:spPr>
          <a:xfrm>
            <a:off x="434341" y="167487"/>
            <a:ext cx="2914650" cy="185562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DB9431-C89E-1C2D-04AA-2C5D09FF123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fr-FR" noProof="0" smtClean="0"/>
              <a:t>29</a:t>
            </a:fld>
            <a:endParaRPr lang="fr-FR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A7EAAE-3F89-DC0D-EEBB-326F97835CEA}"/>
              </a:ext>
            </a:extLst>
          </p:cNvPr>
          <p:cNvSpPr txBox="1"/>
          <p:nvPr/>
        </p:nvSpPr>
        <p:spPr>
          <a:xfrm>
            <a:off x="5525470" y="380997"/>
            <a:ext cx="3576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noProof="0" dirty="0"/>
              <a:t>50 « neurones »</a:t>
            </a:r>
          </a:p>
          <a:p>
            <a:r>
              <a:rPr lang="fr-FR" noProof="0" dirty="0"/>
              <a:t>9000 paramètres</a:t>
            </a:r>
          </a:p>
          <a:p>
            <a:r>
              <a:rPr lang="fr-FR" noProof="0" dirty="0"/>
              <a:t>90% exactitude + 10% erreurs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7BA6A3-A1D6-9A3D-FCA1-038BCFEB52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002535"/>
            <a:ext cx="10233660" cy="54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3012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AEC302-3E60-7A13-4433-0BCBCEA14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IA = Boite Noire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99F6D5A-A13D-B832-28CD-579FC8A58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des milliers de milliards de paramètres</a:t>
            </a:r>
          </a:p>
          <a:p>
            <a:r>
              <a:rPr lang="fr-FR" noProof="0" dirty="0"/>
              <a:t>obtenus —avec difficulté— pour avoir “le bon résultat”, mécaniquement</a:t>
            </a:r>
          </a:p>
          <a:p>
            <a:r>
              <a:rPr lang="fr-FR" noProof="0" dirty="0"/>
              <a:t>ne représentant pas un modèle pertinent et explicable:</a:t>
            </a:r>
          </a:p>
          <a:p>
            <a:pPr lvl="1"/>
            <a:r>
              <a:rPr lang="fr-FR" dirty="0"/>
              <a:t>entraînement, </a:t>
            </a:r>
            <a:r>
              <a:rPr lang="fr-FR" noProof="0" dirty="0"/>
              <a:t>sans apprendre, sans comprendre</a:t>
            </a:r>
          </a:p>
          <a:p>
            <a:pPr lvl="1"/>
            <a:r>
              <a:rPr lang="fr-FR" noProof="0" dirty="0"/>
              <a:t>Imitation anthropomorphe</a:t>
            </a:r>
          </a:p>
          <a:p>
            <a:r>
              <a:rPr lang="fr-FR" noProof="0" dirty="0"/>
              <a:t>Nouveau type de régulation sur les résultats plus que la méthode</a:t>
            </a:r>
          </a:p>
          <a:p>
            <a:r>
              <a:rPr lang="fr-FR" noProof="0" dirty="0"/>
              <a:t>Confiance </a:t>
            </a:r>
            <a:r>
              <a:rPr lang="fr-FR" dirty="0"/>
              <a:t>limitée</a:t>
            </a:r>
            <a:endParaRPr lang="fr-FR" noProof="0" dirty="0"/>
          </a:p>
          <a:p>
            <a:endParaRPr lang="fr-FR" noProof="0" dirty="0"/>
          </a:p>
          <a:p>
            <a:endParaRPr lang="fr-FR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59AB8C-7A49-0E81-416C-E9207F265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30</a:t>
            </a:fld>
            <a:endParaRPr lang="fr-FR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5E1F61-6190-0D32-324D-A2339B9283FD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6455422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C177D-3487-BA50-D527-072A0BA0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A2F731-D567-7BEB-9081-4B8BCE1892DF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31</a:t>
            </a:fld>
            <a:endParaRPr lang="fr-F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31D3C-C545-D0BD-1E12-1458F2C7DC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368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A9B58-9081-B30C-53C2-CC05B6A42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5FFBEA-1655-D1AF-C3B2-1D9DA8FBACF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32</a:t>
            </a:fld>
            <a:endParaRPr lang="fr-F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5C303-D197-A116-5E23-7E01E31FDB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0709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E508D-CAE8-1492-91FD-373AC038B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30CC896-5BA7-B04F-EF27-6F3163E3544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33</a:t>
            </a:fld>
            <a:endParaRPr lang="fr-FR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1CB03C-A72B-B041-2E53-FBFB5599A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3407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3B3450-B0FF-4948-4C85-68249F84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IA : potentiellement biaisée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F6B7FA-6D6F-7308-4FE6-DCB050B7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34</a:t>
            </a:fld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4C9B36-1CEF-305F-B6C3-3A57F4B52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237" y="1275946"/>
            <a:ext cx="3976816" cy="4306107"/>
          </a:xfrm>
          <a:prstGeom prst="rect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54AF93-4735-E7DE-C816-A1D2C44F0C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392" y="1679714"/>
            <a:ext cx="6282008" cy="3531906"/>
          </a:xfrm>
          <a:prstGeom prst="rect">
            <a:avLst/>
          </a:prstGeom>
          <a:ln w="9525">
            <a:solidFill>
              <a:schemeClr val="accent6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871824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15EEE-8588-A120-A285-A593A6A8F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Seuls ~5 % des projets d’IA réussissent : intégration &amp; entraînement sont la clé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D9867-1AFF-B15D-0EC5-FF92FEC00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Entraîner l’IA sur vos propres données et règles pour limiter erreurs et biais</a:t>
            </a:r>
          </a:p>
          <a:p>
            <a:r>
              <a:rPr lang="fr-FR" dirty="0"/>
              <a:t>Surveiller et ajuster l’IA dans le temps : </a:t>
            </a:r>
            <a:br>
              <a:rPr lang="fr-FR" dirty="0"/>
            </a:br>
            <a:r>
              <a:rPr lang="fr-FR" dirty="0"/>
              <a:t>ce n’est jamais « réglé une fois pour toutes »</a:t>
            </a:r>
          </a:p>
          <a:p>
            <a:endParaRPr lang="fr-FR" dirty="0"/>
          </a:p>
          <a:p>
            <a:r>
              <a:rPr lang="fr-FR" dirty="0"/>
              <a:t>L’IA doit s’intégrer aux outils existants, pas vivre dans une appli à part</a:t>
            </a:r>
            <a:endParaRPr lang="en-US" dirty="0"/>
          </a:p>
          <a:p>
            <a:r>
              <a:rPr lang="fr-FR" dirty="0"/>
              <a:t>Commencer par de petites tâches concrètes dans le travail quotidien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B3E919-3E5A-1D77-9D1C-8274390B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8EA99-8463-4E2F-B790-B72D86E59289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280FFA-93E4-66FC-7449-8F6DAAC4976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/>
              <a:t>2025 MIT NAND report on LLM</a:t>
            </a:r>
          </a:p>
        </p:txBody>
      </p:sp>
    </p:spTree>
    <p:extLst>
      <p:ext uri="{BB962C8B-B14F-4D97-AF65-F5344CB8AC3E}">
        <p14:creationId xmlns:p14="http://schemas.microsoft.com/office/powerpoint/2010/main" val="17815700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27491-EE1B-EDB4-5B67-CE97A427E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A2D9C-52FA-B4DF-1DAD-EE2A8D8A7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Impact majeur en cours dans l’industrie high-tech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979C2-E89E-729F-5F69-3702845F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36</a:t>
            </a:fld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7F4B20-D39A-5AD3-0EC9-0BAF84A06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382" y="1222171"/>
            <a:ext cx="4871940" cy="476447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FFC42E-3297-B18D-A184-106640CF55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917" y="1629692"/>
            <a:ext cx="4995701" cy="2919448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5AD4FA-A11D-92E3-11CB-86B1D41C079B}"/>
              </a:ext>
            </a:extLst>
          </p:cNvPr>
          <p:cNvSpPr txBox="1"/>
          <p:nvPr/>
        </p:nvSpPr>
        <p:spPr>
          <a:xfrm>
            <a:off x="978458" y="4957012"/>
            <a:ext cx="42662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noProof="0" dirty="0"/>
              <a:t>Amazon : licencie 30 000 employés</a:t>
            </a:r>
          </a:p>
        </p:txBody>
      </p:sp>
    </p:spTree>
    <p:extLst>
      <p:ext uri="{BB962C8B-B14F-4D97-AF65-F5344CB8AC3E}">
        <p14:creationId xmlns:p14="http://schemas.microsoft.com/office/powerpoint/2010/main" val="14767008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FFE03E-ADBD-4A2B-9B9D-E27AD3F5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Conclusion - Une révolution en cours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7BCF6A-42D3-E181-9CBA-5C4E19193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noProof="0" dirty="0"/>
              <a:t>Liée (pour l’instant) à de la force brute </a:t>
            </a:r>
          </a:p>
          <a:p>
            <a:pPr marL="1085850" lvl="1" indent="-342900"/>
            <a:r>
              <a:rPr lang="fr-FR" noProof="0" dirty="0"/>
              <a:t>et nouvel algorithme pour déterminer les paramètres (point de bascule)</a:t>
            </a:r>
          </a:p>
          <a:p>
            <a:pPr marL="1085850" lvl="1" indent="-342900"/>
            <a:r>
              <a:rPr lang="fr-FR" dirty="0"/>
              <a:t>besoin nouvel algo pour </a:t>
            </a:r>
            <a:r>
              <a:rPr lang="fr-FR" dirty="0" err="1"/>
              <a:t>Artificial</a:t>
            </a:r>
            <a:r>
              <a:rPr lang="fr-FR" dirty="0"/>
              <a:t> General Intelligence (AGI) / </a:t>
            </a:r>
            <a:r>
              <a:rPr lang="fr-FR" dirty="0" err="1"/>
              <a:t>singularity</a:t>
            </a:r>
            <a:r>
              <a:rPr lang="fr-FR" dirty="0"/>
              <a:t> ?</a:t>
            </a:r>
            <a:br>
              <a:rPr lang="fr-FR" dirty="0"/>
            </a:br>
            <a:r>
              <a:rPr lang="fr-FR" dirty="0"/>
              <a:t>ou combinaison d’agents ?</a:t>
            </a:r>
            <a:endParaRPr lang="fr-FR" noProof="0" dirty="0"/>
          </a:p>
          <a:p>
            <a:r>
              <a:rPr lang="fr-FR" noProof="0" dirty="0"/>
              <a:t>Très utile — Une bulle ?</a:t>
            </a:r>
          </a:p>
          <a:p>
            <a:r>
              <a:rPr lang="fr-FR" noProof="0" dirty="0"/>
              <a:t>Change la manière de réguler: résultats plutôt que méthode </a:t>
            </a:r>
          </a:p>
          <a:p>
            <a:r>
              <a:rPr lang="fr-FR" noProof="0" dirty="0"/>
              <a:t>Confiance limitée pour utilisation domaine critiques </a:t>
            </a:r>
            <a:br>
              <a:rPr lang="fr-FR" noProof="0" dirty="0"/>
            </a:br>
            <a:r>
              <a:rPr lang="fr-FR" noProof="0" dirty="0"/>
              <a:t>(santé, aviation &amp; nouvelles fusées)</a:t>
            </a:r>
          </a:p>
          <a:p>
            <a:r>
              <a:rPr lang="fr-FR" noProof="0" dirty="0"/>
              <a:t>Avec des limites à connaître: entraînement, boite noire et biais</a:t>
            </a:r>
          </a:p>
          <a:p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E388D0-14C7-63E7-D1BD-9C6E3453B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37</a:t>
            </a:fld>
            <a:endParaRPr lang="fr-FR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0204EB-2E9D-1AB8-BFD6-374CBE6A9B8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fr-FR" sz="1800" dirty="0"/>
              <a:t>https://www.capybara-si.fr/</a:t>
            </a:r>
            <a:endParaRPr lang="fr-FR" sz="1800" noProof="0" dirty="0"/>
          </a:p>
        </p:txBody>
      </p:sp>
    </p:spTree>
    <p:extLst>
      <p:ext uri="{BB962C8B-B14F-4D97-AF65-F5344CB8AC3E}">
        <p14:creationId xmlns:p14="http://schemas.microsoft.com/office/powerpoint/2010/main" val="41880710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C6BABDA-F034-7446-83F4-B3F76F4D4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Backup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13B228-64DB-2994-4653-B4FAAC8E0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E2821F-096F-CE08-8C99-E2A6DA95E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38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3048457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8EB9C-2C42-8F71-6B7C-05A066905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C8665A-A1AC-A937-6132-E6FB460A255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39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BC9234-ADFC-36E0-0D9B-468813BA1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536" y="320678"/>
            <a:ext cx="4724927" cy="64008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1ABC8CD-921C-3CBA-D558-E8DD7C1184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1440" y="1508759"/>
            <a:ext cx="2620960" cy="26209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B7F9B03-6169-F00F-2FC4-0000AAD1A4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19" y="1508759"/>
            <a:ext cx="2620960" cy="262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62087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7E4717-4C26-4A73-3927-0148E7CE7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 et santé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AC1A63-9929-8857-6848-7B8479D59F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$25B: 0.25% budget IA mondial ($10T)</a:t>
            </a:r>
          </a:p>
          <a:p>
            <a:r>
              <a:rPr lang="fr-FR" dirty="0"/>
              <a:t>35% CAGR !</a:t>
            </a:r>
          </a:p>
          <a:p>
            <a:r>
              <a:rPr lang="fr-FR" dirty="0"/>
              <a:t>1 à 5 % en 2035 : $140B à $840B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9392D4-1619-135F-83BA-228CB893C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40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C47795-54C9-2DBA-B48F-0EDC46037F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7961" y="236817"/>
            <a:ext cx="4002247" cy="600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026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3"/>
          <p:cNvCxnSpPr>
            <a:cxnSpLocks/>
            <a:stCxn id="55" idx="2"/>
            <a:endCxn id="55" idx="0"/>
          </p:cNvCxnSpPr>
          <p:nvPr/>
        </p:nvCxnSpPr>
        <p:spPr>
          <a:xfrm flipV="1">
            <a:off x="5499821" y="2097420"/>
            <a:ext cx="0" cy="3878783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1" name="Google Shape;61;p13"/>
          <p:cNvCxnSpPr>
            <a:cxnSpLocks/>
            <a:stCxn id="55" idx="3"/>
            <a:endCxn id="55" idx="1"/>
          </p:cNvCxnSpPr>
          <p:nvPr/>
        </p:nvCxnSpPr>
        <p:spPr>
          <a:xfrm flipH="1">
            <a:off x="3124200" y="4036811"/>
            <a:ext cx="4751242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9" name="Google Shape;112;p16"/>
          <p:cNvSpPr txBox="1"/>
          <p:nvPr/>
        </p:nvSpPr>
        <p:spPr>
          <a:xfrm rot="16200000">
            <a:off x="6382737" y="3866384"/>
            <a:ext cx="1979419" cy="568850"/>
          </a:xfrm>
          <a:prstGeom prst="rect">
            <a:avLst/>
          </a:prstGeom>
          <a:gradFill>
            <a:gsLst>
              <a:gs pos="0">
                <a:srgbClr val="00B050"/>
              </a:gs>
              <a:gs pos="74000">
                <a:srgbClr val="E2E9F6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r>
              <a:rPr lang="en" sz="1680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Anciennes méthodes</a:t>
            </a:r>
            <a:endParaRPr sz="2160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  <p:sp>
        <p:nvSpPr>
          <p:cNvPr id="55" name="Google Shape;55;p13"/>
          <p:cNvSpPr/>
          <p:nvPr/>
        </p:nvSpPr>
        <p:spPr>
          <a:xfrm>
            <a:off x="3124200" y="2097420"/>
            <a:ext cx="4751242" cy="3878783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endParaRPr sz="216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6383743" y="2082942"/>
            <a:ext cx="1561861" cy="51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pPr algn="r"/>
            <a:r>
              <a:rPr lang="en" sz="1920" dirty="0">
                <a:solidFill>
                  <a:srgbClr val="FF0000"/>
                </a:solidFill>
                <a:latin typeface="Source Serif Pro" panose="02040603050405020204" pitchFamily="18" charset="0"/>
                <a:ea typeface="Source Serif Pro" panose="02040603050405020204" pitchFamily="18" charset="0"/>
              </a:rPr>
              <a:t>Idéal</a:t>
            </a:r>
            <a:endParaRPr sz="1920" dirty="0">
              <a:solidFill>
                <a:srgbClr val="FF0000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707954" y="4771887"/>
            <a:ext cx="1561861" cy="417682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pPr algn="ctr"/>
            <a:r>
              <a:rPr lang="en" sz="1920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No value</a:t>
            </a:r>
            <a:endParaRPr sz="1920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3166437" y="2085537"/>
            <a:ext cx="1901670" cy="504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r>
              <a:rPr lang="en" sz="1920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Inadéquate</a:t>
            </a:r>
            <a:endParaRPr sz="1920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0" name="Google Shape;64;p13"/>
          <p:cNvSpPr txBox="1"/>
          <p:nvPr/>
        </p:nvSpPr>
        <p:spPr>
          <a:xfrm>
            <a:off x="8174928" y="2515567"/>
            <a:ext cx="1771487" cy="1137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r>
              <a:rPr lang="en" sz="2000" dirty="0">
                <a:solidFill>
                  <a:srgbClr val="3A6DCA"/>
                </a:solidFill>
                <a:latin typeface="Source Serif Pro" panose="02040603050405020204" pitchFamily="18" charset="0"/>
                <a:ea typeface="Source Serif Pro" panose="02040603050405020204" pitchFamily="18" charset="0"/>
              </a:rPr>
              <a:t>Précision et exactitude élevées</a:t>
            </a:r>
            <a:endParaRPr sz="2000" dirty="0">
              <a:solidFill>
                <a:srgbClr val="3A6DCA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21" name="Google Shape;64;p13"/>
          <p:cNvSpPr txBox="1"/>
          <p:nvPr/>
        </p:nvSpPr>
        <p:spPr>
          <a:xfrm>
            <a:off x="3027199" y="625826"/>
            <a:ext cx="2459201" cy="1004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r>
              <a:rPr lang="en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Resultats</a:t>
            </a:r>
            <a:br>
              <a:rPr lang="en" dirty="0">
                <a:latin typeface="Source Serif Pro" panose="02040603050405020204" pitchFamily="18" charset="0"/>
                <a:ea typeface="Source Serif Pro" panose="02040603050405020204" pitchFamily="18" charset="0"/>
              </a:rPr>
            </a:br>
            <a:r>
              <a:rPr lang="en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peu interpretables ou méthode mal explicable</a:t>
            </a:r>
            <a:endParaRPr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18" name="Google Shape;114;p16"/>
          <p:cNvSpPr txBox="1"/>
          <p:nvPr/>
        </p:nvSpPr>
        <p:spPr>
          <a:xfrm>
            <a:off x="3428848" y="2713301"/>
            <a:ext cx="2751242" cy="6505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9000">
                <a:srgbClr val="E2E9F6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txBody>
          <a:bodyPr spcFirstLastPara="1" wrap="square" lIns="109710" tIns="109710" rIns="109710" bIns="109710" anchor="ctr" anchorCtr="0">
            <a:noAutofit/>
          </a:bodyPr>
          <a:lstStyle/>
          <a:p>
            <a:r>
              <a:rPr lang="en-US" sz="1680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AI</a:t>
            </a:r>
            <a:endParaRPr sz="1680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4" name="Google Shape;64;p13">
            <a:extLst>
              <a:ext uri="{FF2B5EF4-FFF2-40B4-BE49-F238E27FC236}">
                <a16:creationId xmlns:a16="http://schemas.microsoft.com/office/drawing/2014/main" id="{F7073075-3BFC-394A-4798-B3939952C4F5}"/>
              </a:ext>
            </a:extLst>
          </p:cNvPr>
          <p:cNvSpPr txBox="1"/>
          <p:nvPr/>
        </p:nvSpPr>
        <p:spPr>
          <a:xfrm>
            <a:off x="8174926" y="4488525"/>
            <a:ext cx="1771487" cy="1137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r>
              <a:rPr lang="en" sz="2000" dirty="0">
                <a:latin typeface="Source Serif Pro" panose="02040603050405020204" pitchFamily="18" charset="0"/>
                <a:ea typeface="Source Serif Pro" panose="02040603050405020204" pitchFamily="18" charset="0"/>
              </a:rPr>
              <a:t>Précision ou exactitude faibles</a:t>
            </a:r>
            <a:endParaRPr sz="2000" dirty="0"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  <p:sp>
        <p:nvSpPr>
          <p:cNvPr id="5" name="Google Shape;64;p13">
            <a:extLst>
              <a:ext uri="{FF2B5EF4-FFF2-40B4-BE49-F238E27FC236}">
                <a16:creationId xmlns:a16="http://schemas.microsoft.com/office/drawing/2014/main" id="{3BB77AE1-1C18-6D8B-D00D-21265BA217A7}"/>
              </a:ext>
            </a:extLst>
          </p:cNvPr>
          <p:cNvSpPr txBox="1"/>
          <p:nvPr/>
        </p:nvSpPr>
        <p:spPr>
          <a:xfrm>
            <a:off x="5486400" y="625826"/>
            <a:ext cx="2459202" cy="1004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10" tIns="109710" rIns="109710" bIns="109710" anchor="t" anchorCtr="0">
            <a:noAutofit/>
          </a:bodyPr>
          <a:lstStyle/>
          <a:p>
            <a:pPr algn="r"/>
            <a:r>
              <a:rPr lang="en" dirty="0">
                <a:solidFill>
                  <a:srgbClr val="009E47"/>
                </a:solidFill>
                <a:latin typeface="Source Serif Pro" panose="02040603050405020204" pitchFamily="18" charset="0"/>
                <a:ea typeface="Source Serif Pro" panose="02040603050405020204" pitchFamily="18" charset="0"/>
              </a:rPr>
              <a:t>Resultats faciles à interpréter et méthode facile à comprendre</a:t>
            </a:r>
            <a:endParaRPr dirty="0">
              <a:solidFill>
                <a:srgbClr val="009E47"/>
              </a:solidFill>
              <a:latin typeface="Source Serif Pro" panose="02040603050405020204" pitchFamily="18" charset="0"/>
              <a:ea typeface="Source Serif Pro" panose="020406030504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39990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FB0EB-0B5A-A2C1-6EBB-4EBE1457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6CF26AE-42AE-92D0-15CC-36531C8A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Elon Musk construit la plus grande usine d’IA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38C9C5-797B-2CA5-A855-32D4F115A7F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88115" y="1125962"/>
            <a:ext cx="5171475" cy="4864291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3B4A9C6-5B57-9390-F765-00D2DCF4E70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495466" y="1247535"/>
            <a:ext cx="5171475" cy="1752840"/>
          </a:xfrm>
          <a:prstGeom prst="rect">
            <a:avLst/>
          </a:prstGeom>
          <a:ln w="6350">
            <a:solidFill>
              <a:schemeClr val="accent6">
                <a:lumMod val="75000"/>
              </a:schemeClr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AD2862-A3D0-8E43-E86A-03CFDDEB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42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1601502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7D923-4A23-4124-8130-6C81AA433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785428-1496-F1A0-24C9-60EC2D04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Elon Musk dispose de l’IA « la plus performante »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412C13-D7F9-6876-C3A3-96C501D6BA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47" y="1300092"/>
            <a:ext cx="3844213" cy="38442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371FA4F-9CAB-EB68-B272-42B05A2596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6033" y="1583067"/>
            <a:ext cx="6257687" cy="34306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91AFA4-B57D-5108-5076-5AF0D0D4292A}"/>
              </a:ext>
            </a:extLst>
          </p:cNvPr>
          <p:cNvSpPr txBox="1"/>
          <p:nvPr/>
        </p:nvSpPr>
        <p:spPr>
          <a:xfrm>
            <a:off x="6404322" y="5136433"/>
            <a:ext cx="42011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noProof="0" dirty="0"/>
              <a:t>https://x.com/xai/status/1969183328168263963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B6BB2-2B6F-6766-F2A0-757BD0A9B40F}"/>
              </a:ext>
            </a:extLst>
          </p:cNvPr>
          <p:cNvSpPr txBox="1"/>
          <p:nvPr/>
        </p:nvSpPr>
        <p:spPr>
          <a:xfrm>
            <a:off x="3009901" y="6222260"/>
            <a:ext cx="69365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noProof="0" dirty="0"/>
              <a:t>https://techconglobal.com/gpt5-vs-grok4-comparison/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EAF7900-4F35-9DAE-63F1-7BC92AE1BC51}"/>
              </a:ext>
            </a:extLst>
          </p:cNvPr>
          <p:cNvSpPr txBox="1"/>
          <p:nvPr/>
        </p:nvSpPr>
        <p:spPr>
          <a:xfrm>
            <a:off x="823471" y="5144305"/>
            <a:ext cx="36909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noProof="0" dirty="0"/>
              <a:t>https://guptadeepak.com/grok-ai-vs-competitors-comprehensive-comparison-with-gpt-4-claude-and-other-llms/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5C2EB-AE6A-8445-F4D0-698647E5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43</a:t>
            </a:fld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0798044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CC8A9-3898-BD96-56F6-2B205930E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BEFF24-B0F0-82E3-5487-34C74B3F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GPT stands for Generative Pretrained Transformer, a type of LLM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0E201C-A6D9-476E-3925-40A5E5019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noProof="0" dirty="0"/>
              <a:t>Generative</a:t>
            </a:r>
            <a:r>
              <a:rPr lang="en-US" noProof="0" dirty="0"/>
              <a:t> → it generates text.</a:t>
            </a:r>
          </a:p>
          <a:p>
            <a:r>
              <a:rPr lang="en-US" b="1" noProof="0" dirty="0"/>
              <a:t>Pretrained</a:t>
            </a:r>
            <a:r>
              <a:rPr lang="en-US" noProof="0" dirty="0"/>
              <a:t> → it’s first trained on a huge amount of data before being fine-tuned for chat.</a:t>
            </a:r>
          </a:p>
          <a:p>
            <a:r>
              <a:rPr lang="en-US" b="1" noProof="0" dirty="0"/>
              <a:t>Transformer</a:t>
            </a:r>
            <a:r>
              <a:rPr lang="en-US" noProof="0" dirty="0"/>
              <a:t> → the neural network architecture it’s built on (Vaswani et al., 2017).</a:t>
            </a:r>
          </a:p>
          <a:p>
            <a:endParaRPr lang="en-US" noProof="0" dirty="0"/>
          </a:p>
          <a:p>
            <a:r>
              <a:rPr lang="en-US" noProof="0" dirty="0"/>
              <a:t>all mainstream LLM families today are neural networks—most are Transformer-based </a:t>
            </a:r>
          </a:p>
          <a:p>
            <a:endParaRPr lang="en-US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23D6F2-FD38-1B4A-5DCF-CAA2C48C119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C5122B-96F3-4CD9-133F-084E60C55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en-US" noProof="0" smtClean="0"/>
              <a:t>44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355250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608CC-0A7D-9B61-B4EA-D085B479E59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45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B4EDBB-F186-7321-366F-AFDC9D216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910" y="488953"/>
            <a:ext cx="4414076" cy="623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2694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BFB2DC-5293-4D05-5FB7-DF3D5D5C65D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85744257-87B4-44A7-82CC-CD73741D9524}" type="slidenum">
              <a:rPr lang="en-US" smtClean="0"/>
              <a:t>46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600CB-78D1-4082-CA02-E6BF2A5ED8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2996" y="771154"/>
            <a:ext cx="4706007" cy="531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4333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477C-BA26-3A16-6318-806485D6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904D93-B2AA-AD50-52D7-A021C84BE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47</a:t>
            </a:fld>
            <a:endParaRPr lang="fr-FR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995105-2613-AB43-CFE5-4797809816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9801" y="1431637"/>
            <a:ext cx="4678218" cy="345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780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683D5-A343-AD0F-3ABC-B92F2C25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Digital Twins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E70A6-FC53-64D8-4191-635069162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noProof="0" dirty="0"/>
              <a:t>Digital </a:t>
            </a:r>
            <a:r>
              <a:rPr lang="fr-FR" noProof="0" dirty="0" err="1"/>
              <a:t>twins</a:t>
            </a:r>
            <a:r>
              <a:rPr lang="fr-FR" noProof="0" dirty="0"/>
              <a:t> in </a:t>
            </a:r>
            <a:r>
              <a:rPr lang="fr-FR" noProof="0" dirty="0" err="1"/>
              <a:t>clinical</a:t>
            </a:r>
            <a:r>
              <a:rPr lang="fr-FR" noProof="0" dirty="0"/>
              <a:t> </a:t>
            </a:r>
            <a:r>
              <a:rPr lang="fr-FR" noProof="0" dirty="0" err="1"/>
              <a:t>development</a:t>
            </a:r>
            <a:endParaRPr lang="fr-FR" noProof="0" dirty="0"/>
          </a:p>
          <a:p>
            <a:r>
              <a:rPr lang="fr-FR" noProof="0" dirty="0" err="1"/>
              <a:t>Nuclear</a:t>
            </a:r>
            <a:r>
              <a:rPr lang="fr-FR" noProof="0" dirty="0"/>
              <a:t> fusion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623F68-F034-AC44-79E6-704C8B3C5E6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fr-FR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253003-CBAB-EE98-5973-E4938F767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4823" y="1143002"/>
            <a:ext cx="3782326" cy="476338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4B9A09-63DB-7B88-D099-C66588ED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48</a:t>
            </a:fld>
            <a:endParaRPr lang="fr-FR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B1382F-C21A-61F1-CE40-BC576C2A4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7720" y="3462350"/>
            <a:ext cx="5372850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254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6C42-FC3A-3309-C0AE-AEDD255FBD7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49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2B46A5-F870-40CB-E9B4-ED9764D4F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178" y="848091"/>
            <a:ext cx="8354102" cy="5161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13098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4B75-DA2D-9E9F-906A-DC0CE47DA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Futur de l’IA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1657F-ACD6-7653-33B8-0BA73C363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50</a:t>
            </a:fld>
            <a:endParaRPr lang="fr-FR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EC888C-23C7-10F3-6A7B-09FFD6D73A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30" y="1486366"/>
            <a:ext cx="4746770" cy="29054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9FD0BB-9B4A-71C6-69D0-A4A9B1795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2226" y="1364093"/>
            <a:ext cx="3720441" cy="52531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04F568-1B6D-981E-2595-0DCE2BABCB4C}"/>
              </a:ext>
            </a:extLst>
          </p:cNvPr>
          <p:cNvSpPr txBox="1"/>
          <p:nvPr/>
        </p:nvSpPr>
        <p:spPr>
          <a:xfrm>
            <a:off x="7893591" y="5261184"/>
            <a:ext cx="2630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QUANTUM AI</a:t>
            </a:r>
          </a:p>
        </p:txBody>
      </p:sp>
    </p:spTree>
    <p:extLst>
      <p:ext uri="{BB962C8B-B14F-4D97-AF65-F5344CB8AC3E}">
        <p14:creationId xmlns:p14="http://schemas.microsoft.com/office/powerpoint/2010/main" val="15612904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D29AD-33CC-6B64-3C4B-3BC8B275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noProof="0" dirty="0"/>
              <a:t>Convolution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23AF2D2-FA0A-A4C5-B0E5-6F772B725B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1738" y="2366962"/>
            <a:ext cx="4419600" cy="265747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E5F8E-C486-18CD-F6DF-D63706AA9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51</a:t>
            </a:fld>
            <a:endParaRPr lang="fr-FR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4D3EAF7-A584-2C65-600F-353D682B612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2844075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1328E-C79E-9C22-546E-8C6163500D9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en-US" smtClean="0"/>
              <a:t>52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66A5B6-192E-40F2-25B5-F3E2844E2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63" y="332521"/>
            <a:ext cx="4810796" cy="61444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B50674-1A91-D072-ED75-BFD781E644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079" y="-24238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9867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B5A82-D29C-B477-D79E-A380F3D2351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fld id="{D3BEE719-0210-4B6F-8E2C-A3771B038855}" type="slidenum">
              <a:rPr lang="fr-FR" noProof="0" smtClean="0"/>
              <a:t>53</a:t>
            </a:fld>
            <a:endParaRPr lang="fr-FR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426B71-1EFA-0500-ACB3-B6DCD728B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9" y="504030"/>
            <a:ext cx="2620960" cy="26209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4374318-52F3-FAAD-DAF0-C5D15BEA6C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49" y="514349"/>
            <a:ext cx="2620960" cy="262096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D110EB6-923C-B160-A7DA-265800478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349" y="3608390"/>
            <a:ext cx="2620960" cy="26209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8EC6C64-8A67-F8F3-28DD-896F0E468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2449" y="3608390"/>
            <a:ext cx="2620960" cy="26209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3E39181-47DC-C08C-E1F5-6C0ED91D21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549" y="3608390"/>
            <a:ext cx="2554284" cy="255428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4541D0D-F1A4-D0D7-EF1A-480AB7AF35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9549" y="514349"/>
            <a:ext cx="2554284" cy="2610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326716"/>
      </p:ext>
    </p:extLst>
  </p:cSld>
  <p:clrMapOvr>
    <a:masterClrMapping/>
  </p:clrMapOvr>
</p:sld>
</file>

<file path=ppt/theme/theme1.xml><?xml version="1.0" encoding="utf-8"?>
<a:theme xmlns:a="http://schemas.openxmlformats.org/drawingml/2006/main" name="15K ppt theme - v6 - blu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ontserrat 2">
      <a:majorFont>
        <a:latin typeface="Montserrat"/>
        <a:ea typeface=""/>
        <a:cs typeface=""/>
      </a:majorFont>
      <a:minorFont>
        <a:latin typeface="Montserrat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15K ppt theme - v6 - blue" id="{369339BE-CBE1-4890-A802-86012AD378E6}" vid="{FA82F7F1-E2FA-45EA-BC54-9FBA83C954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15K ppt theme - v6 - blue</Template>
  <TotalTime>0</TotalTime>
  <Words>2143</Words>
  <Application>Microsoft Office PowerPoint</Application>
  <PresentationFormat>Widescreen</PresentationFormat>
  <Paragraphs>378</Paragraphs>
  <Slides>53</Slides>
  <Notes>41</Notes>
  <HiddenSlides>0</HiddenSlides>
  <MMClips>3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64" baseType="lpstr">
      <vt:lpstr>Arial</vt:lpstr>
      <vt:lpstr>Calibri</vt:lpstr>
      <vt:lpstr>Consolas</vt:lpstr>
      <vt:lpstr>Montserrat</vt:lpstr>
      <vt:lpstr>Montserrat Light</vt:lpstr>
      <vt:lpstr>Montserrat Medium</vt:lpstr>
      <vt:lpstr>Montserrat SemiBold</vt:lpstr>
      <vt:lpstr>Source Serif Pro</vt:lpstr>
      <vt:lpstr>Symbol</vt:lpstr>
      <vt:lpstr>Times New Roman</vt:lpstr>
      <vt:lpstr>15K ppt theme - v6 - blue</vt:lpstr>
      <vt:lpstr>Introduction à l’IA</vt:lpstr>
      <vt:lpstr>Elon Musk dispose de la plus grande usine d’entraînement d’IA</vt:lpstr>
      <vt:lpstr>Elon Musk dispose de l’IA « la plus performante »</vt:lpstr>
      <vt:lpstr>Pourtant, Elon Musk n’utilise pas l’IA pour concevoir ses fusées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Prédiction, génération d’images, de vidéos, de textes =&gt; même technologie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IA = Boite Noire</vt:lpstr>
      <vt:lpstr>PowerPoint Presentation</vt:lpstr>
      <vt:lpstr>PowerPoint Presentation</vt:lpstr>
      <vt:lpstr>PowerPoint Presentation</vt:lpstr>
      <vt:lpstr>IA : potentiellement biaisée</vt:lpstr>
      <vt:lpstr>Seuls ~5 % des projets d’IA réussissent : intégration &amp; entraînement sont la clé</vt:lpstr>
      <vt:lpstr>Impact majeur en cours dans l’industrie high-tech</vt:lpstr>
      <vt:lpstr>Conclusion - Une révolution en cours</vt:lpstr>
      <vt:lpstr>Backup</vt:lpstr>
      <vt:lpstr>PowerPoint Presentation</vt:lpstr>
      <vt:lpstr>IA et santé</vt:lpstr>
      <vt:lpstr>PowerPoint Presentation</vt:lpstr>
      <vt:lpstr>Elon Musk construit la plus grande usine d’IA</vt:lpstr>
      <vt:lpstr>Elon Musk dispose de l’IA « la plus performante »</vt:lpstr>
      <vt:lpstr>GPT stands for Generative Pretrained Transformer, a type of LLM</vt:lpstr>
      <vt:lpstr>PowerPoint Presentation</vt:lpstr>
      <vt:lpstr>PowerPoint Presentation</vt:lpstr>
      <vt:lpstr>PowerPoint Presentation</vt:lpstr>
      <vt:lpstr>Digital Twins</vt:lpstr>
      <vt:lpstr>PowerPoint Presentation</vt:lpstr>
      <vt:lpstr>Futur de l’IA</vt:lpstr>
      <vt:lpstr>Convolution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Delrieu 15kay org</dc:creator>
  <cp:lastModifiedBy>Olivier Delrieu - perso</cp:lastModifiedBy>
  <cp:revision>159</cp:revision>
  <dcterms:created xsi:type="dcterms:W3CDTF">2025-10-30T08:31:07Z</dcterms:created>
  <dcterms:modified xsi:type="dcterms:W3CDTF">2025-11-24T11:27:48Z</dcterms:modified>
</cp:coreProperties>
</file>