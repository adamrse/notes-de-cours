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996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4754880" cy="4754880"/>
          </a:xfrm>
          <a:prstGeom prst="ellipse">
            <a:avLst/>
          </a:prstGeom>
          <a:solidFill>
            <a:srgbClr val="141B49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875520" y="5120640"/>
            <a:ext cx="2743200" cy="27432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données à la décision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et tester un indicateur statistique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Apprentis</a:t>
            </a: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Analyst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de la séance 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18562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8FA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68680" y="240487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 &amp; indicateur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86207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Distinguer le phénomène observé des données disponibles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080760" y="16916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309360" y="18562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8FA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309360" y="240487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Rappels statistiques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09360" y="286207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Population, unité, variables, moyenne, médiane, proportion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68680" y="409651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8FA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868680" y="46451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d'indicateurs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510235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besoin, quel contexte, quel risque à mal mesurer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080760" y="39319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309360" y="409651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8FA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6309360" y="46451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pas à pas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510235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Destinataire, décision, périmètre, seuil, fréquence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194560" cy="219456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3383280" y="288036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 &amp; indicateur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mesure n'est pas un indicateur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166360" cy="3931920"/>
          </a:xfrm>
          <a:prstGeom prst="roundRect">
            <a:avLst>
              <a:gd name="adj" fmla="val 1860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60120" y="2103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60120" y="2651760"/>
            <a:ext cx="4526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Associer un nombre à un phénomène observé : compter, dater, calculer un écart.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80760" y="1828800"/>
            <a:ext cx="516636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0" y="2103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indicateur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0" y="2651760"/>
            <a:ext cx="4526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nombre choisi et suivi dans le temps pour éclairer une décision précise, pour un destinataire identifié.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 -  Mesure &amp; indicateur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Je veux suivre les avis »  -  trois indicateurs</a:t>
            </a:r>
            <a:endParaRPr lang="en-US" sz="3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1274552" cy="23774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Décision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Indicateur possible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Une ligne représente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Faire relire un échantillon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Avis notés 1 ou 2 (nombre et contenu)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avis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Suivre une évolution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 moyenne mensuelle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mois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Repérer un segment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 moyenne par catégorie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une catégorie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13716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mot « indicateur » ne désigne pas qu'un calcul : il relie un lecteur, une décision, une population.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3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 -  Mesure &amp; indicateur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→ Information → Intelligence → Décision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55752" y="228600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92912" y="2560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92912" y="315468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et textes enregistrés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069184" y="2286000"/>
            <a:ext cx="365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3599536" y="228600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736696" y="2560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736696" y="315468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 mensuelle de la moyenne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12968" y="2286000"/>
            <a:ext cx="365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6443320" y="228600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580480" y="2560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80480" y="315468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Interprétation en contexte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756752" y="2286000"/>
            <a:ext cx="365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900" dirty="0"/>
          </a:p>
        </p:txBody>
      </p:sp>
      <p:sp>
        <p:nvSpPr>
          <p:cNvPr id="15" name="Shape 13"/>
          <p:cNvSpPr/>
          <p:nvPr/>
        </p:nvSpPr>
        <p:spPr>
          <a:xfrm>
            <a:off x="9287104" y="228600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9424264" y="2560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424264" y="315468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de la responsable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49377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calcul ne fait pas franchir une flèche automatiquement.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 -  Mesure &amp; indicateur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194560" cy="219456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3383280" y="288036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Rappels statistiques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et unité statistique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166360" cy="3931920"/>
          </a:xfrm>
          <a:prstGeom prst="roundRect">
            <a:avLst>
              <a:gd name="adj" fmla="val 1860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60120" y="2103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60120" y="2651760"/>
            <a:ext cx="4526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L'ensemble des éléments concernés par </a:t>
            </a:r>
            <a:r>
              <a:rPr lang="en-US" sz="1800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l'étude</a:t>
            </a:r>
            <a:r>
              <a:rPr lang="en-US" sz="1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par exemple, tous les élèves inscrits.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80760" y="1828800"/>
            <a:ext cx="516636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0" y="2103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Unité statistique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0" y="2651760"/>
            <a:ext cx="4526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L'élément qui compte pour un dans cette population. Changer d'unité (élève, classe, établissement) change le résultat.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 -  Rappels statistiques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types de variables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189280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nominale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235000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Catégories sans </a:t>
            </a:r>
            <a:r>
              <a:rPr lang="en-US" sz="1600" dirty="0" err="1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ordre</a:t>
            </a:r>
            <a:r>
              <a:rPr lang="en-US" sz="16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ex. catégorie de produit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80760" y="16916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355080" y="189280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ordinale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355080" y="235000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Catégories </a:t>
            </a:r>
            <a:r>
              <a:rPr lang="en-US" sz="1600" dirty="0" err="1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ordonnées</a:t>
            </a:r>
            <a:r>
              <a:rPr lang="en-US" sz="16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ex. note de satisfaction 1 à 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914400" y="413308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discrète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459028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 </a:t>
            </a:r>
            <a:r>
              <a:rPr lang="en-US" sz="1600" dirty="0" err="1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comptables</a:t>
            </a:r>
            <a:r>
              <a:rPr lang="en-US" sz="16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ex. nombre d'avis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80760" y="39319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355080" y="413308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continue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355080" y="459028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 </a:t>
            </a:r>
            <a:r>
              <a:rPr lang="en-US" sz="1600" dirty="0" err="1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mesurables</a:t>
            </a:r>
            <a:r>
              <a:rPr lang="en-US" sz="16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ex. durée de livraison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 -  Rappels statistiques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paramètres de statistique descriptive</a:t>
            </a:r>
            <a:endParaRPr lang="en-US" sz="3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1000232" cy="2926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 qu'elle résume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Exemples de paramètres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Tendance centrale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Où se situe le centre de la distribution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Moyenne, médiane, mode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Dispersion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À quel point les valeurs s'écartent du centre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Étendue, variance, écart-type, écart interquartile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Où se situe une valeur par rapport aux autres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Quartiles, percentiles, rang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492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familles de questions, pas trois manières de calculer la même chose.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 -  Rappels statistiques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Moyenne vs médiane : l'exemple qui piège tout le monde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Dix personnes dans un bar. Salaire médian : 2 200 €. Bill Gates entre.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5166360" cy="3017520"/>
          </a:xfrm>
          <a:prstGeom prst="roundRect">
            <a:avLst>
              <a:gd name="adj" fmla="val 2424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l'entrée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2 300 €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2 200 €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80760" y="2514600"/>
            <a:ext cx="5166360" cy="301752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355080" y="2743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l'entrée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32004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100 M €</a:t>
            </a:r>
            <a:endParaRPr lang="en-US" sz="4300" dirty="0"/>
          </a:p>
        </p:txBody>
      </p:sp>
      <p:sp>
        <p:nvSpPr>
          <p:cNvPr id="13" name="Text 11"/>
          <p:cNvSpPr/>
          <p:nvPr/>
        </p:nvSpPr>
        <p:spPr>
          <a:xfrm>
            <a:off x="6355080" y="39319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Moyenne  -  explose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43434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2 250 €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355080" y="49377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Médiane</a:t>
            </a: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presque stable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moyenne se laisse déformer par les valeurs extrêmes ; la médiane résiste.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 -  Rappels statistiques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dispersion : la moyenne ne dit pas tout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classes, même moyenne de 12/20. Deux réalités très différentes.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5166360" cy="3017520"/>
          </a:xfrm>
          <a:prstGeom prst="roundRect">
            <a:avLst>
              <a:gd name="adj" fmla="val 2424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10, 11, 12, 13, 14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/20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Moyenne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Écart-type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80760" y="2514600"/>
            <a:ext cx="5166360" cy="301752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355080" y="2743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4, 8, 12, 16, 20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55080" y="37490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/20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355080" y="43434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Moyenne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55080" y="46634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355080" y="51663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Écart-type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moyennes identiques peuvent cacher deux réalités </a:t>
            </a:r>
            <a:r>
              <a:rPr lang="en-US" sz="1600" i="1" dirty="0" err="1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opposées</a:t>
            </a:r>
            <a:r>
              <a:rPr lang="en-US" sz="16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regarder l'écart-type ou l'étendue avant de conclure.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 -  Rappels statistiques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proportion : compter juste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d'une catégorie dans l'ensemble de la population, entre 0 et 100 %.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: part des avis notés 1 ou 2 parmi les avis dont la note est enregistrée.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10911535" cy="822960"/>
          </a:xfrm>
          <a:prstGeom prst="rect">
            <a:avLst/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2182307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7724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20 %   -   notes 1 ou 2 (numérateur)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04694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80 %   -   notes 3 à 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9377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cas à classer : une note 1 ou 2 → au numérateur et au dénominateur. Une note 3 à 5 → au dénominateur seulement. Un avis sans note → hors population.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 -  Rappels statistiques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194560" cy="219456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3383280" y="288036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d'indicateurs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chaque besoin, son type d'indicateur</a:t>
            </a:r>
            <a:endParaRPr lang="en-US" sz="3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1274552" cy="237744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Besoin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d'indicateur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Exemple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Suivre un flux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Indicateur de volume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 commandes par jour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Suivre une tendance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Indicateur de moyenne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Panier moyen mensuel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Repérer un segment à risque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Indicateur de proportion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de clients avec avis négatif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  -  Types d'indicateurs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B2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 N°1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Décider sans mesurer : un pari, pas une décision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911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Blockbuster a fermé des centaines d'agences sans indicateur fiable sur la vitesse d'adoption du streaming.</a:t>
            </a:r>
            <a:endParaRPr lang="en-US" sz="19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suivait un indicateur simple mais précis : le taux de rétention des abonnés, mois après mois.</a:t>
            </a:r>
            <a:endParaRPr lang="en-US" sz="19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retard s'est construit avant que la baisse de fréquentation ne devienne visible dans les chiffres classiques.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53035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141B49"/>
          </a:solidFill>
          <a:ln w="15875">
            <a:solidFill>
              <a:srgbClr val="B23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60120" y="530352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indicateur, un signal faible reste invisible jusqu'à ce qu'il soit trop tard pour agir.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  -  Types d'indicateurs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B2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 N°2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Mesurer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mauvaise chose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911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objectif de « nombre de comptes ouverts par client » est devenu la mesure de la performance des employés.</a:t>
            </a:r>
            <a:endParaRPr lang="en-US" sz="19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 documenté : des milliers de comptes fictifs ouverts pour atteindre l'objectif, sans lien avec la satisfaction réelle des clients.</a:t>
            </a:r>
            <a:endParaRPr lang="en-US" sz="19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L'indicateur suivi n'était plus le reflet du phénomène qu'on voulait piloter.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53035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141B49"/>
          </a:solidFill>
          <a:ln w="15875">
            <a:solidFill>
              <a:srgbClr val="B23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60120" y="530352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une mesure devient un objectif, elle cesse d'être une bonne mesure.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  -  Types d'indicateurs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Contextualiser une statistique : le paradoxe de Simpson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tendance globale peut s'inverser dès qu'on regarde les sous-groupes séparément.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0911535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05840" y="274320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Berkeley, 197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3246120"/>
            <a:ext cx="101800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 globalement, les hommes semblent admis plus souvent que les femmes.</a:t>
            </a:r>
            <a:endParaRPr lang="en-US" sz="18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Filière par filière, les femmes sont admises à un taux égal ou supérieur dans la plupart des départements.</a:t>
            </a:r>
            <a:endParaRPr lang="en-US" sz="18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Explication : les femmes postulaient davantage aux filières les plus sélectives, pas moins bien classées.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  -  Types d'indicateurs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Contextualiser une statistique : absolu vs relatif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5166360" cy="3291840"/>
          </a:xfrm>
          <a:prstGeom prst="roundRect">
            <a:avLst>
              <a:gd name="adj" fmla="val 2222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avis négatifs → 3 avis négatifs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+ 50 %</a:t>
            </a:r>
            <a:endParaRPr lang="en-US" sz="4900" dirty="0"/>
          </a:p>
        </p:txBody>
      </p:sp>
      <p:sp>
        <p:nvSpPr>
          <p:cNvPr id="7" name="Shape 5"/>
          <p:cNvSpPr/>
          <p:nvPr/>
        </p:nvSpPr>
        <p:spPr>
          <a:xfrm>
            <a:off x="6080760" y="1920240"/>
            <a:ext cx="5166360" cy="3291840"/>
          </a:xfrm>
          <a:prstGeom prst="roundRect">
            <a:avLst>
              <a:gd name="adj" fmla="val 2222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355080" y="21488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55080" y="265176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avis négatifs → 1 500 avis négatifs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55080" y="36576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+ 50 %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640080" y="54406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même pourcentage ne raconte pas la même histoire sans le nombre de départ.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  -  Types d'indicateurs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194560" cy="219456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3383280" y="288036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pas à pas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quatre questions qui définissent un indicateur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377440" y="1783080"/>
            <a:ext cx="9174175" cy="960120"/>
          </a:xfrm>
          <a:prstGeom prst="roundRect">
            <a:avLst>
              <a:gd name="adj" fmla="val 7619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606040" y="1783080"/>
            <a:ext cx="87169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 l'indicateur ?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Quoi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377440" y="2880360"/>
            <a:ext cx="9174175" cy="960120"/>
          </a:xfrm>
          <a:prstGeom prst="roundRect">
            <a:avLst>
              <a:gd name="adj" fmla="val 7619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606040" y="2880360"/>
            <a:ext cx="87169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décision change selon sa valeur ?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2377440" y="3977640"/>
            <a:ext cx="9174175" cy="960120"/>
          </a:xfrm>
          <a:prstGeom prst="roundRect">
            <a:avLst>
              <a:gd name="adj" fmla="val 7619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606040" y="3977640"/>
            <a:ext cx="87169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partir de quelle valeur agit-on ?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0080" y="50749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Rythme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2377440" y="5074920"/>
            <a:ext cx="9174175" cy="960120"/>
          </a:xfrm>
          <a:prstGeom prst="roundRect">
            <a:avLst>
              <a:gd name="adj" fmla="val 7619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606040" y="5074920"/>
            <a:ext cx="87169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quelle fréquence est-il actualisé ?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4  -  Construction pas à pas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une définition : l'exemple Olist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60120" y="169164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Note moyenne mensuelle des avis associés aux commandes achetées pendant le mois, parmi les avis dont la note est enregistrée. »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 dont la note est enregistrée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89120" y="31089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663440" y="33832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63440" y="39319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Moyenne des notes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138160" y="31089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412480" y="33832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Période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12480" y="39319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 d'achat de la commande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4  -  Construction pas à pas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seuil d'action : qui le fixe ?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seuil est la valeur à partir de laquelle une action se déclenche. Il ne se déduit pas des données </a:t>
            </a:r>
            <a:r>
              <a:rPr lang="en-US" sz="1900" dirty="0" err="1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seules</a:t>
            </a:r>
            <a:r>
              <a:rPr lang="en-US" sz="19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il vient d'un engagement de service, d'une capacité d'équipe ou d'une décision métier.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10911535" cy="1463040"/>
          </a:xfrm>
          <a:prstGeom prst="roundRect">
            <a:avLst>
              <a:gd name="adj" fmla="val 5000"/>
            </a:avLst>
          </a:prstGeom>
          <a:solidFill>
            <a:srgbClr val="141B49"/>
          </a:solidFill>
          <a:ln w="15875">
            <a:solidFill>
              <a:srgbClr val="B23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05840" y="342900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personne n'a répondu 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384048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Définition incomplète : seuil à décider avec la responsable. 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4  -  Construction pas à pas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 </a:t>
            </a:r>
            <a:r>
              <a:rPr lang="en-US" sz="33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</a:t>
            </a: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atelier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10911535" cy="0"/>
          </a:xfrm>
          <a:prstGeom prst="rect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Lecteur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0" y="1737360"/>
            <a:ext cx="7894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0911535" cy="0"/>
          </a:xfrm>
          <a:prstGeom prst="rect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éclairée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0" y="2468880"/>
            <a:ext cx="7894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10911535" cy="0"/>
          </a:xfrm>
          <a:prstGeom prst="rect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57600" y="3200400"/>
            <a:ext cx="7894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10911535" cy="0"/>
          </a:xfrm>
          <a:prstGeom prst="rect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57600" y="3931920"/>
            <a:ext cx="7894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40080" y="5303520"/>
            <a:ext cx="10911535" cy="0"/>
          </a:xfrm>
          <a:prstGeom prst="rect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Fréquence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57600" y="4663440"/>
            <a:ext cx="7894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40080" y="6035040"/>
            <a:ext cx="10911535" cy="0"/>
          </a:xfrm>
          <a:prstGeom prst="rect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080" y="53949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 / responsable du seuil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657600" y="5394960"/>
            <a:ext cx="7894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4  -  Construction pas à pas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</a:t>
            </a:r>
            <a:r>
              <a:rPr lang="en-US" sz="33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guidé</a:t>
            </a: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la médiathèque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Je veux savoir si les gens rendent les livres en retard »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417320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40280" y="2148840"/>
            <a:ext cx="2286000" cy="603504"/>
          </a:xfrm>
          <a:prstGeom prst="roundRect">
            <a:avLst>
              <a:gd name="adj" fmla="val 121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468880" y="214884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2148840"/>
            <a:ext cx="6842455" cy="603504"/>
          </a:xfrm>
          <a:prstGeom prst="roundRect">
            <a:avLst>
              <a:gd name="adj" fmla="val 121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937760" y="2148840"/>
            <a:ext cx="6385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Chacun propose deux indicateurs différents pour répondre à la demande.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43784"/>
            <a:ext cx="1417320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84378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40280" y="2843784"/>
            <a:ext cx="2286000" cy="603504"/>
          </a:xfrm>
          <a:prstGeom prst="roundRect">
            <a:avLst>
              <a:gd name="adj" fmla="val 121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468880" y="284378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Binôme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2843784"/>
            <a:ext cx="6842455" cy="603504"/>
          </a:xfrm>
          <a:prstGeom prst="roundRect">
            <a:avLst>
              <a:gd name="adj" fmla="val 121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937760" y="2843784"/>
            <a:ext cx="6385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un indicateur, rédiger la fiche complète (population, calcul, période, seuil).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38728"/>
            <a:ext cx="1417320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353872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240280" y="3538728"/>
            <a:ext cx="2286000" cy="603504"/>
          </a:xfrm>
          <a:prstGeom prst="roundRect">
            <a:avLst>
              <a:gd name="adj" fmla="val 121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468880" y="353872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 croisé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3538728"/>
            <a:ext cx="6842455" cy="603504"/>
          </a:xfrm>
          <a:prstGeom prst="roundRect">
            <a:avLst>
              <a:gd name="adj" fmla="val 121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937760" y="3538728"/>
            <a:ext cx="6385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autre binôme classe trois cas fictifs en « inclus » / « exclu », sans voir le classement d'origine.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233672"/>
            <a:ext cx="1417320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40080" y="4233672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240280" y="4233672"/>
            <a:ext cx="2286000" cy="603504"/>
          </a:xfrm>
          <a:prstGeom prst="roundRect">
            <a:avLst>
              <a:gd name="adj" fmla="val 121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468880" y="423367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09160" y="4233672"/>
            <a:ext cx="6842455" cy="603504"/>
          </a:xfrm>
          <a:prstGeom prst="roundRect">
            <a:avLst>
              <a:gd name="adj" fmla="val 121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937760" y="4233672"/>
            <a:ext cx="6385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Comparer les classements ; un désaccord se règle en précisant la définition, pas en tranchant au hasard.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928616"/>
            <a:ext cx="1417320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40080" y="4928616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240280" y="4928616"/>
            <a:ext cx="2286000" cy="603504"/>
          </a:xfrm>
          <a:prstGeom prst="roundRect">
            <a:avLst>
              <a:gd name="adj" fmla="val 121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468880" y="492861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09160" y="4928616"/>
            <a:ext cx="6842455" cy="603504"/>
          </a:xfrm>
          <a:prstGeom prst="roundRect">
            <a:avLst>
              <a:gd name="adj" fmla="val 121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937760" y="4928616"/>
            <a:ext cx="6385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de deux fiches ; ce qui a changé entre la version initiale et la version finale.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566928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960120" y="566928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 : fiche indicateur + 3 classements + ce que le désaccord a forcé à préciser.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 -  médiathèque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bon indicateur tient sur quatre piliers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68680" y="29718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claire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sait ce qui change selon sa valeur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474720" y="2103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703320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3703320" y="29718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précise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03320" y="3520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cas est classé sans ambiguïté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309360" y="2103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6537960" y="29718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reproductible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3520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personnes obtiennent le même résultat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144000" y="2103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9372600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9372600" y="29718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 assumé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72600" y="3520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quelqu'un a choisi la valeur qui déclenche l'action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Transfert autonome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Choisissez une demande réelle dans un autre contexte, sans reprendre l'exemple Olist 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Médiathèque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37560" y="23317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337560" y="2331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client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35040" y="23317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035040" y="2331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Ressources humaines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732520" y="23317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732520" y="2331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10911535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005840" y="393192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Rendez une fiche indicateur complète : lecteur, décision, définition du calcul, population, fréquence, seuil (ou personne chargée de le fixer).</a:t>
            </a:r>
            <a:endParaRPr lang="en-US" sz="17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Faites classer par une autre personne trois cas fictifs en « inclus » ou « exclu ».</a:t>
            </a:r>
            <a:endParaRPr lang="en-US" sz="17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désaccord révèle un mot à préciser dans la définition.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1540</Words>
  <Application>Microsoft Office PowerPoint</Application>
  <PresentationFormat>Grand écran</PresentationFormat>
  <Paragraphs>299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29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Klaus KUEKOU</cp:lastModifiedBy>
  <cp:revision>2</cp:revision>
  <dcterms:created xsi:type="dcterms:W3CDTF">2026-09-08T11:25:45Z</dcterms:created>
  <dcterms:modified xsi:type="dcterms:W3CDTF">2026-09-19T05:43:32Z</dcterms:modified>
</cp:coreProperties>
</file>