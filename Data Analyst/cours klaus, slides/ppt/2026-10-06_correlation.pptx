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  <p:sldId id="295" r:id="rId44"/>
    <p:sldId id="296" r:id="rId45"/>
    <p:sldId id="297" r:id="rId46"/>
    <p:sldId id="298" r:id="rId47"/>
    <p:sldId id="299" r:id="rId48"/>
    <p:sldId id="300" r:id="rId49"/>
    <p:sldId id="301" r:id="rId50"/>
    <p:sldId id="302" r:id="rId51"/>
    <p:sldId id="303" r:id="rId52"/>
    <p:sldId id="304" r:id="rId53"/>
    <p:sldId id="305" r:id="rId54"/>
    <p:sldId id="306" r:id="rId55"/>
    <p:sldId id="307" r:id="rId56"/>
    <p:sldId id="308" r:id="rId57"/>
    <p:sldId id="309" r:id="rId58"/>
    <p:sldId id="310" r:id="rId59"/>
    <p:sldId id="311" r:id="rId60"/>
    <p:sldId id="312" r:id="rId61"/>
    <p:sldId id="313" r:id="rId62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63" roundtripDataSignature="AMtx7mi3HygMM64apOnrq953oGMCU7lzU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6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44" Type="http://schemas.openxmlformats.org/officeDocument/2006/relationships/slide" Target="slides/slide40.xml"/><Relationship Id="rId43" Type="http://schemas.openxmlformats.org/officeDocument/2006/relationships/slide" Target="slides/slide39.xml"/><Relationship Id="rId46" Type="http://schemas.openxmlformats.org/officeDocument/2006/relationships/slide" Target="slides/slide42.xml"/><Relationship Id="rId45" Type="http://schemas.openxmlformats.org/officeDocument/2006/relationships/slide" Target="slides/slide41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48" Type="http://schemas.openxmlformats.org/officeDocument/2006/relationships/slide" Target="slides/slide44.xml"/><Relationship Id="rId47" Type="http://schemas.openxmlformats.org/officeDocument/2006/relationships/slide" Target="slides/slide43.xml"/><Relationship Id="rId49" Type="http://schemas.openxmlformats.org/officeDocument/2006/relationships/slide" Target="slides/slide4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9" Type="http://schemas.openxmlformats.org/officeDocument/2006/relationships/slide" Target="slides/slide35.xml"/><Relationship Id="rId38" Type="http://schemas.openxmlformats.org/officeDocument/2006/relationships/slide" Target="slides/slide34.xml"/><Relationship Id="rId62" Type="http://schemas.openxmlformats.org/officeDocument/2006/relationships/slide" Target="slides/slide58.xml"/><Relationship Id="rId61" Type="http://schemas.openxmlformats.org/officeDocument/2006/relationships/slide" Target="slides/slide57.xml"/><Relationship Id="rId20" Type="http://schemas.openxmlformats.org/officeDocument/2006/relationships/slide" Target="slides/slide16.xml"/><Relationship Id="rId63" Type="http://customschemas.google.com/relationships/presentationmetadata" Target="metadata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60" Type="http://schemas.openxmlformats.org/officeDocument/2006/relationships/slide" Target="slides/slide56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9" Type="http://schemas.openxmlformats.org/officeDocument/2006/relationships/slide" Target="slides/slide25.xml"/><Relationship Id="rId51" Type="http://schemas.openxmlformats.org/officeDocument/2006/relationships/slide" Target="slides/slide47.xml"/><Relationship Id="rId50" Type="http://schemas.openxmlformats.org/officeDocument/2006/relationships/slide" Target="slides/slide46.xml"/><Relationship Id="rId53" Type="http://schemas.openxmlformats.org/officeDocument/2006/relationships/slide" Target="slides/slide49.xml"/><Relationship Id="rId52" Type="http://schemas.openxmlformats.org/officeDocument/2006/relationships/slide" Target="slides/slide48.xml"/><Relationship Id="rId11" Type="http://schemas.openxmlformats.org/officeDocument/2006/relationships/slide" Target="slides/slide7.xml"/><Relationship Id="rId55" Type="http://schemas.openxmlformats.org/officeDocument/2006/relationships/slide" Target="slides/slide51.xml"/><Relationship Id="rId10" Type="http://schemas.openxmlformats.org/officeDocument/2006/relationships/slide" Target="slides/slide6.xml"/><Relationship Id="rId54" Type="http://schemas.openxmlformats.org/officeDocument/2006/relationships/slide" Target="slides/slide50.xml"/><Relationship Id="rId13" Type="http://schemas.openxmlformats.org/officeDocument/2006/relationships/slide" Target="slides/slide9.xml"/><Relationship Id="rId57" Type="http://schemas.openxmlformats.org/officeDocument/2006/relationships/slide" Target="slides/slide53.xml"/><Relationship Id="rId12" Type="http://schemas.openxmlformats.org/officeDocument/2006/relationships/slide" Target="slides/slide8.xml"/><Relationship Id="rId56" Type="http://schemas.openxmlformats.org/officeDocument/2006/relationships/slide" Target="slides/slide52.xml"/><Relationship Id="rId15" Type="http://schemas.openxmlformats.org/officeDocument/2006/relationships/slide" Target="slides/slide11.xml"/><Relationship Id="rId59" Type="http://schemas.openxmlformats.org/officeDocument/2006/relationships/slide" Target="slides/slide55.xml"/><Relationship Id="rId14" Type="http://schemas.openxmlformats.org/officeDocument/2006/relationships/slide" Target="slides/slide10.xml"/><Relationship Id="rId58" Type="http://schemas.openxmlformats.org/officeDocument/2006/relationships/slide" Target="slides/slide5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0" y="812520"/>
            <a:ext cx="0" cy="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" name="Google Shape;5;n"/>
          <p:cNvSpPr txBox="1"/>
          <p:nvPr>
            <p:ph idx="3"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6" name="Google Shape;6;n"/>
          <p:cNvSpPr txBox="1"/>
          <p:nvPr>
            <p:ph idx="10" type="dt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0" y="812520"/>
            <a:ext cx="0" cy="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2:notes"/>
          <p:cNvSpPr/>
          <p:nvPr>
            <p:ph idx="2" type="sldImg"/>
          </p:nvPr>
        </p:nvSpPr>
        <p:spPr>
          <a:xfrm>
            <a:off x="0" y="812520"/>
            <a:ext cx="0" cy="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3:notes"/>
          <p:cNvSpPr/>
          <p:nvPr>
            <p:ph idx="2" type="sldImg"/>
          </p:nvPr>
        </p:nvSpPr>
        <p:spPr>
          <a:xfrm>
            <a:off x="0" y="812520"/>
            <a:ext cx="0" cy="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4:notes"/>
          <p:cNvSpPr/>
          <p:nvPr>
            <p:ph idx="2" type="sldImg"/>
          </p:nvPr>
        </p:nvSpPr>
        <p:spPr>
          <a:xfrm>
            <a:off x="1143000" y="685800"/>
            <a:ext cx="4570920" cy="342792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9" name="Google Shape;109;p4:notes"/>
          <p:cNvSpPr txBox="1"/>
          <p:nvPr>
            <p:ph idx="1" type="body"/>
          </p:nvPr>
        </p:nvSpPr>
        <p:spPr>
          <a:xfrm>
            <a:off x="685800" y="4343400"/>
            <a:ext cx="5485320" cy="4113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4:notes"/>
          <p:cNvSpPr txBox="1"/>
          <p:nvPr>
            <p:ph idx="12" type="sldNum"/>
          </p:nvPr>
        </p:nvSpPr>
        <p:spPr>
          <a:xfrm>
            <a:off x="3884760" y="8685360"/>
            <a:ext cx="2970720" cy="4561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5:notes"/>
          <p:cNvSpPr/>
          <p:nvPr>
            <p:ph idx="2" type="sldImg"/>
          </p:nvPr>
        </p:nvSpPr>
        <p:spPr>
          <a:xfrm>
            <a:off x="1143000" y="685800"/>
            <a:ext cx="4570920" cy="342792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7" name="Google Shape;127;p5:notes"/>
          <p:cNvSpPr txBox="1"/>
          <p:nvPr>
            <p:ph idx="1" type="body"/>
          </p:nvPr>
        </p:nvSpPr>
        <p:spPr>
          <a:xfrm>
            <a:off x="685800" y="4343400"/>
            <a:ext cx="5485320" cy="4113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5:notes"/>
          <p:cNvSpPr txBox="1"/>
          <p:nvPr>
            <p:ph idx="12" type="sldNum"/>
          </p:nvPr>
        </p:nvSpPr>
        <p:spPr>
          <a:xfrm>
            <a:off x="3884760" y="8685360"/>
            <a:ext cx="2970720" cy="4561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6:notes"/>
          <p:cNvSpPr/>
          <p:nvPr>
            <p:ph idx="2" type="sldImg"/>
          </p:nvPr>
        </p:nvSpPr>
        <p:spPr>
          <a:xfrm>
            <a:off x="1143000" y="685800"/>
            <a:ext cx="4570920" cy="342792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0" name="Google Shape;140;p6:notes"/>
          <p:cNvSpPr txBox="1"/>
          <p:nvPr>
            <p:ph idx="1" type="body"/>
          </p:nvPr>
        </p:nvSpPr>
        <p:spPr>
          <a:xfrm>
            <a:off x="685800" y="4343400"/>
            <a:ext cx="5485320" cy="4113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6:notes"/>
          <p:cNvSpPr txBox="1"/>
          <p:nvPr>
            <p:ph idx="12" type="sldNum"/>
          </p:nvPr>
        </p:nvSpPr>
        <p:spPr>
          <a:xfrm>
            <a:off x="3884760" y="8685360"/>
            <a:ext cx="2970720" cy="4561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7:notes"/>
          <p:cNvSpPr/>
          <p:nvPr>
            <p:ph idx="2" type="sldImg"/>
          </p:nvPr>
        </p:nvSpPr>
        <p:spPr>
          <a:xfrm>
            <a:off x="1143000" y="685800"/>
            <a:ext cx="4570920" cy="342792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6" name="Google Shape;156;p7:notes"/>
          <p:cNvSpPr txBox="1"/>
          <p:nvPr>
            <p:ph idx="1" type="body"/>
          </p:nvPr>
        </p:nvSpPr>
        <p:spPr>
          <a:xfrm>
            <a:off x="685800" y="4343400"/>
            <a:ext cx="5485320" cy="4113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7:notes"/>
          <p:cNvSpPr txBox="1"/>
          <p:nvPr>
            <p:ph idx="12" type="sldNum"/>
          </p:nvPr>
        </p:nvSpPr>
        <p:spPr>
          <a:xfrm>
            <a:off x="3884760" y="8685360"/>
            <a:ext cx="2970720" cy="4561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8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8:notes"/>
          <p:cNvSpPr/>
          <p:nvPr>
            <p:ph idx="2" type="sldImg"/>
          </p:nvPr>
        </p:nvSpPr>
        <p:spPr>
          <a:xfrm>
            <a:off x="0" y="812520"/>
            <a:ext cx="0" cy="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9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9:notes"/>
          <p:cNvSpPr/>
          <p:nvPr>
            <p:ph idx="2" type="sldImg"/>
          </p:nvPr>
        </p:nvSpPr>
        <p:spPr>
          <a:xfrm>
            <a:off x="0" y="812520"/>
            <a:ext cx="0" cy="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0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10:notes"/>
          <p:cNvSpPr/>
          <p:nvPr>
            <p:ph idx="2" type="sldImg"/>
          </p:nvPr>
        </p:nvSpPr>
        <p:spPr>
          <a:xfrm>
            <a:off x="0" y="812520"/>
            <a:ext cx="0" cy="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1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11:notes"/>
          <p:cNvSpPr/>
          <p:nvPr>
            <p:ph idx="2" type="sldImg"/>
          </p:nvPr>
        </p:nvSpPr>
        <p:spPr>
          <a:xfrm>
            <a:off x="0" y="812520"/>
            <a:ext cx="0" cy="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12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12:notes"/>
          <p:cNvSpPr/>
          <p:nvPr>
            <p:ph idx="2" type="sldImg"/>
          </p:nvPr>
        </p:nvSpPr>
        <p:spPr>
          <a:xfrm>
            <a:off x="0" y="812520"/>
            <a:ext cx="0" cy="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13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13:notes"/>
          <p:cNvSpPr/>
          <p:nvPr>
            <p:ph idx="2" type="sldImg"/>
          </p:nvPr>
        </p:nvSpPr>
        <p:spPr>
          <a:xfrm>
            <a:off x="0" y="812520"/>
            <a:ext cx="0" cy="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4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14:notes"/>
          <p:cNvSpPr/>
          <p:nvPr>
            <p:ph idx="2" type="sldImg"/>
          </p:nvPr>
        </p:nvSpPr>
        <p:spPr>
          <a:xfrm>
            <a:off x="0" y="812520"/>
            <a:ext cx="0" cy="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15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15:notes"/>
          <p:cNvSpPr/>
          <p:nvPr>
            <p:ph idx="2" type="sldImg"/>
          </p:nvPr>
        </p:nvSpPr>
        <p:spPr>
          <a:xfrm>
            <a:off x="0" y="812520"/>
            <a:ext cx="0" cy="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16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p16:notes"/>
          <p:cNvSpPr/>
          <p:nvPr>
            <p:ph idx="2" type="sldImg"/>
          </p:nvPr>
        </p:nvSpPr>
        <p:spPr>
          <a:xfrm>
            <a:off x="0" y="812520"/>
            <a:ext cx="0" cy="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17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p17:notes"/>
          <p:cNvSpPr/>
          <p:nvPr>
            <p:ph idx="2" type="sldImg"/>
          </p:nvPr>
        </p:nvSpPr>
        <p:spPr>
          <a:xfrm>
            <a:off x="0" y="812520"/>
            <a:ext cx="0" cy="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18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" name="Google Shape;346;p18:notes"/>
          <p:cNvSpPr/>
          <p:nvPr>
            <p:ph idx="2" type="sldImg"/>
          </p:nvPr>
        </p:nvSpPr>
        <p:spPr>
          <a:xfrm>
            <a:off x="0" y="812520"/>
            <a:ext cx="0" cy="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19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5" name="Google Shape;365;p19:notes"/>
          <p:cNvSpPr/>
          <p:nvPr>
            <p:ph idx="2" type="sldImg"/>
          </p:nvPr>
        </p:nvSpPr>
        <p:spPr>
          <a:xfrm>
            <a:off x="0" y="812520"/>
            <a:ext cx="0" cy="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20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1" name="Google Shape;381;p20:notes"/>
          <p:cNvSpPr/>
          <p:nvPr>
            <p:ph idx="2" type="sldImg"/>
          </p:nvPr>
        </p:nvSpPr>
        <p:spPr>
          <a:xfrm>
            <a:off x="0" y="812520"/>
            <a:ext cx="0" cy="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21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p21:notes"/>
          <p:cNvSpPr/>
          <p:nvPr>
            <p:ph idx="2" type="sldImg"/>
          </p:nvPr>
        </p:nvSpPr>
        <p:spPr>
          <a:xfrm>
            <a:off x="0" y="812520"/>
            <a:ext cx="0" cy="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22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2" name="Google Shape;422;p22:notes"/>
          <p:cNvSpPr/>
          <p:nvPr>
            <p:ph idx="2" type="sldImg"/>
          </p:nvPr>
        </p:nvSpPr>
        <p:spPr>
          <a:xfrm>
            <a:off x="0" y="812520"/>
            <a:ext cx="0" cy="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23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1" name="Google Shape;441;p23:notes"/>
          <p:cNvSpPr/>
          <p:nvPr>
            <p:ph idx="2" type="sldImg"/>
          </p:nvPr>
        </p:nvSpPr>
        <p:spPr>
          <a:xfrm>
            <a:off x="0" y="812520"/>
            <a:ext cx="0" cy="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24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2" name="Google Shape;462;p24:notes"/>
          <p:cNvSpPr/>
          <p:nvPr>
            <p:ph idx="2" type="sldImg"/>
          </p:nvPr>
        </p:nvSpPr>
        <p:spPr>
          <a:xfrm>
            <a:off x="0" y="812520"/>
            <a:ext cx="0" cy="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25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1" name="Google Shape;481;p25:notes"/>
          <p:cNvSpPr/>
          <p:nvPr>
            <p:ph idx="2" type="sldImg"/>
          </p:nvPr>
        </p:nvSpPr>
        <p:spPr>
          <a:xfrm>
            <a:off x="0" y="812520"/>
            <a:ext cx="0" cy="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0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p26:notes"/>
          <p:cNvSpPr/>
          <p:nvPr>
            <p:ph idx="2" type="sldImg"/>
          </p:nvPr>
        </p:nvSpPr>
        <p:spPr>
          <a:xfrm>
            <a:off x="1143000" y="685800"/>
            <a:ext cx="4570920" cy="342792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92" name="Google Shape;492;p26:notes"/>
          <p:cNvSpPr txBox="1"/>
          <p:nvPr>
            <p:ph idx="1" type="body"/>
          </p:nvPr>
        </p:nvSpPr>
        <p:spPr>
          <a:xfrm>
            <a:off x="685800" y="4343400"/>
            <a:ext cx="5485320" cy="4113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3" name="Google Shape;493;p26:notes"/>
          <p:cNvSpPr txBox="1"/>
          <p:nvPr>
            <p:ph idx="12" type="sldNum"/>
          </p:nvPr>
        </p:nvSpPr>
        <p:spPr>
          <a:xfrm>
            <a:off x="3884760" y="8685360"/>
            <a:ext cx="2970720" cy="4561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6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p27:notes"/>
          <p:cNvSpPr/>
          <p:nvPr>
            <p:ph idx="2" type="sldImg"/>
          </p:nvPr>
        </p:nvSpPr>
        <p:spPr>
          <a:xfrm>
            <a:off x="1143000" y="685800"/>
            <a:ext cx="4570920" cy="342792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28" name="Google Shape;528;p27:notes"/>
          <p:cNvSpPr txBox="1"/>
          <p:nvPr>
            <p:ph idx="1" type="body"/>
          </p:nvPr>
        </p:nvSpPr>
        <p:spPr>
          <a:xfrm>
            <a:off x="685800" y="4343400"/>
            <a:ext cx="5485320" cy="4113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9" name="Google Shape;529;p27:notes"/>
          <p:cNvSpPr txBox="1"/>
          <p:nvPr>
            <p:ph idx="12" type="sldNum"/>
          </p:nvPr>
        </p:nvSpPr>
        <p:spPr>
          <a:xfrm>
            <a:off x="3884760" y="8685360"/>
            <a:ext cx="2970720" cy="4561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9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p28:notes"/>
          <p:cNvSpPr/>
          <p:nvPr>
            <p:ph idx="2" type="sldImg"/>
          </p:nvPr>
        </p:nvSpPr>
        <p:spPr>
          <a:xfrm>
            <a:off x="1143000" y="685800"/>
            <a:ext cx="4570920" cy="342792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41" name="Google Shape;541;p28:notes"/>
          <p:cNvSpPr txBox="1"/>
          <p:nvPr>
            <p:ph idx="1" type="body"/>
          </p:nvPr>
        </p:nvSpPr>
        <p:spPr>
          <a:xfrm>
            <a:off x="685800" y="4343400"/>
            <a:ext cx="5485320" cy="4113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2" name="Google Shape;542;p28:notes"/>
          <p:cNvSpPr txBox="1"/>
          <p:nvPr>
            <p:ph idx="12" type="sldNum"/>
          </p:nvPr>
        </p:nvSpPr>
        <p:spPr>
          <a:xfrm>
            <a:off x="3884760" y="8685360"/>
            <a:ext cx="2970720" cy="4561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3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Google Shape;584;p29:notes"/>
          <p:cNvSpPr/>
          <p:nvPr>
            <p:ph idx="2" type="sldImg"/>
          </p:nvPr>
        </p:nvSpPr>
        <p:spPr>
          <a:xfrm>
            <a:off x="1143000" y="685800"/>
            <a:ext cx="4570920" cy="342792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85" name="Google Shape;585;p29:notes"/>
          <p:cNvSpPr txBox="1"/>
          <p:nvPr>
            <p:ph idx="1" type="body"/>
          </p:nvPr>
        </p:nvSpPr>
        <p:spPr>
          <a:xfrm>
            <a:off x="685800" y="4343400"/>
            <a:ext cx="5485320" cy="4113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6" name="Google Shape;586;p29:notes"/>
          <p:cNvSpPr txBox="1"/>
          <p:nvPr>
            <p:ph idx="12" type="sldNum"/>
          </p:nvPr>
        </p:nvSpPr>
        <p:spPr>
          <a:xfrm>
            <a:off x="3884760" y="8685360"/>
            <a:ext cx="2970720" cy="4561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6" name="Shape 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Google Shape;597;p30:notes"/>
          <p:cNvSpPr/>
          <p:nvPr>
            <p:ph idx="2" type="sldImg"/>
          </p:nvPr>
        </p:nvSpPr>
        <p:spPr>
          <a:xfrm>
            <a:off x="1143000" y="685800"/>
            <a:ext cx="4570920" cy="342792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98" name="Google Shape;598;p30:notes"/>
          <p:cNvSpPr txBox="1"/>
          <p:nvPr>
            <p:ph idx="1" type="body"/>
          </p:nvPr>
        </p:nvSpPr>
        <p:spPr>
          <a:xfrm>
            <a:off x="685800" y="4343400"/>
            <a:ext cx="5485320" cy="4113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9" name="Google Shape;599;p30:notes"/>
          <p:cNvSpPr txBox="1"/>
          <p:nvPr>
            <p:ph idx="12" type="sldNum"/>
          </p:nvPr>
        </p:nvSpPr>
        <p:spPr>
          <a:xfrm>
            <a:off x="3884760" y="8685360"/>
            <a:ext cx="2970720" cy="4561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0" name="Shape 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" name="Google Shape;641;p31:notes"/>
          <p:cNvSpPr/>
          <p:nvPr>
            <p:ph idx="2" type="sldImg"/>
          </p:nvPr>
        </p:nvSpPr>
        <p:spPr>
          <a:xfrm>
            <a:off x="1143000" y="685800"/>
            <a:ext cx="4570920" cy="342792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42" name="Google Shape;642;p31:notes"/>
          <p:cNvSpPr txBox="1"/>
          <p:nvPr>
            <p:ph idx="1" type="body"/>
          </p:nvPr>
        </p:nvSpPr>
        <p:spPr>
          <a:xfrm>
            <a:off x="685800" y="4343400"/>
            <a:ext cx="5485320" cy="4113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3" name="Google Shape;643;p31:notes"/>
          <p:cNvSpPr txBox="1"/>
          <p:nvPr>
            <p:ph idx="12" type="sldNum"/>
          </p:nvPr>
        </p:nvSpPr>
        <p:spPr>
          <a:xfrm>
            <a:off x="3884760" y="8685360"/>
            <a:ext cx="2970720" cy="4561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3" name="Shape 6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Google Shape;654;p32:notes"/>
          <p:cNvSpPr/>
          <p:nvPr>
            <p:ph idx="2" type="sldImg"/>
          </p:nvPr>
        </p:nvSpPr>
        <p:spPr>
          <a:xfrm>
            <a:off x="1143000" y="685800"/>
            <a:ext cx="4570920" cy="342792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55" name="Google Shape;655;p32:notes"/>
          <p:cNvSpPr txBox="1"/>
          <p:nvPr>
            <p:ph idx="1" type="body"/>
          </p:nvPr>
        </p:nvSpPr>
        <p:spPr>
          <a:xfrm>
            <a:off x="685800" y="4343400"/>
            <a:ext cx="5485320" cy="4113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6" name="Google Shape;656;p32:notes"/>
          <p:cNvSpPr txBox="1"/>
          <p:nvPr>
            <p:ph idx="12" type="sldNum"/>
          </p:nvPr>
        </p:nvSpPr>
        <p:spPr>
          <a:xfrm>
            <a:off x="3884760" y="8685360"/>
            <a:ext cx="2970720" cy="4561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7" name="Shape 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8" name="Google Shape;698;p33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9" name="Google Shape;699;p33:notes"/>
          <p:cNvSpPr/>
          <p:nvPr>
            <p:ph idx="2" type="sldImg"/>
          </p:nvPr>
        </p:nvSpPr>
        <p:spPr>
          <a:xfrm>
            <a:off x="0" y="812520"/>
            <a:ext cx="0" cy="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8" name="Shape 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9" name="Google Shape;709;p34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0" name="Google Shape;710;p34:notes"/>
          <p:cNvSpPr/>
          <p:nvPr>
            <p:ph idx="2" type="sldImg"/>
          </p:nvPr>
        </p:nvSpPr>
        <p:spPr>
          <a:xfrm>
            <a:off x="0" y="812520"/>
            <a:ext cx="0" cy="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0" name="Shape 7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1" name="Google Shape;721;p35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2" name="Google Shape;722;p35:notes"/>
          <p:cNvSpPr/>
          <p:nvPr>
            <p:ph idx="2" type="sldImg"/>
          </p:nvPr>
        </p:nvSpPr>
        <p:spPr>
          <a:xfrm>
            <a:off x="0" y="812520"/>
            <a:ext cx="0" cy="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0" name="Shape 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1" name="Google Shape;741;p36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2" name="Google Shape;742;p36:notes"/>
          <p:cNvSpPr/>
          <p:nvPr>
            <p:ph idx="2" type="sldImg"/>
          </p:nvPr>
        </p:nvSpPr>
        <p:spPr>
          <a:xfrm>
            <a:off x="0" y="812520"/>
            <a:ext cx="0" cy="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7" name="Shape 7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8" name="Google Shape;758;p37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9" name="Google Shape;759;p37:notes"/>
          <p:cNvSpPr/>
          <p:nvPr>
            <p:ph idx="2" type="sldImg"/>
          </p:nvPr>
        </p:nvSpPr>
        <p:spPr>
          <a:xfrm>
            <a:off x="0" y="812520"/>
            <a:ext cx="0" cy="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4" name="Shape 7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5" name="Google Shape;775;p38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6" name="Google Shape;776;p38:notes"/>
          <p:cNvSpPr/>
          <p:nvPr>
            <p:ph idx="2" type="sldImg"/>
          </p:nvPr>
        </p:nvSpPr>
        <p:spPr>
          <a:xfrm>
            <a:off x="0" y="812520"/>
            <a:ext cx="0" cy="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1" name="Shape 7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2" name="Google Shape;792;p39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3" name="Google Shape;793;p39:notes"/>
          <p:cNvSpPr/>
          <p:nvPr>
            <p:ph idx="2" type="sldImg"/>
          </p:nvPr>
        </p:nvSpPr>
        <p:spPr>
          <a:xfrm>
            <a:off x="0" y="812520"/>
            <a:ext cx="0" cy="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8" name="Shape 8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9" name="Google Shape;809;p40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0" name="Google Shape;810;p40:notes"/>
          <p:cNvSpPr/>
          <p:nvPr>
            <p:ph idx="2" type="sldImg"/>
          </p:nvPr>
        </p:nvSpPr>
        <p:spPr>
          <a:xfrm>
            <a:off x="0" y="812520"/>
            <a:ext cx="0" cy="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0" name="Shape 8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1" name="Google Shape;821;p41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2" name="Google Shape;822;p41:notes"/>
          <p:cNvSpPr/>
          <p:nvPr>
            <p:ph idx="2" type="sldImg"/>
          </p:nvPr>
        </p:nvSpPr>
        <p:spPr>
          <a:xfrm>
            <a:off x="0" y="812520"/>
            <a:ext cx="0" cy="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2" name="Shape 8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3" name="Google Shape;833;p42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4" name="Google Shape;834;p42:notes"/>
          <p:cNvSpPr/>
          <p:nvPr>
            <p:ph idx="2" type="sldImg"/>
          </p:nvPr>
        </p:nvSpPr>
        <p:spPr>
          <a:xfrm>
            <a:off x="0" y="812520"/>
            <a:ext cx="0" cy="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4" name="Shape 8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5" name="Google Shape;845;p43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6" name="Google Shape;846;p43:notes"/>
          <p:cNvSpPr/>
          <p:nvPr>
            <p:ph idx="2" type="sldImg"/>
          </p:nvPr>
        </p:nvSpPr>
        <p:spPr>
          <a:xfrm>
            <a:off x="0" y="812520"/>
            <a:ext cx="0" cy="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6" name="Shape 8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7" name="Google Shape;857;p44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8" name="Google Shape;858;p44:notes"/>
          <p:cNvSpPr/>
          <p:nvPr>
            <p:ph idx="2" type="sldImg"/>
          </p:nvPr>
        </p:nvSpPr>
        <p:spPr>
          <a:xfrm>
            <a:off x="0" y="812520"/>
            <a:ext cx="0" cy="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8" name="Shape 8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9" name="Google Shape;869;p45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0" name="Google Shape;870;p45:notes"/>
          <p:cNvSpPr/>
          <p:nvPr>
            <p:ph idx="2" type="sldImg"/>
          </p:nvPr>
        </p:nvSpPr>
        <p:spPr>
          <a:xfrm>
            <a:off x="0" y="812520"/>
            <a:ext cx="0" cy="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5" name="Shape 8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6" name="Google Shape;886;p46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7" name="Google Shape;887;p46:notes"/>
          <p:cNvSpPr/>
          <p:nvPr>
            <p:ph idx="2" type="sldImg"/>
          </p:nvPr>
        </p:nvSpPr>
        <p:spPr>
          <a:xfrm>
            <a:off x="0" y="812520"/>
            <a:ext cx="0" cy="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5" name="Shape 9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6" name="Google Shape;906;p47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7" name="Google Shape;907;p47:notes"/>
          <p:cNvSpPr/>
          <p:nvPr>
            <p:ph idx="2" type="sldImg"/>
          </p:nvPr>
        </p:nvSpPr>
        <p:spPr>
          <a:xfrm>
            <a:off x="0" y="812520"/>
            <a:ext cx="0" cy="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7" name="Shape 9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8" name="Google Shape;918;p48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9" name="Google Shape;919;p48:notes"/>
          <p:cNvSpPr/>
          <p:nvPr>
            <p:ph idx="2" type="sldImg"/>
          </p:nvPr>
        </p:nvSpPr>
        <p:spPr>
          <a:xfrm>
            <a:off x="0" y="812520"/>
            <a:ext cx="0" cy="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9" name="Shape 9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0" name="Google Shape;940;p49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1" name="Google Shape;941;p49:notes"/>
          <p:cNvSpPr/>
          <p:nvPr>
            <p:ph idx="2" type="sldImg"/>
          </p:nvPr>
        </p:nvSpPr>
        <p:spPr>
          <a:xfrm>
            <a:off x="0" y="812520"/>
            <a:ext cx="0" cy="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0" name="Shape 9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1" name="Google Shape;961;p50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2" name="Google Shape;962;p50:notes"/>
          <p:cNvSpPr/>
          <p:nvPr>
            <p:ph idx="2" type="sldImg"/>
          </p:nvPr>
        </p:nvSpPr>
        <p:spPr>
          <a:xfrm>
            <a:off x="0" y="812520"/>
            <a:ext cx="0" cy="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9" name="Shape 9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0" name="Google Shape;980;p51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1" name="Google Shape;981;p51:notes"/>
          <p:cNvSpPr/>
          <p:nvPr>
            <p:ph idx="2" type="sldImg"/>
          </p:nvPr>
        </p:nvSpPr>
        <p:spPr>
          <a:xfrm>
            <a:off x="0" y="812520"/>
            <a:ext cx="0" cy="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8" name="Shape 9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9" name="Google Shape;999;p52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0" name="Google Shape;1000;p52:notes"/>
          <p:cNvSpPr/>
          <p:nvPr>
            <p:ph idx="2" type="sldImg"/>
          </p:nvPr>
        </p:nvSpPr>
        <p:spPr>
          <a:xfrm>
            <a:off x="0" y="812520"/>
            <a:ext cx="0" cy="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7" name="Shape 10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8" name="Google Shape;1018;p53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9" name="Google Shape;1019;p53:notes"/>
          <p:cNvSpPr/>
          <p:nvPr>
            <p:ph idx="2" type="sldImg"/>
          </p:nvPr>
        </p:nvSpPr>
        <p:spPr>
          <a:xfrm>
            <a:off x="0" y="812520"/>
            <a:ext cx="0" cy="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6" name="Shape 10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7" name="Google Shape;1037;p54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8" name="Google Shape;1038;p54:notes"/>
          <p:cNvSpPr/>
          <p:nvPr>
            <p:ph idx="2" type="sldImg"/>
          </p:nvPr>
        </p:nvSpPr>
        <p:spPr>
          <a:xfrm>
            <a:off x="0" y="812520"/>
            <a:ext cx="0" cy="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3" name="Shape 10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" name="Google Shape;1054;p55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5" name="Google Shape;1055;p55:notes"/>
          <p:cNvSpPr/>
          <p:nvPr>
            <p:ph idx="2" type="sldImg"/>
          </p:nvPr>
        </p:nvSpPr>
        <p:spPr>
          <a:xfrm>
            <a:off x="0" y="812520"/>
            <a:ext cx="0" cy="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4" name="Shape 10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5" name="Google Shape;1065;p56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6" name="Google Shape;1066;p56:notes"/>
          <p:cNvSpPr/>
          <p:nvPr>
            <p:ph idx="2" type="sldImg"/>
          </p:nvPr>
        </p:nvSpPr>
        <p:spPr>
          <a:xfrm>
            <a:off x="0" y="812520"/>
            <a:ext cx="0" cy="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1" name="Shape 10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2" name="Google Shape;1082;p57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3" name="Google Shape;1083;p57:notes"/>
          <p:cNvSpPr/>
          <p:nvPr>
            <p:ph idx="2" type="sldImg"/>
          </p:nvPr>
        </p:nvSpPr>
        <p:spPr>
          <a:xfrm>
            <a:off x="0" y="812520"/>
            <a:ext cx="0" cy="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7" name="Shape 1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8" name="Google Shape;1118;p58:notes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9" name="Google Shape;1119;p58:notes"/>
          <p:cNvSpPr/>
          <p:nvPr>
            <p:ph idx="2" type="sldImg"/>
          </p:nvPr>
        </p:nvSpPr>
        <p:spPr>
          <a:xfrm>
            <a:off x="0" y="812520"/>
            <a:ext cx="0" cy="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rgbClr val="FFFFFF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60"/>
          <p:cNvSpPr txBox="1"/>
          <p:nvPr>
            <p:ph idx="10" type="dt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2" name="Google Shape;12;p60"/>
          <p:cNvSpPr txBox="1"/>
          <p:nvPr>
            <p:ph idx="11" type="ftr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3" name="Google Shape;13;p60"/>
          <p:cNvSpPr txBox="1"/>
          <p:nvPr>
            <p:ph idx="12" type="sldNum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" name="Google Shape;14;p60"/>
          <p:cNvSpPr txBox="1"/>
          <p:nvPr>
            <p:ph type="title"/>
          </p:nvPr>
        </p:nvSpPr>
        <p:spPr>
          <a:xfrm>
            <a:off x="609480" y="273600"/>
            <a:ext cx="10971720" cy="1144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5" name="Google Shape;15;p60"/>
          <p:cNvSpPr txBox="1"/>
          <p:nvPr>
            <p:ph idx="1" type="body"/>
          </p:nvPr>
        </p:nvSpPr>
        <p:spPr>
          <a:xfrm>
            <a:off x="609480" y="1604520"/>
            <a:ext cx="10971720" cy="3976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bg>
      <p:bgPr>
        <a:solidFill>
          <a:srgbClr val="FFFFFF"/>
        </a:solidFill>
      </p:bgPr>
    </p:bg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61"/>
          <p:cNvSpPr txBox="1"/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8" name="Google Shape;18;p61"/>
          <p:cNvSpPr txBox="1"/>
          <p:nvPr>
            <p:ph idx="1" type="body"/>
          </p:nvPr>
        </p:nvSpPr>
        <p:spPr>
          <a:xfrm>
            <a:off x="457200" y="1600200"/>
            <a:ext cx="4037400" cy="4524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9" name="Google Shape;19;p61"/>
          <p:cNvSpPr txBox="1"/>
          <p:nvPr>
            <p:ph idx="2" type="body"/>
          </p:nvPr>
        </p:nvSpPr>
        <p:spPr>
          <a:xfrm>
            <a:off x="4648320" y="1600200"/>
            <a:ext cx="4037400" cy="4524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20" name="Google Shape;20;p61"/>
          <p:cNvSpPr txBox="1"/>
          <p:nvPr>
            <p:ph idx="10" type="dt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21" name="Google Shape;21;p61"/>
          <p:cNvSpPr txBox="1"/>
          <p:nvPr>
            <p:ph idx="11" type="ftr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22" name="Google Shape;22;p61"/>
          <p:cNvSpPr txBox="1"/>
          <p:nvPr>
            <p:ph idx="12" type="sldNum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>
  <p:cSld name="Comparison">
    <p:bg>
      <p:bgPr>
        <a:solidFill>
          <a:srgbClr val="FFFFFF"/>
        </a:solidFill>
      </p:bgPr>
    </p:bg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62"/>
          <p:cNvSpPr txBox="1"/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25" name="Google Shape;25;p62"/>
          <p:cNvSpPr txBox="1"/>
          <p:nvPr>
            <p:ph idx="1" type="body"/>
          </p:nvPr>
        </p:nvSpPr>
        <p:spPr>
          <a:xfrm>
            <a:off x="457200" y="1535040"/>
            <a:ext cx="4039200" cy="63864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26" name="Google Shape;26;p62"/>
          <p:cNvSpPr txBox="1"/>
          <p:nvPr>
            <p:ph idx="2" type="body"/>
          </p:nvPr>
        </p:nvSpPr>
        <p:spPr>
          <a:xfrm>
            <a:off x="457200" y="2174760"/>
            <a:ext cx="4039200" cy="3950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27" name="Google Shape;27;p62"/>
          <p:cNvSpPr txBox="1"/>
          <p:nvPr>
            <p:ph idx="3" type="body"/>
          </p:nvPr>
        </p:nvSpPr>
        <p:spPr>
          <a:xfrm>
            <a:off x="4645080" y="1535040"/>
            <a:ext cx="4040640" cy="63864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28" name="Google Shape;28;p62"/>
          <p:cNvSpPr txBox="1"/>
          <p:nvPr>
            <p:ph idx="4" type="body"/>
          </p:nvPr>
        </p:nvSpPr>
        <p:spPr>
          <a:xfrm>
            <a:off x="4645080" y="2174760"/>
            <a:ext cx="4040640" cy="3950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29" name="Google Shape;29;p62"/>
          <p:cNvSpPr txBox="1"/>
          <p:nvPr>
            <p:ph idx="10" type="dt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30" name="Google Shape;30;p62"/>
          <p:cNvSpPr txBox="1"/>
          <p:nvPr>
            <p:ph idx="11" type="ftr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31" name="Google Shape;31;p62"/>
          <p:cNvSpPr txBox="1"/>
          <p:nvPr>
            <p:ph idx="12" type="sldNum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bg>
      <p:bgPr>
        <a:solidFill>
          <a:srgbClr val="FFFFFF"/>
        </a:solidFill>
      </p:bgPr>
    </p:bg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63"/>
          <p:cNvSpPr txBox="1"/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34" name="Google Shape;34;p63"/>
          <p:cNvSpPr txBox="1"/>
          <p:nvPr>
            <p:ph idx="10" type="dt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35" name="Google Shape;35;p63"/>
          <p:cNvSpPr txBox="1"/>
          <p:nvPr>
            <p:ph idx="11" type="ftr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36" name="Google Shape;36;p63"/>
          <p:cNvSpPr txBox="1"/>
          <p:nvPr>
            <p:ph idx="12" type="sldNum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>
  <p:cSld name="Content with Caption">
    <p:bg>
      <p:bgPr>
        <a:solidFill>
          <a:srgbClr val="FFFFFF"/>
        </a:solid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64"/>
          <p:cNvSpPr txBox="1"/>
          <p:nvPr>
            <p:ph type="title"/>
          </p:nvPr>
        </p:nvSpPr>
        <p:spPr>
          <a:xfrm>
            <a:off x="457200" y="272880"/>
            <a:ext cx="3007080" cy="1161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39" name="Google Shape;39;p64"/>
          <p:cNvSpPr txBox="1"/>
          <p:nvPr>
            <p:ph idx="1" type="body"/>
          </p:nvPr>
        </p:nvSpPr>
        <p:spPr>
          <a:xfrm>
            <a:off x="3575160" y="272880"/>
            <a:ext cx="5110560" cy="5852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0" name="Google Shape;40;p64"/>
          <p:cNvSpPr txBox="1"/>
          <p:nvPr>
            <p:ph idx="2" type="body"/>
          </p:nvPr>
        </p:nvSpPr>
        <p:spPr>
          <a:xfrm>
            <a:off x="457200" y="1434960"/>
            <a:ext cx="3007080" cy="469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1" name="Google Shape;41;p64"/>
          <p:cNvSpPr txBox="1"/>
          <p:nvPr>
            <p:ph idx="10" type="dt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2" name="Google Shape;42;p64"/>
          <p:cNvSpPr txBox="1"/>
          <p:nvPr>
            <p:ph idx="11" type="ftr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3" name="Google Shape;43;p64"/>
          <p:cNvSpPr txBox="1"/>
          <p:nvPr>
            <p:ph idx="12" type="sldNum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>
  <p:cSld name="Picture with Caption">
    <p:bg>
      <p:bgPr>
        <a:solidFill>
          <a:srgbClr val="FFFFFF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65"/>
          <p:cNvSpPr txBox="1"/>
          <p:nvPr>
            <p:ph type="title"/>
          </p:nvPr>
        </p:nvSpPr>
        <p:spPr>
          <a:xfrm>
            <a:off x="1792440" y="4800600"/>
            <a:ext cx="5485320" cy="5655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6" name="Google Shape;46;p65"/>
          <p:cNvSpPr txBox="1"/>
          <p:nvPr>
            <p:ph idx="1" type="body"/>
          </p:nvPr>
        </p:nvSpPr>
        <p:spPr>
          <a:xfrm>
            <a:off x="1792440" y="612720"/>
            <a:ext cx="5485320" cy="4113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7" name="Google Shape;47;p65"/>
          <p:cNvSpPr txBox="1"/>
          <p:nvPr>
            <p:ph idx="2" type="body"/>
          </p:nvPr>
        </p:nvSpPr>
        <p:spPr>
          <a:xfrm>
            <a:off x="1792440" y="5367240"/>
            <a:ext cx="5485320" cy="803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8" name="Google Shape;48;p65"/>
          <p:cNvSpPr txBox="1"/>
          <p:nvPr>
            <p:ph idx="10" type="dt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9" name="Google Shape;49;p65"/>
          <p:cNvSpPr txBox="1"/>
          <p:nvPr>
            <p:ph idx="11" type="ftr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0" name="Google Shape;50;p65"/>
          <p:cNvSpPr txBox="1"/>
          <p:nvPr>
            <p:ph idx="12" type="sldNum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rgbClr val="FFFFFF"/>
        </a:solid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66"/>
          <p:cNvSpPr txBox="1"/>
          <p:nvPr>
            <p:ph type="title"/>
          </p:nvPr>
        </p:nvSpPr>
        <p:spPr>
          <a:xfrm>
            <a:off x="685800" y="2130480"/>
            <a:ext cx="7771320" cy="14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3" name="Google Shape;53;p66"/>
          <p:cNvSpPr txBox="1"/>
          <p:nvPr>
            <p:ph idx="10" type="dt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4" name="Google Shape;54;p66"/>
          <p:cNvSpPr txBox="1"/>
          <p:nvPr>
            <p:ph idx="11" type="ftr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5" name="Google Shape;55;p66"/>
          <p:cNvSpPr txBox="1"/>
          <p:nvPr>
            <p:ph idx="12" type="sldNum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bg>
      <p:bgPr>
        <a:solidFill>
          <a:srgbClr val="FFFFFF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67"/>
          <p:cNvSpPr txBox="1"/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8" name="Google Shape;58;p67"/>
          <p:cNvSpPr txBox="1"/>
          <p:nvPr>
            <p:ph idx="1" type="body"/>
          </p:nvPr>
        </p:nvSpPr>
        <p:spPr>
          <a:xfrm rot="5400000">
            <a:off x="2309040" y="-251640"/>
            <a:ext cx="4524840" cy="8228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9" name="Google Shape;59;p67"/>
          <p:cNvSpPr txBox="1"/>
          <p:nvPr>
            <p:ph idx="10" type="dt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60" name="Google Shape;60;p67"/>
          <p:cNvSpPr txBox="1"/>
          <p:nvPr>
            <p:ph idx="11" type="ftr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61" name="Google Shape;61;p67"/>
          <p:cNvSpPr txBox="1"/>
          <p:nvPr>
            <p:ph idx="12" type="sldNum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bg>
      <p:bgPr>
        <a:solidFill>
          <a:srgbClr val="FFFFFF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68"/>
          <p:cNvSpPr txBox="1"/>
          <p:nvPr>
            <p:ph type="title"/>
          </p:nvPr>
        </p:nvSpPr>
        <p:spPr>
          <a:xfrm rot="5400000">
            <a:off x="4732380" y="2171700"/>
            <a:ext cx="5850360" cy="2056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64" name="Google Shape;64;p68"/>
          <p:cNvSpPr txBox="1"/>
          <p:nvPr>
            <p:ph idx="1" type="body"/>
          </p:nvPr>
        </p:nvSpPr>
        <p:spPr>
          <a:xfrm rot="5400000">
            <a:off x="541440" y="190440"/>
            <a:ext cx="5850360" cy="6018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65" name="Google Shape;65;p68"/>
          <p:cNvSpPr txBox="1"/>
          <p:nvPr>
            <p:ph idx="10" type="dt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66" name="Google Shape;66;p68"/>
          <p:cNvSpPr txBox="1"/>
          <p:nvPr>
            <p:ph idx="11" type="ftr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67" name="Google Shape;67;p68"/>
          <p:cNvSpPr txBox="1"/>
          <p:nvPr>
            <p:ph idx="12" type="sldNum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bg>
      <p:bgPr>
        <a:solidFill>
          <a:srgbClr val="FFFFFF"/>
        </a:solidFill>
      </p:bgPr>
    </p:bg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69"/>
          <p:cNvSpPr txBox="1"/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70" name="Google Shape;70;p69"/>
          <p:cNvSpPr txBox="1"/>
          <p:nvPr>
            <p:ph idx="1" type="body"/>
          </p:nvPr>
        </p:nvSpPr>
        <p:spPr>
          <a:xfrm>
            <a:off x="457200" y="1600200"/>
            <a:ext cx="8228520" cy="4524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71" name="Google Shape;71;p69"/>
          <p:cNvSpPr txBox="1"/>
          <p:nvPr>
            <p:ph idx="10" type="dt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72" name="Google Shape;72;p69"/>
          <p:cNvSpPr txBox="1"/>
          <p:nvPr>
            <p:ph idx="11" type="ftr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73" name="Google Shape;73;p69"/>
          <p:cNvSpPr txBox="1"/>
          <p:nvPr>
            <p:ph idx="12" type="sldNum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bg>
      <p:bgPr>
        <a:solidFill>
          <a:srgbClr val="FFFFFF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70"/>
          <p:cNvSpPr txBox="1"/>
          <p:nvPr>
            <p:ph type="title"/>
          </p:nvPr>
        </p:nvSpPr>
        <p:spPr>
          <a:xfrm>
            <a:off x="722160" y="4406760"/>
            <a:ext cx="7771320" cy="1361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76" name="Google Shape;76;p70"/>
          <p:cNvSpPr txBox="1"/>
          <p:nvPr>
            <p:ph idx="1" type="body"/>
          </p:nvPr>
        </p:nvSpPr>
        <p:spPr>
          <a:xfrm>
            <a:off x="722160" y="2906640"/>
            <a:ext cx="7771320" cy="149904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77" name="Google Shape;77;p70"/>
          <p:cNvSpPr txBox="1"/>
          <p:nvPr>
            <p:ph idx="10" type="dt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78" name="Google Shape;78;p70"/>
          <p:cNvSpPr txBox="1"/>
          <p:nvPr>
            <p:ph idx="11" type="ftr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79" name="Google Shape;79;p70"/>
          <p:cNvSpPr txBox="1"/>
          <p:nvPr>
            <p:ph idx="12" type="sldNum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4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6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1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0.png"/><Relationship Id="rId4" Type="http://schemas.openxmlformats.org/officeDocument/2006/relationships/image" Target="../media/image7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9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2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4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3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5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17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20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19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18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16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13.pn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FCFB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0" y="0"/>
            <a:ext cx="12197880" cy="6857640"/>
          </a:xfrm>
          <a:prstGeom prst="rect">
            <a:avLst/>
          </a:prstGeom>
          <a:solidFill>
            <a:srgbClr val="102A43"/>
          </a:solidFill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"/>
          <p:cNvSpPr/>
          <p:nvPr/>
        </p:nvSpPr>
        <p:spPr>
          <a:xfrm>
            <a:off x="777240" y="749880"/>
            <a:ext cx="10606680" cy="40212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B8DCE8"/>
                </a:solidFill>
                <a:latin typeface="Arial"/>
                <a:ea typeface="Arial"/>
                <a:cs typeface="Arial"/>
                <a:sym typeface="Arial"/>
              </a:rPr>
              <a:t>6 OCTOBRE 2026 · OLIVIER DELRIEU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1"/>
          <p:cNvSpPr/>
          <p:nvPr/>
        </p:nvSpPr>
        <p:spPr>
          <a:xfrm>
            <a:off x="795600" y="1463040"/>
            <a:ext cx="914040" cy="54360"/>
          </a:xfrm>
          <a:prstGeom prst="rect">
            <a:avLst/>
          </a:prstGeom>
          <a:solidFill>
            <a:srgbClr val="B66D3A"/>
          </a:solidFill>
          <a:ln>
            <a:noFill/>
          </a:ln>
        </p:spPr>
        <p:txBody>
          <a:bodyPr anchorCtr="0" anchor="ctr" bIns="9700" lIns="90000" spcFirstLastPara="1" rIns="90000" wrap="square" tIns="9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"/>
          <p:cNvSpPr/>
          <p:nvPr/>
        </p:nvSpPr>
        <p:spPr>
          <a:xfrm>
            <a:off x="777240" y="1847160"/>
            <a:ext cx="10606680" cy="1919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00" u="none" cap="none" strike="noStrike">
                <a:solidFill>
                  <a:srgbClr val="FCFCFB"/>
                </a:solidFill>
                <a:latin typeface="Arial"/>
                <a:ea typeface="Arial"/>
                <a:cs typeface="Arial"/>
                <a:sym typeface="Arial"/>
              </a:rPr>
              <a:t>Corrélation et</a:t>
            </a:r>
            <a:endParaRPr b="0" i="0" sz="4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i="0" lang="en-US" sz="4000" u="none" cap="none" strike="noStrike">
                <a:solidFill>
                  <a:srgbClr val="FCFCFB"/>
                </a:solidFill>
                <a:latin typeface="Arial"/>
                <a:ea typeface="Arial"/>
                <a:cs typeface="Arial"/>
                <a:sym typeface="Arial"/>
              </a:rPr>
              <a:t>régression linéaire</a:t>
            </a:r>
            <a:endParaRPr b="0" i="0" sz="4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1"/>
          <p:cNvSpPr/>
          <p:nvPr/>
        </p:nvSpPr>
        <p:spPr>
          <a:xfrm>
            <a:off x="777240" y="4325040"/>
            <a:ext cx="10606680" cy="109692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00" u="none" cap="none" strike="noStrike">
                <a:solidFill>
                  <a:srgbClr val="DCE8EE"/>
                </a:solidFill>
                <a:latin typeface="Arial"/>
                <a:ea typeface="Arial"/>
                <a:cs typeface="Arial"/>
                <a:sym typeface="Arial"/>
              </a:rPr>
              <a:t>Rappel · regroupement des magasins · hypothèses sur les clients · visites et régression</a:t>
            </a:r>
            <a:endParaRPr b="0" i="0" sz="2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1"/>
          <p:cNvSpPr/>
          <p:nvPr/>
        </p:nvSpPr>
        <p:spPr>
          <a:xfrm>
            <a:off x="731520" y="6574680"/>
            <a:ext cx="7954920" cy="16416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B8DCE8"/>
                </a:solidFill>
                <a:latin typeface="Arial"/>
                <a:ea typeface="Arial"/>
                <a:cs typeface="Arial"/>
                <a:sym typeface="Arial"/>
              </a:rPr>
              <a:t>OLIVIER DELRIEU  /  06.10.2026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1"/>
          <p:cNvSpPr/>
          <p:nvPr/>
        </p:nvSpPr>
        <p:spPr>
          <a:xfrm>
            <a:off x="10625400" y="6546960"/>
            <a:ext cx="840960" cy="21924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B8DCE8"/>
                </a:solidFill>
                <a:latin typeface="Arial"/>
                <a:ea typeface="Arial"/>
                <a:cs typeface="Arial"/>
                <a:sym typeface="Arial"/>
              </a:rPr>
              <a:t>1 / 58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FCFB"/>
        </a:solid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"/>
          <p:cNvSpPr/>
          <p:nvPr/>
        </p:nvSpPr>
        <p:spPr>
          <a:xfrm>
            <a:off x="749880" y="2816280"/>
            <a:ext cx="10698120" cy="91404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800" u="none" cap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github, google drive &amp; vscode</a:t>
            </a:r>
            <a:endParaRPr b="0" i="0" sz="3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FCFB"/>
        </a:solidFill>
      </p:bgPr>
    </p:bg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3"/>
          <p:cNvSpPr/>
          <p:nvPr/>
        </p:nvSpPr>
        <p:spPr>
          <a:xfrm>
            <a:off x="0" y="0"/>
            <a:ext cx="12197880" cy="6857640"/>
          </a:xfrm>
          <a:prstGeom prst="rect">
            <a:avLst/>
          </a:prstGeom>
          <a:solidFill>
            <a:srgbClr val="102A43"/>
          </a:solidFill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3"/>
          <p:cNvSpPr/>
          <p:nvPr/>
        </p:nvSpPr>
        <p:spPr>
          <a:xfrm>
            <a:off x="777240" y="749880"/>
            <a:ext cx="10606680" cy="40212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B8DCE8"/>
                </a:solidFill>
                <a:latin typeface="Arial"/>
                <a:ea typeface="Arial"/>
                <a:cs typeface="Arial"/>
                <a:sym typeface="Arial"/>
              </a:rPr>
              <a:t>PARTIE 1 · RAPPEL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3"/>
          <p:cNvSpPr/>
          <p:nvPr/>
        </p:nvSpPr>
        <p:spPr>
          <a:xfrm>
            <a:off x="795600" y="1463040"/>
            <a:ext cx="914040" cy="54360"/>
          </a:xfrm>
          <a:prstGeom prst="rect">
            <a:avLst/>
          </a:prstGeom>
          <a:solidFill>
            <a:srgbClr val="B66D3A"/>
          </a:solidFill>
          <a:ln>
            <a:noFill/>
          </a:ln>
        </p:spPr>
        <p:txBody>
          <a:bodyPr anchorCtr="0" anchor="ctr" bIns="9700" lIns="90000" spcFirstLastPara="1" rIns="90000" wrap="square" tIns="9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3"/>
          <p:cNvSpPr/>
          <p:nvPr/>
        </p:nvSpPr>
        <p:spPr>
          <a:xfrm>
            <a:off x="777240" y="1847160"/>
            <a:ext cx="10606680" cy="1919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00" u="none" cap="none" strike="noStrike">
                <a:solidFill>
                  <a:srgbClr val="FCFCFB"/>
                </a:solidFill>
                <a:latin typeface="Arial"/>
                <a:ea typeface="Arial"/>
                <a:cs typeface="Arial"/>
                <a:sym typeface="Arial"/>
              </a:rPr>
              <a:t>Rappel corrélation/covariance</a:t>
            </a:r>
            <a:endParaRPr b="0" i="0" sz="4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3"/>
          <p:cNvSpPr/>
          <p:nvPr/>
        </p:nvSpPr>
        <p:spPr>
          <a:xfrm>
            <a:off x="777240" y="4325040"/>
            <a:ext cx="10606680" cy="109692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00" u="none" cap="none" strike="noStrike">
                <a:solidFill>
                  <a:srgbClr val="DCE8EE"/>
                </a:solidFill>
                <a:latin typeface="Arial"/>
                <a:ea typeface="Arial"/>
                <a:cs typeface="Arial"/>
                <a:sym typeface="Arial"/>
              </a:rPr>
              <a:t>Revoir les définitions et lire les nuages de points et leurs droites.</a:t>
            </a:r>
            <a:endParaRPr b="0" i="0" sz="2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3"/>
          <p:cNvSpPr/>
          <p:nvPr/>
        </p:nvSpPr>
        <p:spPr>
          <a:xfrm>
            <a:off x="731520" y="6574680"/>
            <a:ext cx="7954920" cy="16416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B8DCE8"/>
                </a:solidFill>
                <a:latin typeface="Arial"/>
                <a:ea typeface="Arial"/>
                <a:cs typeface="Arial"/>
                <a:sym typeface="Arial"/>
              </a:rPr>
              <a:t>OLIVIER DELRIEU  /  06.10.2026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3"/>
          <p:cNvSpPr/>
          <p:nvPr/>
        </p:nvSpPr>
        <p:spPr>
          <a:xfrm>
            <a:off x="10625400" y="6546960"/>
            <a:ext cx="840960" cy="21924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B8DCE8"/>
                </a:solidFill>
                <a:latin typeface="Arial"/>
                <a:ea typeface="Arial"/>
                <a:cs typeface="Arial"/>
                <a:sym typeface="Arial"/>
              </a:rPr>
              <a:t>3 / 58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FCFB"/>
        </a:solidFill>
      </p:bgPr>
    </p:bg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4"/>
          <p:cNvSpPr/>
          <p:nvPr/>
        </p:nvSpPr>
        <p:spPr>
          <a:xfrm>
            <a:off x="749880" y="420480"/>
            <a:ext cx="10697400" cy="291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12678A"/>
                </a:solidFill>
                <a:latin typeface="Arial"/>
                <a:ea typeface="Arial"/>
                <a:cs typeface="Arial"/>
                <a:sym typeface="Arial"/>
              </a:rPr>
              <a:t>INTUITION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4"/>
          <p:cNvSpPr/>
          <p:nvPr/>
        </p:nvSpPr>
        <p:spPr>
          <a:xfrm>
            <a:off x="749880" y="804600"/>
            <a:ext cx="10697400" cy="78516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00" u="none" cap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Que mesure la covariance ?</a:t>
            </a:r>
            <a:endParaRPr b="0" i="0" sz="3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4"/>
          <p:cNvSpPr/>
          <p:nvPr/>
        </p:nvSpPr>
        <p:spPr>
          <a:xfrm>
            <a:off x="749880" y="1627560"/>
            <a:ext cx="10697400" cy="30960"/>
          </a:xfrm>
          <a:prstGeom prst="rect">
            <a:avLst/>
          </a:prstGeom>
          <a:solidFill>
            <a:srgbClr val="D4DEE4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0" lIns="90000" spcFirstLastPara="1" rIns="9000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4"/>
          <p:cNvSpPr/>
          <p:nvPr/>
        </p:nvSpPr>
        <p:spPr>
          <a:xfrm>
            <a:off x="749880" y="1901880"/>
            <a:ext cx="5211000" cy="3747960"/>
          </a:xfrm>
          <a:prstGeom prst="roundRect">
            <a:avLst>
              <a:gd fmla="val 16667" name="adj"/>
            </a:avLst>
          </a:prstGeom>
          <a:solidFill>
            <a:srgbClr val="F1F5F7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4"/>
          <p:cNvSpPr/>
          <p:nvPr/>
        </p:nvSpPr>
        <p:spPr>
          <a:xfrm>
            <a:off x="960120" y="2130480"/>
            <a:ext cx="4790520" cy="47448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2678A"/>
                </a:solidFill>
                <a:latin typeface="Arial"/>
                <a:ea typeface="Arial"/>
                <a:cs typeface="Arial"/>
                <a:sym typeface="Arial"/>
              </a:rPr>
              <a:t>POUR CHAQUE OBSERVATION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4"/>
          <p:cNvSpPr/>
          <p:nvPr/>
        </p:nvSpPr>
        <p:spPr>
          <a:xfrm>
            <a:off x="960120" y="2770560"/>
            <a:ext cx="4790520" cy="265068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Comparer age à la moyenne des âges observés.</a:t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Comparer purchase_amount à la moyenne des montants observés.</a:t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Multiplier les deux écarts.</a:t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4"/>
          <p:cNvSpPr/>
          <p:nvPr/>
        </p:nvSpPr>
        <p:spPr>
          <a:xfrm>
            <a:off x="6190560" y="1901880"/>
            <a:ext cx="5211000" cy="3747960"/>
          </a:xfrm>
          <a:prstGeom prst="roundRect">
            <a:avLst>
              <a:gd fmla="val 16667" name="adj"/>
            </a:avLst>
          </a:prstGeom>
          <a:solidFill>
            <a:srgbClr val="F1F5F7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4"/>
          <p:cNvSpPr/>
          <p:nvPr/>
        </p:nvSpPr>
        <p:spPr>
          <a:xfrm>
            <a:off x="6400800" y="2130480"/>
            <a:ext cx="4790520" cy="47448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2678A"/>
                </a:solidFill>
                <a:latin typeface="Arial"/>
                <a:ea typeface="Arial"/>
                <a:cs typeface="Arial"/>
                <a:sym typeface="Arial"/>
              </a:rPr>
              <a:t>PUIS RÉUNIR LES OBSERVATIONS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4"/>
          <p:cNvSpPr/>
          <p:nvPr/>
        </p:nvSpPr>
        <p:spPr>
          <a:xfrm>
            <a:off x="6400800" y="2770560"/>
            <a:ext cx="4790520" cy="265068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Mêmes signes : contribution positive.</a:t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Signes opposés : contribution négative.</a:t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Additionner les produits des écarts, puis diviser par n−1.</a:t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4"/>
          <p:cNvSpPr/>
          <p:nvPr/>
        </p:nvSpPr>
        <p:spPr>
          <a:xfrm>
            <a:off x="749880" y="5961960"/>
            <a:ext cx="10697400" cy="419400"/>
          </a:xfrm>
          <a:prstGeom prst="roundRect">
            <a:avLst>
              <a:gd fmla="val 16667" name="adj"/>
            </a:avLst>
          </a:prstGeom>
          <a:solidFill>
            <a:srgbClr val="F1F5F7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4"/>
          <p:cNvSpPr/>
          <p:nvPr/>
        </p:nvSpPr>
        <p:spPr>
          <a:xfrm>
            <a:off x="932760" y="6007680"/>
            <a:ext cx="10331640" cy="309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Une covariance positive indique que les deux variables tendent à s'écarter de leur moyenne dans le même sens.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4"/>
          <p:cNvSpPr/>
          <p:nvPr/>
        </p:nvSpPr>
        <p:spPr>
          <a:xfrm>
            <a:off x="731520" y="6574680"/>
            <a:ext cx="7954200" cy="16344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OLIVIER DELRIEU  /  06.10.2026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4"/>
          <p:cNvSpPr/>
          <p:nvPr/>
        </p:nvSpPr>
        <p:spPr>
          <a:xfrm>
            <a:off x="10625400" y="6546960"/>
            <a:ext cx="867600" cy="21852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4 / 58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FCFB"/>
        </a:solidFill>
      </p:bgPr>
    </p:bg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5"/>
          <p:cNvSpPr/>
          <p:nvPr/>
        </p:nvSpPr>
        <p:spPr>
          <a:xfrm>
            <a:off x="749880" y="420480"/>
            <a:ext cx="10697400" cy="291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12678A"/>
                </a:solidFill>
                <a:latin typeface="Arial"/>
                <a:ea typeface="Arial"/>
                <a:cs typeface="Arial"/>
                <a:sym typeface="Arial"/>
              </a:rPr>
              <a:t>COVARIANCE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5"/>
          <p:cNvSpPr/>
          <p:nvPr/>
        </p:nvSpPr>
        <p:spPr>
          <a:xfrm>
            <a:off x="749880" y="804600"/>
            <a:ext cx="10697400" cy="78516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00" u="none" cap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Chaque point contribue à la covariance</a:t>
            </a:r>
            <a:endParaRPr b="0" i="0" sz="3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5"/>
          <p:cNvSpPr/>
          <p:nvPr/>
        </p:nvSpPr>
        <p:spPr>
          <a:xfrm>
            <a:off x="749880" y="1627560"/>
            <a:ext cx="10697400" cy="30960"/>
          </a:xfrm>
          <a:prstGeom prst="rect">
            <a:avLst/>
          </a:prstGeom>
          <a:solidFill>
            <a:srgbClr val="D4DEE4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0" lIns="90000" spcFirstLastPara="1" rIns="9000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Graphique : Chaque point contribue à la covariance" id="133" name="Google Shape;133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84560" y="1847160"/>
            <a:ext cx="7627680" cy="400392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5"/>
          <p:cNvSpPr/>
          <p:nvPr/>
        </p:nvSpPr>
        <p:spPr>
          <a:xfrm>
            <a:off x="749880" y="5961960"/>
            <a:ext cx="10697400" cy="419400"/>
          </a:xfrm>
          <a:prstGeom prst="roundRect">
            <a:avLst>
              <a:gd fmla="val 16667" name="adj"/>
            </a:avLst>
          </a:prstGeom>
          <a:solidFill>
            <a:srgbClr val="F1F5F7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5"/>
          <p:cNvSpPr/>
          <p:nvPr/>
        </p:nvSpPr>
        <p:spPr>
          <a:xfrm>
            <a:off x="932760" y="6007680"/>
            <a:ext cx="10331640" cy="309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Les contributions positives et négatives se compensent partiellement dans la moyenne finale.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5"/>
          <p:cNvSpPr/>
          <p:nvPr/>
        </p:nvSpPr>
        <p:spPr>
          <a:xfrm>
            <a:off x="731520" y="6574680"/>
            <a:ext cx="7954200" cy="16344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OLIVIER DELRIEU  /  06.10.2026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5"/>
          <p:cNvSpPr/>
          <p:nvPr/>
        </p:nvSpPr>
        <p:spPr>
          <a:xfrm>
            <a:off x="10625400" y="6546960"/>
            <a:ext cx="867600" cy="21852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5 / 58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FCFB"/>
        </a:solidFill>
      </p:bgPr>
    </p:bg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6"/>
          <p:cNvSpPr/>
          <p:nvPr/>
        </p:nvSpPr>
        <p:spPr>
          <a:xfrm>
            <a:off x="749880" y="420480"/>
            <a:ext cx="10697400" cy="291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12678A"/>
                </a:solidFill>
                <a:latin typeface="Arial"/>
                <a:ea typeface="Arial"/>
                <a:cs typeface="Arial"/>
                <a:sym typeface="Arial"/>
              </a:rPr>
              <a:t>COVARIANCE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6"/>
          <p:cNvSpPr/>
          <p:nvPr/>
        </p:nvSpPr>
        <p:spPr>
          <a:xfrm>
            <a:off x="749880" y="804600"/>
            <a:ext cx="10697400" cy="78516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00" u="none" cap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La covariance conserve les unités</a:t>
            </a:r>
            <a:endParaRPr b="0" i="0" sz="3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6"/>
          <p:cNvSpPr/>
          <p:nvPr/>
        </p:nvSpPr>
        <p:spPr>
          <a:xfrm>
            <a:off x="749880" y="1627560"/>
            <a:ext cx="10697400" cy="30960"/>
          </a:xfrm>
          <a:prstGeom prst="rect">
            <a:avLst/>
          </a:prstGeom>
          <a:solidFill>
            <a:srgbClr val="D4DEE4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0" lIns="90000" spcFirstLastPara="1" rIns="9000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6"/>
          <p:cNvSpPr/>
          <p:nvPr/>
        </p:nvSpPr>
        <p:spPr>
          <a:xfrm>
            <a:off x="749880" y="1938600"/>
            <a:ext cx="10697400" cy="1416240"/>
          </a:xfrm>
          <a:prstGeom prst="roundRect">
            <a:avLst>
              <a:gd fmla="val 16667" name="adj"/>
            </a:avLst>
          </a:prstGeom>
          <a:solidFill>
            <a:srgbClr val="F1F5F7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cov(X,Y) = [1/(n−1)] Σᵢ₌₁ⁿ (xᵢ−x̄)(yᵢ−ȳ)" id="147" name="Google Shape;147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07560" y="2084760"/>
            <a:ext cx="6744960" cy="1114560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6"/>
          <p:cNvSpPr/>
          <p:nvPr/>
        </p:nvSpPr>
        <p:spPr>
          <a:xfrm>
            <a:off x="1005840" y="3703320"/>
            <a:ext cx="10148760" cy="109800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Signe positif : variation dans le même sens. </a:t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Signe négatif : variation en sens opposé. Ici, l'unité est années × euros.</a:t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6"/>
          <p:cNvSpPr/>
          <p:nvPr/>
        </p:nvSpPr>
        <p:spPr>
          <a:xfrm>
            <a:off x="749880" y="5961960"/>
            <a:ext cx="10697400" cy="419400"/>
          </a:xfrm>
          <a:prstGeom prst="roundRect">
            <a:avLst>
              <a:gd fmla="val 16667" name="adj"/>
            </a:avLst>
          </a:prstGeom>
          <a:solidFill>
            <a:srgbClr val="F1F5F7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6"/>
          <p:cNvSpPr/>
          <p:nvPr/>
        </p:nvSpPr>
        <p:spPr>
          <a:xfrm>
            <a:off x="932760" y="6007680"/>
            <a:ext cx="10331640" cy="309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La grandeur dépend des unités et des échelles : elle se compare difficilement entre jeux de variables différents.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6"/>
          <p:cNvSpPr/>
          <p:nvPr/>
        </p:nvSpPr>
        <p:spPr>
          <a:xfrm>
            <a:off x="731520" y="6574680"/>
            <a:ext cx="7954200" cy="16344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OLIVIER DELRIEU  /  06.10.2026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6"/>
          <p:cNvSpPr/>
          <p:nvPr/>
        </p:nvSpPr>
        <p:spPr>
          <a:xfrm>
            <a:off x="10625400" y="6546960"/>
            <a:ext cx="867600" cy="21852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6 / 58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6"/>
          <p:cNvSpPr/>
          <p:nvPr/>
        </p:nvSpPr>
        <p:spPr>
          <a:xfrm>
            <a:off x="1005840" y="4956120"/>
            <a:ext cx="10149480" cy="73116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x̄ : moyenne des n valeurs observées de X.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ȳ : moyenne des n valeurs observées de Y.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FCFB"/>
        </a:solidFill>
      </p:bgPr>
    </p:bg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7"/>
          <p:cNvSpPr/>
          <p:nvPr/>
        </p:nvSpPr>
        <p:spPr>
          <a:xfrm>
            <a:off x="749880" y="420480"/>
            <a:ext cx="10697400" cy="291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12678A"/>
                </a:solidFill>
                <a:latin typeface="Arial"/>
                <a:ea typeface="Arial"/>
                <a:cs typeface="Arial"/>
                <a:sym typeface="Arial"/>
              </a:rPr>
              <a:t>CORRÉLATION LINÉAIRE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7"/>
          <p:cNvSpPr/>
          <p:nvPr/>
        </p:nvSpPr>
        <p:spPr>
          <a:xfrm>
            <a:off x="749880" y="804600"/>
            <a:ext cx="10697400" cy="78516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00" u="none" cap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Pearson standardise la covariance</a:t>
            </a:r>
            <a:endParaRPr b="0" i="0" sz="3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7"/>
          <p:cNvSpPr/>
          <p:nvPr/>
        </p:nvSpPr>
        <p:spPr>
          <a:xfrm>
            <a:off x="749880" y="1627560"/>
            <a:ext cx="10697400" cy="30960"/>
          </a:xfrm>
          <a:prstGeom prst="rect">
            <a:avLst/>
          </a:prstGeom>
          <a:solidFill>
            <a:srgbClr val="D4DEE4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0" lIns="90000" spcFirstLastPara="1" rIns="9000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7"/>
          <p:cNvSpPr/>
          <p:nvPr/>
        </p:nvSpPr>
        <p:spPr>
          <a:xfrm>
            <a:off x="749880" y="1938600"/>
            <a:ext cx="10697400" cy="1416240"/>
          </a:xfrm>
          <a:prstGeom prst="roundRect">
            <a:avLst>
              <a:gd fmla="val 16667" name="adj"/>
            </a:avLst>
          </a:prstGeom>
          <a:solidFill>
            <a:srgbClr val="F1F5F7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r = cov(X,Y) / [σ(X) σ(Y)]" id="163" name="Google Shape;163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05080" y="2046240"/>
            <a:ext cx="3950280" cy="1191240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7"/>
          <p:cNvSpPr/>
          <p:nvPr/>
        </p:nvSpPr>
        <p:spPr>
          <a:xfrm>
            <a:off x="1005840" y="3703320"/>
            <a:ext cx="10148760" cy="109800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r est sans unité et compris entre −1 et 1. </a:t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Son signe indique la direction ; </a:t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sa distance à 0 résume l'intensité de l'association linéaire observée.</a:t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7"/>
          <p:cNvSpPr/>
          <p:nvPr/>
        </p:nvSpPr>
        <p:spPr>
          <a:xfrm>
            <a:off x="749880" y="5961960"/>
            <a:ext cx="10697400" cy="419400"/>
          </a:xfrm>
          <a:prstGeom prst="roundRect">
            <a:avLst>
              <a:gd fmla="val 16667" name="adj"/>
            </a:avLst>
          </a:prstGeom>
          <a:solidFill>
            <a:srgbClr val="F1F5F7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7"/>
          <p:cNvSpPr/>
          <p:nvPr/>
        </p:nvSpPr>
        <p:spPr>
          <a:xfrm>
            <a:off x="932760" y="6007680"/>
            <a:ext cx="10331640" cy="309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Pas de seuil universel : le nuage, le périmètre, l'incertitude et le contexte restent nécessaires.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7"/>
          <p:cNvSpPr/>
          <p:nvPr/>
        </p:nvSpPr>
        <p:spPr>
          <a:xfrm>
            <a:off x="731520" y="6574680"/>
            <a:ext cx="7954200" cy="16344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OLIVIER DELRIEU  /  06.10.2026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7"/>
          <p:cNvSpPr/>
          <p:nvPr/>
        </p:nvSpPr>
        <p:spPr>
          <a:xfrm>
            <a:off x="10625400" y="6546960"/>
            <a:ext cx="867600" cy="21852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7 / 58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7"/>
          <p:cNvSpPr/>
          <p:nvPr/>
        </p:nvSpPr>
        <p:spPr>
          <a:xfrm>
            <a:off x="1005840" y="4956120"/>
            <a:ext cx="10149480" cy="73116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Ici, σ(X) et σ(Y) sont les écarts-types des n valeurs observées,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calculés avec n−1 au dénominateur.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FCFB"/>
        </a:solidFill>
      </p:bgPr>
    </p:bg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8"/>
          <p:cNvSpPr/>
          <p:nvPr/>
        </p:nvSpPr>
        <p:spPr>
          <a:xfrm>
            <a:off x="749880" y="420480"/>
            <a:ext cx="10698120" cy="29232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12678A"/>
                </a:solidFill>
                <a:latin typeface="Arial"/>
                <a:ea typeface="Arial"/>
                <a:cs typeface="Arial"/>
                <a:sym typeface="Arial"/>
              </a:rPr>
              <a:t>NUMPY · DONNÉES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8"/>
          <p:cNvSpPr/>
          <p:nvPr/>
        </p:nvSpPr>
        <p:spPr>
          <a:xfrm>
            <a:off x="749880" y="804600"/>
            <a:ext cx="10698120" cy="785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00" u="none" cap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Cinq observations, deux variables</a:t>
            </a:r>
            <a:endParaRPr b="0" i="0" sz="3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8"/>
          <p:cNvSpPr/>
          <p:nvPr/>
        </p:nvSpPr>
        <p:spPr>
          <a:xfrm>
            <a:off x="749880" y="1627560"/>
            <a:ext cx="10698120" cy="31680"/>
          </a:xfrm>
          <a:prstGeom prst="rect">
            <a:avLst/>
          </a:prstGeom>
          <a:solidFill>
            <a:srgbClr val="D4DEE4"/>
          </a:solidFill>
          <a:ln>
            <a:noFill/>
          </a:ln>
        </p:spPr>
        <p:txBody>
          <a:bodyPr anchorCtr="0" anchor="ctr" bIns="0" lIns="90000" spcFirstLastPara="1" rIns="9000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8"/>
          <p:cNvSpPr/>
          <p:nvPr/>
        </p:nvSpPr>
        <p:spPr>
          <a:xfrm>
            <a:off x="749880" y="1874520"/>
            <a:ext cx="5504400" cy="3885840"/>
          </a:xfrm>
          <a:prstGeom prst="roundRect">
            <a:avLst>
              <a:gd fmla="val 16667" name="adj"/>
            </a:avLst>
          </a:prstGeom>
          <a:solidFill>
            <a:srgbClr val="102A43"/>
          </a:solidFill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8"/>
          <p:cNvSpPr/>
          <p:nvPr/>
        </p:nvSpPr>
        <p:spPr>
          <a:xfrm>
            <a:off x="987480" y="2075760"/>
            <a:ext cx="5028840" cy="38376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B8DCE8"/>
                </a:solidFill>
                <a:latin typeface="Arial"/>
                <a:ea typeface="Arial"/>
                <a:cs typeface="Arial"/>
                <a:sym typeface="Arial"/>
              </a:rPr>
              <a:t>DÉBUT DE L'EXEMPLE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8"/>
          <p:cNvSpPr/>
          <p:nvPr/>
        </p:nvSpPr>
        <p:spPr>
          <a:xfrm>
            <a:off x="987480" y="2587680"/>
            <a:ext cx="5028840" cy="28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CFCFB"/>
                </a:solidFill>
                <a:latin typeface="Courier New"/>
                <a:ea typeface="Courier New"/>
                <a:cs typeface="Courier New"/>
                <a:sym typeface="Courier New"/>
              </a:rPr>
              <a:t>import numpy as np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CFCFB"/>
                </a:solidFill>
                <a:latin typeface="Courier New"/>
                <a:ea typeface="Courier New"/>
                <a:cs typeface="Courier New"/>
                <a:sym typeface="Courier New"/>
              </a:rPr>
              <a:t>data = np.array([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CFCFB"/>
                </a:solidFill>
                <a:latin typeface="Courier New"/>
                <a:ea typeface="Courier New"/>
                <a:cs typeface="Courier New"/>
                <a:sym typeface="Courier New"/>
              </a:rPr>
              <a:t>    [1, 1],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CFCFB"/>
                </a:solidFill>
                <a:latin typeface="Courier New"/>
                <a:ea typeface="Courier New"/>
                <a:cs typeface="Courier New"/>
                <a:sym typeface="Courier New"/>
              </a:rPr>
              <a:t>    [2, 4],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CFCFB"/>
                </a:solidFill>
                <a:latin typeface="Courier New"/>
                <a:ea typeface="Courier New"/>
                <a:cs typeface="Courier New"/>
                <a:sym typeface="Courier New"/>
              </a:rPr>
              <a:t>    [3, 3],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CFCFB"/>
                </a:solidFill>
                <a:latin typeface="Courier New"/>
                <a:ea typeface="Courier New"/>
                <a:cs typeface="Courier New"/>
                <a:sym typeface="Courier New"/>
              </a:rPr>
              <a:t>    [4, 2],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CFCFB"/>
                </a:solidFill>
                <a:latin typeface="Courier New"/>
                <a:ea typeface="Courier New"/>
                <a:cs typeface="Courier New"/>
                <a:sym typeface="Courier New"/>
              </a:rPr>
              <a:t>    [5, 5],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CFCFB"/>
                </a:solidFill>
                <a:latin typeface="Courier New"/>
                <a:ea typeface="Courier New"/>
                <a:cs typeface="Courier New"/>
                <a:sym typeface="Courier New"/>
              </a:rPr>
              <a:t>])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8"/>
          <p:cNvSpPr/>
          <p:nvPr/>
        </p:nvSpPr>
        <p:spPr>
          <a:xfrm>
            <a:off x="6455520" y="1874520"/>
            <a:ext cx="4992120" cy="3885840"/>
          </a:xfrm>
          <a:prstGeom prst="roundRect">
            <a:avLst>
              <a:gd fmla="val 16667" name="adj"/>
            </a:avLst>
          </a:prstGeom>
          <a:solidFill>
            <a:srgbClr val="F1F5F7"/>
          </a:solidFill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8"/>
          <p:cNvSpPr/>
          <p:nvPr/>
        </p:nvSpPr>
        <p:spPr>
          <a:xfrm>
            <a:off x="6675120" y="2112120"/>
            <a:ext cx="4553280" cy="38376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2678A"/>
                </a:solidFill>
                <a:latin typeface="Arial"/>
                <a:ea typeface="Arial"/>
                <a:cs typeface="Arial"/>
                <a:sym typeface="Arial"/>
              </a:rPr>
              <a:t>COMMENT LIRE data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8"/>
          <p:cNvSpPr/>
          <p:nvPr/>
        </p:nvSpPr>
        <p:spPr>
          <a:xfrm>
            <a:off x="6675120" y="2697480"/>
            <a:ext cx="4553280" cy="269712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5 lignes = 5 couples observés.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Colonne 0 : X. Colonne 1 : Y.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Chaque ligne garde ensemble les valeurs de X et de Y pour une même observation.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8"/>
          <p:cNvSpPr/>
          <p:nvPr/>
        </p:nvSpPr>
        <p:spPr>
          <a:xfrm>
            <a:off x="749880" y="5815440"/>
            <a:ext cx="10698120" cy="566640"/>
          </a:xfrm>
          <a:prstGeom prst="roundRect">
            <a:avLst>
              <a:gd fmla="val 16667" name="adj"/>
            </a:avLst>
          </a:prstGeom>
          <a:solidFill>
            <a:srgbClr val="F1F5F7"/>
          </a:solidFill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8"/>
          <p:cNvSpPr/>
          <p:nvPr/>
        </p:nvSpPr>
        <p:spPr>
          <a:xfrm>
            <a:off x="932760" y="5861160"/>
            <a:ext cx="10332360" cy="456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Notebook exécutable de cet exemple :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courses/2026-10-06/notebooks/covariance_correlation_numpy.ipynb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8"/>
          <p:cNvSpPr/>
          <p:nvPr/>
        </p:nvSpPr>
        <p:spPr>
          <a:xfrm>
            <a:off x="731520" y="6574680"/>
            <a:ext cx="7954920" cy="16416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OLIVIER DELRIEU  /  06.10.2026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8"/>
          <p:cNvSpPr/>
          <p:nvPr/>
        </p:nvSpPr>
        <p:spPr>
          <a:xfrm>
            <a:off x="10625400" y="6546960"/>
            <a:ext cx="840960" cy="21924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8 / 58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FCFB"/>
        </a:solidFill>
      </p:bgPr>
    </p:bg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9"/>
          <p:cNvSpPr/>
          <p:nvPr/>
        </p:nvSpPr>
        <p:spPr>
          <a:xfrm>
            <a:off x="749880" y="420480"/>
            <a:ext cx="10698120" cy="29232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12678A"/>
                </a:solidFill>
                <a:latin typeface="Arial"/>
                <a:ea typeface="Arial"/>
                <a:cs typeface="Arial"/>
                <a:sym typeface="Arial"/>
              </a:rPr>
              <a:t>NUMPY · COVARIANCE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9"/>
          <p:cNvSpPr/>
          <p:nvPr/>
        </p:nvSpPr>
        <p:spPr>
          <a:xfrm>
            <a:off x="749880" y="804600"/>
            <a:ext cx="10698120" cy="785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00" u="none" cap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Covariance : lire la matrice</a:t>
            </a:r>
            <a:endParaRPr b="0" i="0" sz="3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9"/>
          <p:cNvSpPr/>
          <p:nvPr/>
        </p:nvSpPr>
        <p:spPr>
          <a:xfrm>
            <a:off x="749880" y="1627560"/>
            <a:ext cx="10698120" cy="31680"/>
          </a:xfrm>
          <a:prstGeom prst="rect">
            <a:avLst/>
          </a:prstGeom>
          <a:solidFill>
            <a:srgbClr val="D4DEE4"/>
          </a:solidFill>
          <a:ln>
            <a:noFill/>
          </a:ln>
        </p:spPr>
        <p:txBody>
          <a:bodyPr anchorCtr="0" anchor="ctr" bIns="0" lIns="90000" spcFirstLastPara="1" rIns="9000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9"/>
          <p:cNvSpPr/>
          <p:nvPr/>
        </p:nvSpPr>
        <p:spPr>
          <a:xfrm>
            <a:off x="749880" y="1874520"/>
            <a:ext cx="5504400" cy="3885840"/>
          </a:xfrm>
          <a:prstGeom prst="roundRect">
            <a:avLst>
              <a:gd fmla="val 16667" name="adj"/>
            </a:avLst>
          </a:prstGeom>
          <a:solidFill>
            <a:srgbClr val="102A43"/>
          </a:solidFill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9"/>
          <p:cNvSpPr/>
          <p:nvPr/>
        </p:nvSpPr>
        <p:spPr>
          <a:xfrm>
            <a:off x="987480" y="2075760"/>
            <a:ext cx="5028840" cy="38376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B8DCE8"/>
                </a:solidFill>
                <a:latin typeface="Arial"/>
                <a:ea typeface="Arial"/>
                <a:cs typeface="Arial"/>
                <a:sym typeface="Arial"/>
              </a:rPr>
              <a:t>SUITE : data DÉJÀ DÉFINI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9"/>
          <p:cNvSpPr/>
          <p:nvPr/>
        </p:nvSpPr>
        <p:spPr>
          <a:xfrm>
            <a:off x="987480" y="2587680"/>
            <a:ext cx="5028840" cy="28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CFCFB"/>
                </a:solidFill>
                <a:latin typeface="Courier New"/>
                <a:ea typeface="Courier New"/>
                <a:cs typeface="Courier New"/>
                <a:sym typeface="Courier New"/>
              </a:rPr>
              <a:t>cov = np.cov(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CFCFB"/>
                </a:solidFill>
                <a:latin typeface="Courier New"/>
                <a:ea typeface="Courier New"/>
                <a:cs typeface="Courier New"/>
                <a:sym typeface="Courier New"/>
              </a:rPr>
              <a:t>    data, rowvar=False, ddof=1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CFCFB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CFCFB"/>
                </a:solidFill>
                <a:latin typeface="Courier New"/>
                <a:ea typeface="Courier New"/>
                <a:cs typeface="Courier New"/>
                <a:sym typeface="Courier New"/>
              </a:rPr>
              <a:t>print(cov)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CFCFB"/>
                </a:solidFill>
                <a:latin typeface="Courier New"/>
                <a:ea typeface="Courier New"/>
                <a:cs typeface="Courier New"/>
                <a:sym typeface="Courier New"/>
              </a:rPr>
              <a:t>print(cov[0, 1])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9"/>
          <p:cNvSpPr/>
          <p:nvPr/>
        </p:nvSpPr>
        <p:spPr>
          <a:xfrm>
            <a:off x="6455520" y="1874520"/>
            <a:ext cx="4992120" cy="3885840"/>
          </a:xfrm>
          <a:prstGeom prst="roundRect">
            <a:avLst>
              <a:gd fmla="val 16667" name="adj"/>
            </a:avLst>
          </a:prstGeom>
          <a:solidFill>
            <a:srgbClr val="F1F5F7"/>
          </a:solidFill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9"/>
          <p:cNvSpPr/>
          <p:nvPr/>
        </p:nvSpPr>
        <p:spPr>
          <a:xfrm>
            <a:off x="6675120" y="2112120"/>
            <a:ext cx="4553280" cy="38376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2678A"/>
                </a:solidFill>
                <a:latin typeface="Arial"/>
                <a:ea typeface="Arial"/>
                <a:cs typeface="Arial"/>
                <a:sym typeface="Arial"/>
              </a:rPr>
              <a:t>RÉSULTAT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9"/>
          <p:cNvSpPr/>
          <p:nvPr/>
        </p:nvSpPr>
        <p:spPr>
          <a:xfrm>
            <a:off x="6675120" y="2715840"/>
            <a:ext cx="4553280" cy="102384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102A43"/>
                </a:solidFill>
                <a:latin typeface="Courier New"/>
                <a:ea typeface="Courier New"/>
                <a:cs typeface="Courier New"/>
                <a:sym typeface="Courier New"/>
              </a:rPr>
              <a:t>[[2.5 1.5]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102A43"/>
                </a:solidFill>
                <a:latin typeface="Courier New"/>
                <a:ea typeface="Courier New"/>
                <a:cs typeface="Courier New"/>
                <a:sym typeface="Courier New"/>
              </a:rPr>
              <a:t> [1.5 2.5]]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9"/>
          <p:cNvSpPr/>
          <p:nvPr/>
        </p:nvSpPr>
        <p:spPr>
          <a:xfrm>
            <a:off x="6675120" y="3913560"/>
            <a:ext cx="4553280" cy="43848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00" u="none" cap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cov[0, 1] = 1.5</a:t>
            </a:r>
            <a:endParaRPr b="0" i="0" sz="2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9"/>
          <p:cNvSpPr/>
          <p:nvPr/>
        </p:nvSpPr>
        <p:spPr>
          <a:xfrm>
            <a:off x="6675120" y="4526280"/>
            <a:ext cx="4553280" cy="95076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Diagonale : variances de X et Y, 2.5 chacune.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Hors diagonale : covariance entre X et Y.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9"/>
          <p:cNvSpPr/>
          <p:nvPr/>
        </p:nvSpPr>
        <p:spPr>
          <a:xfrm>
            <a:off x="749880" y="5961960"/>
            <a:ext cx="10698120" cy="420120"/>
          </a:xfrm>
          <a:prstGeom prst="roundRect">
            <a:avLst>
              <a:gd fmla="val 16667" name="adj"/>
            </a:avLst>
          </a:prstGeom>
          <a:solidFill>
            <a:srgbClr val="F1F5F7"/>
          </a:solidFill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9"/>
          <p:cNvSpPr/>
          <p:nvPr/>
        </p:nvSpPr>
        <p:spPr>
          <a:xfrm>
            <a:off x="932760" y="6007680"/>
            <a:ext cx="10332360" cy="310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rowvar=False : les colonnes sont les variables ; ddof=1 : division par n−1.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9"/>
          <p:cNvSpPr/>
          <p:nvPr/>
        </p:nvSpPr>
        <p:spPr>
          <a:xfrm>
            <a:off x="731520" y="6574680"/>
            <a:ext cx="7954920" cy="16416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OLIVIER DELRIEU  /  06.10.2026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9"/>
          <p:cNvSpPr/>
          <p:nvPr/>
        </p:nvSpPr>
        <p:spPr>
          <a:xfrm>
            <a:off x="10625400" y="6546960"/>
            <a:ext cx="840960" cy="21924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9 / 58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FCFB"/>
        </a:solidFill>
      </p:bgPr>
    </p:bg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0"/>
          <p:cNvSpPr/>
          <p:nvPr/>
        </p:nvSpPr>
        <p:spPr>
          <a:xfrm>
            <a:off x="749880" y="420480"/>
            <a:ext cx="10698120" cy="29232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12678A"/>
                </a:solidFill>
                <a:latin typeface="Arial"/>
                <a:ea typeface="Arial"/>
                <a:cs typeface="Arial"/>
                <a:sym typeface="Arial"/>
              </a:rPr>
              <a:t>NUMPY · CORRÉLATION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10"/>
          <p:cNvSpPr/>
          <p:nvPr/>
        </p:nvSpPr>
        <p:spPr>
          <a:xfrm>
            <a:off x="749880" y="804600"/>
            <a:ext cx="10698120" cy="785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00" u="none" cap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Corrélation : lire la matrice</a:t>
            </a:r>
            <a:endParaRPr b="0" i="0" sz="3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10"/>
          <p:cNvSpPr/>
          <p:nvPr/>
        </p:nvSpPr>
        <p:spPr>
          <a:xfrm>
            <a:off x="749880" y="1627560"/>
            <a:ext cx="10698120" cy="31680"/>
          </a:xfrm>
          <a:prstGeom prst="rect">
            <a:avLst/>
          </a:prstGeom>
          <a:solidFill>
            <a:srgbClr val="D4DEE4"/>
          </a:solidFill>
          <a:ln>
            <a:noFill/>
          </a:ln>
        </p:spPr>
        <p:txBody>
          <a:bodyPr anchorCtr="0" anchor="ctr" bIns="0" lIns="90000" spcFirstLastPara="1" rIns="9000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10"/>
          <p:cNvSpPr/>
          <p:nvPr/>
        </p:nvSpPr>
        <p:spPr>
          <a:xfrm>
            <a:off x="749880" y="1874520"/>
            <a:ext cx="5504400" cy="3885840"/>
          </a:xfrm>
          <a:prstGeom prst="roundRect">
            <a:avLst>
              <a:gd fmla="val 16667" name="adj"/>
            </a:avLst>
          </a:prstGeom>
          <a:solidFill>
            <a:srgbClr val="102A43"/>
          </a:solidFill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10"/>
          <p:cNvSpPr/>
          <p:nvPr/>
        </p:nvSpPr>
        <p:spPr>
          <a:xfrm>
            <a:off x="987480" y="2075760"/>
            <a:ext cx="5028840" cy="38376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B8DCE8"/>
                </a:solidFill>
                <a:latin typeface="Arial"/>
                <a:ea typeface="Arial"/>
                <a:cs typeface="Arial"/>
                <a:sym typeface="Arial"/>
              </a:rPr>
              <a:t>SUITE : data DÉJÀ DÉFINI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10"/>
          <p:cNvSpPr/>
          <p:nvPr/>
        </p:nvSpPr>
        <p:spPr>
          <a:xfrm>
            <a:off x="987480" y="2587680"/>
            <a:ext cx="5028840" cy="28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CFCFB"/>
                </a:solidFill>
                <a:latin typeface="Courier New"/>
                <a:ea typeface="Courier New"/>
                <a:cs typeface="Courier New"/>
                <a:sym typeface="Courier New"/>
              </a:rPr>
              <a:t>corr = np.corrcoef(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CFCFB"/>
                </a:solidFill>
                <a:latin typeface="Courier New"/>
                <a:ea typeface="Courier New"/>
                <a:cs typeface="Courier New"/>
                <a:sym typeface="Courier New"/>
              </a:rPr>
              <a:t>    data, rowvar=False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CFCFB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CFCFB"/>
                </a:solidFill>
                <a:latin typeface="Courier New"/>
                <a:ea typeface="Courier New"/>
                <a:cs typeface="Courier New"/>
                <a:sym typeface="Courier New"/>
              </a:rPr>
              <a:t>print(corr)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CFCFB"/>
                </a:solidFill>
                <a:latin typeface="Courier New"/>
                <a:ea typeface="Courier New"/>
                <a:cs typeface="Courier New"/>
                <a:sym typeface="Courier New"/>
              </a:rPr>
              <a:t>print(corr[0, 1])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10"/>
          <p:cNvSpPr/>
          <p:nvPr/>
        </p:nvSpPr>
        <p:spPr>
          <a:xfrm>
            <a:off x="6455520" y="1874520"/>
            <a:ext cx="4992120" cy="3885840"/>
          </a:xfrm>
          <a:prstGeom prst="roundRect">
            <a:avLst>
              <a:gd fmla="val 16667" name="adj"/>
            </a:avLst>
          </a:prstGeom>
          <a:solidFill>
            <a:srgbClr val="F1F5F7"/>
          </a:solidFill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10"/>
          <p:cNvSpPr/>
          <p:nvPr/>
        </p:nvSpPr>
        <p:spPr>
          <a:xfrm>
            <a:off x="6675120" y="2112120"/>
            <a:ext cx="4553280" cy="38376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2678A"/>
                </a:solidFill>
                <a:latin typeface="Arial"/>
                <a:ea typeface="Arial"/>
                <a:cs typeface="Arial"/>
                <a:sym typeface="Arial"/>
              </a:rPr>
              <a:t>RÉSULTAT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10"/>
          <p:cNvSpPr/>
          <p:nvPr/>
        </p:nvSpPr>
        <p:spPr>
          <a:xfrm>
            <a:off x="6675120" y="2715840"/>
            <a:ext cx="4553280" cy="102384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102A43"/>
                </a:solidFill>
                <a:latin typeface="Courier New"/>
                <a:ea typeface="Courier New"/>
                <a:cs typeface="Courier New"/>
                <a:sym typeface="Courier New"/>
              </a:rPr>
              <a:t>[[1.  0.6]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102A43"/>
                </a:solidFill>
                <a:latin typeface="Courier New"/>
                <a:ea typeface="Courier New"/>
                <a:cs typeface="Courier New"/>
                <a:sym typeface="Courier New"/>
              </a:rPr>
              <a:t> [0.6 1. ]]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p10"/>
          <p:cNvSpPr/>
          <p:nvPr/>
        </p:nvSpPr>
        <p:spPr>
          <a:xfrm>
            <a:off x="6675120" y="3913560"/>
            <a:ext cx="4553280" cy="43848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00" u="none" cap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corr[0, 1] = 0.6</a:t>
            </a:r>
            <a:endParaRPr b="0" i="0" sz="2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p10"/>
          <p:cNvSpPr/>
          <p:nvPr/>
        </p:nvSpPr>
        <p:spPr>
          <a:xfrm>
            <a:off x="6675120" y="4526280"/>
            <a:ext cx="4553280" cy="95076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Diagonale : 1 pour X et pour Y.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Hors diagonale : r entre X et Y, sans unité.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p10"/>
          <p:cNvSpPr/>
          <p:nvPr/>
        </p:nvSpPr>
        <p:spPr>
          <a:xfrm>
            <a:off x="749880" y="5961960"/>
            <a:ext cx="10698120" cy="420120"/>
          </a:xfrm>
          <a:prstGeom prst="roundRect">
            <a:avLst>
              <a:gd fmla="val 16667" name="adj"/>
            </a:avLst>
          </a:prstGeom>
          <a:solidFill>
            <a:srgbClr val="F1F5F7"/>
          </a:solidFill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10"/>
          <p:cNvSpPr/>
          <p:nvPr/>
        </p:nvSpPr>
        <p:spPr>
          <a:xfrm>
            <a:off x="932760" y="6007680"/>
            <a:ext cx="10332360" cy="310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r = 1.5 / √(2.5 × 2.5) = 0.6.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10"/>
          <p:cNvSpPr/>
          <p:nvPr/>
        </p:nvSpPr>
        <p:spPr>
          <a:xfrm>
            <a:off x="731520" y="6574680"/>
            <a:ext cx="7954920" cy="16416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OLIVIER DELRIEU  /  06.10.2026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10"/>
          <p:cNvSpPr/>
          <p:nvPr/>
        </p:nvSpPr>
        <p:spPr>
          <a:xfrm>
            <a:off x="10625400" y="6546960"/>
            <a:ext cx="840960" cy="21924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10 / 58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FCFB"/>
        </a:solidFill>
      </p:bgPr>
    </p:bg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11"/>
          <p:cNvSpPr/>
          <p:nvPr/>
        </p:nvSpPr>
        <p:spPr>
          <a:xfrm>
            <a:off x="749880" y="420480"/>
            <a:ext cx="10698120" cy="29232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12678A"/>
                </a:solidFill>
                <a:latin typeface="Arial"/>
                <a:ea typeface="Arial"/>
                <a:cs typeface="Arial"/>
                <a:sym typeface="Arial"/>
              </a:rPr>
              <a:t>CORRÉLATION · POINTS ATYPIQUES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p11"/>
          <p:cNvSpPr/>
          <p:nvPr/>
        </p:nvSpPr>
        <p:spPr>
          <a:xfrm>
            <a:off x="749880" y="804600"/>
            <a:ext cx="10698120" cy="785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00" u="none" cap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Cinq points : une tendance positive</a:t>
            </a:r>
            <a:endParaRPr b="0" i="0" sz="3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p11"/>
          <p:cNvSpPr/>
          <p:nvPr/>
        </p:nvSpPr>
        <p:spPr>
          <a:xfrm>
            <a:off x="749880" y="1627560"/>
            <a:ext cx="10698120" cy="31680"/>
          </a:xfrm>
          <a:prstGeom prst="rect">
            <a:avLst/>
          </a:prstGeom>
          <a:solidFill>
            <a:srgbClr val="D4DEE4"/>
          </a:solidFill>
          <a:ln>
            <a:noFill/>
          </a:ln>
        </p:spPr>
        <p:txBody>
          <a:bodyPr anchorCtr="0" anchor="ctr" bIns="0" lIns="90000" spcFirstLastPara="1" rIns="9000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outlier_xy_base.png" id="232" name="Google Shape;232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9880" y="1901880"/>
            <a:ext cx="6839280" cy="3792600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11"/>
          <p:cNvSpPr/>
          <p:nvPr/>
        </p:nvSpPr>
        <p:spPr>
          <a:xfrm>
            <a:off x="7754040" y="1901880"/>
            <a:ext cx="3693960" cy="3885840"/>
          </a:xfrm>
          <a:prstGeom prst="roundRect">
            <a:avLst>
              <a:gd fmla="val 16667" name="adj"/>
            </a:avLst>
          </a:prstGeom>
          <a:solidFill>
            <a:srgbClr val="F1F5F7"/>
          </a:solidFill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11"/>
          <p:cNvSpPr/>
          <p:nvPr/>
        </p:nvSpPr>
        <p:spPr>
          <a:xfrm>
            <a:off x="8010000" y="2139840"/>
            <a:ext cx="3181680" cy="43848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12678A"/>
                </a:solidFill>
                <a:latin typeface="Arial"/>
                <a:ea typeface="Arial"/>
                <a:cs typeface="Arial"/>
                <a:sym typeface="Arial"/>
              </a:rPr>
              <a:t>5 points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p11"/>
          <p:cNvSpPr/>
          <p:nvPr/>
        </p:nvSpPr>
        <p:spPr>
          <a:xfrm>
            <a:off x="8010000" y="2816280"/>
            <a:ext cx="3181680" cy="45684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00" u="none" cap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Cov(X,Y) = 1.5</a:t>
            </a:r>
            <a:endParaRPr b="0" i="0" sz="2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11"/>
          <p:cNvSpPr/>
          <p:nvPr/>
        </p:nvSpPr>
        <p:spPr>
          <a:xfrm>
            <a:off x="8010000" y="3438000"/>
            <a:ext cx="3181680" cy="45684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00" u="none" cap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r = 0.6</a:t>
            </a:r>
            <a:endParaRPr b="0" i="0" sz="2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p11"/>
          <p:cNvSpPr/>
          <p:nvPr/>
        </p:nvSpPr>
        <p:spPr>
          <a:xfrm>
            <a:off x="8010000" y="4133160"/>
            <a:ext cx="3181680" cy="137124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La droite résume la tendance des cinq couples du notebook.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p11"/>
          <p:cNvSpPr/>
          <p:nvPr/>
        </p:nvSpPr>
        <p:spPr>
          <a:xfrm>
            <a:off x="749880" y="5961960"/>
            <a:ext cx="10698120" cy="420120"/>
          </a:xfrm>
          <a:prstGeom prst="roundRect">
            <a:avLst>
              <a:gd fmla="val 16667" name="adj"/>
            </a:avLst>
          </a:prstGeom>
          <a:solidFill>
            <a:srgbClr val="F1F5F7"/>
          </a:solidFill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11"/>
          <p:cNvSpPr/>
          <p:nvPr/>
        </p:nvSpPr>
        <p:spPr>
          <a:xfrm>
            <a:off x="932760" y="6007680"/>
            <a:ext cx="10332360" cy="310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Cercles bleus : 5 points initiaux · pointillés : droite ajustée.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11"/>
          <p:cNvSpPr/>
          <p:nvPr/>
        </p:nvSpPr>
        <p:spPr>
          <a:xfrm>
            <a:off x="731520" y="6574680"/>
            <a:ext cx="7954920" cy="16416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OLIVIER DELRIEU  /  06.10.2026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p11"/>
          <p:cNvSpPr/>
          <p:nvPr/>
        </p:nvSpPr>
        <p:spPr>
          <a:xfrm>
            <a:off x="10625400" y="6546960"/>
            <a:ext cx="840960" cy="21924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11 / 58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FCFB"/>
        </a:solidFill>
      </p:bgPr>
    </p:bg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12"/>
          <p:cNvSpPr/>
          <p:nvPr/>
        </p:nvSpPr>
        <p:spPr>
          <a:xfrm>
            <a:off x="749880" y="420480"/>
            <a:ext cx="10698120" cy="29232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12678A"/>
                </a:solidFill>
                <a:latin typeface="Arial"/>
                <a:ea typeface="Arial"/>
                <a:cs typeface="Arial"/>
                <a:sym typeface="Arial"/>
              </a:rPr>
              <a:t>CORRÉLATION · POINTS ATYPIQUES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" name="Google Shape;247;p12"/>
          <p:cNvSpPr/>
          <p:nvPr/>
        </p:nvSpPr>
        <p:spPr>
          <a:xfrm>
            <a:off x="749880" y="804600"/>
            <a:ext cx="10698120" cy="785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00" u="none" cap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Un sixième point prolonge la tendance</a:t>
            </a:r>
            <a:endParaRPr b="0" i="0" sz="3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" name="Google Shape;248;p12"/>
          <p:cNvSpPr/>
          <p:nvPr/>
        </p:nvSpPr>
        <p:spPr>
          <a:xfrm>
            <a:off x="749880" y="1627560"/>
            <a:ext cx="10698120" cy="31680"/>
          </a:xfrm>
          <a:prstGeom prst="rect">
            <a:avLst/>
          </a:prstGeom>
          <a:solidFill>
            <a:srgbClr val="D4DEE4"/>
          </a:solidFill>
          <a:ln>
            <a:noFill/>
          </a:ln>
        </p:spPr>
        <p:txBody>
          <a:bodyPr anchorCtr="0" anchor="ctr" bIns="0" lIns="90000" spcFirstLastPara="1" rIns="9000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outlier_xy_along.png" id="249" name="Google Shape;249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9880" y="1901880"/>
            <a:ext cx="6839280" cy="3792600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12"/>
          <p:cNvSpPr/>
          <p:nvPr/>
        </p:nvSpPr>
        <p:spPr>
          <a:xfrm>
            <a:off x="7754040" y="1901880"/>
            <a:ext cx="3693960" cy="3885840"/>
          </a:xfrm>
          <a:prstGeom prst="roundRect">
            <a:avLst>
              <a:gd fmla="val 16667" name="adj"/>
            </a:avLst>
          </a:prstGeom>
          <a:solidFill>
            <a:srgbClr val="F1F5F7"/>
          </a:solidFill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12"/>
          <p:cNvSpPr/>
          <p:nvPr/>
        </p:nvSpPr>
        <p:spPr>
          <a:xfrm>
            <a:off x="8010000" y="2139840"/>
            <a:ext cx="3181680" cy="43848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12678A"/>
                </a:solidFill>
                <a:latin typeface="Arial"/>
                <a:ea typeface="Arial"/>
                <a:cs typeface="Arial"/>
                <a:sym typeface="Arial"/>
              </a:rPr>
              <a:t>+ (9, 9)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p12"/>
          <p:cNvSpPr/>
          <p:nvPr/>
        </p:nvSpPr>
        <p:spPr>
          <a:xfrm>
            <a:off x="8010000" y="2816280"/>
            <a:ext cx="3181680" cy="45684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00" u="none" cap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Cov(X,Y) = 7.2</a:t>
            </a:r>
            <a:endParaRPr b="0" i="0" sz="2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" name="Google Shape;253;p12"/>
          <p:cNvSpPr/>
          <p:nvPr/>
        </p:nvSpPr>
        <p:spPr>
          <a:xfrm>
            <a:off x="8010000" y="3438000"/>
            <a:ext cx="3181680" cy="45684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00" u="none" cap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r = 0.9</a:t>
            </a:r>
            <a:endParaRPr b="0" i="0" sz="2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" name="Google Shape;254;p12"/>
          <p:cNvSpPr/>
          <p:nvPr/>
        </p:nvSpPr>
        <p:spPr>
          <a:xfrm>
            <a:off x="8010000" y="4133160"/>
            <a:ext cx="3181680" cy="137124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Avec ce point, r passe de 0.6 à 0.9 : le lien linéaire se renforce.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" name="Google Shape;255;p12"/>
          <p:cNvSpPr/>
          <p:nvPr/>
        </p:nvSpPr>
        <p:spPr>
          <a:xfrm>
            <a:off x="749880" y="5961960"/>
            <a:ext cx="10698120" cy="420120"/>
          </a:xfrm>
          <a:prstGeom prst="roundRect">
            <a:avLst>
              <a:gd fmla="val 16667" name="adj"/>
            </a:avLst>
          </a:prstGeom>
          <a:solidFill>
            <a:srgbClr val="F1F5F7"/>
          </a:solidFill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12"/>
          <p:cNvSpPr/>
          <p:nvPr/>
        </p:nvSpPr>
        <p:spPr>
          <a:xfrm>
            <a:off x="932760" y="6007680"/>
            <a:ext cx="10332360" cy="310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Cercles bleus : 5 points initiaux · point cuivré : 6e point · pointillés : droite ajustée.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" name="Google Shape;257;p12"/>
          <p:cNvSpPr/>
          <p:nvPr/>
        </p:nvSpPr>
        <p:spPr>
          <a:xfrm>
            <a:off x="731520" y="6574680"/>
            <a:ext cx="7954920" cy="16416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OLIVIER DELRIEU  /  06.10.2026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" name="Google Shape;258;p12"/>
          <p:cNvSpPr/>
          <p:nvPr/>
        </p:nvSpPr>
        <p:spPr>
          <a:xfrm>
            <a:off x="10625400" y="6546960"/>
            <a:ext cx="840960" cy="21924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12 / 58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FCFB"/>
        </a:solidFill>
      </p:bgPr>
    </p:bg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13"/>
          <p:cNvSpPr/>
          <p:nvPr/>
        </p:nvSpPr>
        <p:spPr>
          <a:xfrm>
            <a:off x="749880" y="420480"/>
            <a:ext cx="10698120" cy="29232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12678A"/>
                </a:solidFill>
                <a:latin typeface="Arial"/>
                <a:ea typeface="Arial"/>
                <a:cs typeface="Arial"/>
                <a:sym typeface="Arial"/>
              </a:rPr>
              <a:t>CORRÉLATION · POINTS ATYPIQUES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" name="Google Shape;264;p13"/>
          <p:cNvSpPr/>
          <p:nvPr/>
        </p:nvSpPr>
        <p:spPr>
          <a:xfrm>
            <a:off x="749880" y="804600"/>
            <a:ext cx="10698120" cy="785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00" u="none" cap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Un sixième point s'écarte de la tendance</a:t>
            </a:r>
            <a:endParaRPr b="0" i="0" sz="3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" name="Google Shape;265;p13"/>
          <p:cNvSpPr/>
          <p:nvPr/>
        </p:nvSpPr>
        <p:spPr>
          <a:xfrm>
            <a:off x="749880" y="1627560"/>
            <a:ext cx="10698120" cy="31680"/>
          </a:xfrm>
          <a:prstGeom prst="rect">
            <a:avLst/>
          </a:prstGeom>
          <a:solidFill>
            <a:srgbClr val="D4DEE4"/>
          </a:solidFill>
          <a:ln>
            <a:noFill/>
          </a:ln>
        </p:spPr>
        <p:txBody>
          <a:bodyPr anchorCtr="0" anchor="ctr" bIns="0" lIns="90000" spcFirstLastPara="1" rIns="9000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outlier_xy_away.png" id="266" name="Google Shape;266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9880" y="1901880"/>
            <a:ext cx="6839280" cy="3792600"/>
          </a:xfrm>
          <a:prstGeom prst="rect">
            <a:avLst/>
          </a:prstGeom>
          <a:noFill/>
          <a:ln>
            <a:noFill/>
          </a:ln>
        </p:spPr>
      </p:pic>
      <p:sp>
        <p:nvSpPr>
          <p:cNvPr id="267" name="Google Shape;267;p13"/>
          <p:cNvSpPr/>
          <p:nvPr/>
        </p:nvSpPr>
        <p:spPr>
          <a:xfrm>
            <a:off x="7754040" y="1901880"/>
            <a:ext cx="3693960" cy="3885840"/>
          </a:xfrm>
          <a:prstGeom prst="roundRect">
            <a:avLst>
              <a:gd fmla="val 16667" name="adj"/>
            </a:avLst>
          </a:prstGeom>
          <a:solidFill>
            <a:srgbClr val="F1F5F7"/>
          </a:solidFill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13"/>
          <p:cNvSpPr/>
          <p:nvPr/>
        </p:nvSpPr>
        <p:spPr>
          <a:xfrm>
            <a:off x="8010000" y="2139840"/>
            <a:ext cx="3181680" cy="43848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12678A"/>
                </a:solidFill>
                <a:latin typeface="Arial"/>
                <a:ea typeface="Arial"/>
                <a:cs typeface="Arial"/>
                <a:sym typeface="Arial"/>
              </a:rPr>
              <a:t>+ (9, 3)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" name="Google Shape;269;p13"/>
          <p:cNvSpPr/>
          <p:nvPr/>
        </p:nvSpPr>
        <p:spPr>
          <a:xfrm>
            <a:off x="8010000" y="2816280"/>
            <a:ext cx="3181680" cy="45684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00" u="none" cap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Cov(X,Y) = 1.2</a:t>
            </a:r>
            <a:endParaRPr b="0" i="0" sz="2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" name="Google Shape;270;p13"/>
          <p:cNvSpPr/>
          <p:nvPr/>
        </p:nvSpPr>
        <p:spPr>
          <a:xfrm>
            <a:off x="8010000" y="3438000"/>
            <a:ext cx="3181680" cy="45684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00" u="none" cap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r = 0.3</a:t>
            </a:r>
            <a:endParaRPr b="0" i="0" sz="2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" name="Google Shape;271;p13"/>
          <p:cNvSpPr/>
          <p:nvPr/>
        </p:nvSpPr>
        <p:spPr>
          <a:xfrm>
            <a:off x="8010000" y="4133160"/>
            <a:ext cx="3181680" cy="137124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X est loin des autres valeurs, mais Y reste à 3. Le lien linéaire faiblit.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" name="Google Shape;272;p13"/>
          <p:cNvSpPr/>
          <p:nvPr/>
        </p:nvSpPr>
        <p:spPr>
          <a:xfrm>
            <a:off x="749880" y="5961960"/>
            <a:ext cx="10698120" cy="420120"/>
          </a:xfrm>
          <a:prstGeom prst="roundRect">
            <a:avLst>
              <a:gd fmla="val 16667" name="adj"/>
            </a:avLst>
          </a:prstGeom>
          <a:solidFill>
            <a:srgbClr val="F1F5F7"/>
          </a:solidFill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13"/>
          <p:cNvSpPr/>
          <p:nvPr/>
        </p:nvSpPr>
        <p:spPr>
          <a:xfrm>
            <a:off x="932760" y="6007680"/>
            <a:ext cx="10332360" cy="310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Cercles bleus : 5 points initiaux · point cuivré : 6e point · pointillés : droite ajustée.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p13"/>
          <p:cNvSpPr/>
          <p:nvPr/>
        </p:nvSpPr>
        <p:spPr>
          <a:xfrm>
            <a:off x="731520" y="6574680"/>
            <a:ext cx="7954920" cy="16416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OLIVIER DELRIEU  /  06.10.2026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" name="Google Shape;275;p13"/>
          <p:cNvSpPr/>
          <p:nvPr/>
        </p:nvSpPr>
        <p:spPr>
          <a:xfrm>
            <a:off x="10625400" y="6546960"/>
            <a:ext cx="840960" cy="21924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13 / 58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FCFB"/>
        </a:solidFill>
      </p:bgPr>
    </p:bg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14"/>
          <p:cNvSpPr/>
          <p:nvPr/>
        </p:nvSpPr>
        <p:spPr>
          <a:xfrm>
            <a:off x="749880" y="420480"/>
            <a:ext cx="10698120" cy="29232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12678A"/>
                </a:solidFill>
                <a:latin typeface="Arial"/>
                <a:ea typeface="Arial"/>
                <a:cs typeface="Arial"/>
                <a:sym typeface="Arial"/>
              </a:rPr>
              <a:t>CORRÉLATION · EXERCICE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" name="Google Shape;281;p14"/>
          <p:cNvSpPr/>
          <p:nvPr/>
        </p:nvSpPr>
        <p:spPr>
          <a:xfrm>
            <a:off x="749880" y="804600"/>
            <a:ext cx="10698120" cy="785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00" u="none" cap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Que change le point (9, 2) ?</a:t>
            </a:r>
            <a:endParaRPr b="0" i="0" sz="3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2" name="Google Shape;282;p14"/>
          <p:cNvSpPr/>
          <p:nvPr/>
        </p:nvSpPr>
        <p:spPr>
          <a:xfrm>
            <a:off x="749880" y="1627560"/>
            <a:ext cx="10698120" cy="31680"/>
          </a:xfrm>
          <a:prstGeom prst="rect">
            <a:avLst/>
          </a:prstGeom>
          <a:solidFill>
            <a:srgbClr val="D4DEE4"/>
          </a:solidFill>
          <a:ln>
            <a:noFill/>
          </a:ln>
        </p:spPr>
        <p:txBody>
          <a:bodyPr anchorCtr="0" anchor="ctr" bIns="0" lIns="90000" spcFirstLastPara="1" rIns="9000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14"/>
          <p:cNvSpPr/>
          <p:nvPr/>
        </p:nvSpPr>
        <p:spPr>
          <a:xfrm>
            <a:off x="749880" y="1901880"/>
            <a:ext cx="5211720" cy="3748680"/>
          </a:xfrm>
          <a:prstGeom prst="roundRect">
            <a:avLst>
              <a:gd fmla="val 16667" name="adj"/>
            </a:avLst>
          </a:prstGeom>
          <a:solidFill>
            <a:srgbClr val="F1F5F7"/>
          </a:solidFill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14"/>
          <p:cNvSpPr/>
          <p:nvPr/>
        </p:nvSpPr>
        <p:spPr>
          <a:xfrm>
            <a:off x="960120" y="2130480"/>
            <a:ext cx="4791240" cy="47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2678A"/>
                </a:solidFill>
                <a:latin typeface="Arial"/>
                <a:ea typeface="Arial"/>
                <a:cs typeface="Arial"/>
                <a:sym typeface="Arial"/>
              </a:rPr>
              <a:t>AVANT DE CODER · PRÉVOIR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" name="Google Shape;285;p14"/>
          <p:cNvSpPr/>
          <p:nvPr/>
        </p:nvSpPr>
        <p:spPr>
          <a:xfrm>
            <a:off x="960120" y="2770560"/>
            <a:ext cx="4791240" cy="265140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Repartez des cinq couples de la page 11. Ajoutez (9, 2), et non les sixièmes points des pages 12 et 13.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Prévoyez le signe et la force du lien linéaire. Expliquez votre intuition avec le nuage.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" name="Google Shape;286;p14"/>
          <p:cNvSpPr/>
          <p:nvPr/>
        </p:nvSpPr>
        <p:spPr>
          <a:xfrm>
            <a:off x="6190560" y="1901880"/>
            <a:ext cx="5211720" cy="3748680"/>
          </a:xfrm>
          <a:prstGeom prst="roundRect">
            <a:avLst>
              <a:gd fmla="val 16667" name="adj"/>
            </a:avLst>
          </a:prstGeom>
          <a:solidFill>
            <a:srgbClr val="F1F5F7"/>
          </a:solidFill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14"/>
          <p:cNvSpPr/>
          <p:nvPr/>
        </p:nvSpPr>
        <p:spPr>
          <a:xfrm>
            <a:off x="6400800" y="2130480"/>
            <a:ext cx="4791240" cy="47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2678A"/>
                </a:solidFill>
                <a:latin typeface="Arial"/>
                <a:ea typeface="Arial"/>
                <a:cs typeface="Arial"/>
                <a:sym typeface="Arial"/>
              </a:rPr>
              <a:t>CHOISIR PUIS VÉRIFIER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" name="Google Shape;288;p14"/>
          <p:cNvSpPr/>
          <p:nvPr/>
        </p:nvSpPr>
        <p:spPr>
          <a:xfrm>
            <a:off x="6400800" y="2770560"/>
            <a:ext cx="4791240" cy="265140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Écrivez d'abord votre stratégie : quelles données construire, quels coefficients calculer, que comparer ?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Utilisez ensuite NumPy pour la covariance et r ; expliquez le résultat et tout écart avec votre prévision.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9" name="Google Shape;289;p14"/>
          <p:cNvSpPr/>
          <p:nvPr/>
        </p:nvSpPr>
        <p:spPr>
          <a:xfrm>
            <a:off x="749880" y="5815440"/>
            <a:ext cx="10698120" cy="566640"/>
          </a:xfrm>
          <a:prstGeom prst="roundRect">
            <a:avLst>
              <a:gd fmla="val 16667" name="adj"/>
            </a:avLst>
          </a:prstGeom>
          <a:solidFill>
            <a:srgbClr val="F1F5F7"/>
          </a:solidFill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14"/>
          <p:cNvSpPr/>
          <p:nvPr/>
        </p:nvSpPr>
        <p:spPr>
          <a:xfrm>
            <a:off x="932760" y="5861160"/>
            <a:ext cx="10332360" cy="456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Cahier : courses/2026-10-06/notebooks/sixth_point_correlation_exercise.ipynb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" name="Google Shape;291;p14"/>
          <p:cNvSpPr/>
          <p:nvPr/>
        </p:nvSpPr>
        <p:spPr>
          <a:xfrm>
            <a:off x="731520" y="6574680"/>
            <a:ext cx="7954920" cy="16416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OLIVIER DELRIEU  /  06.10.2026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2" name="Google Shape;292;p14"/>
          <p:cNvSpPr/>
          <p:nvPr/>
        </p:nvSpPr>
        <p:spPr>
          <a:xfrm>
            <a:off x="10625400" y="6546960"/>
            <a:ext cx="840960" cy="21924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14 / 58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FCFB"/>
        </a:solidFill>
      </p:bgPr>
    </p:bg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15"/>
          <p:cNvSpPr/>
          <p:nvPr/>
        </p:nvSpPr>
        <p:spPr>
          <a:xfrm>
            <a:off x="0" y="0"/>
            <a:ext cx="12197880" cy="6857640"/>
          </a:xfrm>
          <a:prstGeom prst="rect">
            <a:avLst/>
          </a:prstGeom>
          <a:solidFill>
            <a:srgbClr val="102A43"/>
          </a:solidFill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15"/>
          <p:cNvSpPr/>
          <p:nvPr/>
        </p:nvSpPr>
        <p:spPr>
          <a:xfrm>
            <a:off x="777240" y="749880"/>
            <a:ext cx="10606680" cy="40212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B8DCE8"/>
                </a:solidFill>
                <a:latin typeface="Arial"/>
                <a:ea typeface="Arial"/>
                <a:cs typeface="Arial"/>
                <a:sym typeface="Arial"/>
              </a:rPr>
              <a:t>APRÈS LA CORRÉLATION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" name="Google Shape;299;p15"/>
          <p:cNvSpPr/>
          <p:nvPr/>
        </p:nvSpPr>
        <p:spPr>
          <a:xfrm>
            <a:off x="795600" y="1463040"/>
            <a:ext cx="914040" cy="54360"/>
          </a:xfrm>
          <a:prstGeom prst="rect">
            <a:avLst/>
          </a:prstGeom>
          <a:solidFill>
            <a:srgbClr val="B66D3A"/>
          </a:solidFill>
          <a:ln>
            <a:noFill/>
          </a:ln>
        </p:spPr>
        <p:txBody>
          <a:bodyPr anchorCtr="0" anchor="ctr" bIns="9700" lIns="90000" spcFirstLastPara="1" rIns="90000" wrap="square" tIns="9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15"/>
          <p:cNvSpPr/>
          <p:nvPr/>
        </p:nvSpPr>
        <p:spPr>
          <a:xfrm>
            <a:off x="777240" y="1847160"/>
            <a:ext cx="10606680" cy="1919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00" u="none" cap="none" strike="noStrike">
                <a:solidFill>
                  <a:srgbClr val="FCFCFB"/>
                </a:solidFill>
                <a:latin typeface="Arial"/>
                <a:ea typeface="Arial"/>
                <a:cs typeface="Arial"/>
                <a:sym typeface="Arial"/>
              </a:rPr>
              <a:t>Régression linéaire</a:t>
            </a:r>
            <a:endParaRPr b="0" i="0" sz="4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1" name="Google Shape;301;p15"/>
          <p:cNvSpPr/>
          <p:nvPr/>
        </p:nvSpPr>
        <p:spPr>
          <a:xfrm>
            <a:off x="777240" y="4325040"/>
            <a:ext cx="10606680" cy="109692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00" u="none" cap="none" strike="noStrike">
                <a:solidFill>
                  <a:srgbClr val="DCE8EE"/>
                </a:solidFill>
                <a:latin typeface="Arial"/>
                <a:ea typeface="Arial"/>
                <a:cs typeface="Arial"/>
                <a:sym typeface="Arial"/>
              </a:rPr>
              <a:t>Forme usuelle : y = ax + b</a:t>
            </a:r>
            <a:endParaRPr b="0" i="0" sz="2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2500" u="none" cap="none" strike="noStrike">
                <a:solidFill>
                  <a:srgbClr val="DCE8EE"/>
                </a:solidFill>
                <a:latin typeface="Arial"/>
                <a:ea typeface="Arial"/>
                <a:cs typeface="Arial"/>
                <a:sym typeface="Arial"/>
              </a:rPr>
              <a:t>a : pente · b : ordonnée à l'origine</a:t>
            </a:r>
            <a:endParaRPr b="0" i="0" sz="2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" name="Google Shape;302;p15"/>
          <p:cNvSpPr/>
          <p:nvPr/>
        </p:nvSpPr>
        <p:spPr>
          <a:xfrm>
            <a:off x="731520" y="6574680"/>
            <a:ext cx="7954920" cy="16416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B8DCE8"/>
                </a:solidFill>
                <a:latin typeface="Arial"/>
                <a:ea typeface="Arial"/>
                <a:cs typeface="Arial"/>
                <a:sym typeface="Arial"/>
              </a:rPr>
              <a:t>OLIVIER DELRIEU  /  06.10.2026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3" name="Google Shape;303;p15"/>
          <p:cNvSpPr/>
          <p:nvPr/>
        </p:nvSpPr>
        <p:spPr>
          <a:xfrm>
            <a:off x="10625400" y="6546960"/>
            <a:ext cx="840960" cy="21924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B8DCE8"/>
                </a:solidFill>
                <a:latin typeface="Arial"/>
                <a:ea typeface="Arial"/>
                <a:cs typeface="Arial"/>
                <a:sym typeface="Arial"/>
              </a:rPr>
              <a:t>15 / 58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FCFB"/>
        </a:solidFill>
      </p:bgPr>
    </p:bg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16"/>
          <p:cNvSpPr/>
          <p:nvPr/>
        </p:nvSpPr>
        <p:spPr>
          <a:xfrm>
            <a:off x="749880" y="420480"/>
            <a:ext cx="10698120" cy="29232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12678A"/>
                </a:solidFill>
                <a:latin typeface="Arial"/>
                <a:ea typeface="Arial"/>
                <a:cs typeface="Arial"/>
                <a:sym typeface="Arial"/>
              </a:rPr>
              <a:t>MINI-EXEMPLE X/Y · PENTE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9" name="Google Shape;309;p16"/>
          <p:cNvSpPr/>
          <p:nvPr/>
        </p:nvSpPr>
        <p:spPr>
          <a:xfrm>
            <a:off x="749880" y="804600"/>
            <a:ext cx="10698120" cy="785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00" u="none" cap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Calculer la pente de la droite</a:t>
            </a:r>
            <a:endParaRPr b="0" i="0" sz="3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0" name="Google Shape;310;p16"/>
          <p:cNvSpPr/>
          <p:nvPr/>
        </p:nvSpPr>
        <p:spPr>
          <a:xfrm>
            <a:off x="749880" y="1627560"/>
            <a:ext cx="10698120" cy="31680"/>
          </a:xfrm>
          <a:prstGeom prst="rect">
            <a:avLst/>
          </a:prstGeom>
          <a:solidFill>
            <a:srgbClr val="D4DEE4"/>
          </a:solidFill>
          <a:ln>
            <a:noFill/>
          </a:ln>
        </p:spPr>
        <p:txBody>
          <a:bodyPr anchorCtr="0" anchor="ctr" bIns="0" lIns="90000" spcFirstLastPara="1" rIns="9000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16"/>
          <p:cNvSpPr/>
          <p:nvPr/>
        </p:nvSpPr>
        <p:spPr>
          <a:xfrm>
            <a:off x="749880" y="1874520"/>
            <a:ext cx="5504400" cy="3885840"/>
          </a:xfrm>
          <a:prstGeom prst="roundRect">
            <a:avLst>
              <a:gd fmla="val 16667" name="adj"/>
            </a:avLst>
          </a:prstGeom>
          <a:solidFill>
            <a:srgbClr val="102A43"/>
          </a:solidFill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16"/>
          <p:cNvSpPr/>
          <p:nvPr/>
        </p:nvSpPr>
        <p:spPr>
          <a:xfrm>
            <a:off x="987480" y="2075760"/>
            <a:ext cx="5028840" cy="38376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B8DCE8"/>
                </a:solidFill>
                <a:latin typeface="Arial"/>
                <a:ea typeface="Arial"/>
                <a:cs typeface="Arial"/>
                <a:sym typeface="Arial"/>
              </a:rPr>
              <a:t>SUITE : data ET cov DÉJÀ DÉFINIS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3" name="Google Shape;313;p16"/>
          <p:cNvSpPr/>
          <p:nvPr/>
        </p:nvSpPr>
        <p:spPr>
          <a:xfrm>
            <a:off x="987480" y="2587680"/>
            <a:ext cx="5028840" cy="28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CFCFB"/>
                </a:solidFill>
                <a:latin typeface="Courier New"/>
                <a:ea typeface="Courier New"/>
                <a:cs typeface="Courier New"/>
                <a:sym typeface="Courier New"/>
              </a:rPr>
              <a:t>x = data[:, 0]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CFCFB"/>
                </a:solidFill>
                <a:latin typeface="Courier New"/>
                <a:ea typeface="Courier New"/>
                <a:cs typeface="Courier New"/>
                <a:sym typeface="Courier New"/>
              </a:rPr>
              <a:t>y = data[:, 1]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CFCFB"/>
                </a:solidFill>
                <a:latin typeface="Courier New"/>
                <a:ea typeface="Courier New"/>
                <a:cs typeface="Courier New"/>
                <a:sym typeface="Courier New"/>
              </a:rPr>
              <a:t>a = cov[0, 1] / cov[0, 0]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CFCFB"/>
                </a:solidFill>
                <a:latin typeface="Courier New"/>
                <a:ea typeface="Courier New"/>
                <a:cs typeface="Courier New"/>
                <a:sym typeface="Courier New"/>
              </a:rPr>
              <a:t>print(a)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4" name="Google Shape;314;p16"/>
          <p:cNvSpPr/>
          <p:nvPr/>
        </p:nvSpPr>
        <p:spPr>
          <a:xfrm>
            <a:off x="6455520" y="1874520"/>
            <a:ext cx="4992120" cy="3885840"/>
          </a:xfrm>
          <a:prstGeom prst="roundRect">
            <a:avLst>
              <a:gd fmla="val 16667" name="adj"/>
            </a:avLst>
          </a:prstGeom>
          <a:solidFill>
            <a:srgbClr val="F1F5F7"/>
          </a:solidFill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16"/>
          <p:cNvSpPr/>
          <p:nvPr/>
        </p:nvSpPr>
        <p:spPr>
          <a:xfrm>
            <a:off x="6675120" y="2112120"/>
            <a:ext cx="4553280" cy="38376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2678A"/>
                </a:solidFill>
                <a:latin typeface="Arial"/>
                <a:ea typeface="Arial"/>
                <a:cs typeface="Arial"/>
                <a:sym typeface="Arial"/>
              </a:rPr>
              <a:t>FORMULE DE LA PENTE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6" name="Google Shape;316;p16"/>
          <p:cNvSpPr/>
          <p:nvPr/>
        </p:nvSpPr>
        <p:spPr>
          <a:xfrm>
            <a:off x="6675120" y="2706480"/>
            <a:ext cx="4553280" cy="47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00" u="none" cap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a = Cov(X,Y) / Var(X)</a:t>
            </a:r>
            <a:endParaRPr b="0" i="0" sz="2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7" name="Google Shape;317;p16"/>
          <p:cNvSpPr/>
          <p:nvPr/>
        </p:nvSpPr>
        <p:spPr>
          <a:xfrm>
            <a:off x="6675120" y="3310200"/>
            <a:ext cx="4553280" cy="45684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00" u="none" cap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= 1.5 / 2.5 = 0.6</a:t>
            </a:r>
            <a:endParaRPr b="0" i="0" sz="2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8" name="Google Shape;318;p16"/>
          <p:cNvSpPr/>
          <p:nvPr/>
        </p:nvSpPr>
        <p:spPr>
          <a:xfrm>
            <a:off x="6675120" y="4050720"/>
            <a:ext cx="4553280" cy="84996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Quand X augmente de 1, la droite prédit +0.6 pour Y.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9" name="Google Shape;319;p16"/>
          <p:cNvSpPr/>
          <p:nvPr/>
        </p:nvSpPr>
        <p:spPr>
          <a:xfrm>
            <a:off x="6675120" y="5056560"/>
            <a:ext cx="4553280" cy="38376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Var(X) est dans cov[0, 0].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0" name="Google Shape;320;p16"/>
          <p:cNvSpPr/>
          <p:nvPr/>
        </p:nvSpPr>
        <p:spPr>
          <a:xfrm>
            <a:off x="749880" y="5961960"/>
            <a:ext cx="10698120" cy="420120"/>
          </a:xfrm>
          <a:prstGeom prst="roundRect">
            <a:avLst>
              <a:gd fmla="val 16667" name="adj"/>
            </a:avLst>
          </a:prstGeom>
          <a:solidFill>
            <a:srgbClr val="F1F5F7"/>
          </a:solidFill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16"/>
          <p:cNvSpPr/>
          <p:nvPr/>
        </p:nvSpPr>
        <p:spPr>
          <a:xfrm>
            <a:off x="932760" y="6007680"/>
            <a:ext cx="10332360" cy="310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Ici, a = r = 0.6 car les deux variances valent 2.5 ; ce n'est pas une règle.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2" name="Google Shape;322;p16"/>
          <p:cNvSpPr/>
          <p:nvPr/>
        </p:nvSpPr>
        <p:spPr>
          <a:xfrm>
            <a:off x="731520" y="6574680"/>
            <a:ext cx="7954920" cy="16416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OLIVIER DELRIEU  /  06.10.2026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3" name="Google Shape;323;p16"/>
          <p:cNvSpPr/>
          <p:nvPr/>
        </p:nvSpPr>
        <p:spPr>
          <a:xfrm>
            <a:off x="10625400" y="6546960"/>
            <a:ext cx="840960" cy="21924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16 / 58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FCFB"/>
        </a:solidFill>
      </p:bgPr>
    </p:bg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17"/>
          <p:cNvSpPr/>
          <p:nvPr/>
        </p:nvSpPr>
        <p:spPr>
          <a:xfrm>
            <a:off x="749880" y="420480"/>
            <a:ext cx="10698120" cy="29232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12678A"/>
                </a:solidFill>
                <a:latin typeface="Arial"/>
                <a:ea typeface="Arial"/>
                <a:cs typeface="Arial"/>
                <a:sym typeface="Arial"/>
              </a:rPr>
              <a:t>MINI-EXEMPLE X/Y · ORIGINE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9" name="Google Shape;329;p17"/>
          <p:cNvSpPr/>
          <p:nvPr/>
        </p:nvSpPr>
        <p:spPr>
          <a:xfrm>
            <a:off x="749880" y="804600"/>
            <a:ext cx="10698120" cy="785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00" u="none" cap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Trouver l'ordonnée à l'origine</a:t>
            </a:r>
            <a:endParaRPr b="0" i="0" sz="3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0" name="Google Shape;330;p17"/>
          <p:cNvSpPr/>
          <p:nvPr/>
        </p:nvSpPr>
        <p:spPr>
          <a:xfrm>
            <a:off x="749880" y="1627560"/>
            <a:ext cx="10698120" cy="31680"/>
          </a:xfrm>
          <a:prstGeom prst="rect">
            <a:avLst/>
          </a:prstGeom>
          <a:solidFill>
            <a:srgbClr val="D4DEE4"/>
          </a:solidFill>
          <a:ln>
            <a:noFill/>
          </a:ln>
        </p:spPr>
        <p:txBody>
          <a:bodyPr anchorCtr="0" anchor="ctr" bIns="0" lIns="90000" spcFirstLastPara="1" rIns="9000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17"/>
          <p:cNvSpPr/>
          <p:nvPr/>
        </p:nvSpPr>
        <p:spPr>
          <a:xfrm>
            <a:off x="749880" y="1874520"/>
            <a:ext cx="5504400" cy="3885840"/>
          </a:xfrm>
          <a:prstGeom prst="roundRect">
            <a:avLst>
              <a:gd fmla="val 16667" name="adj"/>
            </a:avLst>
          </a:prstGeom>
          <a:solidFill>
            <a:srgbClr val="102A43"/>
          </a:solidFill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17"/>
          <p:cNvSpPr/>
          <p:nvPr/>
        </p:nvSpPr>
        <p:spPr>
          <a:xfrm>
            <a:off x="987480" y="2075760"/>
            <a:ext cx="5028840" cy="38376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B8DCE8"/>
                </a:solidFill>
                <a:latin typeface="Arial"/>
                <a:ea typeface="Arial"/>
                <a:cs typeface="Arial"/>
                <a:sym typeface="Arial"/>
              </a:rPr>
              <a:t>SUITE : x, y ET a DÉJÀ DÉFINIS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3" name="Google Shape;333;p17"/>
          <p:cNvSpPr/>
          <p:nvPr/>
        </p:nvSpPr>
        <p:spPr>
          <a:xfrm>
            <a:off x="987480" y="2587680"/>
            <a:ext cx="5028840" cy="28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CFCFB"/>
                </a:solidFill>
                <a:latin typeface="Courier New"/>
                <a:ea typeface="Courier New"/>
                <a:cs typeface="Courier New"/>
                <a:sym typeface="Courier New"/>
              </a:rPr>
              <a:t>mean_x = x.mean()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CFCFB"/>
                </a:solidFill>
                <a:latin typeface="Courier New"/>
                <a:ea typeface="Courier New"/>
                <a:cs typeface="Courier New"/>
                <a:sym typeface="Courier New"/>
              </a:rPr>
              <a:t>mean_y = y.mean()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CFCFB"/>
                </a:solidFill>
                <a:latin typeface="Courier New"/>
                <a:ea typeface="Courier New"/>
                <a:cs typeface="Courier New"/>
                <a:sym typeface="Courier New"/>
              </a:rPr>
              <a:t>b = mean_y - a * mean_x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CFCFB"/>
                </a:solidFill>
                <a:latin typeface="Courier New"/>
                <a:ea typeface="Courier New"/>
                <a:cs typeface="Courier New"/>
                <a:sym typeface="Courier New"/>
              </a:rPr>
              <a:t>print(round(b, 1))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4" name="Google Shape;334;p17"/>
          <p:cNvSpPr/>
          <p:nvPr/>
        </p:nvSpPr>
        <p:spPr>
          <a:xfrm>
            <a:off x="6455520" y="1874520"/>
            <a:ext cx="4992120" cy="3885840"/>
          </a:xfrm>
          <a:prstGeom prst="roundRect">
            <a:avLst>
              <a:gd fmla="val 16667" name="adj"/>
            </a:avLst>
          </a:prstGeom>
          <a:solidFill>
            <a:srgbClr val="F1F5F7"/>
          </a:solidFill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17"/>
          <p:cNvSpPr/>
          <p:nvPr/>
        </p:nvSpPr>
        <p:spPr>
          <a:xfrm>
            <a:off x="6675120" y="2112120"/>
            <a:ext cx="4553280" cy="38376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2678A"/>
                </a:solidFill>
                <a:latin typeface="Arial"/>
                <a:ea typeface="Arial"/>
                <a:cs typeface="Arial"/>
                <a:sym typeface="Arial"/>
              </a:rPr>
              <a:t>CROISEMENT AVEC L'AXE Y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6" name="Google Shape;336;p17"/>
          <p:cNvSpPr/>
          <p:nvPr/>
        </p:nvSpPr>
        <p:spPr>
          <a:xfrm>
            <a:off x="6675120" y="2706480"/>
            <a:ext cx="4553280" cy="47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b = ȳ − a × x̄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7" name="Google Shape;337;p17"/>
          <p:cNvSpPr/>
          <p:nvPr/>
        </p:nvSpPr>
        <p:spPr>
          <a:xfrm>
            <a:off x="6675120" y="3310200"/>
            <a:ext cx="4553280" cy="45684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00" u="none" cap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= 3 − 0.6 × 3 = 1.2</a:t>
            </a:r>
            <a:endParaRPr b="0" i="0" sz="2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8" name="Google Shape;338;p17"/>
          <p:cNvSpPr/>
          <p:nvPr/>
        </p:nvSpPr>
        <p:spPr>
          <a:xfrm>
            <a:off x="6675120" y="4014360"/>
            <a:ext cx="4553280" cy="767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La droite passe par les moyennes (3, 3).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9" name="Google Shape;339;p17"/>
          <p:cNvSpPr/>
          <p:nvPr/>
        </p:nvSpPr>
        <p:spPr>
          <a:xfrm>
            <a:off x="6675120" y="4846320"/>
            <a:ext cx="4553280" cy="712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Les X observés vont de 1 à 5.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À X = 0, la droite vaudrait 1.2.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0" name="Google Shape;340;p17"/>
          <p:cNvSpPr/>
          <p:nvPr/>
        </p:nvSpPr>
        <p:spPr>
          <a:xfrm>
            <a:off x="749880" y="5961960"/>
            <a:ext cx="10698120" cy="420120"/>
          </a:xfrm>
          <a:prstGeom prst="roundRect">
            <a:avLst>
              <a:gd fmla="val 16667" name="adj"/>
            </a:avLst>
          </a:prstGeom>
          <a:solidFill>
            <a:srgbClr val="F1F5F7"/>
          </a:solidFill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17"/>
          <p:cNvSpPr/>
          <p:nvPr/>
        </p:nvSpPr>
        <p:spPr>
          <a:xfrm>
            <a:off x="932760" y="6007680"/>
            <a:ext cx="10332360" cy="310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Droite ajustée : Ŷ = 0.6 × X + 1.2.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2" name="Google Shape;342;p17"/>
          <p:cNvSpPr/>
          <p:nvPr/>
        </p:nvSpPr>
        <p:spPr>
          <a:xfrm>
            <a:off x="731520" y="6574680"/>
            <a:ext cx="7954920" cy="16416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OLIVIER DELRIEU  /  06.10.2026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3" name="Google Shape;343;p17"/>
          <p:cNvSpPr/>
          <p:nvPr/>
        </p:nvSpPr>
        <p:spPr>
          <a:xfrm>
            <a:off x="10625400" y="6546960"/>
            <a:ext cx="840960" cy="21924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17 / 58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FCFB"/>
        </a:solidFill>
      </p:bgPr>
    </p:bg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18"/>
          <p:cNvSpPr/>
          <p:nvPr/>
        </p:nvSpPr>
        <p:spPr>
          <a:xfrm>
            <a:off x="749880" y="420480"/>
            <a:ext cx="10698120" cy="29232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12678A"/>
                </a:solidFill>
                <a:latin typeface="Arial"/>
                <a:ea typeface="Arial"/>
                <a:cs typeface="Arial"/>
                <a:sym typeface="Arial"/>
              </a:rPr>
              <a:t>MINI-EXEMPLE X/Y · RÉGRESSION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9" name="Google Shape;349;p18"/>
          <p:cNvSpPr/>
          <p:nvPr/>
        </p:nvSpPr>
        <p:spPr>
          <a:xfrm>
            <a:off x="749880" y="804600"/>
            <a:ext cx="10698120" cy="785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00" u="none" cap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La droite ajustée est une régression linéaire</a:t>
            </a:r>
            <a:endParaRPr b="0" i="0" sz="3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0" name="Google Shape;350;p18"/>
          <p:cNvSpPr/>
          <p:nvPr/>
        </p:nvSpPr>
        <p:spPr>
          <a:xfrm>
            <a:off x="749880" y="1627560"/>
            <a:ext cx="10698120" cy="31680"/>
          </a:xfrm>
          <a:prstGeom prst="rect">
            <a:avLst/>
          </a:prstGeom>
          <a:solidFill>
            <a:srgbClr val="D4DEE4"/>
          </a:solidFill>
          <a:ln>
            <a:noFill/>
          </a:ln>
        </p:spPr>
        <p:txBody>
          <a:bodyPr anchorCtr="0" anchor="ctr" bIns="0" lIns="90000" spcFirstLastPara="1" rIns="9000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18"/>
          <p:cNvSpPr/>
          <p:nvPr/>
        </p:nvSpPr>
        <p:spPr>
          <a:xfrm>
            <a:off x="749880" y="1874520"/>
            <a:ext cx="5504400" cy="3885840"/>
          </a:xfrm>
          <a:prstGeom prst="roundRect">
            <a:avLst>
              <a:gd fmla="val 16667" name="adj"/>
            </a:avLst>
          </a:prstGeom>
          <a:solidFill>
            <a:srgbClr val="102A43"/>
          </a:solidFill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18"/>
          <p:cNvSpPr/>
          <p:nvPr/>
        </p:nvSpPr>
        <p:spPr>
          <a:xfrm>
            <a:off x="987480" y="2075760"/>
            <a:ext cx="5028840" cy="38376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B8DCE8"/>
                </a:solidFill>
                <a:latin typeface="Arial"/>
                <a:ea typeface="Arial"/>
                <a:cs typeface="Arial"/>
                <a:sym typeface="Arial"/>
              </a:rPr>
              <a:t>SUITE : x ET y DÉJÀ DÉFINIS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3" name="Google Shape;353;p18"/>
          <p:cNvSpPr/>
          <p:nvPr/>
        </p:nvSpPr>
        <p:spPr>
          <a:xfrm>
            <a:off x="987480" y="2587680"/>
            <a:ext cx="5028840" cy="28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CFCFB"/>
                </a:solidFill>
                <a:latin typeface="Courier New"/>
                <a:ea typeface="Courier New"/>
                <a:cs typeface="Courier New"/>
                <a:sym typeface="Courier New"/>
              </a:rPr>
              <a:t>fit = np.polyfit(x, y, deg=1)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CFCFB"/>
                </a:solidFill>
                <a:latin typeface="Courier New"/>
                <a:ea typeface="Courier New"/>
                <a:cs typeface="Courier New"/>
                <a:sym typeface="Courier New"/>
              </a:rPr>
              <a:t>print(np.round(fit, 1))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4" name="Google Shape;354;p18"/>
          <p:cNvSpPr/>
          <p:nvPr/>
        </p:nvSpPr>
        <p:spPr>
          <a:xfrm>
            <a:off x="6455520" y="1874520"/>
            <a:ext cx="4992120" cy="3885840"/>
          </a:xfrm>
          <a:prstGeom prst="roundRect">
            <a:avLst>
              <a:gd fmla="val 16667" name="adj"/>
            </a:avLst>
          </a:prstGeom>
          <a:solidFill>
            <a:srgbClr val="F1F5F7"/>
          </a:solidFill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18"/>
          <p:cNvSpPr/>
          <p:nvPr/>
        </p:nvSpPr>
        <p:spPr>
          <a:xfrm>
            <a:off x="6675120" y="2112120"/>
            <a:ext cx="4553280" cy="38376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2678A"/>
                </a:solidFill>
                <a:latin typeface="Arial"/>
                <a:ea typeface="Arial"/>
                <a:cs typeface="Arial"/>
                <a:sym typeface="Arial"/>
              </a:rPr>
              <a:t>RÉSULTAT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6" name="Google Shape;356;p18"/>
          <p:cNvSpPr/>
          <p:nvPr/>
        </p:nvSpPr>
        <p:spPr>
          <a:xfrm>
            <a:off x="6675120" y="2697480"/>
            <a:ext cx="4553280" cy="52092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102A43"/>
                </a:solidFill>
                <a:latin typeface="Courier New"/>
                <a:ea typeface="Courier New"/>
                <a:cs typeface="Courier New"/>
                <a:sym typeface="Courier New"/>
              </a:rPr>
              <a:t>[0.6  1.2]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7" name="Google Shape;357;p18"/>
          <p:cNvSpPr/>
          <p:nvPr/>
        </p:nvSpPr>
        <p:spPr>
          <a:xfrm>
            <a:off x="6675120" y="3346560"/>
            <a:ext cx="4553280" cy="65808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Pente a, puis ordonnée b.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8" name="Google Shape;358;p18"/>
          <p:cNvSpPr/>
          <p:nvPr/>
        </p:nvSpPr>
        <p:spPr>
          <a:xfrm>
            <a:off x="6675120" y="4123800"/>
            <a:ext cx="4553280" cy="117936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La droite minimise la somme des carrés des écarts verticaux entre les cinq points et la droite.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9" name="Google Shape;359;p18"/>
          <p:cNvSpPr/>
          <p:nvPr/>
        </p:nvSpPr>
        <p:spPr>
          <a:xfrm>
            <a:off x="749880" y="5961960"/>
            <a:ext cx="10698120" cy="420120"/>
          </a:xfrm>
          <a:prstGeom prst="roundRect">
            <a:avLst>
              <a:gd fmla="val 16667" name="adj"/>
            </a:avLst>
          </a:prstGeom>
          <a:solidFill>
            <a:srgbClr val="F1F5F7"/>
          </a:solidFill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18"/>
          <p:cNvSpPr/>
          <p:nvPr/>
        </p:nvSpPr>
        <p:spPr>
          <a:xfrm>
            <a:off x="932760" y="6007680"/>
            <a:ext cx="10332360" cy="310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Une régression linéaire simple estime Y avec X ; ce lien ne prouve pas une cause.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1" name="Google Shape;361;p18"/>
          <p:cNvSpPr/>
          <p:nvPr/>
        </p:nvSpPr>
        <p:spPr>
          <a:xfrm>
            <a:off x="731520" y="6574680"/>
            <a:ext cx="7954920" cy="16416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OLIVIER DELRIEU  /  06.10.2026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2" name="Google Shape;362;p18"/>
          <p:cNvSpPr/>
          <p:nvPr/>
        </p:nvSpPr>
        <p:spPr>
          <a:xfrm>
            <a:off x="10625400" y="6546960"/>
            <a:ext cx="840960" cy="21924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18 / 58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FCFB"/>
        </a:solidFill>
      </p:bgPr>
    </p:bg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19"/>
          <p:cNvSpPr/>
          <p:nvPr/>
        </p:nvSpPr>
        <p:spPr>
          <a:xfrm>
            <a:off x="749880" y="420480"/>
            <a:ext cx="10698120" cy="29232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12678A"/>
                </a:solidFill>
                <a:latin typeface="Arial"/>
                <a:ea typeface="Arial"/>
                <a:cs typeface="Arial"/>
                <a:sym typeface="Arial"/>
              </a:rPr>
              <a:t>MINI-EXEMPLE X/Y · TRACER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8" name="Google Shape;368;p19"/>
          <p:cNvSpPr/>
          <p:nvPr/>
        </p:nvSpPr>
        <p:spPr>
          <a:xfrm>
            <a:off x="749880" y="804600"/>
            <a:ext cx="10698120" cy="785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00" u="none" cap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Tracer les cinq points et leur droite</a:t>
            </a:r>
            <a:endParaRPr b="0" i="0" sz="3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9" name="Google Shape;369;p19"/>
          <p:cNvSpPr/>
          <p:nvPr/>
        </p:nvSpPr>
        <p:spPr>
          <a:xfrm>
            <a:off x="749880" y="1627560"/>
            <a:ext cx="10698120" cy="31680"/>
          </a:xfrm>
          <a:prstGeom prst="rect">
            <a:avLst/>
          </a:prstGeom>
          <a:solidFill>
            <a:srgbClr val="D4DEE4"/>
          </a:solidFill>
          <a:ln>
            <a:noFill/>
          </a:ln>
        </p:spPr>
        <p:txBody>
          <a:bodyPr anchorCtr="0" anchor="ctr" bIns="0" lIns="90000" spcFirstLastPara="1" rIns="9000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19"/>
          <p:cNvSpPr/>
          <p:nvPr/>
        </p:nvSpPr>
        <p:spPr>
          <a:xfrm>
            <a:off x="749880" y="1874520"/>
            <a:ext cx="5897520" cy="3885840"/>
          </a:xfrm>
          <a:prstGeom prst="roundRect">
            <a:avLst>
              <a:gd fmla="val 16667" name="adj"/>
            </a:avLst>
          </a:prstGeom>
          <a:solidFill>
            <a:srgbClr val="102A43"/>
          </a:solidFill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19"/>
          <p:cNvSpPr/>
          <p:nvPr/>
        </p:nvSpPr>
        <p:spPr>
          <a:xfrm>
            <a:off x="987480" y="2075760"/>
            <a:ext cx="5403600" cy="38376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B8DCE8"/>
                </a:solidFill>
                <a:latin typeface="Arial"/>
                <a:ea typeface="Arial"/>
                <a:cs typeface="Arial"/>
                <a:sym typeface="Arial"/>
              </a:rPr>
              <a:t>SUITE : x, y, a ET b DÉJÀ DÉFINIS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2" name="Google Shape;372;p19"/>
          <p:cNvSpPr/>
          <p:nvPr/>
        </p:nvSpPr>
        <p:spPr>
          <a:xfrm>
            <a:off x="987480" y="2597040"/>
            <a:ext cx="5403600" cy="296244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FCFCFB"/>
                </a:solidFill>
                <a:latin typeface="Courier New"/>
                <a:ea typeface="Courier New"/>
                <a:cs typeface="Courier New"/>
                <a:sym typeface="Courier New"/>
              </a:rPr>
              <a:t>import plotly.graph_objects as go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FCFCFB"/>
                </a:solidFill>
                <a:latin typeface="Courier New"/>
                <a:ea typeface="Courier New"/>
                <a:cs typeface="Courier New"/>
                <a:sym typeface="Courier New"/>
              </a:rPr>
              <a:t>line_x = [x.min(), x.max()]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FCFCFB"/>
                </a:solidFill>
                <a:latin typeface="Courier New"/>
                <a:ea typeface="Courier New"/>
                <a:cs typeface="Courier New"/>
                <a:sym typeface="Courier New"/>
              </a:rPr>
              <a:t>line_y = a * np.array(line_x) + b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FCFCFB"/>
                </a:solidFill>
                <a:latin typeface="Courier New"/>
                <a:ea typeface="Courier New"/>
                <a:cs typeface="Courier New"/>
                <a:sym typeface="Courier New"/>
              </a:rPr>
              <a:t>fig = go.Figure()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FCFCFB"/>
                </a:solidFill>
                <a:latin typeface="Courier New"/>
                <a:ea typeface="Courier New"/>
                <a:cs typeface="Courier New"/>
                <a:sym typeface="Courier New"/>
              </a:rPr>
              <a:t>fig.add_scatter(x=x, y=y, mode='markers',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FCFCFB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  marker_symbol='circle-open',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FCFCFB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  marker_color='#12678A')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FCFCFB"/>
                </a:solidFill>
                <a:latin typeface="Courier New"/>
                <a:ea typeface="Courier New"/>
                <a:cs typeface="Courier New"/>
                <a:sym typeface="Courier New"/>
              </a:rPr>
              <a:t>fig.add_scatter(x=line_x, y=line_y, mode='lines',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FCFCFB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  line_dash='dash',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FCFCFB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  line_color='#102A43')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FCFCFB"/>
                </a:solidFill>
                <a:latin typeface="Courier New"/>
                <a:ea typeface="Courier New"/>
                <a:cs typeface="Courier New"/>
                <a:sym typeface="Courier New"/>
              </a:rPr>
              <a:t>fig.update_layout(showlegend=False)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FCFCFB"/>
                </a:solidFill>
                <a:latin typeface="Courier New"/>
                <a:ea typeface="Courier New"/>
                <a:cs typeface="Courier New"/>
                <a:sym typeface="Courier New"/>
              </a:rPr>
              <a:t>fig.update_xaxes(title='X', range=[0, 10])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FCFCFB"/>
                </a:solidFill>
                <a:latin typeface="Courier New"/>
                <a:ea typeface="Courier New"/>
                <a:cs typeface="Courier New"/>
                <a:sym typeface="Courier New"/>
              </a:rPr>
              <a:t>fig.update_yaxes(title='Y', range=[0, 10])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FCFCFB"/>
                </a:solidFill>
                <a:latin typeface="Courier New"/>
                <a:ea typeface="Courier New"/>
                <a:cs typeface="Courier New"/>
                <a:sym typeface="Courier New"/>
              </a:rPr>
              <a:t>fig.show()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outlier_xy_base.png" id="373" name="Google Shape;373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39640" y="2267640"/>
            <a:ext cx="4608360" cy="2555280"/>
          </a:xfrm>
          <a:prstGeom prst="rect">
            <a:avLst/>
          </a:prstGeom>
          <a:noFill/>
          <a:ln>
            <a:noFill/>
          </a:ln>
        </p:spPr>
      </p:pic>
      <p:sp>
        <p:nvSpPr>
          <p:cNvPr id="374" name="Google Shape;374;p19"/>
          <p:cNvSpPr/>
          <p:nvPr/>
        </p:nvSpPr>
        <p:spPr>
          <a:xfrm>
            <a:off x="6931080" y="5083920"/>
            <a:ext cx="4425480" cy="47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Même cinq couples et mêmes axes 0–10 que la page 11.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5" name="Google Shape;375;p19"/>
          <p:cNvSpPr/>
          <p:nvPr/>
        </p:nvSpPr>
        <p:spPr>
          <a:xfrm>
            <a:off x="749880" y="5961960"/>
            <a:ext cx="10698120" cy="420120"/>
          </a:xfrm>
          <a:prstGeom prst="roundRect">
            <a:avLst>
              <a:gd fmla="val 16667" name="adj"/>
            </a:avLst>
          </a:prstGeom>
          <a:solidFill>
            <a:srgbClr val="F1F5F7"/>
          </a:solidFill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19"/>
          <p:cNvSpPr/>
          <p:nvPr/>
        </p:nvSpPr>
        <p:spPr>
          <a:xfrm>
            <a:off x="932760" y="6007680"/>
            <a:ext cx="10332360" cy="310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La droite est tracée de la plus petite à la plus grande valeur observée de X.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7" name="Google Shape;377;p19"/>
          <p:cNvSpPr/>
          <p:nvPr/>
        </p:nvSpPr>
        <p:spPr>
          <a:xfrm>
            <a:off x="731520" y="6574680"/>
            <a:ext cx="7954920" cy="16416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OLIVIER DELRIEU  /  06.10.2026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8" name="Google Shape;378;p19"/>
          <p:cNvSpPr/>
          <p:nvPr/>
        </p:nvSpPr>
        <p:spPr>
          <a:xfrm>
            <a:off x="10625400" y="6546960"/>
            <a:ext cx="840960" cy="21924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19 / 58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FCFB"/>
        </a:solidFill>
      </p:bgPr>
    </p:bg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20"/>
          <p:cNvSpPr/>
          <p:nvPr/>
        </p:nvSpPr>
        <p:spPr>
          <a:xfrm>
            <a:off x="749880" y="420480"/>
            <a:ext cx="10698120" cy="29232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12678A"/>
                </a:solidFill>
                <a:latin typeface="Arial"/>
                <a:ea typeface="Arial"/>
                <a:cs typeface="Arial"/>
                <a:sym typeface="Arial"/>
              </a:rPr>
              <a:t>MINI-EXEMPLE X/Y · POINT DES MOYENNES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4" name="Google Shape;384;p20"/>
          <p:cNvSpPr/>
          <p:nvPr/>
        </p:nvSpPr>
        <p:spPr>
          <a:xfrm>
            <a:off x="749880" y="804600"/>
            <a:ext cx="10698120" cy="785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00" u="none" cap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La droite passe par le point des moyennes</a:t>
            </a:r>
            <a:endParaRPr b="0" i="0" sz="3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5" name="Google Shape;385;p20"/>
          <p:cNvSpPr/>
          <p:nvPr/>
        </p:nvSpPr>
        <p:spPr>
          <a:xfrm>
            <a:off x="749880" y="1627560"/>
            <a:ext cx="10698120" cy="31680"/>
          </a:xfrm>
          <a:prstGeom prst="rect">
            <a:avLst/>
          </a:prstGeom>
          <a:solidFill>
            <a:srgbClr val="D4DEE4"/>
          </a:solidFill>
          <a:ln>
            <a:noFill/>
          </a:ln>
        </p:spPr>
        <p:txBody>
          <a:bodyPr anchorCtr="0" anchor="ctr" bIns="0" lIns="90000" spcFirstLastPara="1" rIns="9000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mean_point_on_line.png" id="386" name="Google Shape;386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9880" y="1901880"/>
            <a:ext cx="6839280" cy="3875400"/>
          </a:xfrm>
          <a:prstGeom prst="rect">
            <a:avLst/>
          </a:prstGeom>
          <a:noFill/>
          <a:ln>
            <a:noFill/>
          </a:ln>
        </p:spPr>
      </p:pic>
      <p:sp>
        <p:nvSpPr>
          <p:cNvPr id="387" name="Google Shape;387;p20"/>
          <p:cNvSpPr/>
          <p:nvPr/>
        </p:nvSpPr>
        <p:spPr>
          <a:xfrm>
            <a:off x="7754040" y="1901880"/>
            <a:ext cx="3693960" cy="3885840"/>
          </a:xfrm>
          <a:prstGeom prst="roundRect">
            <a:avLst>
              <a:gd fmla="val 16667" name="adj"/>
            </a:avLst>
          </a:prstGeom>
          <a:solidFill>
            <a:srgbClr val="F1F5F7"/>
          </a:solidFill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20"/>
          <p:cNvSpPr/>
          <p:nvPr/>
        </p:nvSpPr>
        <p:spPr>
          <a:xfrm>
            <a:off x="8010000" y="2112120"/>
            <a:ext cx="3181680" cy="34704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2678A"/>
                </a:solidFill>
                <a:latin typeface="Arial"/>
                <a:ea typeface="Arial"/>
                <a:cs typeface="Arial"/>
                <a:sym typeface="Arial"/>
              </a:rPr>
              <a:t>SUR LES CINQ COUPLES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9" name="Google Shape;389;p20"/>
          <p:cNvSpPr/>
          <p:nvPr/>
        </p:nvSpPr>
        <p:spPr>
          <a:xfrm>
            <a:off x="8010000" y="2541960"/>
            <a:ext cx="3181680" cy="40212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x̄ = 3 ; ȳ = 3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0" name="Google Shape;390;p20"/>
          <p:cNvSpPr/>
          <p:nvPr/>
        </p:nvSpPr>
        <p:spPr>
          <a:xfrm>
            <a:off x="8010000" y="3008520"/>
            <a:ext cx="3181680" cy="47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Ŷ(3) = 0.6 × 3 + 1.2 = 3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1" name="Google Shape;391;p20"/>
          <p:cNvSpPr/>
          <p:nvPr/>
        </p:nvSpPr>
        <p:spPr>
          <a:xfrm>
            <a:off x="8010000" y="3584520"/>
            <a:ext cx="3181680" cy="34704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12678A"/>
                </a:solidFill>
                <a:latin typeface="Arial"/>
                <a:ea typeface="Arial"/>
                <a:cs typeface="Arial"/>
                <a:sym typeface="Arial"/>
              </a:rPr>
              <a:t>EN GÉNÉRAL · MOINDRES CARRÉS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2" name="Google Shape;392;p20"/>
          <p:cNvSpPr/>
          <p:nvPr/>
        </p:nvSpPr>
        <p:spPr>
          <a:xfrm>
            <a:off x="8010000" y="3986640"/>
            <a:ext cx="3181680" cy="34704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Ŷ = aX + b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3" name="Google Shape;393;p20"/>
          <p:cNvSpPr/>
          <p:nvPr/>
        </p:nvSpPr>
        <p:spPr>
          <a:xfrm>
            <a:off x="8010000" y="4370760"/>
            <a:ext cx="3181680" cy="33804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a : pente ; b : ordonnée à l'origine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4" name="Google Shape;394;p20"/>
          <p:cNvSpPr/>
          <p:nvPr/>
        </p:nvSpPr>
        <p:spPr>
          <a:xfrm>
            <a:off x="8010000" y="4727520"/>
            <a:ext cx="3181680" cy="38376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b = ȳ − a × x̄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5" name="Google Shape;395;p20"/>
          <p:cNvSpPr/>
          <p:nvPr/>
        </p:nvSpPr>
        <p:spPr>
          <a:xfrm>
            <a:off x="8010000" y="5129640"/>
            <a:ext cx="3181680" cy="41112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Ŷ(x̄) = a × x̄ + b = ȳ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6" name="Google Shape;396;p20"/>
          <p:cNvSpPr/>
          <p:nvPr/>
        </p:nvSpPr>
        <p:spPr>
          <a:xfrm>
            <a:off x="749880" y="5961960"/>
            <a:ext cx="10698120" cy="420120"/>
          </a:xfrm>
          <a:prstGeom prst="roundRect">
            <a:avLst>
              <a:gd fmla="val 16667" name="adj"/>
            </a:avLst>
          </a:prstGeom>
          <a:solidFill>
            <a:srgbClr val="F1F5F7"/>
          </a:solidFill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20"/>
          <p:cNvSpPr/>
          <p:nvPr/>
        </p:nvSpPr>
        <p:spPr>
          <a:xfrm>
            <a:off x="932760" y="6007680"/>
            <a:ext cx="10332360" cy="310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Ici, (3, 3) est aussi observé ; la propriété vaut même si aucun point observé n'est au point des moyennes.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8" name="Google Shape;398;p20"/>
          <p:cNvSpPr/>
          <p:nvPr/>
        </p:nvSpPr>
        <p:spPr>
          <a:xfrm>
            <a:off x="731520" y="6574680"/>
            <a:ext cx="7954920" cy="16416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OLIVIER DELRIEU  /  06.10.2026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9" name="Google Shape;399;p20"/>
          <p:cNvSpPr/>
          <p:nvPr/>
        </p:nvSpPr>
        <p:spPr>
          <a:xfrm>
            <a:off x="10625400" y="6546960"/>
            <a:ext cx="840960" cy="21924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20 / 58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FCFB"/>
        </a:solidFill>
      </p:bgPr>
    </p:bg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21"/>
          <p:cNvSpPr/>
          <p:nvPr/>
        </p:nvSpPr>
        <p:spPr>
          <a:xfrm>
            <a:off x="749880" y="420480"/>
            <a:ext cx="10698120" cy="29232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12678A"/>
                </a:solidFill>
                <a:latin typeface="Arial"/>
                <a:ea typeface="Arial"/>
                <a:cs typeface="Arial"/>
                <a:sym typeface="Arial"/>
              </a:rPr>
              <a:t>MINI-EXEMPLE X/Y · RÉSIDUS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5" name="Google Shape;405;p21"/>
          <p:cNvSpPr/>
          <p:nvPr/>
        </p:nvSpPr>
        <p:spPr>
          <a:xfrm>
            <a:off x="749880" y="804600"/>
            <a:ext cx="10698120" cy="785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00" u="none" cap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Un résidu est un écart vertical à la droite</a:t>
            </a:r>
            <a:endParaRPr b="0" i="0" sz="3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6" name="Google Shape;406;p21"/>
          <p:cNvSpPr/>
          <p:nvPr/>
        </p:nvSpPr>
        <p:spPr>
          <a:xfrm>
            <a:off x="749880" y="1627560"/>
            <a:ext cx="10698120" cy="31680"/>
          </a:xfrm>
          <a:prstGeom prst="rect">
            <a:avLst/>
          </a:prstGeom>
          <a:solidFill>
            <a:srgbClr val="D4DEE4"/>
          </a:solidFill>
          <a:ln>
            <a:noFill/>
          </a:ln>
        </p:spPr>
        <p:txBody>
          <a:bodyPr anchorCtr="0" anchor="ctr" bIns="0" lIns="90000" spcFirstLastPara="1" rIns="9000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residual_xy_base.png" id="407" name="Google Shape;407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9880" y="1901880"/>
            <a:ext cx="6839280" cy="3792600"/>
          </a:xfrm>
          <a:prstGeom prst="rect">
            <a:avLst/>
          </a:prstGeom>
          <a:noFill/>
          <a:ln>
            <a:noFill/>
          </a:ln>
        </p:spPr>
      </p:pic>
      <p:sp>
        <p:nvSpPr>
          <p:cNvPr id="408" name="Google Shape;408;p21"/>
          <p:cNvSpPr/>
          <p:nvPr/>
        </p:nvSpPr>
        <p:spPr>
          <a:xfrm>
            <a:off x="7754040" y="1901880"/>
            <a:ext cx="3693960" cy="3885840"/>
          </a:xfrm>
          <a:prstGeom prst="roundRect">
            <a:avLst>
              <a:gd fmla="val 16667" name="adj"/>
            </a:avLst>
          </a:prstGeom>
          <a:solidFill>
            <a:srgbClr val="F1F5F7"/>
          </a:solidFill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21"/>
          <p:cNvSpPr/>
          <p:nvPr/>
        </p:nvSpPr>
        <p:spPr>
          <a:xfrm>
            <a:off x="8010000" y="2112120"/>
            <a:ext cx="3181680" cy="33804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2678A"/>
                </a:solidFill>
                <a:latin typeface="Arial"/>
                <a:ea typeface="Arial"/>
                <a:cs typeface="Arial"/>
                <a:sym typeface="Arial"/>
              </a:rPr>
              <a:t>AU POINT (4, 2)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0" name="Google Shape;410;p21"/>
          <p:cNvSpPr/>
          <p:nvPr/>
        </p:nvSpPr>
        <p:spPr>
          <a:xfrm>
            <a:off x="8010000" y="2587680"/>
            <a:ext cx="3181680" cy="47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e = 2 − 3.6 = −1.6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1" name="Google Shape;411;p21"/>
          <p:cNvSpPr/>
          <p:nvPr/>
        </p:nvSpPr>
        <p:spPr>
          <a:xfrm>
            <a:off x="8010000" y="3117960"/>
            <a:ext cx="3181680" cy="38376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Longueur : |e| = 1.6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2" name="Google Shape;412;p21"/>
          <p:cNvSpPr/>
          <p:nvPr/>
        </p:nvSpPr>
        <p:spPr>
          <a:xfrm>
            <a:off x="8010000" y="3749040"/>
            <a:ext cx="3181680" cy="34704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2678A"/>
                </a:solidFill>
                <a:latin typeface="Arial"/>
                <a:ea typeface="Arial"/>
                <a:cs typeface="Arial"/>
                <a:sym typeface="Arial"/>
              </a:rPr>
              <a:t>SUR LES 5 POINTS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3" name="Google Shape;413;p21"/>
          <p:cNvSpPr/>
          <p:nvPr/>
        </p:nvSpPr>
        <p:spPr>
          <a:xfrm>
            <a:off x="8010000" y="4187880"/>
            <a:ext cx="3181680" cy="42012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√(Σe²) = √6.4 ≈ 2.53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4" name="Google Shape;414;p21"/>
          <p:cNvSpPr/>
          <p:nvPr/>
        </p:nvSpPr>
        <p:spPr>
          <a:xfrm>
            <a:off x="8010000" y="4709160"/>
            <a:ext cx="3181680" cy="41112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Rapport = √(6.4/10) = 0.80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5" name="Google Shape;415;p21"/>
          <p:cNvSpPr/>
          <p:nvPr/>
        </p:nvSpPr>
        <p:spPr>
          <a:xfrm>
            <a:off x="8010000" y="5239440"/>
            <a:ext cx="3181680" cy="33804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10 = dispersion de Y : Σ(Y − ȳ)²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6" name="Google Shape;416;p21"/>
          <p:cNvSpPr/>
          <p:nvPr/>
        </p:nvSpPr>
        <p:spPr>
          <a:xfrm>
            <a:off x="749880" y="5961960"/>
            <a:ext cx="10698120" cy="420120"/>
          </a:xfrm>
          <a:prstGeom prst="roundRect">
            <a:avLst>
              <a:gd fmla="val 16667" name="adj"/>
            </a:avLst>
          </a:prstGeom>
          <a:solidFill>
            <a:srgbClr val="F1F5F7"/>
          </a:solidFill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21"/>
          <p:cNvSpPr/>
          <p:nvPr/>
        </p:nvSpPr>
        <p:spPr>
          <a:xfrm>
            <a:off x="932760" y="6007680"/>
            <a:ext cx="10332360" cy="310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Sur les mêmes points, mieux ajuster la droite réduit Σe² : les moindres carrés choisissent son minimum.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8" name="Google Shape;418;p21"/>
          <p:cNvSpPr/>
          <p:nvPr/>
        </p:nvSpPr>
        <p:spPr>
          <a:xfrm>
            <a:off x="731520" y="6574680"/>
            <a:ext cx="7954920" cy="16416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OLIVIER DELRIEU  /  06.10.2026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9" name="Google Shape;419;p21"/>
          <p:cNvSpPr/>
          <p:nvPr/>
        </p:nvSpPr>
        <p:spPr>
          <a:xfrm>
            <a:off x="10625400" y="6546960"/>
            <a:ext cx="840960" cy="21924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21 / 58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FCFB"/>
        </a:solidFill>
      </p:bgPr>
    </p:bg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22"/>
          <p:cNvSpPr/>
          <p:nvPr/>
        </p:nvSpPr>
        <p:spPr>
          <a:xfrm>
            <a:off x="749880" y="420480"/>
            <a:ext cx="10698120" cy="29232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12678A"/>
                </a:solidFill>
                <a:latin typeface="Arial"/>
                <a:ea typeface="Arial"/>
                <a:cs typeface="Arial"/>
                <a:sym typeface="Arial"/>
              </a:rPr>
              <a:t>MINI-EXEMPLE X/Y · COMPARER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5" name="Google Shape;425;p22"/>
          <p:cNvSpPr/>
          <p:nvPr/>
        </p:nvSpPr>
        <p:spPr>
          <a:xfrm>
            <a:off x="749880" y="804600"/>
            <a:ext cx="10698120" cy="785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00" u="none" cap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Deux sixièmes points, deux ajustements</a:t>
            </a:r>
            <a:endParaRPr b="0" i="0" sz="3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6" name="Google Shape;426;p22"/>
          <p:cNvSpPr/>
          <p:nvPr/>
        </p:nvSpPr>
        <p:spPr>
          <a:xfrm>
            <a:off x="749880" y="1627560"/>
            <a:ext cx="10698120" cy="31680"/>
          </a:xfrm>
          <a:prstGeom prst="rect">
            <a:avLst/>
          </a:prstGeom>
          <a:solidFill>
            <a:srgbClr val="D4DEE4"/>
          </a:solidFill>
          <a:ln>
            <a:noFill/>
          </a:ln>
        </p:spPr>
        <p:txBody>
          <a:bodyPr anchorCtr="0" anchor="ctr" bIns="0" lIns="90000" spcFirstLastPara="1" rIns="9000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22"/>
          <p:cNvSpPr/>
          <p:nvPr/>
        </p:nvSpPr>
        <p:spPr>
          <a:xfrm>
            <a:off x="749880" y="1874520"/>
            <a:ext cx="5230080" cy="3885840"/>
          </a:xfrm>
          <a:prstGeom prst="roundRect">
            <a:avLst>
              <a:gd fmla="val 16667" name="adj"/>
            </a:avLst>
          </a:prstGeom>
          <a:solidFill>
            <a:srgbClr val="F1F5F7"/>
          </a:solidFill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22"/>
          <p:cNvSpPr/>
          <p:nvPr/>
        </p:nvSpPr>
        <p:spPr>
          <a:xfrm>
            <a:off x="923400" y="2011680"/>
            <a:ext cx="4882680" cy="63972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2678A"/>
                </a:solidFill>
                <a:latin typeface="Arial"/>
                <a:ea typeface="Arial"/>
                <a:cs typeface="Arial"/>
                <a:sym typeface="Arial"/>
              </a:rPr>
              <a:t>Point (9, 9) · r = 0.9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2678A"/>
                </a:solidFill>
                <a:latin typeface="Arial"/>
                <a:ea typeface="Arial"/>
                <a:cs typeface="Arial"/>
                <a:sym typeface="Arial"/>
              </a:rPr>
              <a:t>Lien linéaire plus net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residual_xy_along.png" id="429" name="Google Shape;429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88720" y="2670120"/>
            <a:ext cx="4352040" cy="2413440"/>
          </a:xfrm>
          <a:prstGeom prst="rect">
            <a:avLst/>
          </a:prstGeom>
          <a:noFill/>
          <a:ln>
            <a:noFill/>
          </a:ln>
        </p:spPr>
      </p:pic>
      <p:sp>
        <p:nvSpPr>
          <p:cNvPr id="430" name="Google Shape;430;p22"/>
          <p:cNvSpPr/>
          <p:nvPr/>
        </p:nvSpPr>
        <p:spPr>
          <a:xfrm>
            <a:off x="941760" y="5120640"/>
            <a:ext cx="4845960" cy="50256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√(Σe²) = √7.6 ≈ 2.76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Rapport = √(7.6/40) ≈ 0.44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1" name="Google Shape;431;p22"/>
          <p:cNvSpPr/>
          <p:nvPr/>
        </p:nvSpPr>
        <p:spPr>
          <a:xfrm>
            <a:off x="6217920" y="1874520"/>
            <a:ext cx="5230080" cy="3885840"/>
          </a:xfrm>
          <a:prstGeom prst="roundRect">
            <a:avLst>
              <a:gd fmla="val 16667" name="adj"/>
            </a:avLst>
          </a:prstGeom>
          <a:solidFill>
            <a:srgbClr val="F1F5F7"/>
          </a:solidFill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22"/>
          <p:cNvSpPr/>
          <p:nvPr/>
        </p:nvSpPr>
        <p:spPr>
          <a:xfrm>
            <a:off x="6391800" y="2011680"/>
            <a:ext cx="4882680" cy="63972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2678A"/>
                </a:solidFill>
                <a:latin typeface="Arial"/>
                <a:ea typeface="Arial"/>
                <a:cs typeface="Arial"/>
                <a:sym typeface="Arial"/>
              </a:rPr>
              <a:t>Point (9, 3) · r = 0.3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2678A"/>
                </a:solidFill>
                <a:latin typeface="Arial"/>
                <a:ea typeface="Arial"/>
                <a:cs typeface="Arial"/>
                <a:sym typeface="Arial"/>
              </a:rPr>
              <a:t>Lien linéaire moins net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residual_xy_away.png" id="433" name="Google Shape;433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56760" y="2670120"/>
            <a:ext cx="4352040" cy="2413440"/>
          </a:xfrm>
          <a:prstGeom prst="rect">
            <a:avLst/>
          </a:prstGeom>
          <a:noFill/>
          <a:ln>
            <a:noFill/>
          </a:ln>
        </p:spPr>
      </p:pic>
      <p:sp>
        <p:nvSpPr>
          <p:cNvPr id="434" name="Google Shape;434;p22"/>
          <p:cNvSpPr/>
          <p:nvPr/>
        </p:nvSpPr>
        <p:spPr>
          <a:xfrm>
            <a:off x="6409800" y="5120640"/>
            <a:ext cx="4845960" cy="50256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√(Σe²) = √9.1 ≈ 3.02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Rapport = √(9.1/10) ≈ 0.95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5" name="Google Shape;435;p22"/>
          <p:cNvSpPr/>
          <p:nvPr/>
        </p:nvSpPr>
        <p:spPr>
          <a:xfrm>
            <a:off x="749880" y="5961960"/>
            <a:ext cx="10698120" cy="420120"/>
          </a:xfrm>
          <a:prstGeom prst="roundRect">
            <a:avLst>
              <a:gd fmla="val 16667" name="adj"/>
            </a:avLst>
          </a:prstGeom>
          <a:solidFill>
            <a:srgbClr val="F1F5F7"/>
          </a:solidFill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22"/>
          <p:cNvSpPr/>
          <p:nvPr/>
        </p:nvSpPr>
        <p:spPr>
          <a:xfrm>
            <a:off x="932760" y="6007680"/>
            <a:ext cx="10332360" cy="310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Rapport 0.95 &gt; 0.44 : moins bon ajustement et |r| plus faible ; le total brut seul ne suffit pas.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7" name="Google Shape;437;p22"/>
          <p:cNvSpPr/>
          <p:nvPr/>
        </p:nvSpPr>
        <p:spPr>
          <a:xfrm>
            <a:off x="731520" y="6574680"/>
            <a:ext cx="7954920" cy="16416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OLIVIER DELRIEU  /  06.10.2026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8" name="Google Shape;438;p22"/>
          <p:cNvSpPr/>
          <p:nvPr/>
        </p:nvSpPr>
        <p:spPr>
          <a:xfrm>
            <a:off x="10625400" y="6546960"/>
            <a:ext cx="840960" cy="21924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22 / 58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FCFB"/>
        </a:solidFill>
      </p:bgPr>
    </p:bg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23"/>
          <p:cNvSpPr/>
          <p:nvPr/>
        </p:nvSpPr>
        <p:spPr>
          <a:xfrm>
            <a:off x="749880" y="420480"/>
            <a:ext cx="10698120" cy="29232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12678A"/>
                </a:solidFill>
                <a:latin typeface="Arial"/>
                <a:ea typeface="Arial"/>
                <a:cs typeface="Arial"/>
                <a:sym typeface="Arial"/>
              </a:rPr>
              <a:t>MINI-EXEMPLE X/Y · 51 POINTS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4" name="Google Shape;444;p23"/>
          <p:cNvSpPr/>
          <p:nvPr/>
        </p:nvSpPr>
        <p:spPr>
          <a:xfrm>
            <a:off x="749880" y="804600"/>
            <a:ext cx="10698120" cy="785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00" u="none" cap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r reste fort, mais un point s'écarte</a:t>
            </a:r>
            <a:endParaRPr b="0" i="0" sz="3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5" name="Google Shape;445;p23"/>
          <p:cNvSpPr/>
          <p:nvPr/>
        </p:nvSpPr>
        <p:spPr>
          <a:xfrm>
            <a:off x="749880" y="1627560"/>
            <a:ext cx="10698120" cy="31680"/>
          </a:xfrm>
          <a:prstGeom prst="rect">
            <a:avLst/>
          </a:prstGeom>
          <a:solidFill>
            <a:srgbClr val="D4DEE4"/>
          </a:solidFill>
          <a:ln>
            <a:noFill/>
          </a:ln>
        </p:spPr>
        <p:txBody>
          <a:bodyPr anchorCtr="0" anchor="ctr" bIns="0" lIns="90000" spcFirstLastPara="1" rIns="9000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large_residual_51_points.png" id="446" name="Google Shape;446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9880" y="1901880"/>
            <a:ext cx="6839280" cy="3875400"/>
          </a:xfrm>
          <a:prstGeom prst="rect">
            <a:avLst/>
          </a:prstGeom>
          <a:noFill/>
          <a:ln>
            <a:noFill/>
          </a:ln>
        </p:spPr>
      </p:pic>
      <p:sp>
        <p:nvSpPr>
          <p:cNvPr id="447" name="Google Shape;447;p23"/>
          <p:cNvSpPr/>
          <p:nvPr/>
        </p:nvSpPr>
        <p:spPr>
          <a:xfrm>
            <a:off x="7754040" y="1901880"/>
            <a:ext cx="3693960" cy="3885840"/>
          </a:xfrm>
          <a:prstGeom prst="roundRect">
            <a:avLst>
              <a:gd fmla="val 16667" name="adj"/>
            </a:avLst>
          </a:prstGeom>
          <a:solidFill>
            <a:srgbClr val="F1F5F7"/>
          </a:solidFill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8" name="Google Shape;448;p23"/>
          <p:cNvSpPr/>
          <p:nvPr/>
        </p:nvSpPr>
        <p:spPr>
          <a:xfrm>
            <a:off x="8010000" y="2112120"/>
            <a:ext cx="3181680" cy="34704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2678A"/>
                </a:solidFill>
                <a:latin typeface="Arial"/>
                <a:ea typeface="Arial"/>
                <a:cs typeface="Arial"/>
                <a:sym typeface="Arial"/>
              </a:rPr>
              <a:t>AUTRE JEU SIMULÉ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9" name="Google Shape;449;p23"/>
          <p:cNvSpPr/>
          <p:nvPr/>
        </p:nvSpPr>
        <p:spPr>
          <a:xfrm>
            <a:off x="8010000" y="2569320"/>
            <a:ext cx="3181680" cy="55728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50 points : Y = 1.5X + 2 + bruit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0" name="Google Shape;450;p23"/>
          <p:cNvSpPr/>
          <p:nvPr/>
        </p:nvSpPr>
        <p:spPr>
          <a:xfrm>
            <a:off x="8010000" y="3173040"/>
            <a:ext cx="3181680" cy="41112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r sur 50 = 0.991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1" name="Google Shape;451;p23"/>
          <p:cNvSpPr/>
          <p:nvPr/>
        </p:nvSpPr>
        <p:spPr>
          <a:xfrm>
            <a:off x="8010000" y="3740040"/>
            <a:ext cx="3181680" cy="34704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2678A"/>
                </a:solidFill>
                <a:latin typeface="Arial"/>
                <a:ea typeface="Arial"/>
                <a:cs typeface="Arial"/>
                <a:sym typeface="Arial"/>
              </a:rPr>
              <a:t>AJOUTER (5, 18)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2" name="Google Shape;452;p23"/>
          <p:cNvSpPr/>
          <p:nvPr/>
        </p:nvSpPr>
        <p:spPr>
          <a:xfrm>
            <a:off x="8010000" y="4123800"/>
            <a:ext cx="3181680" cy="41112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r sur 51 = 0.958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3" name="Google Shape;453;p23"/>
          <p:cNvSpPr/>
          <p:nvPr/>
        </p:nvSpPr>
        <p:spPr>
          <a:xfrm>
            <a:off x="8010000" y="4663440"/>
            <a:ext cx="3181680" cy="34704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Droite refaite sur 51 points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4" name="Google Shape;454;p23"/>
          <p:cNvSpPr/>
          <p:nvPr/>
        </p:nvSpPr>
        <p:spPr>
          <a:xfrm>
            <a:off x="8010000" y="5047560"/>
            <a:ext cx="3181680" cy="34704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Ŷ(5) = 9.69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5" name="Google Shape;455;p23"/>
          <p:cNvSpPr/>
          <p:nvPr/>
        </p:nvSpPr>
        <p:spPr>
          <a:xfrm>
            <a:off x="8010000" y="5413320"/>
            <a:ext cx="3181680" cy="34704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e = 18 − 9.69 = +8.31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6" name="Google Shape;456;p23"/>
          <p:cNvSpPr/>
          <p:nvPr/>
        </p:nvSpPr>
        <p:spPr>
          <a:xfrm>
            <a:off x="749880" y="5961960"/>
            <a:ext cx="10698120" cy="420120"/>
          </a:xfrm>
          <a:prstGeom prst="roundRect">
            <a:avLst>
              <a:gd fmla="val 16667" name="adj"/>
            </a:avLst>
          </a:prstGeom>
          <a:solidFill>
            <a:srgbClr val="F1F5F7"/>
          </a:solidFill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" name="Google Shape;457;p23"/>
          <p:cNvSpPr/>
          <p:nvPr/>
        </p:nvSpPr>
        <p:spPr>
          <a:xfrm>
            <a:off x="932760" y="6007680"/>
            <a:ext cx="10332360" cy="310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Autres |e| ≤ 2.05. Hypothèses à vérifier : saisie, groupe, événement rare ; le résidu ne dit pas pourquoi.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8" name="Google Shape;458;p23"/>
          <p:cNvSpPr/>
          <p:nvPr/>
        </p:nvSpPr>
        <p:spPr>
          <a:xfrm>
            <a:off x="731520" y="6574680"/>
            <a:ext cx="7954920" cy="16416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OLIVIER DELRIEU  /  06.10.2026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9" name="Google Shape;459;p23"/>
          <p:cNvSpPr/>
          <p:nvPr/>
        </p:nvSpPr>
        <p:spPr>
          <a:xfrm>
            <a:off x="10625400" y="6546960"/>
            <a:ext cx="840960" cy="21924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23 / 58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FCFB"/>
        </a:solidFill>
      </p:bgPr>
    </p:bg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p24"/>
          <p:cNvSpPr/>
          <p:nvPr/>
        </p:nvSpPr>
        <p:spPr>
          <a:xfrm>
            <a:off x="749880" y="420480"/>
            <a:ext cx="10698120" cy="29232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12678A"/>
                </a:solidFill>
                <a:latin typeface="Arial"/>
                <a:ea typeface="Arial"/>
                <a:cs typeface="Arial"/>
                <a:sym typeface="Arial"/>
              </a:rPr>
              <a:t>EXERCICE · CODE PLOTLY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5" name="Google Shape;465;p24"/>
          <p:cNvSpPr/>
          <p:nvPr/>
        </p:nvSpPr>
        <p:spPr>
          <a:xfrm>
            <a:off x="749880" y="804600"/>
            <a:ext cx="10698120" cy="785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00" u="none" cap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Recréer le graphique des 51 points</a:t>
            </a:r>
            <a:endParaRPr b="0" i="0" sz="3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6" name="Google Shape;466;p24"/>
          <p:cNvSpPr/>
          <p:nvPr/>
        </p:nvSpPr>
        <p:spPr>
          <a:xfrm>
            <a:off x="749880" y="1627560"/>
            <a:ext cx="10698120" cy="31680"/>
          </a:xfrm>
          <a:prstGeom prst="rect">
            <a:avLst/>
          </a:prstGeom>
          <a:solidFill>
            <a:srgbClr val="D4DEE4"/>
          </a:solidFill>
          <a:ln>
            <a:noFill/>
          </a:ln>
        </p:spPr>
        <p:txBody>
          <a:bodyPr anchorCtr="0" anchor="ctr" bIns="0" lIns="90000" spcFirstLastPara="1" rIns="9000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p24"/>
          <p:cNvSpPr/>
          <p:nvPr/>
        </p:nvSpPr>
        <p:spPr>
          <a:xfrm>
            <a:off x="749880" y="1901880"/>
            <a:ext cx="5504400" cy="3885840"/>
          </a:xfrm>
          <a:prstGeom prst="roundRect">
            <a:avLst>
              <a:gd fmla="val 16667" name="adj"/>
            </a:avLst>
          </a:prstGeom>
          <a:solidFill>
            <a:srgbClr val="F1F5F7"/>
          </a:solidFill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8" name="Google Shape;468;p24"/>
          <p:cNvSpPr/>
          <p:nvPr/>
        </p:nvSpPr>
        <p:spPr>
          <a:xfrm>
            <a:off x="1005840" y="2139840"/>
            <a:ext cx="4983120" cy="36540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12678A"/>
                </a:solidFill>
                <a:latin typeface="Arial"/>
                <a:ea typeface="Arial"/>
                <a:cs typeface="Arial"/>
                <a:sym typeface="Arial"/>
              </a:rPr>
              <a:t>OBJECTIF ET VÉRIFICATIONS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9" name="Google Shape;469;p24"/>
          <p:cNvSpPr/>
          <p:nvPr/>
        </p:nvSpPr>
        <p:spPr>
          <a:xfrm>
            <a:off x="1005840" y="2688480"/>
            <a:ext cx="4983120" cy="266976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Reproduire la figure précédente avec les données fournies.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À vérifier : droite ajustée sur 51 points, résidu vertical, r avant/après.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Expliquer votre stratégie et proposer une vérification pour le point 51.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0" name="Google Shape;470;p24"/>
          <p:cNvSpPr/>
          <p:nvPr/>
        </p:nvSpPr>
        <p:spPr>
          <a:xfrm>
            <a:off x="6455520" y="1901880"/>
            <a:ext cx="4992120" cy="3885840"/>
          </a:xfrm>
          <a:prstGeom prst="roundRect">
            <a:avLst>
              <a:gd fmla="val 16667" name="adj"/>
            </a:avLst>
          </a:prstGeom>
          <a:solidFill>
            <a:srgbClr val="102A43"/>
          </a:solidFill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1" name="Google Shape;471;p24"/>
          <p:cNvSpPr/>
          <p:nvPr/>
        </p:nvSpPr>
        <p:spPr>
          <a:xfrm>
            <a:off x="6720840" y="2139840"/>
            <a:ext cx="4471200" cy="36540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B8DCE8"/>
                </a:solidFill>
                <a:latin typeface="Arial"/>
                <a:ea typeface="Arial"/>
                <a:cs typeface="Arial"/>
                <a:sym typeface="Arial"/>
              </a:rPr>
              <a:t>AIDES DANS LE NOTEBOOK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2" name="Google Shape;472;p24"/>
          <p:cNvSpPr/>
          <p:nvPr/>
        </p:nvSpPr>
        <p:spPr>
          <a:xfrm>
            <a:off x="6720840" y="2633400"/>
            <a:ext cx="4471200" cy="80424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FCFCFB"/>
                </a:solidFill>
                <a:latin typeface="Courier New"/>
                <a:ea typeface="Courier New"/>
                <a:cs typeface="Courier New"/>
                <a:sym typeface="Courier New"/>
              </a:rPr>
              <a:t>courses/2026-10-06/notebooks/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FCFCFB"/>
                </a:solidFill>
                <a:latin typeface="Courier New"/>
                <a:ea typeface="Courier New"/>
                <a:cs typeface="Courier New"/>
                <a:sym typeface="Courier New"/>
              </a:rPr>
              <a:t>plot_large_residual_exercise.ipynb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3" name="Google Shape;473;p24"/>
          <p:cNvSpPr/>
          <p:nvPr/>
        </p:nvSpPr>
        <p:spPr>
          <a:xfrm>
            <a:off x="6720840" y="3675960"/>
            <a:ext cx="4471200" cy="34704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B8DCE8"/>
                </a:solidFill>
                <a:latin typeface="Arial"/>
                <a:ea typeface="Arial"/>
                <a:cs typeface="Arial"/>
                <a:sym typeface="Arial"/>
              </a:rPr>
              <a:t>RESSOURCES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4" name="Google Shape;474;p24"/>
          <p:cNvSpPr/>
          <p:nvPr/>
        </p:nvSpPr>
        <p:spPr>
          <a:xfrm>
            <a:off x="6720840" y="4123800"/>
            <a:ext cx="4471200" cy="119736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FCFCFB"/>
                </a:solidFill>
                <a:latin typeface="Arial"/>
                <a:ea typeface="Arial"/>
                <a:cs typeface="Arial"/>
                <a:sym typeface="Arial"/>
              </a:rPr>
              <a:t>Données reproductibles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FCFCFB"/>
                </a:solidFill>
                <a:latin typeface="Arial"/>
                <a:ea typeface="Arial"/>
                <a:cs typeface="Arial"/>
                <a:sym typeface="Arial"/>
              </a:rPr>
              <a:t>np.polyfit · np.corrcoef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FCFCFB"/>
                </a:solidFill>
                <a:latin typeface="Arial"/>
                <a:ea typeface="Arial"/>
                <a:cs typeface="Arial"/>
                <a:sym typeface="Arial"/>
              </a:rPr>
              <a:t>go.Figure · add_scatter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5" name="Google Shape;475;p24"/>
          <p:cNvSpPr/>
          <p:nvPr/>
        </p:nvSpPr>
        <p:spPr>
          <a:xfrm>
            <a:off x="749880" y="5961960"/>
            <a:ext cx="10698120" cy="420120"/>
          </a:xfrm>
          <a:prstGeom prst="roundRect">
            <a:avLst>
              <a:gd fmla="val 16667" name="adj"/>
            </a:avLst>
          </a:prstGeom>
          <a:solidFill>
            <a:srgbClr val="F1F5F7"/>
          </a:solidFill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6" name="Google Shape;476;p24"/>
          <p:cNvSpPr/>
          <p:nvPr/>
        </p:nvSpPr>
        <p:spPr>
          <a:xfrm>
            <a:off x="932760" y="6007680"/>
            <a:ext cx="10332360" cy="310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Comparer à la page 23 : axes X 0–10, Y 0–20 ; r sur 51 ≈ 0.958 et résidu du point 51 ≈ +8.31.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7" name="Google Shape;477;p24"/>
          <p:cNvSpPr/>
          <p:nvPr/>
        </p:nvSpPr>
        <p:spPr>
          <a:xfrm>
            <a:off x="731520" y="6574680"/>
            <a:ext cx="7954920" cy="16416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OLIVIER DELRIEU  /  06.10.2026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8" name="Google Shape;478;p24"/>
          <p:cNvSpPr/>
          <p:nvPr/>
        </p:nvSpPr>
        <p:spPr>
          <a:xfrm>
            <a:off x="10625400" y="6546960"/>
            <a:ext cx="840960" cy="21924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24 / 58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FCFB"/>
        </a:solidFill>
      </p:bgPr>
    </p:bg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p25"/>
          <p:cNvSpPr/>
          <p:nvPr/>
        </p:nvSpPr>
        <p:spPr>
          <a:xfrm>
            <a:off x="0" y="0"/>
            <a:ext cx="12197880" cy="6857640"/>
          </a:xfrm>
          <a:prstGeom prst="rect">
            <a:avLst/>
          </a:prstGeom>
          <a:solidFill>
            <a:srgbClr val="102A43"/>
          </a:solidFill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4" name="Google Shape;484;p25"/>
          <p:cNvSpPr/>
          <p:nvPr/>
        </p:nvSpPr>
        <p:spPr>
          <a:xfrm>
            <a:off x="777240" y="749880"/>
            <a:ext cx="10606680" cy="40212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B8DCE8"/>
                </a:solidFill>
                <a:latin typeface="Arial"/>
                <a:ea typeface="Arial"/>
                <a:cs typeface="Arial"/>
                <a:sym typeface="Arial"/>
              </a:rPr>
              <a:t>REPÈRE · POUR LA SUITE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5" name="Google Shape;485;p25"/>
          <p:cNvSpPr/>
          <p:nvPr/>
        </p:nvSpPr>
        <p:spPr>
          <a:xfrm>
            <a:off x="795600" y="1463040"/>
            <a:ext cx="914040" cy="54360"/>
          </a:xfrm>
          <a:prstGeom prst="rect">
            <a:avLst/>
          </a:prstGeom>
          <a:solidFill>
            <a:srgbClr val="B66D3A"/>
          </a:solidFill>
          <a:ln>
            <a:noFill/>
          </a:ln>
        </p:spPr>
        <p:txBody>
          <a:bodyPr anchorCtr="0" anchor="ctr" bIns="9700" lIns="90000" spcFirstLastPara="1" rIns="90000" wrap="square" tIns="9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6" name="Google Shape;486;p25"/>
          <p:cNvSpPr/>
          <p:nvPr/>
        </p:nvSpPr>
        <p:spPr>
          <a:xfrm>
            <a:off x="777240" y="1847160"/>
            <a:ext cx="10606680" cy="1919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00" u="none" cap="none" strike="noStrike">
                <a:solidFill>
                  <a:srgbClr val="FCFCFB"/>
                </a:solidFill>
                <a:latin typeface="Arial"/>
                <a:ea typeface="Arial"/>
                <a:cs typeface="Arial"/>
                <a:sym typeface="Arial"/>
              </a:rPr>
              <a:t>Âge, groupe et montant d'achat</a:t>
            </a:r>
            <a:endParaRPr b="0" i="0" sz="4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i="0" lang="en-US" sz="4000" u="none" cap="none" strike="noStrike">
                <a:solidFill>
                  <a:srgbClr val="FCFCFB"/>
                </a:solidFill>
                <a:latin typeface="Arial"/>
                <a:ea typeface="Arial"/>
                <a:cs typeface="Arial"/>
                <a:sym typeface="Arial"/>
              </a:rPr>
              <a:t>=&gt; la suite avec nombre de visites</a:t>
            </a:r>
            <a:endParaRPr b="0" i="0" sz="4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7" name="Google Shape;487;p25"/>
          <p:cNvSpPr/>
          <p:nvPr/>
        </p:nvSpPr>
        <p:spPr>
          <a:xfrm>
            <a:off x="777240" y="4325040"/>
            <a:ext cx="10606680" cy="109692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00" u="none" cap="none" strike="noStrike">
                <a:solidFill>
                  <a:srgbClr val="DCE8EE"/>
                </a:solidFill>
                <a:latin typeface="Arial"/>
                <a:ea typeface="Arial"/>
                <a:cs typeface="Arial"/>
                <a:sym typeface="Arial"/>
              </a:rPr>
              <a:t>Le rappel continue ; les groupes viennent ensuite, les visites plus loin.</a:t>
            </a:r>
            <a:endParaRPr b="0" i="0" sz="2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8" name="Google Shape;488;p25"/>
          <p:cNvSpPr/>
          <p:nvPr/>
        </p:nvSpPr>
        <p:spPr>
          <a:xfrm>
            <a:off x="731520" y="6574680"/>
            <a:ext cx="7954920" cy="16416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B8DCE8"/>
                </a:solidFill>
                <a:latin typeface="Arial"/>
                <a:ea typeface="Arial"/>
                <a:cs typeface="Arial"/>
                <a:sym typeface="Arial"/>
              </a:rPr>
              <a:t>OLIVIER DELRIEU  /  06.10.2026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9" name="Google Shape;489;p25"/>
          <p:cNvSpPr/>
          <p:nvPr/>
        </p:nvSpPr>
        <p:spPr>
          <a:xfrm>
            <a:off x="10625400" y="6546960"/>
            <a:ext cx="840960" cy="21924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B8DCE8"/>
                </a:solidFill>
                <a:latin typeface="Arial"/>
                <a:ea typeface="Arial"/>
                <a:cs typeface="Arial"/>
                <a:sym typeface="Arial"/>
              </a:rPr>
              <a:t>25 / 58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FCFB"/>
        </a:solidFill>
      </p:bgPr>
    </p:bg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p26"/>
          <p:cNvSpPr/>
          <p:nvPr/>
        </p:nvSpPr>
        <p:spPr>
          <a:xfrm>
            <a:off x="749880" y="420480"/>
            <a:ext cx="10697400" cy="291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12678A"/>
                </a:solidFill>
                <a:latin typeface="Arial"/>
                <a:ea typeface="Arial"/>
                <a:cs typeface="Arial"/>
                <a:sym typeface="Arial"/>
              </a:rPr>
              <a:t>CORRÉLATION DE PEARSON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6" name="Google Shape;496;p26"/>
          <p:cNvSpPr/>
          <p:nvPr/>
        </p:nvSpPr>
        <p:spPr>
          <a:xfrm>
            <a:off x="749880" y="804600"/>
            <a:ext cx="10697400" cy="78516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00" u="none" cap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Lire r sans dépasser ce qu'il mesure</a:t>
            </a:r>
            <a:endParaRPr b="0" i="0" sz="3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7" name="Google Shape;497;p26"/>
          <p:cNvSpPr/>
          <p:nvPr/>
        </p:nvSpPr>
        <p:spPr>
          <a:xfrm>
            <a:off x="749880" y="1627560"/>
            <a:ext cx="10697400" cy="30960"/>
          </a:xfrm>
          <a:prstGeom prst="rect">
            <a:avLst/>
          </a:prstGeom>
          <a:solidFill>
            <a:srgbClr val="D4DEE4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0" lIns="90000" spcFirstLastPara="1" rIns="9000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8" name="Google Shape;498;p26"/>
          <p:cNvSpPr/>
          <p:nvPr/>
        </p:nvSpPr>
        <p:spPr>
          <a:xfrm>
            <a:off x="731520" y="1947600"/>
            <a:ext cx="1987920" cy="799200"/>
          </a:xfrm>
          <a:prstGeom prst="rect">
            <a:avLst/>
          </a:prstGeom>
          <a:solidFill>
            <a:srgbClr val="102A43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9" name="Google Shape;499;p26"/>
          <p:cNvSpPr/>
          <p:nvPr/>
        </p:nvSpPr>
        <p:spPr>
          <a:xfrm>
            <a:off x="841320" y="1965960"/>
            <a:ext cx="1791000" cy="785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CFCFB"/>
                </a:solidFill>
                <a:latin typeface="Arial"/>
                <a:ea typeface="Arial"/>
                <a:cs typeface="Arial"/>
                <a:sym typeface="Arial"/>
              </a:rPr>
              <a:t>Valeur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0" name="Google Shape;500;p26"/>
          <p:cNvSpPr/>
          <p:nvPr/>
        </p:nvSpPr>
        <p:spPr>
          <a:xfrm>
            <a:off x="2743200" y="1947600"/>
            <a:ext cx="4182120" cy="799200"/>
          </a:xfrm>
          <a:prstGeom prst="rect">
            <a:avLst/>
          </a:prstGeom>
          <a:solidFill>
            <a:srgbClr val="102A43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" name="Google Shape;501;p26"/>
          <p:cNvSpPr/>
          <p:nvPr/>
        </p:nvSpPr>
        <p:spPr>
          <a:xfrm>
            <a:off x="2853000" y="1965960"/>
            <a:ext cx="3985560" cy="785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CFCFB"/>
                </a:solidFill>
                <a:latin typeface="Arial"/>
                <a:ea typeface="Arial"/>
                <a:cs typeface="Arial"/>
                <a:sym typeface="Arial"/>
              </a:rPr>
              <a:t>Lecture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2" name="Google Shape;502;p26"/>
          <p:cNvSpPr/>
          <p:nvPr/>
        </p:nvSpPr>
        <p:spPr>
          <a:xfrm>
            <a:off x="6949440" y="1947600"/>
            <a:ext cx="4456800" cy="799200"/>
          </a:xfrm>
          <a:prstGeom prst="rect">
            <a:avLst/>
          </a:prstGeom>
          <a:solidFill>
            <a:srgbClr val="102A43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3" name="Google Shape;503;p26"/>
          <p:cNvSpPr/>
          <p:nvPr/>
        </p:nvSpPr>
        <p:spPr>
          <a:xfrm>
            <a:off x="7059240" y="1965960"/>
            <a:ext cx="4259880" cy="785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CFCFB"/>
                </a:solidFill>
                <a:latin typeface="Arial"/>
                <a:ea typeface="Arial"/>
                <a:cs typeface="Arial"/>
                <a:sym typeface="Arial"/>
              </a:rPr>
              <a:t>Attention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4" name="Google Shape;504;p26"/>
          <p:cNvSpPr/>
          <p:nvPr/>
        </p:nvSpPr>
        <p:spPr>
          <a:xfrm>
            <a:off x="731520" y="2770560"/>
            <a:ext cx="1987920" cy="79920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5" name="Google Shape;505;p26"/>
          <p:cNvSpPr/>
          <p:nvPr/>
        </p:nvSpPr>
        <p:spPr>
          <a:xfrm>
            <a:off x="841320" y="2788920"/>
            <a:ext cx="1791000" cy="785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r &gt; 0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6" name="Google Shape;506;p26"/>
          <p:cNvSpPr/>
          <p:nvPr/>
        </p:nvSpPr>
        <p:spPr>
          <a:xfrm>
            <a:off x="2743200" y="2770560"/>
            <a:ext cx="4182120" cy="79920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7" name="Google Shape;507;p26"/>
          <p:cNvSpPr/>
          <p:nvPr/>
        </p:nvSpPr>
        <p:spPr>
          <a:xfrm>
            <a:off x="2853000" y="2788920"/>
            <a:ext cx="3985560" cy="785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Tendance linéaire croissante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8" name="Google Shape;508;p26"/>
          <p:cNvSpPr/>
          <p:nvPr/>
        </p:nvSpPr>
        <p:spPr>
          <a:xfrm>
            <a:off x="6949440" y="2770560"/>
            <a:ext cx="4456800" cy="79920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9" name="Google Shape;509;p26"/>
          <p:cNvSpPr/>
          <p:nvPr/>
        </p:nvSpPr>
        <p:spPr>
          <a:xfrm>
            <a:off x="7059240" y="2788920"/>
            <a:ext cx="4259880" cy="785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Intensité à interpréter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0" name="Google Shape;510;p26"/>
          <p:cNvSpPr/>
          <p:nvPr/>
        </p:nvSpPr>
        <p:spPr>
          <a:xfrm>
            <a:off x="731520" y="3593520"/>
            <a:ext cx="1987920" cy="79920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1" name="Google Shape;511;p26"/>
          <p:cNvSpPr/>
          <p:nvPr/>
        </p:nvSpPr>
        <p:spPr>
          <a:xfrm>
            <a:off x="841320" y="3611880"/>
            <a:ext cx="1791000" cy="785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r &lt; 0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2" name="Google Shape;512;p26"/>
          <p:cNvSpPr/>
          <p:nvPr/>
        </p:nvSpPr>
        <p:spPr>
          <a:xfrm>
            <a:off x="2743200" y="3593520"/>
            <a:ext cx="4182120" cy="79920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3" name="Google Shape;513;p26"/>
          <p:cNvSpPr/>
          <p:nvPr/>
        </p:nvSpPr>
        <p:spPr>
          <a:xfrm>
            <a:off x="2853000" y="3611880"/>
            <a:ext cx="3985560" cy="785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Tendance linéaire décroissante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4" name="Google Shape;514;p26"/>
          <p:cNvSpPr/>
          <p:nvPr/>
        </p:nvSpPr>
        <p:spPr>
          <a:xfrm>
            <a:off x="6949440" y="3593520"/>
            <a:ext cx="4456800" cy="79920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5" name="Google Shape;515;p26"/>
          <p:cNvSpPr/>
          <p:nvPr/>
        </p:nvSpPr>
        <p:spPr>
          <a:xfrm>
            <a:off x="7059240" y="3611880"/>
            <a:ext cx="4259880" cy="785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Intensité à interpréter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6" name="Google Shape;516;p26"/>
          <p:cNvSpPr/>
          <p:nvPr/>
        </p:nvSpPr>
        <p:spPr>
          <a:xfrm>
            <a:off x="731520" y="4416480"/>
            <a:ext cx="1987920" cy="79920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7" name="Google Shape;517;p26"/>
          <p:cNvSpPr/>
          <p:nvPr/>
        </p:nvSpPr>
        <p:spPr>
          <a:xfrm>
            <a:off x="841320" y="4434840"/>
            <a:ext cx="1791000" cy="785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r ≈ 0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8" name="Google Shape;518;p26"/>
          <p:cNvSpPr/>
          <p:nvPr/>
        </p:nvSpPr>
        <p:spPr>
          <a:xfrm>
            <a:off x="2743200" y="4416480"/>
            <a:ext cx="4182120" cy="79920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9" name="Google Shape;519;p26"/>
          <p:cNvSpPr/>
          <p:nvPr/>
        </p:nvSpPr>
        <p:spPr>
          <a:xfrm>
            <a:off x="2853000" y="4434840"/>
            <a:ext cx="3985560" cy="785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Pas de tendance linéaire claire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0" name="Google Shape;520;p26"/>
          <p:cNvSpPr/>
          <p:nvPr/>
        </p:nvSpPr>
        <p:spPr>
          <a:xfrm>
            <a:off x="6949440" y="4416480"/>
            <a:ext cx="4456800" cy="79920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1" name="Google Shape;521;p26"/>
          <p:cNvSpPr/>
          <p:nvPr/>
        </p:nvSpPr>
        <p:spPr>
          <a:xfrm>
            <a:off x="7059240" y="4434840"/>
            <a:ext cx="4259880" cy="785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Une courbe peut rester présente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2" name="Google Shape;522;p26"/>
          <p:cNvSpPr/>
          <p:nvPr/>
        </p:nvSpPr>
        <p:spPr>
          <a:xfrm>
            <a:off x="749880" y="5961960"/>
            <a:ext cx="10697400" cy="419400"/>
          </a:xfrm>
          <a:prstGeom prst="roundRect">
            <a:avLst>
              <a:gd fmla="val 16667" name="adj"/>
            </a:avLst>
          </a:prstGeom>
          <a:solidFill>
            <a:srgbClr val="F1F5F7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3" name="Google Shape;523;p26"/>
          <p:cNvSpPr/>
          <p:nvPr/>
        </p:nvSpPr>
        <p:spPr>
          <a:xfrm>
            <a:off x="932760" y="6007680"/>
            <a:ext cx="10331640" cy="309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Regarder le nuage : Pearson ne résume que la linéarité, reste sensible aux valeurs extrêmes et ne prouve aucune causalité.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4" name="Google Shape;524;p26"/>
          <p:cNvSpPr/>
          <p:nvPr/>
        </p:nvSpPr>
        <p:spPr>
          <a:xfrm>
            <a:off x="731520" y="6574680"/>
            <a:ext cx="7954200" cy="16344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OLIVIER DELRIEU  /  06.10.2026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5" name="Google Shape;525;p26"/>
          <p:cNvSpPr/>
          <p:nvPr/>
        </p:nvSpPr>
        <p:spPr>
          <a:xfrm>
            <a:off x="10625400" y="6546960"/>
            <a:ext cx="867600" cy="21852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26 / 58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FCFB"/>
        </a:solidFill>
      </p:bgPr>
    </p:bg>
    <p:spTree>
      <p:nvGrpSpPr>
        <p:cNvPr id="530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p27"/>
          <p:cNvSpPr/>
          <p:nvPr/>
        </p:nvSpPr>
        <p:spPr>
          <a:xfrm>
            <a:off x="749880" y="420480"/>
            <a:ext cx="10697400" cy="291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12678A"/>
                </a:solidFill>
                <a:latin typeface="Arial"/>
                <a:ea typeface="Arial"/>
                <a:cs typeface="Arial"/>
                <a:sym typeface="Arial"/>
              </a:rPr>
              <a:t>NUAGE XY · 1/3 · GRAPHIQUE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2" name="Google Shape;532;p27"/>
          <p:cNvSpPr/>
          <p:nvPr/>
        </p:nvSpPr>
        <p:spPr>
          <a:xfrm>
            <a:off x="749880" y="804600"/>
            <a:ext cx="10697400" cy="78516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00" u="none" cap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1 · Revoir le nuage attente–montant</a:t>
            </a:r>
            <a:endParaRPr b="0" i="0" sz="3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3" name="Google Shape;533;p27"/>
          <p:cNvSpPr/>
          <p:nvPr/>
        </p:nvSpPr>
        <p:spPr>
          <a:xfrm>
            <a:off x="749880" y="1627560"/>
            <a:ext cx="10697400" cy="30960"/>
          </a:xfrm>
          <a:prstGeom prst="rect">
            <a:avLst/>
          </a:prstGeom>
          <a:solidFill>
            <a:srgbClr val="D4DEE4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0" lIns="90000" spcFirstLastPara="1" rIns="9000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Graphique : 1 · Revoir le nuage attente–montant" id="534" name="Google Shape;534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8880" y="1847160"/>
            <a:ext cx="10679040" cy="4003920"/>
          </a:xfrm>
          <a:prstGeom prst="rect">
            <a:avLst/>
          </a:prstGeom>
          <a:noFill/>
          <a:ln>
            <a:noFill/>
          </a:ln>
        </p:spPr>
      </p:pic>
      <p:sp>
        <p:nvSpPr>
          <p:cNvPr id="535" name="Google Shape;535;p27"/>
          <p:cNvSpPr/>
          <p:nvPr/>
        </p:nvSpPr>
        <p:spPr>
          <a:xfrm>
            <a:off x="749880" y="5961960"/>
            <a:ext cx="10697400" cy="419400"/>
          </a:xfrm>
          <a:prstGeom prst="roundRect">
            <a:avLst>
              <a:gd fmla="val 16667" name="adj"/>
            </a:avLst>
          </a:prstGeom>
          <a:solidFill>
            <a:srgbClr val="F1F5F7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6" name="Google Shape;536;p27"/>
          <p:cNvSpPr/>
          <p:nvPr/>
        </p:nvSpPr>
        <p:spPr>
          <a:xfrm>
            <a:off x="932760" y="6007680"/>
            <a:ext cx="10331640" cy="309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Les trois droites d'ajustement restent presque horizontales : aucune tendance linéaire claire n'apparaît.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7" name="Google Shape;537;p27"/>
          <p:cNvSpPr/>
          <p:nvPr/>
        </p:nvSpPr>
        <p:spPr>
          <a:xfrm>
            <a:off x="731520" y="6574680"/>
            <a:ext cx="7954200" cy="16344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OLIVIER DELRIEU  /  06.10.2026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8" name="Google Shape;538;p27"/>
          <p:cNvSpPr/>
          <p:nvPr/>
        </p:nvSpPr>
        <p:spPr>
          <a:xfrm>
            <a:off x="10625400" y="6546960"/>
            <a:ext cx="867600" cy="21852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27 / 58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FCFB"/>
        </a:solidFill>
      </p:bgPr>
    </p:bg>
    <p:spTree>
      <p:nvGrpSpPr>
        <p:cNvPr id="543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p28"/>
          <p:cNvSpPr/>
          <p:nvPr/>
        </p:nvSpPr>
        <p:spPr>
          <a:xfrm>
            <a:off x="749880" y="420480"/>
            <a:ext cx="10697400" cy="291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12678A"/>
                </a:solidFill>
                <a:latin typeface="Arial"/>
                <a:ea typeface="Arial"/>
                <a:cs typeface="Arial"/>
                <a:sym typeface="Arial"/>
              </a:rPr>
              <a:t>NUAGE XY · 1/3 · EXPLICATION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5" name="Google Shape;545;p28"/>
          <p:cNvSpPr/>
          <p:nvPr/>
        </p:nvSpPr>
        <p:spPr>
          <a:xfrm>
            <a:off x="749880" y="804600"/>
            <a:ext cx="10697400" cy="78516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00" u="none" cap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Attente : aucune tendance linéaire claire</a:t>
            </a:r>
            <a:endParaRPr b="0" i="0" sz="3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6" name="Google Shape;546;p28"/>
          <p:cNvSpPr/>
          <p:nvPr/>
        </p:nvSpPr>
        <p:spPr>
          <a:xfrm>
            <a:off x="749880" y="1627560"/>
            <a:ext cx="10697400" cy="30960"/>
          </a:xfrm>
          <a:prstGeom prst="rect">
            <a:avLst/>
          </a:prstGeom>
          <a:solidFill>
            <a:srgbClr val="D4DEE4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0" lIns="90000" spcFirstLastPara="1" rIns="9000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7" name="Google Shape;547;p28"/>
          <p:cNvSpPr/>
          <p:nvPr/>
        </p:nvSpPr>
        <p:spPr>
          <a:xfrm>
            <a:off x="731520" y="1947600"/>
            <a:ext cx="2170800" cy="689400"/>
          </a:xfrm>
          <a:prstGeom prst="rect">
            <a:avLst/>
          </a:prstGeom>
          <a:solidFill>
            <a:srgbClr val="102A43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8" name="Google Shape;548;p28"/>
          <p:cNvSpPr/>
          <p:nvPr/>
        </p:nvSpPr>
        <p:spPr>
          <a:xfrm>
            <a:off x="841320" y="1965960"/>
            <a:ext cx="1973880" cy="675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CFCFB"/>
                </a:solidFill>
                <a:latin typeface="Arial"/>
                <a:ea typeface="Arial"/>
                <a:cs typeface="Arial"/>
                <a:sym typeface="Arial"/>
              </a:rPr>
              <a:t>Périmètre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9" name="Google Shape;549;p28"/>
          <p:cNvSpPr/>
          <p:nvPr/>
        </p:nvSpPr>
        <p:spPr>
          <a:xfrm>
            <a:off x="2926080" y="1947600"/>
            <a:ext cx="2170800" cy="689400"/>
          </a:xfrm>
          <a:prstGeom prst="rect">
            <a:avLst/>
          </a:prstGeom>
          <a:solidFill>
            <a:srgbClr val="102A43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0" name="Google Shape;550;p28"/>
          <p:cNvSpPr/>
          <p:nvPr/>
        </p:nvSpPr>
        <p:spPr>
          <a:xfrm>
            <a:off x="3035880" y="1965960"/>
            <a:ext cx="1973880" cy="675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CFCFB"/>
                </a:solidFill>
                <a:latin typeface="Arial"/>
                <a:ea typeface="Arial"/>
                <a:cs typeface="Arial"/>
                <a:sym typeface="Arial"/>
              </a:rPr>
              <a:t>Effectif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1" name="Google Shape;551;p28"/>
          <p:cNvSpPr/>
          <p:nvPr/>
        </p:nvSpPr>
        <p:spPr>
          <a:xfrm>
            <a:off x="5120640" y="1947600"/>
            <a:ext cx="1896480" cy="689400"/>
          </a:xfrm>
          <a:prstGeom prst="rect">
            <a:avLst/>
          </a:prstGeom>
          <a:solidFill>
            <a:srgbClr val="102A43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2" name="Google Shape;552;p28"/>
          <p:cNvSpPr/>
          <p:nvPr/>
        </p:nvSpPr>
        <p:spPr>
          <a:xfrm>
            <a:off x="5230440" y="1965960"/>
            <a:ext cx="1699560" cy="675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CFCFB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3" name="Google Shape;553;p28"/>
          <p:cNvSpPr/>
          <p:nvPr/>
        </p:nvSpPr>
        <p:spPr>
          <a:xfrm>
            <a:off x="7040880" y="1947600"/>
            <a:ext cx="4365000" cy="689400"/>
          </a:xfrm>
          <a:prstGeom prst="rect">
            <a:avLst/>
          </a:prstGeom>
          <a:solidFill>
            <a:srgbClr val="102A43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4" name="Google Shape;554;p28"/>
          <p:cNvSpPr/>
          <p:nvPr/>
        </p:nvSpPr>
        <p:spPr>
          <a:xfrm>
            <a:off x="7150680" y="1965960"/>
            <a:ext cx="4168440" cy="675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CFCFB"/>
                </a:solidFill>
                <a:latin typeface="Arial"/>
                <a:ea typeface="Arial"/>
                <a:cs typeface="Arial"/>
                <a:sym typeface="Arial"/>
              </a:rPr>
              <a:t>Lecture descriptive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5" name="Google Shape;555;p28"/>
          <p:cNvSpPr/>
          <p:nvPr/>
        </p:nvSpPr>
        <p:spPr>
          <a:xfrm>
            <a:off x="731520" y="2660760"/>
            <a:ext cx="2170800" cy="68940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6" name="Google Shape;556;p28"/>
          <p:cNvSpPr/>
          <p:nvPr/>
        </p:nvSpPr>
        <p:spPr>
          <a:xfrm>
            <a:off x="841320" y="2679120"/>
            <a:ext cx="1973880" cy="675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A+B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7" name="Google Shape;557;p28"/>
          <p:cNvSpPr/>
          <p:nvPr/>
        </p:nvSpPr>
        <p:spPr>
          <a:xfrm>
            <a:off x="2926080" y="2660760"/>
            <a:ext cx="2170800" cy="68940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8" name="Google Shape;558;p28"/>
          <p:cNvSpPr/>
          <p:nvPr/>
        </p:nvSpPr>
        <p:spPr>
          <a:xfrm>
            <a:off x="3035880" y="2679120"/>
            <a:ext cx="1973880" cy="675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2 000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9" name="Google Shape;559;p28"/>
          <p:cNvSpPr/>
          <p:nvPr/>
        </p:nvSpPr>
        <p:spPr>
          <a:xfrm>
            <a:off x="5120640" y="2660760"/>
            <a:ext cx="1896480" cy="68940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0" name="Google Shape;560;p28"/>
          <p:cNvSpPr/>
          <p:nvPr/>
        </p:nvSpPr>
        <p:spPr>
          <a:xfrm>
            <a:off x="5230440" y="2679120"/>
            <a:ext cx="1699560" cy="675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0.035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1" name="Google Shape;561;p28"/>
          <p:cNvSpPr/>
          <p:nvPr/>
        </p:nvSpPr>
        <p:spPr>
          <a:xfrm>
            <a:off x="7040880" y="2660760"/>
            <a:ext cx="4365000" cy="68940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2" name="Google Shape;562;p28"/>
          <p:cNvSpPr/>
          <p:nvPr/>
        </p:nvSpPr>
        <p:spPr>
          <a:xfrm>
            <a:off x="7150680" y="2679120"/>
            <a:ext cx="4168440" cy="675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Proche de 0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3" name="Google Shape;563;p28"/>
          <p:cNvSpPr/>
          <p:nvPr/>
        </p:nvSpPr>
        <p:spPr>
          <a:xfrm>
            <a:off x="731520" y="3374280"/>
            <a:ext cx="2170800" cy="68940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4" name="Google Shape;564;p28"/>
          <p:cNvSpPr/>
          <p:nvPr/>
        </p:nvSpPr>
        <p:spPr>
          <a:xfrm>
            <a:off x="841320" y="3392280"/>
            <a:ext cx="1973880" cy="675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5" name="Google Shape;565;p28"/>
          <p:cNvSpPr/>
          <p:nvPr/>
        </p:nvSpPr>
        <p:spPr>
          <a:xfrm>
            <a:off x="2926080" y="3374280"/>
            <a:ext cx="2170800" cy="68940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6" name="Google Shape;566;p28"/>
          <p:cNvSpPr/>
          <p:nvPr/>
        </p:nvSpPr>
        <p:spPr>
          <a:xfrm>
            <a:off x="3035880" y="3392280"/>
            <a:ext cx="1973880" cy="675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1 200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7" name="Google Shape;567;p28"/>
          <p:cNvSpPr/>
          <p:nvPr/>
        </p:nvSpPr>
        <p:spPr>
          <a:xfrm>
            <a:off x="5120640" y="3374280"/>
            <a:ext cx="1896480" cy="68940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8" name="Google Shape;568;p28"/>
          <p:cNvSpPr/>
          <p:nvPr/>
        </p:nvSpPr>
        <p:spPr>
          <a:xfrm>
            <a:off x="5230440" y="3392280"/>
            <a:ext cx="1699560" cy="675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0.002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9" name="Google Shape;569;p28"/>
          <p:cNvSpPr/>
          <p:nvPr/>
        </p:nvSpPr>
        <p:spPr>
          <a:xfrm>
            <a:off x="7040880" y="3374280"/>
            <a:ext cx="4365000" cy="68940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0" name="Google Shape;570;p28"/>
          <p:cNvSpPr/>
          <p:nvPr/>
        </p:nvSpPr>
        <p:spPr>
          <a:xfrm>
            <a:off x="7150680" y="3392280"/>
            <a:ext cx="4168440" cy="675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Proche de 0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1" name="Google Shape;571;p28"/>
          <p:cNvSpPr/>
          <p:nvPr/>
        </p:nvSpPr>
        <p:spPr>
          <a:xfrm>
            <a:off x="731520" y="4087440"/>
            <a:ext cx="2170800" cy="68940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2" name="Google Shape;572;p28"/>
          <p:cNvSpPr/>
          <p:nvPr/>
        </p:nvSpPr>
        <p:spPr>
          <a:xfrm>
            <a:off x="841320" y="4105800"/>
            <a:ext cx="1973880" cy="675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3" name="Google Shape;573;p28"/>
          <p:cNvSpPr/>
          <p:nvPr/>
        </p:nvSpPr>
        <p:spPr>
          <a:xfrm>
            <a:off x="2926080" y="4087440"/>
            <a:ext cx="2170800" cy="68940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4" name="Google Shape;574;p28"/>
          <p:cNvSpPr/>
          <p:nvPr/>
        </p:nvSpPr>
        <p:spPr>
          <a:xfrm>
            <a:off x="3035880" y="4105800"/>
            <a:ext cx="1973880" cy="675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800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5" name="Google Shape;575;p28"/>
          <p:cNvSpPr/>
          <p:nvPr/>
        </p:nvSpPr>
        <p:spPr>
          <a:xfrm>
            <a:off x="5120640" y="4087440"/>
            <a:ext cx="1896480" cy="68940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6" name="Google Shape;576;p28"/>
          <p:cNvSpPr/>
          <p:nvPr/>
        </p:nvSpPr>
        <p:spPr>
          <a:xfrm>
            <a:off x="5230440" y="4105800"/>
            <a:ext cx="1699560" cy="675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0.050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7" name="Google Shape;577;p28"/>
          <p:cNvSpPr/>
          <p:nvPr/>
        </p:nvSpPr>
        <p:spPr>
          <a:xfrm>
            <a:off x="7040880" y="4087440"/>
            <a:ext cx="4365000" cy="68940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8" name="Google Shape;578;p28"/>
          <p:cNvSpPr/>
          <p:nvPr/>
        </p:nvSpPr>
        <p:spPr>
          <a:xfrm>
            <a:off x="7150680" y="4105800"/>
            <a:ext cx="4168440" cy="675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Proche de 0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9" name="Google Shape;579;p28"/>
          <p:cNvSpPr/>
          <p:nvPr/>
        </p:nvSpPr>
        <p:spPr>
          <a:xfrm>
            <a:off x="749880" y="5961960"/>
            <a:ext cx="10697400" cy="419400"/>
          </a:xfrm>
          <a:prstGeom prst="roundRect">
            <a:avLst>
              <a:gd fmla="val 16667" name="adj"/>
            </a:avLst>
          </a:prstGeom>
          <a:solidFill>
            <a:srgbClr val="F1F5F7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0" name="Google Shape;580;p28"/>
          <p:cNvSpPr/>
          <p:nvPr/>
        </p:nvSpPr>
        <p:spPr>
          <a:xfrm>
            <a:off x="932760" y="6007680"/>
            <a:ext cx="10331640" cy="309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Ces valeurs décrivent l'échantillon : r proche de 0 signifie qu'aucune tendance linéaire claire n'apparaît.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1" name="Google Shape;581;p28"/>
          <p:cNvSpPr/>
          <p:nvPr/>
        </p:nvSpPr>
        <p:spPr>
          <a:xfrm>
            <a:off x="731520" y="6574680"/>
            <a:ext cx="7954200" cy="16344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OLIVIER DELRIEU  /  06.10.2026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2" name="Google Shape;582;p28"/>
          <p:cNvSpPr/>
          <p:nvPr/>
        </p:nvSpPr>
        <p:spPr>
          <a:xfrm>
            <a:off x="10625400" y="6546960"/>
            <a:ext cx="867600" cy="21852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28 / 58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FCFB"/>
        </a:solidFill>
      </p:bgPr>
    </p:bg>
    <p:spTree>
      <p:nvGrpSpPr>
        <p:cNvPr id="587" name="Shape 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Google Shape;588;p29"/>
          <p:cNvSpPr/>
          <p:nvPr/>
        </p:nvSpPr>
        <p:spPr>
          <a:xfrm>
            <a:off x="749880" y="420480"/>
            <a:ext cx="10697400" cy="291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12678A"/>
                </a:solidFill>
                <a:latin typeface="Arial"/>
                <a:ea typeface="Arial"/>
                <a:cs typeface="Arial"/>
                <a:sym typeface="Arial"/>
              </a:rPr>
              <a:t>NUAGE XY · 2/3 · GRAPHIQUE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9" name="Google Shape;589;p29"/>
          <p:cNvSpPr/>
          <p:nvPr/>
        </p:nvSpPr>
        <p:spPr>
          <a:xfrm>
            <a:off x="749880" y="804600"/>
            <a:ext cx="10697400" cy="78516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00" u="none" cap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2 · Revoir le nuage distance–montant</a:t>
            </a:r>
            <a:endParaRPr b="0" i="0" sz="3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0" name="Google Shape;590;p29"/>
          <p:cNvSpPr/>
          <p:nvPr/>
        </p:nvSpPr>
        <p:spPr>
          <a:xfrm>
            <a:off x="749880" y="1627560"/>
            <a:ext cx="10697400" cy="30960"/>
          </a:xfrm>
          <a:prstGeom prst="rect">
            <a:avLst/>
          </a:prstGeom>
          <a:solidFill>
            <a:srgbClr val="D4DEE4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0" lIns="90000" spcFirstLastPara="1" rIns="9000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Graphique : 2 · Revoir le nuage distance–montant" id="591" name="Google Shape;591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8880" y="1847160"/>
            <a:ext cx="10679040" cy="4003920"/>
          </a:xfrm>
          <a:prstGeom prst="rect">
            <a:avLst/>
          </a:prstGeom>
          <a:noFill/>
          <a:ln>
            <a:noFill/>
          </a:ln>
        </p:spPr>
      </p:pic>
      <p:sp>
        <p:nvSpPr>
          <p:cNvPr id="592" name="Google Shape;592;p29"/>
          <p:cNvSpPr/>
          <p:nvPr/>
        </p:nvSpPr>
        <p:spPr>
          <a:xfrm>
            <a:off x="749880" y="5961960"/>
            <a:ext cx="10697400" cy="419400"/>
          </a:xfrm>
          <a:prstGeom prst="roundRect">
            <a:avLst>
              <a:gd fmla="val 16667" name="adj"/>
            </a:avLst>
          </a:prstGeom>
          <a:solidFill>
            <a:srgbClr val="F1F5F7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3" name="Google Shape;593;p29"/>
          <p:cNvSpPr/>
          <p:nvPr/>
        </p:nvSpPr>
        <p:spPr>
          <a:xfrm>
            <a:off x="932760" y="6007680"/>
            <a:ext cx="10331640" cy="309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La droite A+B monte ; les droites A et B restent presque horizontales. Le résultat dépend du périmètre.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4" name="Google Shape;594;p29"/>
          <p:cNvSpPr/>
          <p:nvPr/>
        </p:nvSpPr>
        <p:spPr>
          <a:xfrm>
            <a:off x="731520" y="6574680"/>
            <a:ext cx="7954200" cy="16344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OLIVIER DELRIEU  /  06.10.2026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5" name="Google Shape;595;p29"/>
          <p:cNvSpPr/>
          <p:nvPr/>
        </p:nvSpPr>
        <p:spPr>
          <a:xfrm>
            <a:off x="10625400" y="6546960"/>
            <a:ext cx="867600" cy="21852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29 / 58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FCFB"/>
        </a:solidFill>
      </p:bgPr>
    </p:bg>
    <p:spTree>
      <p:nvGrpSpPr>
        <p:cNvPr id="600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p30"/>
          <p:cNvSpPr/>
          <p:nvPr/>
        </p:nvSpPr>
        <p:spPr>
          <a:xfrm>
            <a:off x="749880" y="420480"/>
            <a:ext cx="10697400" cy="291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12678A"/>
                </a:solidFill>
                <a:latin typeface="Arial"/>
                <a:ea typeface="Arial"/>
                <a:cs typeface="Arial"/>
                <a:sym typeface="Arial"/>
              </a:rPr>
              <a:t>NUAGE XY · 2/3 · EXPLICATION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2" name="Google Shape;602;p30"/>
          <p:cNvSpPr/>
          <p:nvPr/>
        </p:nvSpPr>
        <p:spPr>
          <a:xfrm>
            <a:off x="749880" y="804600"/>
            <a:ext cx="10697400" cy="78516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00" u="none" cap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Distance : le résultat dépend du périmètre</a:t>
            </a:r>
            <a:endParaRPr b="0" i="0" sz="3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3" name="Google Shape;603;p30"/>
          <p:cNvSpPr/>
          <p:nvPr/>
        </p:nvSpPr>
        <p:spPr>
          <a:xfrm>
            <a:off x="749880" y="1627560"/>
            <a:ext cx="10697400" cy="30960"/>
          </a:xfrm>
          <a:prstGeom prst="rect">
            <a:avLst/>
          </a:prstGeom>
          <a:solidFill>
            <a:srgbClr val="D4DEE4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0" lIns="90000" spcFirstLastPara="1" rIns="9000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4" name="Google Shape;604;p30"/>
          <p:cNvSpPr/>
          <p:nvPr/>
        </p:nvSpPr>
        <p:spPr>
          <a:xfrm>
            <a:off x="731520" y="1947600"/>
            <a:ext cx="2170800" cy="689400"/>
          </a:xfrm>
          <a:prstGeom prst="rect">
            <a:avLst/>
          </a:prstGeom>
          <a:solidFill>
            <a:srgbClr val="102A43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5" name="Google Shape;605;p30"/>
          <p:cNvSpPr/>
          <p:nvPr/>
        </p:nvSpPr>
        <p:spPr>
          <a:xfrm>
            <a:off x="841320" y="1965960"/>
            <a:ext cx="1973880" cy="675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CFCFB"/>
                </a:solidFill>
                <a:latin typeface="Arial"/>
                <a:ea typeface="Arial"/>
                <a:cs typeface="Arial"/>
                <a:sym typeface="Arial"/>
              </a:rPr>
              <a:t>Périmètre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6" name="Google Shape;606;p30"/>
          <p:cNvSpPr/>
          <p:nvPr/>
        </p:nvSpPr>
        <p:spPr>
          <a:xfrm>
            <a:off x="2926080" y="1947600"/>
            <a:ext cx="2170800" cy="689400"/>
          </a:xfrm>
          <a:prstGeom prst="rect">
            <a:avLst/>
          </a:prstGeom>
          <a:solidFill>
            <a:srgbClr val="102A43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7" name="Google Shape;607;p30"/>
          <p:cNvSpPr/>
          <p:nvPr/>
        </p:nvSpPr>
        <p:spPr>
          <a:xfrm>
            <a:off x="3035880" y="1965960"/>
            <a:ext cx="1973880" cy="675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CFCFB"/>
                </a:solidFill>
                <a:latin typeface="Arial"/>
                <a:ea typeface="Arial"/>
                <a:cs typeface="Arial"/>
                <a:sym typeface="Arial"/>
              </a:rPr>
              <a:t>Effectif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8" name="Google Shape;608;p30"/>
          <p:cNvSpPr/>
          <p:nvPr/>
        </p:nvSpPr>
        <p:spPr>
          <a:xfrm>
            <a:off x="5120640" y="1947600"/>
            <a:ext cx="1896480" cy="689400"/>
          </a:xfrm>
          <a:prstGeom prst="rect">
            <a:avLst/>
          </a:prstGeom>
          <a:solidFill>
            <a:srgbClr val="102A43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9" name="Google Shape;609;p30"/>
          <p:cNvSpPr/>
          <p:nvPr/>
        </p:nvSpPr>
        <p:spPr>
          <a:xfrm>
            <a:off x="5230440" y="1965960"/>
            <a:ext cx="1699560" cy="675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CFCFB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0" name="Google Shape;610;p30"/>
          <p:cNvSpPr/>
          <p:nvPr/>
        </p:nvSpPr>
        <p:spPr>
          <a:xfrm>
            <a:off x="7040880" y="1947600"/>
            <a:ext cx="4365000" cy="689400"/>
          </a:xfrm>
          <a:prstGeom prst="rect">
            <a:avLst/>
          </a:prstGeom>
          <a:solidFill>
            <a:srgbClr val="102A43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1" name="Google Shape;611;p30"/>
          <p:cNvSpPr/>
          <p:nvPr/>
        </p:nvSpPr>
        <p:spPr>
          <a:xfrm>
            <a:off x="7150680" y="1965960"/>
            <a:ext cx="4168440" cy="675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CFCFB"/>
                </a:solidFill>
                <a:latin typeface="Arial"/>
                <a:ea typeface="Arial"/>
                <a:cs typeface="Arial"/>
                <a:sym typeface="Arial"/>
              </a:rPr>
              <a:t>Lecture descriptive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2" name="Google Shape;612;p30"/>
          <p:cNvSpPr/>
          <p:nvPr/>
        </p:nvSpPr>
        <p:spPr>
          <a:xfrm>
            <a:off x="731520" y="2660760"/>
            <a:ext cx="2170800" cy="68940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3" name="Google Shape;613;p30"/>
          <p:cNvSpPr/>
          <p:nvPr/>
        </p:nvSpPr>
        <p:spPr>
          <a:xfrm>
            <a:off x="841320" y="2679120"/>
            <a:ext cx="1973880" cy="675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A+B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4" name="Google Shape;614;p30"/>
          <p:cNvSpPr/>
          <p:nvPr/>
        </p:nvSpPr>
        <p:spPr>
          <a:xfrm>
            <a:off x="2926080" y="2660760"/>
            <a:ext cx="2170800" cy="68940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5" name="Google Shape;615;p30"/>
          <p:cNvSpPr/>
          <p:nvPr/>
        </p:nvSpPr>
        <p:spPr>
          <a:xfrm>
            <a:off x="3035880" y="2679120"/>
            <a:ext cx="1973880" cy="675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2 000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6" name="Google Shape;616;p30"/>
          <p:cNvSpPr/>
          <p:nvPr/>
        </p:nvSpPr>
        <p:spPr>
          <a:xfrm>
            <a:off x="5120640" y="2660760"/>
            <a:ext cx="1896480" cy="68940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7" name="Google Shape;617;p30"/>
          <p:cNvSpPr/>
          <p:nvPr/>
        </p:nvSpPr>
        <p:spPr>
          <a:xfrm>
            <a:off x="5230440" y="2679120"/>
            <a:ext cx="1699560" cy="675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0.259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8" name="Google Shape;618;p30"/>
          <p:cNvSpPr/>
          <p:nvPr/>
        </p:nvSpPr>
        <p:spPr>
          <a:xfrm>
            <a:off x="7040880" y="2660760"/>
            <a:ext cx="4365000" cy="68940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9" name="Google Shape;619;p30"/>
          <p:cNvSpPr/>
          <p:nvPr/>
        </p:nvSpPr>
        <p:spPr>
          <a:xfrm>
            <a:off x="7150680" y="2679120"/>
            <a:ext cx="4168440" cy="675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Tendance positive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0" name="Google Shape;620;p30"/>
          <p:cNvSpPr/>
          <p:nvPr/>
        </p:nvSpPr>
        <p:spPr>
          <a:xfrm>
            <a:off x="731520" y="3374280"/>
            <a:ext cx="2170800" cy="68940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1" name="Google Shape;621;p30"/>
          <p:cNvSpPr/>
          <p:nvPr/>
        </p:nvSpPr>
        <p:spPr>
          <a:xfrm>
            <a:off x="841320" y="3392280"/>
            <a:ext cx="1973880" cy="675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2" name="Google Shape;622;p30"/>
          <p:cNvSpPr/>
          <p:nvPr/>
        </p:nvSpPr>
        <p:spPr>
          <a:xfrm>
            <a:off x="2926080" y="3374280"/>
            <a:ext cx="2170800" cy="68940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3" name="Google Shape;623;p30"/>
          <p:cNvSpPr/>
          <p:nvPr/>
        </p:nvSpPr>
        <p:spPr>
          <a:xfrm>
            <a:off x="3035880" y="3392280"/>
            <a:ext cx="1973880" cy="675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1 200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4" name="Google Shape;624;p30"/>
          <p:cNvSpPr/>
          <p:nvPr/>
        </p:nvSpPr>
        <p:spPr>
          <a:xfrm>
            <a:off x="5120640" y="3374280"/>
            <a:ext cx="1896480" cy="68940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5" name="Google Shape;625;p30"/>
          <p:cNvSpPr/>
          <p:nvPr/>
        </p:nvSpPr>
        <p:spPr>
          <a:xfrm>
            <a:off x="5230440" y="3392280"/>
            <a:ext cx="1699560" cy="675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0.003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6" name="Google Shape;626;p30"/>
          <p:cNvSpPr/>
          <p:nvPr/>
        </p:nvSpPr>
        <p:spPr>
          <a:xfrm>
            <a:off x="7040880" y="3374280"/>
            <a:ext cx="4365000" cy="68940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7" name="Google Shape;627;p30"/>
          <p:cNvSpPr/>
          <p:nvPr/>
        </p:nvSpPr>
        <p:spPr>
          <a:xfrm>
            <a:off x="7150680" y="3392280"/>
            <a:ext cx="4168440" cy="675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Proche de 0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8" name="Google Shape;628;p30"/>
          <p:cNvSpPr/>
          <p:nvPr/>
        </p:nvSpPr>
        <p:spPr>
          <a:xfrm>
            <a:off x="731520" y="4087440"/>
            <a:ext cx="2170800" cy="68940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9" name="Google Shape;629;p30"/>
          <p:cNvSpPr/>
          <p:nvPr/>
        </p:nvSpPr>
        <p:spPr>
          <a:xfrm>
            <a:off x="841320" y="4105800"/>
            <a:ext cx="1973880" cy="675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0" name="Google Shape;630;p30"/>
          <p:cNvSpPr/>
          <p:nvPr/>
        </p:nvSpPr>
        <p:spPr>
          <a:xfrm>
            <a:off x="2926080" y="4087440"/>
            <a:ext cx="2170800" cy="68940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1" name="Google Shape;631;p30"/>
          <p:cNvSpPr/>
          <p:nvPr/>
        </p:nvSpPr>
        <p:spPr>
          <a:xfrm>
            <a:off x="3035880" y="4105800"/>
            <a:ext cx="1973880" cy="675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800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2" name="Google Shape;632;p30"/>
          <p:cNvSpPr/>
          <p:nvPr/>
        </p:nvSpPr>
        <p:spPr>
          <a:xfrm>
            <a:off x="5120640" y="4087440"/>
            <a:ext cx="1896480" cy="68940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3" name="Google Shape;633;p30"/>
          <p:cNvSpPr/>
          <p:nvPr/>
        </p:nvSpPr>
        <p:spPr>
          <a:xfrm>
            <a:off x="5230440" y="4105800"/>
            <a:ext cx="1699560" cy="675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0.004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4" name="Google Shape;634;p30"/>
          <p:cNvSpPr/>
          <p:nvPr/>
        </p:nvSpPr>
        <p:spPr>
          <a:xfrm>
            <a:off x="7040880" y="4087440"/>
            <a:ext cx="4365000" cy="68940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5" name="Google Shape;635;p30"/>
          <p:cNvSpPr/>
          <p:nvPr/>
        </p:nvSpPr>
        <p:spPr>
          <a:xfrm>
            <a:off x="7150680" y="4105800"/>
            <a:ext cx="4168440" cy="675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Proche de 0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6" name="Google Shape;636;p30"/>
          <p:cNvSpPr/>
          <p:nvPr/>
        </p:nvSpPr>
        <p:spPr>
          <a:xfrm>
            <a:off x="749880" y="5961960"/>
            <a:ext cx="10697400" cy="419400"/>
          </a:xfrm>
          <a:prstGeom prst="roundRect">
            <a:avLst>
              <a:gd fmla="val 16667" name="adj"/>
            </a:avLst>
          </a:prstGeom>
          <a:solidFill>
            <a:srgbClr val="F1F5F7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7" name="Google Shape;637;p30"/>
          <p:cNvSpPr/>
          <p:nvPr/>
        </p:nvSpPr>
        <p:spPr>
          <a:xfrm>
            <a:off x="932760" y="6007680"/>
            <a:ext cx="10331640" cy="309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Le résultat global change lorsque les groupes sont séparés ; cette lecture reste descriptive et non causale.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8" name="Google Shape;638;p30"/>
          <p:cNvSpPr/>
          <p:nvPr/>
        </p:nvSpPr>
        <p:spPr>
          <a:xfrm>
            <a:off x="731520" y="6574680"/>
            <a:ext cx="7954200" cy="16344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OLIVIER DELRIEU  /  06.10.2026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9" name="Google Shape;639;p30"/>
          <p:cNvSpPr/>
          <p:nvPr/>
        </p:nvSpPr>
        <p:spPr>
          <a:xfrm>
            <a:off x="10625400" y="6546960"/>
            <a:ext cx="867600" cy="21852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30 / 58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FCFB"/>
        </a:solidFill>
      </p:bgPr>
    </p:bg>
    <p:spTree>
      <p:nvGrpSpPr>
        <p:cNvPr id="644" name="Shape 6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" name="Google Shape;645;p31"/>
          <p:cNvSpPr/>
          <p:nvPr/>
        </p:nvSpPr>
        <p:spPr>
          <a:xfrm>
            <a:off x="749880" y="420480"/>
            <a:ext cx="10697400" cy="291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12678A"/>
                </a:solidFill>
                <a:latin typeface="Arial"/>
                <a:ea typeface="Arial"/>
                <a:cs typeface="Arial"/>
                <a:sym typeface="Arial"/>
              </a:rPr>
              <a:t>NUAGE XY · 3/3 · GRAPHIQUE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6" name="Google Shape;646;p31"/>
          <p:cNvSpPr/>
          <p:nvPr/>
        </p:nvSpPr>
        <p:spPr>
          <a:xfrm>
            <a:off x="749880" y="804600"/>
            <a:ext cx="10697400" cy="78516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00" u="none" cap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3 · Revoir le nuage âge–montant</a:t>
            </a:r>
            <a:endParaRPr b="0" i="0" sz="3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7" name="Google Shape;647;p31"/>
          <p:cNvSpPr/>
          <p:nvPr/>
        </p:nvSpPr>
        <p:spPr>
          <a:xfrm>
            <a:off x="749880" y="1627560"/>
            <a:ext cx="10697400" cy="30960"/>
          </a:xfrm>
          <a:prstGeom prst="rect">
            <a:avLst/>
          </a:prstGeom>
          <a:solidFill>
            <a:srgbClr val="D4DEE4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0" lIns="90000" spcFirstLastPara="1" rIns="9000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Graphique : 3 · Revoir le nuage âge–montant" id="648" name="Google Shape;648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8880" y="1847160"/>
            <a:ext cx="10679040" cy="4003920"/>
          </a:xfrm>
          <a:prstGeom prst="rect">
            <a:avLst/>
          </a:prstGeom>
          <a:noFill/>
          <a:ln>
            <a:noFill/>
          </a:ln>
        </p:spPr>
      </p:pic>
      <p:sp>
        <p:nvSpPr>
          <p:cNvPr id="649" name="Google Shape;649;p31"/>
          <p:cNvSpPr/>
          <p:nvPr/>
        </p:nvSpPr>
        <p:spPr>
          <a:xfrm>
            <a:off x="749880" y="5961960"/>
            <a:ext cx="10697400" cy="419400"/>
          </a:xfrm>
          <a:prstGeom prst="roundRect">
            <a:avLst>
              <a:gd fmla="val 16667" name="adj"/>
            </a:avLst>
          </a:prstGeom>
          <a:solidFill>
            <a:srgbClr val="F1F5F7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0" name="Google Shape;650;p31"/>
          <p:cNvSpPr/>
          <p:nvPr/>
        </p:nvSpPr>
        <p:spPr>
          <a:xfrm>
            <a:off x="932760" y="6007680"/>
            <a:ext cx="10331640" cy="309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Les trois droites d'ajustement montent : l'association linéaire observée est positive dans A+B, A et B.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1" name="Google Shape;651;p31"/>
          <p:cNvSpPr/>
          <p:nvPr/>
        </p:nvSpPr>
        <p:spPr>
          <a:xfrm>
            <a:off x="731520" y="6574680"/>
            <a:ext cx="7954200" cy="16344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OLIVIER DELRIEU  /  06.10.2026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2" name="Google Shape;652;p31"/>
          <p:cNvSpPr/>
          <p:nvPr/>
        </p:nvSpPr>
        <p:spPr>
          <a:xfrm>
            <a:off x="10625400" y="6546960"/>
            <a:ext cx="867600" cy="21852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31 / 58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FCFB"/>
        </a:solidFill>
      </p:bgPr>
    </p:bg>
    <p:spTree>
      <p:nvGrpSpPr>
        <p:cNvPr id="657" name="Shape 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8" name="Google Shape;658;p32"/>
          <p:cNvSpPr/>
          <p:nvPr/>
        </p:nvSpPr>
        <p:spPr>
          <a:xfrm>
            <a:off x="749880" y="420480"/>
            <a:ext cx="10697400" cy="291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12678A"/>
                </a:solidFill>
                <a:latin typeface="Arial"/>
                <a:ea typeface="Arial"/>
                <a:cs typeface="Arial"/>
                <a:sym typeface="Arial"/>
              </a:rPr>
              <a:t>NUAGE XY · 3/3 · EXPLICATION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9" name="Google Shape;659;p32"/>
          <p:cNvSpPr/>
          <p:nvPr/>
        </p:nvSpPr>
        <p:spPr>
          <a:xfrm>
            <a:off x="749880" y="804600"/>
            <a:ext cx="10697400" cy="78516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Âge : une association positive dans les trois périmètres</a:t>
            </a:r>
            <a:endParaRPr b="0" i="0" sz="2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0" name="Google Shape;660;p32"/>
          <p:cNvSpPr/>
          <p:nvPr/>
        </p:nvSpPr>
        <p:spPr>
          <a:xfrm>
            <a:off x="749880" y="1627560"/>
            <a:ext cx="10697400" cy="30960"/>
          </a:xfrm>
          <a:prstGeom prst="rect">
            <a:avLst/>
          </a:prstGeom>
          <a:solidFill>
            <a:srgbClr val="D4DEE4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0" lIns="90000" spcFirstLastPara="1" rIns="9000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1" name="Google Shape;661;p32"/>
          <p:cNvSpPr/>
          <p:nvPr/>
        </p:nvSpPr>
        <p:spPr>
          <a:xfrm>
            <a:off x="731520" y="1947600"/>
            <a:ext cx="2170800" cy="689400"/>
          </a:xfrm>
          <a:prstGeom prst="rect">
            <a:avLst/>
          </a:prstGeom>
          <a:solidFill>
            <a:srgbClr val="102A43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2" name="Google Shape;662;p32"/>
          <p:cNvSpPr/>
          <p:nvPr/>
        </p:nvSpPr>
        <p:spPr>
          <a:xfrm>
            <a:off x="841320" y="1965960"/>
            <a:ext cx="1973880" cy="675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CFCFB"/>
                </a:solidFill>
                <a:latin typeface="Arial"/>
                <a:ea typeface="Arial"/>
                <a:cs typeface="Arial"/>
                <a:sym typeface="Arial"/>
              </a:rPr>
              <a:t>Périmètre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3" name="Google Shape;663;p32"/>
          <p:cNvSpPr/>
          <p:nvPr/>
        </p:nvSpPr>
        <p:spPr>
          <a:xfrm>
            <a:off x="2926080" y="1947600"/>
            <a:ext cx="2170800" cy="689400"/>
          </a:xfrm>
          <a:prstGeom prst="rect">
            <a:avLst/>
          </a:prstGeom>
          <a:solidFill>
            <a:srgbClr val="102A43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4" name="Google Shape;664;p32"/>
          <p:cNvSpPr/>
          <p:nvPr/>
        </p:nvSpPr>
        <p:spPr>
          <a:xfrm>
            <a:off x="3035880" y="1965960"/>
            <a:ext cx="1973880" cy="675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CFCFB"/>
                </a:solidFill>
                <a:latin typeface="Arial"/>
                <a:ea typeface="Arial"/>
                <a:cs typeface="Arial"/>
                <a:sym typeface="Arial"/>
              </a:rPr>
              <a:t>Effectif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5" name="Google Shape;665;p32"/>
          <p:cNvSpPr/>
          <p:nvPr/>
        </p:nvSpPr>
        <p:spPr>
          <a:xfrm>
            <a:off x="5120640" y="1947600"/>
            <a:ext cx="1896480" cy="689400"/>
          </a:xfrm>
          <a:prstGeom prst="rect">
            <a:avLst/>
          </a:prstGeom>
          <a:solidFill>
            <a:srgbClr val="102A43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6" name="Google Shape;666;p32"/>
          <p:cNvSpPr/>
          <p:nvPr/>
        </p:nvSpPr>
        <p:spPr>
          <a:xfrm>
            <a:off x="5230440" y="1965960"/>
            <a:ext cx="1699560" cy="675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CFCFB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7" name="Google Shape;667;p32"/>
          <p:cNvSpPr/>
          <p:nvPr/>
        </p:nvSpPr>
        <p:spPr>
          <a:xfrm>
            <a:off x="7040880" y="1947600"/>
            <a:ext cx="4365000" cy="689400"/>
          </a:xfrm>
          <a:prstGeom prst="rect">
            <a:avLst/>
          </a:prstGeom>
          <a:solidFill>
            <a:srgbClr val="102A43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8" name="Google Shape;668;p32"/>
          <p:cNvSpPr/>
          <p:nvPr/>
        </p:nvSpPr>
        <p:spPr>
          <a:xfrm>
            <a:off x="7150680" y="1965960"/>
            <a:ext cx="4168440" cy="675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CFCFB"/>
                </a:solidFill>
                <a:latin typeface="Arial"/>
                <a:ea typeface="Arial"/>
                <a:cs typeface="Arial"/>
                <a:sym typeface="Arial"/>
              </a:rPr>
              <a:t>Lecture descriptive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9" name="Google Shape;669;p32"/>
          <p:cNvSpPr/>
          <p:nvPr/>
        </p:nvSpPr>
        <p:spPr>
          <a:xfrm>
            <a:off x="731520" y="2660760"/>
            <a:ext cx="2170800" cy="68940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0" name="Google Shape;670;p32"/>
          <p:cNvSpPr/>
          <p:nvPr/>
        </p:nvSpPr>
        <p:spPr>
          <a:xfrm>
            <a:off x="841320" y="2679120"/>
            <a:ext cx="1973880" cy="675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A+B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1" name="Google Shape;671;p32"/>
          <p:cNvSpPr/>
          <p:nvPr/>
        </p:nvSpPr>
        <p:spPr>
          <a:xfrm>
            <a:off x="2926080" y="2660760"/>
            <a:ext cx="2170800" cy="68940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2" name="Google Shape;672;p32"/>
          <p:cNvSpPr/>
          <p:nvPr/>
        </p:nvSpPr>
        <p:spPr>
          <a:xfrm>
            <a:off x="3035880" y="2679120"/>
            <a:ext cx="1973880" cy="675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2 000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3" name="Google Shape;673;p32"/>
          <p:cNvSpPr/>
          <p:nvPr/>
        </p:nvSpPr>
        <p:spPr>
          <a:xfrm>
            <a:off x="5120640" y="2660760"/>
            <a:ext cx="1896480" cy="68940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4" name="Google Shape;674;p32"/>
          <p:cNvSpPr/>
          <p:nvPr/>
        </p:nvSpPr>
        <p:spPr>
          <a:xfrm>
            <a:off x="5230440" y="2679120"/>
            <a:ext cx="1699560" cy="675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0.533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5" name="Google Shape;675;p32"/>
          <p:cNvSpPr/>
          <p:nvPr/>
        </p:nvSpPr>
        <p:spPr>
          <a:xfrm>
            <a:off x="7040880" y="2660760"/>
            <a:ext cx="4365000" cy="68940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6" name="Google Shape;676;p32"/>
          <p:cNvSpPr/>
          <p:nvPr/>
        </p:nvSpPr>
        <p:spPr>
          <a:xfrm>
            <a:off x="7150680" y="2679120"/>
            <a:ext cx="4168440" cy="675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Tendance croissante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7" name="Google Shape;677;p32"/>
          <p:cNvSpPr/>
          <p:nvPr/>
        </p:nvSpPr>
        <p:spPr>
          <a:xfrm>
            <a:off x="731520" y="3374280"/>
            <a:ext cx="2170800" cy="68940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8" name="Google Shape;678;p32"/>
          <p:cNvSpPr/>
          <p:nvPr/>
        </p:nvSpPr>
        <p:spPr>
          <a:xfrm>
            <a:off x="841320" y="3392280"/>
            <a:ext cx="1973880" cy="675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9" name="Google Shape;679;p32"/>
          <p:cNvSpPr/>
          <p:nvPr/>
        </p:nvSpPr>
        <p:spPr>
          <a:xfrm>
            <a:off x="2926080" y="3374280"/>
            <a:ext cx="2170800" cy="68940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0" name="Google Shape;680;p32"/>
          <p:cNvSpPr/>
          <p:nvPr/>
        </p:nvSpPr>
        <p:spPr>
          <a:xfrm>
            <a:off x="3035880" y="3392280"/>
            <a:ext cx="1973880" cy="675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1 200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1" name="Google Shape;681;p32"/>
          <p:cNvSpPr/>
          <p:nvPr/>
        </p:nvSpPr>
        <p:spPr>
          <a:xfrm>
            <a:off x="5120640" y="3374280"/>
            <a:ext cx="1896480" cy="68940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2" name="Google Shape;682;p32"/>
          <p:cNvSpPr/>
          <p:nvPr/>
        </p:nvSpPr>
        <p:spPr>
          <a:xfrm>
            <a:off x="5230440" y="3392280"/>
            <a:ext cx="1699560" cy="675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0.502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3" name="Google Shape;683;p32"/>
          <p:cNvSpPr/>
          <p:nvPr/>
        </p:nvSpPr>
        <p:spPr>
          <a:xfrm>
            <a:off x="7040880" y="3374280"/>
            <a:ext cx="4365000" cy="68940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4" name="Google Shape;684;p32"/>
          <p:cNvSpPr/>
          <p:nvPr/>
        </p:nvSpPr>
        <p:spPr>
          <a:xfrm>
            <a:off x="7150680" y="3392280"/>
            <a:ext cx="4168440" cy="675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Tendance croissante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5" name="Google Shape;685;p32"/>
          <p:cNvSpPr/>
          <p:nvPr/>
        </p:nvSpPr>
        <p:spPr>
          <a:xfrm>
            <a:off x="731520" y="4087440"/>
            <a:ext cx="2170800" cy="68940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6" name="Google Shape;686;p32"/>
          <p:cNvSpPr/>
          <p:nvPr/>
        </p:nvSpPr>
        <p:spPr>
          <a:xfrm>
            <a:off x="841320" y="4105800"/>
            <a:ext cx="1973880" cy="675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7" name="Google Shape;687;p32"/>
          <p:cNvSpPr/>
          <p:nvPr/>
        </p:nvSpPr>
        <p:spPr>
          <a:xfrm>
            <a:off x="2926080" y="4087440"/>
            <a:ext cx="2170800" cy="68940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8" name="Google Shape;688;p32"/>
          <p:cNvSpPr/>
          <p:nvPr/>
        </p:nvSpPr>
        <p:spPr>
          <a:xfrm>
            <a:off x="3035880" y="4105800"/>
            <a:ext cx="1973880" cy="675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800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9" name="Google Shape;689;p32"/>
          <p:cNvSpPr/>
          <p:nvPr/>
        </p:nvSpPr>
        <p:spPr>
          <a:xfrm>
            <a:off x="5120640" y="4087440"/>
            <a:ext cx="1896480" cy="68940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0" name="Google Shape;690;p32"/>
          <p:cNvSpPr/>
          <p:nvPr/>
        </p:nvSpPr>
        <p:spPr>
          <a:xfrm>
            <a:off x="5230440" y="4105800"/>
            <a:ext cx="1699560" cy="675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0.416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1" name="Google Shape;691;p32"/>
          <p:cNvSpPr/>
          <p:nvPr/>
        </p:nvSpPr>
        <p:spPr>
          <a:xfrm>
            <a:off x="7040880" y="4087440"/>
            <a:ext cx="4365000" cy="68940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2" name="Google Shape;692;p32"/>
          <p:cNvSpPr/>
          <p:nvPr/>
        </p:nvSpPr>
        <p:spPr>
          <a:xfrm>
            <a:off x="7150680" y="4105800"/>
            <a:ext cx="4168440" cy="675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Tendance croissante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3" name="Google Shape;693;p32"/>
          <p:cNvSpPr/>
          <p:nvPr/>
        </p:nvSpPr>
        <p:spPr>
          <a:xfrm>
            <a:off x="749880" y="5961960"/>
            <a:ext cx="10697400" cy="419400"/>
          </a:xfrm>
          <a:prstGeom prst="roundRect">
            <a:avLst>
              <a:gd fmla="val 16667" name="adj"/>
            </a:avLst>
          </a:prstGeom>
          <a:solidFill>
            <a:srgbClr val="F1F5F7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4" name="Google Shape;694;p32"/>
          <p:cNvSpPr/>
          <p:nvPr/>
        </p:nvSpPr>
        <p:spPr>
          <a:xfrm>
            <a:off x="932760" y="6007680"/>
            <a:ext cx="10331640" cy="309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Le nuage est oblique dans chaque périmètre ; r résume l'association linéaire observée, sans établir une cause.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5" name="Google Shape;695;p32"/>
          <p:cNvSpPr/>
          <p:nvPr/>
        </p:nvSpPr>
        <p:spPr>
          <a:xfrm>
            <a:off x="731520" y="6574680"/>
            <a:ext cx="7954200" cy="16344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OLIVIER DELRIEU  /  06.10.2026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6" name="Google Shape;696;p32"/>
          <p:cNvSpPr/>
          <p:nvPr/>
        </p:nvSpPr>
        <p:spPr>
          <a:xfrm>
            <a:off x="10625400" y="6546960"/>
            <a:ext cx="867600" cy="21852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32 / 58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FCFB"/>
        </a:solidFill>
      </p:bgPr>
    </p:bg>
    <p:spTree>
      <p:nvGrpSpPr>
        <p:cNvPr id="700" name="Shape 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1" name="Google Shape;701;p33"/>
          <p:cNvSpPr/>
          <p:nvPr/>
        </p:nvSpPr>
        <p:spPr>
          <a:xfrm>
            <a:off x="0" y="0"/>
            <a:ext cx="12197880" cy="6857640"/>
          </a:xfrm>
          <a:prstGeom prst="rect">
            <a:avLst/>
          </a:prstGeom>
          <a:solidFill>
            <a:srgbClr val="102A43"/>
          </a:solidFill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2" name="Google Shape;702;p33"/>
          <p:cNvSpPr/>
          <p:nvPr/>
        </p:nvSpPr>
        <p:spPr>
          <a:xfrm>
            <a:off x="777240" y="749880"/>
            <a:ext cx="10606680" cy="40212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B8DCE8"/>
                </a:solidFill>
                <a:latin typeface="Arial"/>
                <a:ea typeface="Arial"/>
                <a:cs typeface="Arial"/>
                <a:sym typeface="Arial"/>
              </a:rPr>
              <a:t>PARTIE 2 · EXPLIQUER L'ASSOCIATION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3" name="Google Shape;703;p33"/>
          <p:cNvSpPr/>
          <p:nvPr/>
        </p:nvSpPr>
        <p:spPr>
          <a:xfrm>
            <a:off x="795600" y="1463040"/>
            <a:ext cx="914040" cy="54360"/>
          </a:xfrm>
          <a:prstGeom prst="rect">
            <a:avLst/>
          </a:prstGeom>
          <a:solidFill>
            <a:srgbClr val="B66D3A"/>
          </a:solidFill>
          <a:ln>
            <a:noFill/>
          </a:ln>
        </p:spPr>
        <p:txBody>
          <a:bodyPr anchorCtr="0" anchor="ctr" bIns="9700" lIns="90000" spcFirstLastPara="1" rIns="90000" wrap="square" tIns="9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4" name="Google Shape;704;p33"/>
          <p:cNvSpPr/>
          <p:nvPr/>
        </p:nvSpPr>
        <p:spPr>
          <a:xfrm>
            <a:off x="777240" y="1847160"/>
            <a:ext cx="10606680" cy="1919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00" u="none" cap="none" strike="noStrike">
                <a:solidFill>
                  <a:srgbClr val="FCFCFB"/>
                </a:solidFill>
                <a:latin typeface="Arial"/>
                <a:ea typeface="Arial"/>
                <a:cs typeface="Arial"/>
                <a:sym typeface="Arial"/>
              </a:rPr>
              <a:t>Quand les groupes changent</a:t>
            </a:r>
            <a:endParaRPr b="0" i="0" sz="4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i="0" lang="en-US" sz="4000" u="none" cap="none" strike="noStrike">
                <a:solidFill>
                  <a:srgbClr val="FCFCFB"/>
                </a:solidFill>
                <a:latin typeface="Arial"/>
                <a:ea typeface="Arial"/>
                <a:cs typeface="Arial"/>
                <a:sym typeface="Arial"/>
              </a:rPr>
              <a:t>la relation observée</a:t>
            </a:r>
            <a:endParaRPr b="0" i="0" sz="4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5" name="Google Shape;705;p33"/>
          <p:cNvSpPr/>
          <p:nvPr/>
        </p:nvSpPr>
        <p:spPr>
          <a:xfrm>
            <a:off x="777240" y="4325040"/>
            <a:ext cx="10606680" cy="109692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00" u="none" cap="none" strike="noStrike">
                <a:solidFill>
                  <a:srgbClr val="DCE8EE"/>
                </a:solidFill>
                <a:latin typeface="Arial"/>
                <a:ea typeface="Arial"/>
                <a:cs typeface="Arial"/>
                <a:sym typeface="Arial"/>
              </a:rPr>
              <a:t>Comparer les magasins, puis examiner les hypothèses formulées par les étudiants.</a:t>
            </a:r>
            <a:endParaRPr b="0" i="0" sz="2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6" name="Google Shape;706;p33"/>
          <p:cNvSpPr/>
          <p:nvPr/>
        </p:nvSpPr>
        <p:spPr>
          <a:xfrm>
            <a:off x="731520" y="6574680"/>
            <a:ext cx="7954920" cy="16416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B8DCE8"/>
                </a:solidFill>
                <a:latin typeface="Arial"/>
                <a:ea typeface="Arial"/>
                <a:cs typeface="Arial"/>
                <a:sym typeface="Arial"/>
              </a:rPr>
              <a:t>OLIVIER DELRIEU  /  06.10.2026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7" name="Google Shape;707;p33"/>
          <p:cNvSpPr/>
          <p:nvPr/>
        </p:nvSpPr>
        <p:spPr>
          <a:xfrm>
            <a:off x="10625400" y="6546960"/>
            <a:ext cx="840960" cy="21924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B8DCE8"/>
                </a:solidFill>
                <a:latin typeface="Arial"/>
                <a:ea typeface="Arial"/>
                <a:cs typeface="Arial"/>
                <a:sym typeface="Arial"/>
              </a:rPr>
              <a:t>33 / 58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FCFB"/>
        </a:solidFill>
      </p:bgPr>
    </p:bg>
    <p:spTree>
      <p:nvGrpSpPr>
        <p:cNvPr id="711" name="Shape 7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2" name="Google Shape;712;p34"/>
          <p:cNvSpPr/>
          <p:nvPr/>
        </p:nvSpPr>
        <p:spPr>
          <a:xfrm>
            <a:off x="749880" y="420480"/>
            <a:ext cx="10698120" cy="29232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12678A"/>
                </a:solidFill>
                <a:latin typeface="Arial"/>
                <a:ea typeface="Arial"/>
                <a:cs typeface="Arial"/>
                <a:sym typeface="Arial"/>
              </a:rPr>
              <a:t>VARIABLE DE CONFUSION · NOUVEAU NUAGE XY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3" name="Google Shape;713;p34"/>
          <p:cNvSpPr/>
          <p:nvPr/>
        </p:nvSpPr>
        <p:spPr>
          <a:xfrm>
            <a:off x="749880" y="804600"/>
            <a:ext cx="10698120" cy="785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00" u="none" cap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Âge–distance : une association surtout globale</a:t>
            </a:r>
            <a:endParaRPr b="0" i="0" sz="3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4" name="Google Shape;714;p34"/>
          <p:cNvSpPr/>
          <p:nvPr/>
        </p:nvSpPr>
        <p:spPr>
          <a:xfrm>
            <a:off x="749880" y="1627560"/>
            <a:ext cx="10698120" cy="31680"/>
          </a:xfrm>
          <a:prstGeom prst="rect">
            <a:avLst/>
          </a:prstGeom>
          <a:solidFill>
            <a:srgbClr val="D4DEE4"/>
          </a:solidFill>
          <a:ln>
            <a:noFill/>
          </a:ln>
        </p:spPr>
        <p:txBody>
          <a:bodyPr anchorCtr="0" anchor="ctr" bIns="0" lIns="90000" spcFirstLastPara="1" rIns="9000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Nuage âge-distance avec droites A+B, A et B" id="715" name="Google Shape;715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9880" y="1847160"/>
            <a:ext cx="10698120" cy="4004640"/>
          </a:xfrm>
          <a:prstGeom prst="rect">
            <a:avLst/>
          </a:prstGeom>
          <a:noFill/>
          <a:ln>
            <a:noFill/>
          </a:ln>
        </p:spPr>
      </p:pic>
      <p:sp>
        <p:nvSpPr>
          <p:cNvPr id="716" name="Google Shape;716;p34"/>
          <p:cNvSpPr/>
          <p:nvPr/>
        </p:nvSpPr>
        <p:spPr>
          <a:xfrm>
            <a:off x="749880" y="5815440"/>
            <a:ext cx="10698120" cy="566640"/>
          </a:xfrm>
          <a:prstGeom prst="roundRect">
            <a:avLst>
              <a:gd fmla="val 16667" name="adj"/>
            </a:avLst>
          </a:prstGeom>
          <a:solidFill>
            <a:srgbClr val="F1F5F7"/>
          </a:solidFill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7" name="Google Shape;717;p34"/>
          <p:cNvSpPr/>
          <p:nvPr/>
        </p:nvSpPr>
        <p:spPr>
          <a:xfrm>
            <a:off x="932760" y="5861160"/>
            <a:ext cx="10332360" cy="456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Âge–distance : r = 0.361 dans A+B ; −0.008 dans A ; 0.010 dans B. Même effet de regroupement que pour distance–montant.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8" name="Google Shape;718;p34"/>
          <p:cNvSpPr/>
          <p:nvPr/>
        </p:nvSpPr>
        <p:spPr>
          <a:xfrm>
            <a:off x="731520" y="6574680"/>
            <a:ext cx="7954920" cy="16416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OLIVIER DELRIEU  /  06.10.2026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9" name="Google Shape;719;p34"/>
          <p:cNvSpPr/>
          <p:nvPr/>
        </p:nvSpPr>
        <p:spPr>
          <a:xfrm>
            <a:off x="10625400" y="6546960"/>
            <a:ext cx="840960" cy="21924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34 / 58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FCFB"/>
        </a:solidFill>
      </p:bgPr>
    </p:bg>
    <p:spTree>
      <p:nvGrpSpPr>
        <p:cNvPr id="723" name="Shape 7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4" name="Google Shape;724;p35"/>
          <p:cNvSpPr/>
          <p:nvPr/>
        </p:nvSpPr>
        <p:spPr>
          <a:xfrm>
            <a:off x="749880" y="420480"/>
            <a:ext cx="10698120" cy="29232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12678A"/>
                </a:solidFill>
                <a:latin typeface="Arial"/>
                <a:ea typeface="Arial"/>
                <a:cs typeface="Arial"/>
                <a:sym typeface="Arial"/>
              </a:rPr>
              <a:t>VARIABLE DE CONFUSION · RÈGLE SIMULÉE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5" name="Google Shape;725;p35"/>
          <p:cNvSpPr/>
          <p:nvPr/>
        </p:nvSpPr>
        <p:spPr>
          <a:xfrm>
            <a:off x="749880" y="804600"/>
            <a:ext cx="10698120" cy="785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00" u="none" cap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La différence d'âge contribue à l'écart de montant</a:t>
            </a:r>
            <a:endParaRPr b="0" i="0" sz="3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6" name="Google Shape;726;p35"/>
          <p:cNvSpPr/>
          <p:nvPr/>
        </p:nvSpPr>
        <p:spPr>
          <a:xfrm>
            <a:off x="749880" y="1627560"/>
            <a:ext cx="10698120" cy="31680"/>
          </a:xfrm>
          <a:prstGeom prst="rect">
            <a:avLst/>
          </a:prstGeom>
          <a:solidFill>
            <a:srgbClr val="D4DEE4"/>
          </a:solidFill>
          <a:ln>
            <a:noFill/>
          </a:ln>
        </p:spPr>
        <p:txBody>
          <a:bodyPr anchorCtr="0" anchor="ctr" bIns="0" lIns="90000" spcFirstLastPara="1" rIns="9000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7" name="Google Shape;727;p35"/>
          <p:cNvSpPr/>
          <p:nvPr/>
        </p:nvSpPr>
        <p:spPr>
          <a:xfrm>
            <a:off x="749880" y="1883520"/>
            <a:ext cx="10698120" cy="1133640"/>
          </a:xfrm>
          <a:prstGeom prst="roundRect">
            <a:avLst>
              <a:gd fmla="val 16667" name="adj"/>
            </a:avLst>
          </a:prstGeom>
          <a:solidFill>
            <a:srgbClr val="F1F5F7"/>
          </a:solidFill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8" name="Google Shape;728;p35"/>
          <p:cNvSpPr/>
          <p:nvPr/>
        </p:nvSpPr>
        <p:spPr>
          <a:xfrm>
            <a:off x="960120" y="2011680"/>
            <a:ext cx="10259280" cy="91404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Montant brut = 80 € + 0.5 €/an × âge</a:t>
            </a:r>
            <a:endParaRPr b="0" i="0" sz="2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+ 2 € pour B + bruit</a:t>
            </a:r>
            <a:endParaRPr b="0" i="0" sz="2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9" name="Google Shape;729;p35"/>
          <p:cNvSpPr/>
          <p:nvPr/>
        </p:nvSpPr>
        <p:spPr>
          <a:xfrm>
            <a:off x="749880" y="3246120"/>
            <a:ext cx="5211720" cy="1682280"/>
          </a:xfrm>
          <a:prstGeom prst="roundRect">
            <a:avLst>
              <a:gd fmla="val 16667" name="adj"/>
            </a:avLst>
          </a:prstGeom>
          <a:solidFill>
            <a:srgbClr val="F1F5F7"/>
          </a:solidFill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0" name="Google Shape;730;p35"/>
          <p:cNvSpPr/>
          <p:nvPr/>
        </p:nvSpPr>
        <p:spPr>
          <a:xfrm>
            <a:off x="960120" y="3429000"/>
            <a:ext cx="4791240" cy="34704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2678A"/>
                </a:solidFill>
                <a:latin typeface="Arial"/>
                <a:ea typeface="Arial"/>
                <a:cs typeface="Arial"/>
                <a:sym typeface="Arial"/>
              </a:rPr>
              <a:t>ÂGE MOYEN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1" name="Google Shape;731;p35"/>
          <p:cNvSpPr/>
          <p:nvPr/>
        </p:nvSpPr>
        <p:spPr>
          <a:xfrm>
            <a:off x="960120" y="3840480"/>
            <a:ext cx="4791240" cy="89568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A : 40.1 ans · B : 47.9 ans</a:t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Écart ≈ 7.8 ans</a:t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2" name="Google Shape;732;p35"/>
          <p:cNvSpPr/>
          <p:nvPr/>
        </p:nvSpPr>
        <p:spPr>
          <a:xfrm>
            <a:off x="6190560" y="3246120"/>
            <a:ext cx="5211720" cy="1682280"/>
          </a:xfrm>
          <a:prstGeom prst="roundRect">
            <a:avLst>
              <a:gd fmla="val 16667" name="adj"/>
            </a:avLst>
          </a:prstGeom>
          <a:solidFill>
            <a:srgbClr val="F1F5F7"/>
          </a:solidFill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3" name="Google Shape;733;p35"/>
          <p:cNvSpPr/>
          <p:nvPr/>
        </p:nvSpPr>
        <p:spPr>
          <a:xfrm>
            <a:off x="6400800" y="3429000"/>
            <a:ext cx="4791240" cy="34704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2678A"/>
                </a:solidFill>
                <a:latin typeface="Arial"/>
                <a:ea typeface="Arial"/>
                <a:cs typeface="Arial"/>
                <a:sym typeface="Arial"/>
              </a:rPr>
              <a:t>MONTANT MOYEN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4" name="Google Shape;734;p35"/>
          <p:cNvSpPr/>
          <p:nvPr/>
        </p:nvSpPr>
        <p:spPr>
          <a:xfrm>
            <a:off x="6400800" y="3840480"/>
            <a:ext cx="4791240" cy="89568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A : 100.1 € · B : 106.0 €</a:t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Écart ≈ 5.9 €</a:t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5" name="Google Shape;735;p35"/>
          <p:cNvSpPr/>
          <p:nvPr/>
        </p:nvSpPr>
        <p:spPr>
          <a:xfrm>
            <a:off x="804600" y="5239440"/>
            <a:ext cx="10560960" cy="47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0.5 €/an × 7.8 ans ≈ 3.9 € ; le terme B ajoute 2 €.</a:t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6" name="Google Shape;736;p35"/>
          <p:cNvSpPr/>
          <p:nvPr/>
        </p:nvSpPr>
        <p:spPr>
          <a:xfrm>
            <a:off x="749880" y="5906880"/>
            <a:ext cx="10698120" cy="475200"/>
          </a:xfrm>
          <a:prstGeom prst="roundRect">
            <a:avLst>
              <a:gd fmla="val 16667" name="adj"/>
            </a:avLst>
          </a:prstGeom>
          <a:solidFill>
            <a:srgbClr val="F1F5F7"/>
          </a:solidFill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7" name="Google Shape;737;p35"/>
          <p:cNvSpPr/>
          <p:nvPr/>
        </p:nvSpPr>
        <p:spPr>
          <a:xfrm>
            <a:off x="932760" y="5952600"/>
            <a:ext cx="10332360" cy="36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Le « bruit » est une variation aléatoire individuelle ; le montant final est arrondi à 0.10 €.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8" name="Google Shape;738;p35"/>
          <p:cNvSpPr/>
          <p:nvPr/>
        </p:nvSpPr>
        <p:spPr>
          <a:xfrm>
            <a:off x="731520" y="6574680"/>
            <a:ext cx="7954920" cy="16416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OLIVIER DELRIEU  /  06.10.2026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9" name="Google Shape;739;p35"/>
          <p:cNvSpPr/>
          <p:nvPr/>
        </p:nvSpPr>
        <p:spPr>
          <a:xfrm>
            <a:off x="10625400" y="6546960"/>
            <a:ext cx="840960" cy="21924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35 / 58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FCFB"/>
        </a:solidFill>
      </p:bgPr>
    </p:bg>
    <p:spTree>
      <p:nvGrpSpPr>
        <p:cNvPr id="743" name="Shape 7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4" name="Google Shape;744;p36"/>
          <p:cNvSpPr/>
          <p:nvPr/>
        </p:nvSpPr>
        <p:spPr>
          <a:xfrm>
            <a:off x="749880" y="420480"/>
            <a:ext cx="10698120" cy="29232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12678A"/>
                </a:solidFill>
                <a:latin typeface="Arial"/>
                <a:ea typeface="Arial"/>
                <a:cs typeface="Arial"/>
                <a:sym typeface="Arial"/>
              </a:rPr>
              <a:t>VARIABLE DE CONFUSION · EXPLIQUER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5" name="Google Shape;745;p36"/>
          <p:cNvSpPr/>
          <p:nvPr/>
        </p:nvSpPr>
        <p:spPr>
          <a:xfrm>
            <a:off x="749880" y="804600"/>
            <a:ext cx="10698120" cy="785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00" u="none" cap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Quel facteur crée la tendance globale ?</a:t>
            </a:r>
            <a:endParaRPr b="0" i="0" sz="3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6" name="Google Shape;746;p36"/>
          <p:cNvSpPr/>
          <p:nvPr/>
        </p:nvSpPr>
        <p:spPr>
          <a:xfrm>
            <a:off x="749880" y="1627560"/>
            <a:ext cx="10698120" cy="31680"/>
          </a:xfrm>
          <a:prstGeom prst="rect">
            <a:avLst/>
          </a:prstGeom>
          <a:solidFill>
            <a:srgbClr val="D4DEE4"/>
          </a:solidFill>
          <a:ln>
            <a:noFill/>
          </a:ln>
        </p:spPr>
        <p:txBody>
          <a:bodyPr anchorCtr="0" anchor="ctr" bIns="0" lIns="90000" spcFirstLastPara="1" rIns="9000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7" name="Google Shape;747;p36"/>
          <p:cNvSpPr/>
          <p:nvPr/>
        </p:nvSpPr>
        <p:spPr>
          <a:xfrm>
            <a:off x="749880" y="1901880"/>
            <a:ext cx="5211720" cy="3748680"/>
          </a:xfrm>
          <a:prstGeom prst="roundRect">
            <a:avLst>
              <a:gd fmla="val 16667" name="adj"/>
            </a:avLst>
          </a:prstGeom>
          <a:solidFill>
            <a:srgbClr val="F1F5F7"/>
          </a:solidFill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8" name="Google Shape;748;p36"/>
          <p:cNvSpPr/>
          <p:nvPr/>
        </p:nvSpPr>
        <p:spPr>
          <a:xfrm>
            <a:off x="960120" y="2130480"/>
            <a:ext cx="4791240" cy="47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2678A"/>
                </a:solidFill>
                <a:latin typeface="Arial"/>
                <a:ea typeface="Arial"/>
                <a:cs typeface="Arial"/>
                <a:sym typeface="Arial"/>
              </a:rPr>
              <a:t>DANS CE GÉNÉRATEUR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9" name="Google Shape;749;p36"/>
          <p:cNvSpPr/>
          <p:nvPr/>
        </p:nvSpPr>
        <p:spPr>
          <a:xfrm>
            <a:off x="960120" y="2770560"/>
            <a:ext cx="4791240" cy="265140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A/B fixe la distance moyenne : 3.0 km en A, 10.0 km en B.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A/B choisit aussi le profil d'âge. L'âge et le terme +2 € pour B entrent dans la règle du montant.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0" name="Google Shape;750;p36"/>
          <p:cNvSpPr/>
          <p:nvPr/>
        </p:nvSpPr>
        <p:spPr>
          <a:xfrm>
            <a:off x="6190560" y="1901880"/>
            <a:ext cx="5211720" cy="3748680"/>
          </a:xfrm>
          <a:prstGeom prst="roundRect">
            <a:avLst>
              <a:gd fmla="val 16667" name="adj"/>
            </a:avLst>
          </a:prstGeom>
          <a:solidFill>
            <a:srgbClr val="F1F5F7"/>
          </a:solidFill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1" name="Google Shape;751;p36"/>
          <p:cNvSpPr/>
          <p:nvPr/>
        </p:nvSpPr>
        <p:spPr>
          <a:xfrm>
            <a:off x="6400800" y="2130480"/>
            <a:ext cx="4791240" cy="47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2678A"/>
                </a:solidFill>
                <a:latin typeface="Arial"/>
                <a:ea typeface="Arial"/>
                <a:cs typeface="Arial"/>
                <a:sym typeface="Arial"/>
              </a:rPr>
              <a:t>DANS LES RÉSULTATS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2" name="Google Shape;752;p36"/>
          <p:cNvSpPr/>
          <p:nvPr/>
        </p:nvSpPr>
        <p:spPr>
          <a:xfrm>
            <a:off x="6400800" y="2770560"/>
            <a:ext cx="4791240" cy="265140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La distance indique surtout le magasin. En A+B, r(distance, montant) = 0.259 ; dans A et B, r ≈ 0.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La distance est absente de la règle. Le code, pas le nuage seul, établit ce mécanisme.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3" name="Google Shape;753;p36"/>
          <p:cNvSpPr/>
          <p:nvPr/>
        </p:nvSpPr>
        <p:spPr>
          <a:xfrm>
            <a:off x="749880" y="5815440"/>
            <a:ext cx="10698120" cy="566640"/>
          </a:xfrm>
          <a:prstGeom prst="roundRect">
            <a:avLst>
              <a:gd fmla="val 16667" name="adj"/>
            </a:avLst>
          </a:prstGeom>
          <a:solidFill>
            <a:srgbClr val="F1F5F7"/>
          </a:solidFill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4" name="Google Shape;754;p36"/>
          <p:cNvSpPr/>
          <p:nvPr/>
        </p:nvSpPr>
        <p:spPr>
          <a:xfrm>
            <a:off x="932760" y="5861160"/>
            <a:ext cx="10332360" cy="456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A/B est ici la variable de confusion pour distance–montant : ce troisième facteur est lié aux deux variables et crée le lien global.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5" name="Google Shape;755;p36"/>
          <p:cNvSpPr/>
          <p:nvPr/>
        </p:nvSpPr>
        <p:spPr>
          <a:xfrm>
            <a:off x="731520" y="6574680"/>
            <a:ext cx="7954920" cy="16416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OLIVIER DELRIEU  /  06.10.2026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6" name="Google Shape;756;p36"/>
          <p:cNvSpPr/>
          <p:nvPr/>
        </p:nvSpPr>
        <p:spPr>
          <a:xfrm>
            <a:off x="10625400" y="6546960"/>
            <a:ext cx="840960" cy="21924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36 / 58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FCFB"/>
        </a:solidFill>
      </p:bgPr>
    </p:bg>
    <p:spTree>
      <p:nvGrpSpPr>
        <p:cNvPr id="760" name="Shape 7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p37"/>
          <p:cNvSpPr/>
          <p:nvPr/>
        </p:nvSpPr>
        <p:spPr>
          <a:xfrm>
            <a:off x="749880" y="420480"/>
            <a:ext cx="10698120" cy="29232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12678A"/>
                </a:solidFill>
                <a:latin typeface="Arial"/>
                <a:ea typeface="Arial"/>
                <a:cs typeface="Arial"/>
                <a:sym typeface="Arial"/>
              </a:rPr>
              <a:t>ENQUÊTE · HYPOTHÈSES DES ÉTUDIANTS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2" name="Google Shape;762;p37"/>
          <p:cNvSpPr/>
          <p:nvPr/>
        </p:nvSpPr>
        <p:spPr>
          <a:xfrm>
            <a:off x="749880" y="804600"/>
            <a:ext cx="10698120" cy="785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00" u="none" cap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Quelles hypothèses pour le lien âge–panier ?</a:t>
            </a:r>
            <a:endParaRPr b="0" i="0" sz="3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3" name="Google Shape;763;p37"/>
          <p:cNvSpPr/>
          <p:nvPr/>
        </p:nvSpPr>
        <p:spPr>
          <a:xfrm>
            <a:off x="749880" y="1627560"/>
            <a:ext cx="10698120" cy="31680"/>
          </a:xfrm>
          <a:prstGeom prst="rect">
            <a:avLst/>
          </a:prstGeom>
          <a:solidFill>
            <a:srgbClr val="D4DEE4"/>
          </a:solidFill>
          <a:ln>
            <a:noFill/>
          </a:ln>
        </p:spPr>
        <p:txBody>
          <a:bodyPr anchorCtr="0" anchor="ctr" bIns="0" lIns="90000" spcFirstLastPara="1" rIns="9000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4" name="Google Shape;764;p37"/>
          <p:cNvSpPr/>
          <p:nvPr/>
        </p:nvSpPr>
        <p:spPr>
          <a:xfrm>
            <a:off x="749880" y="1901880"/>
            <a:ext cx="5211720" cy="3748680"/>
          </a:xfrm>
          <a:prstGeom prst="roundRect">
            <a:avLst>
              <a:gd fmla="val 16667" name="adj"/>
            </a:avLst>
          </a:prstGeom>
          <a:solidFill>
            <a:srgbClr val="F1F5F7"/>
          </a:solidFill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5" name="Google Shape;765;p37"/>
          <p:cNvSpPr/>
          <p:nvPr/>
        </p:nvSpPr>
        <p:spPr>
          <a:xfrm>
            <a:off x="960120" y="2130480"/>
            <a:ext cx="4791240" cy="47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2678A"/>
                </a:solidFill>
                <a:latin typeface="Arial"/>
                <a:ea typeface="Arial"/>
                <a:cs typeface="Arial"/>
                <a:sym typeface="Arial"/>
              </a:rPr>
              <a:t>1 · RESSOURCES ET LIEU DE VIE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6" name="Google Shape;766;p37"/>
          <p:cNvSpPr/>
          <p:nvPr/>
        </p:nvSpPr>
        <p:spPr>
          <a:xfrm>
            <a:off x="960120" y="2770560"/>
            <a:ext cx="4791240" cy="265140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Les clients plus âgés auraient davantage de ressources, habiteraient plus souvent à la campagne et auraient un panier moyen plus élevé.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À examiner : âge–distance et âge–panier moyen.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7" name="Google Shape;767;p37"/>
          <p:cNvSpPr/>
          <p:nvPr/>
        </p:nvSpPr>
        <p:spPr>
          <a:xfrm>
            <a:off x="6190560" y="1901880"/>
            <a:ext cx="5211720" cy="3748680"/>
          </a:xfrm>
          <a:prstGeom prst="roundRect">
            <a:avLst>
              <a:gd fmla="val 16667" name="adj"/>
            </a:avLst>
          </a:prstGeom>
          <a:solidFill>
            <a:srgbClr val="F1F5F7"/>
          </a:solidFill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8" name="Google Shape;768;p37"/>
          <p:cNvSpPr/>
          <p:nvPr/>
        </p:nvSpPr>
        <p:spPr>
          <a:xfrm>
            <a:off x="6400800" y="2130480"/>
            <a:ext cx="4791240" cy="47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2678A"/>
                </a:solidFill>
                <a:latin typeface="Arial"/>
                <a:ea typeface="Arial"/>
                <a:cs typeface="Arial"/>
                <a:sym typeface="Arial"/>
              </a:rPr>
              <a:t>2 · TRAJET ET FRÉQUENCE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9" name="Google Shape;769;p37"/>
          <p:cNvSpPr/>
          <p:nvPr/>
        </p:nvSpPr>
        <p:spPr>
          <a:xfrm>
            <a:off x="6400800" y="2770560"/>
            <a:ext cx="4791240" cy="265140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Les clients plus âgés auraient un trajet plus long, viendraient moins souvent et dépenseraient davantage à chaque visite.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À examiner : distance–visites et visites–panier moyen.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0" name="Google Shape;770;p37"/>
          <p:cNvSpPr/>
          <p:nvPr/>
        </p:nvSpPr>
        <p:spPr>
          <a:xfrm>
            <a:off x="749880" y="5815440"/>
            <a:ext cx="10698120" cy="566640"/>
          </a:xfrm>
          <a:prstGeom prst="roundRect">
            <a:avLst>
              <a:gd fmla="val 16667" name="adj"/>
            </a:avLst>
          </a:prstGeom>
          <a:solidFill>
            <a:srgbClr val="F1F5F7"/>
          </a:solidFill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1" name="Google Shape;771;p37"/>
          <p:cNvSpPr/>
          <p:nvPr/>
        </p:nvSpPr>
        <p:spPr>
          <a:xfrm>
            <a:off x="932760" y="5861160"/>
            <a:ext cx="10332360" cy="456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Ces deux pistes peuvent coexister. Revenu, résidence rurale et durée du trajet ne sont pas mesurés.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2" name="Google Shape;772;p37"/>
          <p:cNvSpPr/>
          <p:nvPr/>
        </p:nvSpPr>
        <p:spPr>
          <a:xfrm>
            <a:off x="731520" y="6574680"/>
            <a:ext cx="7954920" cy="16416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OLIVIER DELRIEU  /  06.10.2026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3" name="Google Shape;773;p37"/>
          <p:cNvSpPr/>
          <p:nvPr/>
        </p:nvSpPr>
        <p:spPr>
          <a:xfrm>
            <a:off x="10625400" y="6546960"/>
            <a:ext cx="840960" cy="21924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37 / 58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FCFB"/>
        </a:solidFill>
      </p:bgPr>
    </p:bg>
    <p:spTree>
      <p:nvGrpSpPr>
        <p:cNvPr id="777" name="Shape 7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" name="Google Shape;778;p38"/>
          <p:cNvSpPr/>
          <p:nvPr/>
        </p:nvSpPr>
        <p:spPr>
          <a:xfrm>
            <a:off x="749880" y="420480"/>
            <a:ext cx="10698120" cy="29232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12678A"/>
                </a:solidFill>
                <a:latin typeface="Arial"/>
                <a:ea typeface="Arial"/>
                <a:cs typeface="Arial"/>
                <a:sym typeface="Arial"/>
              </a:rPr>
              <a:t>NOUVEAU CSV SIMULÉ · CLIENTS ET VISITES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9" name="Google Shape;779;p38"/>
          <p:cNvSpPr/>
          <p:nvPr/>
        </p:nvSpPr>
        <p:spPr>
          <a:xfrm>
            <a:off x="749880" y="804600"/>
            <a:ext cx="10698120" cy="785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00" u="none" cap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Même 2 000 achats, nouveaux clients et visites</a:t>
            </a:r>
            <a:endParaRPr b="0" i="0" sz="3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0" name="Google Shape;780;p38"/>
          <p:cNvSpPr/>
          <p:nvPr/>
        </p:nvSpPr>
        <p:spPr>
          <a:xfrm>
            <a:off x="749880" y="1627560"/>
            <a:ext cx="10698120" cy="31680"/>
          </a:xfrm>
          <a:prstGeom prst="rect">
            <a:avLst/>
          </a:prstGeom>
          <a:solidFill>
            <a:srgbClr val="D4DEE4"/>
          </a:solidFill>
          <a:ln>
            <a:noFill/>
          </a:ln>
        </p:spPr>
        <p:txBody>
          <a:bodyPr anchorCtr="0" anchor="ctr" bIns="0" lIns="90000" spcFirstLastPara="1" rIns="9000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1" name="Google Shape;781;p38"/>
          <p:cNvSpPr/>
          <p:nvPr/>
        </p:nvSpPr>
        <p:spPr>
          <a:xfrm>
            <a:off x="749880" y="1901880"/>
            <a:ext cx="5211720" cy="3748680"/>
          </a:xfrm>
          <a:prstGeom prst="roundRect">
            <a:avLst>
              <a:gd fmla="val 16667" name="adj"/>
            </a:avLst>
          </a:prstGeom>
          <a:solidFill>
            <a:srgbClr val="F1F5F7"/>
          </a:solidFill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2" name="Google Shape;782;p38"/>
          <p:cNvSpPr/>
          <p:nvPr/>
        </p:nvSpPr>
        <p:spPr>
          <a:xfrm>
            <a:off x="960120" y="2130480"/>
            <a:ext cx="4791240" cy="47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2678A"/>
                </a:solidFill>
                <a:latin typeface="Arial"/>
                <a:ea typeface="Arial"/>
                <a:cs typeface="Arial"/>
                <a:sym typeface="Arial"/>
              </a:rPr>
              <a:t>CE QUI EST CONSERVÉ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3" name="Google Shape;783;p38"/>
          <p:cNvSpPr/>
          <p:nvPr/>
        </p:nvSpPr>
        <p:spPr>
          <a:xfrm>
            <a:off x="960120" y="2770560"/>
            <a:ext cx="4791240" cy="265140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Les 2 000 achats gardent leur magasin, leur âge et leur montant du 1er octobre.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Dans visits.csv, un achat reste une ligne.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4" name="Google Shape;784;p38"/>
          <p:cNvSpPr/>
          <p:nvPr/>
        </p:nvSpPr>
        <p:spPr>
          <a:xfrm>
            <a:off x="6190560" y="1901880"/>
            <a:ext cx="5211720" cy="3748680"/>
          </a:xfrm>
          <a:prstGeom prst="roundRect">
            <a:avLst>
              <a:gd fmla="val 16667" name="adj"/>
            </a:avLst>
          </a:prstGeom>
          <a:solidFill>
            <a:srgbClr val="F1F5F7"/>
          </a:solidFill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5" name="Google Shape;785;p38"/>
          <p:cNvSpPr/>
          <p:nvPr/>
        </p:nvSpPr>
        <p:spPr>
          <a:xfrm>
            <a:off x="6400800" y="2130480"/>
            <a:ext cx="4791240" cy="47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2678A"/>
                </a:solidFill>
                <a:latin typeface="Arial"/>
                <a:ea typeface="Arial"/>
                <a:cs typeface="Arial"/>
                <a:sym typeface="Arial"/>
              </a:rPr>
              <a:t>CE QUI EST AJOUTÉ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6" name="Google Shape;786;p38"/>
          <p:cNvSpPr/>
          <p:nvPr/>
        </p:nvSpPr>
        <p:spPr>
          <a:xfrm>
            <a:off x="6400800" y="2770560"/>
            <a:ext cx="4791240" cy="265140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customers.csv : 400 clients, chacun avec un magasin, un âge et une nouvelle distance fixes.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visits.csv : 2 000 visites reliées par customer_id.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Fenêtre de 12 semaines simulée ; revenu et temps de trajet non observés.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7" name="Google Shape;787;p38"/>
          <p:cNvSpPr/>
          <p:nvPr/>
        </p:nvSpPr>
        <p:spPr>
          <a:xfrm>
            <a:off x="749880" y="5852160"/>
            <a:ext cx="10698120" cy="529920"/>
          </a:xfrm>
          <a:prstGeom prst="roundRect">
            <a:avLst>
              <a:gd fmla="val 16667" name="adj"/>
            </a:avLst>
          </a:prstGeom>
          <a:solidFill>
            <a:srgbClr val="F1F5F7"/>
          </a:solidFill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8" name="Google Shape;788;p38"/>
          <p:cNvSpPr/>
          <p:nvPr/>
        </p:nvSpPr>
        <p:spPr>
          <a:xfrm>
            <a:off x="932760" y="5897880"/>
            <a:ext cx="10332360" cy="42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Cette distance est fixe par client et distincte de la distance par achat du 1er octobre.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9" name="Google Shape;789;p38"/>
          <p:cNvSpPr/>
          <p:nvPr/>
        </p:nvSpPr>
        <p:spPr>
          <a:xfrm>
            <a:off x="731520" y="6574680"/>
            <a:ext cx="7954920" cy="16416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OLIVIER DELRIEU  /  06.10.2026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0" name="Google Shape;790;p38"/>
          <p:cNvSpPr/>
          <p:nvPr/>
        </p:nvSpPr>
        <p:spPr>
          <a:xfrm>
            <a:off x="10625400" y="6546960"/>
            <a:ext cx="840960" cy="21924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38 / 58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FCFB"/>
        </a:solidFill>
      </p:bgPr>
    </p:bg>
    <p:spTree>
      <p:nvGrpSpPr>
        <p:cNvPr id="794" name="Shape 7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5" name="Google Shape;795;p39"/>
          <p:cNvSpPr/>
          <p:nvPr/>
        </p:nvSpPr>
        <p:spPr>
          <a:xfrm>
            <a:off x="749880" y="420480"/>
            <a:ext cx="10698120" cy="29232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12678A"/>
                </a:solidFill>
                <a:latin typeface="Arial"/>
                <a:ea typeface="Arial"/>
                <a:cs typeface="Arial"/>
                <a:sym typeface="Arial"/>
              </a:rPr>
              <a:t>VISITES · TRAVAIL DES ÉTUDIANTS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6" name="Google Shape;796;p39"/>
          <p:cNvSpPr/>
          <p:nvPr/>
        </p:nvSpPr>
        <p:spPr>
          <a:xfrm>
            <a:off x="749880" y="804600"/>
            <a:ext cx="10698120" cy="785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00" u="none" cap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Créer une ligne par client, puis comparer</a:t>
            </a:r>
            <a:endParaRPr b="0" i="0" sz="3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7" name="Google Shape;797;p39"/>
          <p:cNvSpPr/>
          <p:nvPr/>
        </p:nvSpPr>
        <p:spPr>
          <a:xfrm>
            <a:off x="749880" y="1627560"/>
            <a:ext cx="10698120" cy="31680"/>
          </a:xfrm>
          <a:prstGeom prst="rect">
            <a:avLst/>
          </a:prstGeom>
          <a:solidFill>
            <a:srgbClr val="D4DEE4"/>
          </a:solidFill>
          <a:ln>
            <a:noFill/>
          </a:ln>
        </p:spPr>
        <p:txBody>
          <a:bodyPr anchorCtr="0" anchor="ctr" bIns="0" lIns="90000" spcFirstLastPara="1" rIns="9000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8" name="Google Shape;798;p39"/>
          <p:cNvSpPr/>
          <p:nvPr/>
        </p:nvSpPr>
        <p:spPr>
          <a:xfrm>
            <a:off x="749880" y="1901880"/>
            <a:ext cx="5211720" cy="3748680"/>
          </a:xfrm>
          <a:prstGeom prst="roundRect">
            <a:avLst>
              <a:gd fmla="val 16667" name="adj"/>
            </a:avLst>
          </a:prstGeom>
          <a:solidFill>
            <a:srgbClr val="F1F5F7"/>
          </a:solidFill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9" name="Google Shape;799;p39"/>
          <p:cNvSpPr/>
          <p:nvPr/>
        </p:nvSpPr>
        <p:spPr>
          <a:xfrm>
            <a:off x="960120" y="2130480"/>
            <a:ext cx="4791240" cy="47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2678A"/>
                </a:solidFill>
                <a:latin typeface="Arial"/>
                <a:ea typeface="Arial"/>
                <a:cs typeface="Arial"/>
                <a:sym typeface="Arial"/>
              </a:rPr>
              <a:t>JOINDRE ET REGROUPER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0" name="Google Shape;800;p39"/>
          <p:cNvSpPr/>
          <p:nvPr/>
        </p:nvSpPr>
        <p:spPr>
          <a:xfrm>
            <a:off x="960120" y="2770560"/>
            <a:ext cx="4791240" cy="265140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Joindre visits.csv à customers.csv par customer_id.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Puis calculer par client :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• visit_count = nombre de lignes ;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• mean_basket = montant moyen par visite.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Garder group, age et distance_to_store_km.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1" name="Google Shape;801;p39"/>
          <p:cNvSpPr/>
          <p:nvPr/>
        </p:nvSpPr>
        <p:spPr>
          <a:xfrm>
            <a:off x="6190560" y="1901880"/>
            <a:ext cx="5211720" cy="3748680"/>
          </a:xfrm>
          <a:prstGeom prst="roundRect">
            <a:avLst>
              <a:gd fmla="val 16667" name="adj"/>
            </a:avLst>
          </a:prstGeom>
          <a:solidFill>
            <a:srgbClr val="F1F5F7"/>
          </a:solidFill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2" name="Google Shape;802;p39"/>
          <p:cNvSpPr/>
          <p:nvPr/>
        </p:nvSpPr>
        <p:spPr>
          <a:xfrm>
            <a:off x="6400800" y="2130480"/>
            <a:ext cx="4791240" cy="47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2678A"/>
                </a:solidFill>
                <a:latin typeface="Arial"/>
                <a:ea typeface="Arial"/>
                <a:cs typeface="Arial"/>
                <a:sym typeface="Arial"/>
              </a:rPr>
              <a:t>EXAMINER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3" name="Google Shape;803;p39"/>
          <p:cNvSpPr/>
          <p:nvPr/>
        </p:nvSpPr>
        <p:spPr>
          <a:xfrm>
            <a:off x="6400800" y="2770560"/>
            <a:ext cx="4791240" cy="265140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Cinq nuages XY : âge–panier moyen, âge–distance, âge–visites, distance–visites, visites–panier moyen.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Pour A+B, A et B : covariance, corrélation de Pearson, puis conclusion et limites.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4" name="Google Shape;804;p39"/>
          <p:cNvSpPr/>
          <p:nvPr/>
        </p:nvSpPr>
        <p:spPr>
          <a:xfrm>
            <a:off x="749880" y="5852160"/>
            <a:ext cx="10698120" cy="529920"/>
          </a:xfrm>
          <a:prstGeom prst="roundRect">
            <a:avLst>
              <a:gd fmla="val 16667" name="adj"/>
            </a:avLst>
          </a:prstGeom>
          <a:solidFill>
            <a:srgbClr val="F1F5F7"/>
          </a:solidFill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5" name="Google Shape;805;p39"/>
          <p:cNvSpPr/>
          <p:nvPr/>
        </p:nvSpPr>
        <p:spPr>
          <a:xfrm>
            <a:off x="932760" y="5897880"/>
            <a:ext cx="10332360" cy="42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Calculer sur 400 clients, pas sur 2 000 visites : chaque client doit compter une fois.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6" name="Google Shape;806;p39"/>
          <p:cNvSpPr/>
          <p:nvPr/>
        </p:nvSpPr>
        <p:spPr>
          <a:xfrm>
            <a:off x="731520" y="6574680"/>
            <a:ext cx="7954920" cy="16416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OLIVIER DELRIEU  /  06.10.2026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7" name="Google Shape;807;p39"/>
          <p:cNvSpPr/>
          <p:nvPr/>
        </p:nvSpPr>
        <p:spPr>
          <a:xfrm>
            <a:off x="10625400" y="6546960"/>
            <a:ext cx="840960" cy="21924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39 / 58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FCFB"/>
        </a:solidFill>
      </p:bgPr>
    </p:bg>
    <p:spTree>
      <p:nvGrpSpPr>
        <p:cNvPr id="811" name="Shape 8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2" name="Google Shape;812;p40"/>
          <p:cNvSpPr/>
          <p:nvPr/>
        </p:nvSpPr>
        <p:spPr>
          <a:xfrm>
            <a:off x="749880" y="420480"/>
            <a:ext cx="10698120" cy="29232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12678A"/>
                </a:solidFill>
                <a:latin typeface="Arial"/>
                <a:ea typeface="Arial"/>
                <a:cs typeface="Arial"/>
                <a:sym typeface="Arial"/>
              </a:rPr>
              <a:t>VISITES · MISE EN COMMUN APRÈS L'ENQUÊTE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3" name="Google Shape;813;p40"/>
          <p:cNvSpPr/>
          <p:nvPr/>
        </p:nvSpPr>
        <p:spPr>
          <a:xfrm>
            <a:off x="749880" y="804600"/>
            <a:ext cx="10698120" cy="785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00" u="none" cap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Âge–panier moyen : le lien à expliquer</a:t>
            </a:r>
            <a:endParaRPr b="0" i="0" sz="3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4" name="Google Shape;814;p40"/>
          <p:cNvSpPr/>
          <p:nvPr/>
        </p:nvSpPr>
        <p:spPr>
          <a:xfrm>
            <a:off x="749880" y="1627560"/>
            <a:ext cx="10698120" cy="31680"/>
          </a:xfrm>
          <a:prstGeom prst="rect">
            <a:avLst/>
          </a:prstGeom>
          <a:solidFill>
            <a:srgbClr val="D4DEE4"/>
          </a:solidFill>
          <a:ln>
            <a:noFill/>
          </a:ln>
        </p:spPr>
        <p:txBody>
          <a:bodyPr anchorCtr="0" anchor="ctr" bIns="0" lIns="90000" spcFirstLastPara="1" rIns="9000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Âge–panier moyen : le lien à expliquer" id="815" name="Google Shape;815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9880" y="1847160"/>
            <a:ext cx="10698120" cy="4004640"/>
          </a:xfrm>
          <a:prstGeom prst="rect">
            <a:avLst/>
          </a:prstGeom>
          <a:noFill/>
          <a:ln>
            <a:noFill/>
          </a:ln>
        </p:spPr>
      </p:pic>
      <p:sp>
        <p:nvSpPr>
          <p:cNvPr id="816" name="Google Shape;816;p40"/>
          <p:cNvSpPr/>
          <p:nvPr/>
        </p:nvSpPr>
        <p:spPr>
          <a:xfrm>
            <a:off x="749880" y="5815440"/>
            <a:ext cx="10698120" cy="566640"/>
          </a:xfrm>
          <a:prstGeom prst="roundRect">
            <a:avLst>
              <a:gd fmla="val 16667" name="adj"/>
            </a:avLst>
          </a:prstGeom>
          <a:solidFill>
            <a:srgbClr val="F1F5F7"/>
          </a:solidFill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7" name="Google Shape;817;p40"/>
          <p:cNvSpPr/>
          <p:nvPr/>
        </p:nvSpPr>
        <p:spPr>
          <a:xfrm>
            <a:off x="932760" y="5861160"/>
            <a:ext cx="10332360" cy="456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Un point = un client ; panier moyen de ses visites. r = 0.556 dans A+B ; 0.557 dans A ; 0.462 dans B.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8" name="Google Shape;818;p40"/>
          <p:cNvSpPr/>
          <p:nvPr/>
        </p:nvSpPr>
        <p:spPr>
          <a:xfrm>
            <a:off x="731520" y="6574680"/>
            <a:ext cx="7954920" cy="16416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OLIVIER DELRIEU  /  06.10.2026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9" name="Google Shape;819;p40"/>
          <p:cNvSpPr/>
          <p:nvPr/>
        </p:nvSpPr>
        <p:spPr>
          <a:xfrm>
            <a:off x="10625400" y="6546960"/>
            <a:ext cx="840960" cy="21924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40 / 58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FCFB"/>
        </a:solidFill>
      </p:bgPr>
    </p:bg>
    <p:spTree>
      <p:nvGrpSpPr>
        <p:cNvPr id="823" name="Shape 8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4" name="Google Shape;824;p41"/>
          <p:cNvSpPr/>
          <p:nvPr/>
        </p:nvSpPr>
        <p:spPr>
          <a:xfrm>
            <a:off x="749880" y="420480"/>
            <a:ext cx="10698120" cy="29232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12678A"/>
                </a:solidFill>
                <a:latin typeface="Arial"/>
                <a:ea typeface="Arial"/>
                <a:cs typeface="Arial"/>
                <a:sym typeface="Arial"/>
              </a:rPr>
              <a:t>VISITES · MISE EN COMMUN APRÈS L'ENQUÊTE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5" name="Google Shape;825;p41"/>
          <p:cNvSpPr/>
          <p:nvPr/>
        </p:nvSpPr>
        <p:spPr>
          <a:xfrm>
            <a:off x="749880" y="804600"/>
            <a:ext cx="10698120" cy="785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00" u="none" cap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Âge–distance : comparer les nouveaux clients</a:t>
            </a:r>
            <a:endParaRPr b="0" i="0" sz="3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6" name="Google Shape;826;p41"/>
          <p:cNvSpPr/>
          <p:nvPr/>
        </p:nvSpPr>
        <p:spPr>
          <a:xfrm>
            <a:off x="749880" y="1627560"/>
            <a:ext cx="10698120" cy="31680"/>
          </a:xfrm>
          <a:prstGeom prst="rect">
            <a:avLst/>
          </a:prstGeom>
          <a:solidFill>
            <a:srgbClr val="D4DEE4"/>
          </a:solidFill>
          <a:ln>
            <a:noFill/>
          </a:ln>
        </p:spPr>
        <p:txBody>
          <a:bodyPr anchorCtr="0" anchor="ctr" bIns="0" lIns="90000" spcFirstLastPara="1" rIns="9000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Âge–distance : comparer les nouveaux clients" id="827" name="Google Shape;827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9880" y="1847160"/>
            <a:ext cx="10698120" cy="4004640"/>
          </a:xfrm>
          <a:prstGeom prst="rect">
            <a:avLst/>
          </a:prstGeom>
          <a:noFill/>
          <a:ln>
            <a:noFill/>
          </a:ln>
        </p:spPr>
      </p:pic>
      <p:sp>
        <p:nvSpPr>
          <p:cNvPr id="828" name="Google Shape;828;p41"/>
          <p:cNvSpPr/>
          <p:nvPr/>
        </p:nvSpPr>
        <p:spPr>
          <a:xfrm>
            <a:off x="749880" y="5815440"/>
            <a:ext cx="10698120" cy="566640"/>
          </a:xfrm>
          <a:prstGeom prst="roundRect">
            <a:avLst>
              <a:gd fmla="val 16667" name="adj"/>
            </a:avLst>
          </a:prstGeom>
          <a:solidFill>
            <a:srgbClr val="F1F5F7"/>
          </a:solidFill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9" name="Google Shape;829;p41"/>
          <p:cNvSpPr/>
          <p:nvPr/>
        </p:nvSpPr>
        <p:spPr>
          <a:xfrm>
            <a:off x="932760" y="5861160"/>
            <a:ext cx="10332360" cy="456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Nouvelle distance fixe par client : r = 0.539 dans A+B ; 0.611 dans A ; 0.553 dans B. L'ancien nuage par achat utilisait une autre distance.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0" name="Google Shape;830;p41"/>
          <p:cNvSpPr/>
          <p:nvPr/>
        </p:nvSpPr>
        <p:spPr>
          <a:xfrm>
            <a:off x="731520" y="6574680"/>
            <a:ext cx="7954920" cy="16416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OLIVIER DELRIEU  /  06.10.2026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1" name="Google Shape;831;p41"/>
          <p:cNvSpPr/>
          <p:nvPr/>
        </p:nvSpPr>
        <p:spPr>
          <a:xfrm>
            <a:off x="10625400" y="6546960"/>
            <a:ext cx="840960" cy="21924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41 / 58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FCFB"/>
        </a:solidFill>
      </p:bgPr>
    </p:bg>
    <p:spTree>
      <p:nvGrpSpPr>
        <p:cNvPr id="835" name="Shape 8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6" name="Google Shape;836;p42"/>
          <p:cNvSpPr/>
          <p:nvPr/>
        </p:nvSpPr>
        <p:spPr>
          <a:xfrm>
            <a:off x="749880" y="420480"/>
            <a:ext cx="10698120" cy="29232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12678A"/>
                </a:solidFill>
                <a:latin typeface="Arial"/>
                <a:ea typeface="Arial"/>
                <a:cs typeface="Arial"/>
                <a:sym typeface="Arial"/>
              </a:rPr>
              <a:t>VISITES · MISE EN COMMUN APRÈS L'ENQUÊTE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7" name="Google Shape;837;p42"/>
          <p:cNvSpPr/>
          <p:nvPr/>
        </p:nvSpPr>
        <p:spPr>
          <a:xfrm>
            <a:off x="749880" y="804600"/>
            <a:ext cx="10698120" cy="785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00" u="none" cap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Âge–visites : une tendance dans chaque magasin</a:t>
            </a:r>
            <a:endParaRPr b="0" i="0" sz="3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8" name="Google Shape;838;p42"/>
          <p:cNvSpPr/>
          <p:nvPr/>
        </p:nvSpPr>
        <p:spPr>
          <a:xfrm>
            <a:off x="749880" y="1627560"/>
            <a:ext cx="10698120" cy="31680"/>
          </a:xfrm>
          <a:prstGeom prst="rect">
            <a:avLst/>
          </a:prstGeom>
          <a:solidFill>
            <a:srgbClr val="D4DEE4"/>
          </a:solidFill>
          <a:ln>
            <a:noFill/>
          </a:ln>
        </p:spPr>
        <p:txBody>
          <a:bodyPr anchorCtr="0" anchor="ctr" bIns="0" lIns="90000" spcFirstLastPara="1" rIns="9000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Âge–visites : une tendance dans chaque magasin" id="839" name="Google Shape;839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9880" y="1847160"/>
            <a:ext cx="10698120" cy="4004640"/>
          </a:xfrm>
          <a:prstGeom prst="rect">
            <a:avLst/>
          </a:prstGeom>
          <a:noFill/>
          <a:ln>
            <a:noFill/>
          </a:ln>
        </p:spPr>
      </p:pic>
      <p:sp>
        <p:nvSpPr>
          <p:cNvPr id="840" name="Google Shape;840;p42"/>
          <p:cNvSpPr/>
          <p:nvPr/>
        </p:nvSpPr>
        <p:spPr>
          <a:xfrm>
            <a:off x="749880" y="5815440"/>
            <a:ext cx="10698120" cy="566640"/>
          </a:xfrm>
          <a:prstGeom prst="roundRect">
            <a:avLst>
              <a:gd fmla="val 16667" name="adj"/>
            </a:avLst>
          </a:prstGeom>
          <a:solidFill>
            <a:srgbClr val="F1F5F7"/>
          </a:solidFill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1" name="Google Shape;841;p42"/>
          <p:cNvSpPr/>
          <p:nvPr/>
        </p:nvSpPr>
        <p:spPr>
          <a:xfrm>
            <a:off x="932760" y="5861160"/>
            <a:ext cx="10332360" cy="456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r = −0.528 dans A+B ; −0.554 dans A ; −0.395 dans B. Pour certains âges observés, la droite prévoit moins de 0 visite : on l'arrête à 0. Elle résume la tendance.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2" name="Google Shape;842;p42"/>
          <p:cNvSpPr/>
          <p:nvPr/>
        </p:nvSpPr>
        <p:spPr>
          <a:xfrm>
            <a:off x="731520" y="6574680"/>
            <a:ext cx="7954920" cy="16416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OLIVIER DELRIEU  /  06.10.2026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3" name="Google Shape;843;p42"/>
          <p:cNvSpPr/>
          <p:nvPr/>
        </p:nvSpPr>
        <p:spPr>
          <a:xfrm>
            <a:off x="10625400" y="6546960"/>
            <a:ext cx="840960" cy="21924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42 / 58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FCFB"/>
        </a:solidFill>
      </p:bgPr>
    </p:bg>
    <p:spTree>
      <p:nvGrpSpPr>
        <p:cNvPr id="847" name="Shape 8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8" name="Google Shape;848;p43"/>
          <p:cNvSpPr/>
          <p:nvPr/>
        </p:nvSpPr>
        <p:spPr>
          <a:xfrm>
            <a:off x="749880" y="420480"/>
            <a:ext cx="10698120" cy="29232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12678A"/>
                </a:solidFill>
                <a:latin typeface="Arial"/>
                <a:ea typeface="Arial"/>
                <a:cs typeface="Arial"/>
                <a:sym typeface="Arial"/>
              </a:rPr>
              <a:t>VISITES · MISE EN COMMUN APRÈS L'ENQUÊTE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9" name="Google Shape;849;p43"/>
          <p:cNvSpPr/>
          <p:nvPr/>
        </p:nvSpPr>
        <p:spPr>
          <a:xfrm>
            <a:off x="749880" y="804600"/>
            <a:ext cx="10698120" cy="785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00" u="none" cap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Distance–visites : une tendance dans A et B</a:t>
            </a:r>
            <a:endParaRPr b="0" i="0" sz="3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0" name="Google Shape;850;p43"/>
          <p:cNvSpPr/>
          <p:nvPr/>
        </p:nvSpPr>
        <p:spPr>
          <a:xfrm>
            <a:off x="749880" y="1627560"/>
            <a:ext cx="10698120" cy="31680"/>
          </a:xfrm>
          <a:prstGeom prst="rect">
            <a:avLst/>
          </a:prstGeom>
          <a:solidFill>
            <a:srgbClr val="D4DEE4"/>
          </a:solidFill>
          <a:ln>
            <a:noFill/>
          </a:ln>
        </p:spPr>
        <p:txBody>
          <a:bodyPr anchorCtr="0" anchor="ctr" bIns="0" lIns="90000" spcFirstLastPara="1" rIns="9000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Distance–visites : une tendance dans A et B" id="851" name="Google Shape;851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9880" y="1847160"/>
            <a:ext cx="10698120" cy="4004640"/>
          </a:xfrm>
          <a:prstGeom prst="rect">
            <a:avLst/>
          </a:prstGeom>
          <a:noFill/>
          <a:ln>
            <a:noFill/>
          </a:ln>
        </p:spPr>
      </p:pic>
      <p:sp>
        <p:nvSpPr>
          <p:cNvPr id="852" name="Google Shape;852;p43"/>
          <p:cNvSpPr/>
          <p:nvPr/>
        </p:nvSpPr>
        <p:spPr>
          <a:xfrm>
            <a:off x="749880" y="5815440"/>
            <a:ext cx="10698120" cy="566640"/>
          </a:xfrm>
          <a:prstGeom prst="roundRect">
            <a:avLst>
              <a:gd fmla="val 16667" name="adj"/>
            </a:avLst>
          </a:prstGeom>
          <a:solidFill>
            <a:srgbClr val="F1F5F7"/>
          </a:solidFill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3" name="Google Shape;853;p43"/>
          <p:cNvSpPr/>
          <p:nvPr/>
        </p:nvSpPr>
        <p:spPr>
          <a:xfrm>
            <a:off x="932760" y="5861160"/>
            <a:ext cx="10332360" cy="456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r = −0.443 dans A+B ; −0.719 dans A ; −0.532 dans B. Pour certaines distances observées, la droite prévoit moins de 0 visite : on l'arrête à 0. Elle résume la tendance.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4" name="Google Shape;854;p43"/>
          <p:cNvSpPr/>
          <p:nvPr/>
        </p:nvSpPr>
        <p:spPr>
          <a:xfrm>
            <a:off x="731520" y="6574680"/>
            <a:ext cx="7954920" cy="16416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OLIVIER DELRIEU  /  06.10.2026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5" name="Google Shape;855;p43"/>
          <p:cNvSpPr/>
          <p:nvPr/>
        </p:nvSpPr>
        <p:spPr>
          <a:xfrm>
            <a:off x="10625400" y="6546960"/>
            <a:ext cx="840960" cy="21924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43 / 58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FCFB"/>
        </a:solidFill>
      </p:bgPr>
    </p:bg>
    <p:spTree>
      <p:nvGrpSpPr>
        <p:cNvPr id="859" name="Shape 8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" name="Google Shape;860;p44"/>
          <p:cNvSpPr/>
          <p:nvPr/>
        </p:nvSpPr>
        <p:spPr>
          <a:xfrm>
            <a:off x="749880" y="420480"/>
            <a:ext cx="10698120" cy="29232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12678A"/>
                </a:solidFill>
                <a:latin typeface="Arial"/>
                <a:ea typeface="Arial"/>
                <a:cs typeface="Arial"/>
                <a:sym typeface="Arial"/>
              </a:rPr>
              <a:t>VISITES · MISE EN COMMUN APRÈS L'ENQUÊTE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1" name="Google Shape;861;p44"/>
          <p:cNvSpPr/>
          <p:nvPr/>
        </p:nvSpPr>
        <p:spPr>
          <a:xfrm>
            <a:off x="749880" y="804600"/>
            <a:ext cx="10698120" cy="785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00" u="none" cap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Moins de visites, panier moyen plus élevé</a:t>
            </a:r>
            <a:endParaRPr b="0" i="0" sz="3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2" name="Google Shape;862;p44"/>
          <p:cNvSpPr/>
          <p:nvPr/>
        </p:nvSpPr>
        <p:spPr>
          <a:xfrm>
            <a:off x="749880" y="1627560"/>
            <a:ext cx="10698120" cy="31680"/>
          </a:xfrm>
          <a:prstGeom prst="rect">
            <a:avLst/>
          </a:prstGeom>
          <a:solidFill>
            <a:srgbClr val="D4DEE4"/>
          </a:solidFill>
          <a:ln>
            <a:noFill/>
          </a:ln>
        </p:spPr>
        <p:txBody>
          <a:bodyPr anchorCtr="0" anchor="ctr" bIns="0" lIns="90000" spcFirstLastPara="1" rIns="9000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Moins de visites, panier moyen plus élevé" id="863" name="Google Shape;863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9880" y="1847160"/>
            <a:ext cx="10698120" cy="4004640"/>
          </a:xfrm>
          <a:prstGeom prst="rect">
            <a:avLst/>
          </a:prstGeom>
          <a:noFill/>
          <a:ln>
            <a:noFill/>
          </a:ln>
        </p:spPr>
      </p:pic>
      <p:sp>
        <p:nvSpPr>
          <p:cNvPr id="864" name="Google Shape;864;p44"/>
          <p:cNvSpPr/>
          <p:nvPr/>
        </p:nvSpPr>
        <p:spPr>
          <a:xfrm>
            <a:off x="749880" y="5815440"/>
            <a:ext cx="10698120" cy="566640"/>
          </a:xfrm>
          <a:prstGeom prst="roundRect">
            <a:avLst>
              <a:gd fmla="val 16667" name="adj"/>
            </a:avLst>
          </a:prstGeom>
          <a:solidFill>
            <a:srgbClr val="F1F5F7"/>
          </a:solidFill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5" name="Google Shape;865;p44"/>
          <p:cNvSpPr/>
          <p:nvPr/>
        </p:nvSpPr>
        <p:spPr>
          <a:xfrm>
            <a:off x="932760" y="5861160"/>
            <a:ext cx="10332360" cy="456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r = −0.677 dans A+B ; −0.742 dans A ; −0.543 dans B. Le panier est une moyenne par client et par visite.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6" name="Google Shape;866;p44"/>
          <p:cNvSpPr/>
          <p:nvPr/>
        </p:nvSpPr>
        <p:spPr>
          <a:xfrm>
            <a:off x="731520" y="6574680"/>
            <a:ext cx="7954920" cy="16416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OLIVIER DELRIEU  /  06.10.2026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7" name="Google Shape;867;p44"/>
          <p:cNvSpPr/>
          <p:nvPr/>
        </p:nvSpPr>
        <p:spPr>
          <a:xfrm>
            <a:off x="10625400" y="6546960"/>
            <a:ext cx="840960" cy="21924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44 / 58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FCFB"/>
        </a:solidFill>
      </p:bgPr>
    </p:bg>
    <p:spTree>
      <p:nvGrpSpPr>
        <p:cNvPr id="871" name="Shape 8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2" name="Google Shape;872;p45"/>
          <p:cNvSpPr/>
          <p:nvPr/>
        </p:nvSpPr>
        <p:spPr>
          <a:xfrm>
            <a:off x="749880" y="420480"/>
            <a:ext cx="10698120" cy="29232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12678A"/>
                </a:solidFill>
                <a:latin typeface="Arial"/>
                <a:ea typeface="Arial"/>
                <a:cs typeface="Arial"/>
                <a:sym typeface="Arial"/>
              </a:rPr>
              <a:t>VISITES · MISE EN COMMUN APRÈS L'ENQUÊTE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3" name="Google Shape;873;p45"/>
          <p:cNvSpPr/>
          <p:nvPr/>
        </p:nvSpPr>
        <p:spPr>
          <a:xfrm>
            <a:off x="749880" y="804600"/>
            <a:ext cx="10698120" cy="785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00" u="none" cap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Les visites éclairent une partie du lien âge–panier</a:t>
            </a:r>
            <a:endParaRPr b="0" i="0" sz="3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4" name="Google Shape;874;p45"/>
          <p:cNvSpPr/>
          <p:nvPr/>
        </p:nvSpPr>
        <p:spPr>
          <a:xfrm>
            <a:off x="749880" y="1627560"/>
            <a:ext cx="10698120" cy="31680"/>
          </a:xfrm>
          <a:prstGeom prst="rect">
            <a:avLst/>
          </a:prstGeom>
          <a:solidFill>
            <a:srgbClr val="D4DEE4"/>
          </a:solidFill>
          <a:ln>
            <a:noFill/>
          </a:ln>
        </p:spPr>
        <p:txBody>
          <a:bodyPr anchorCtr="0" anchor="ctr" bIns="0" lIns="90000" spcFirstLastPara="1" rIns="9000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5" name="Google Shape;875;p45"/>
          <p:cNvSpPr/>
          <p:nvPr/>
        </p:nvSpPr>
        <p:spPr>
          <a:xfrm>
            <a:off x="749880" y="1901880"/>
            <a:ext cx="5211720" cy="3748680"/>
          </a:xfrm>
          <a:prstGeom prst="roundRect">
            <a:avLst>
              <a:gd fmla="val 16667" name="adj"/>
            </a:avLst>
          </a:prstGeom>
          <a:solidFill>
            <a:srgbClr val="F1F5F7"/>
          </a:solidFill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6" name="Google Shape;876;p45"/>
          <p:cNvSpPr/>
          <p:nvPr/>
        </p:nvSpPr>
        <p:spPr>
          <a:xfrm>
            <a:off x="960120" y="2130480"/>
            <a:ext cx="4791240" cy="47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2678A"/>
                </a:solidFill>
                <a:latin typeface="Arial"/>
                <a:ea typeface="Arial"/>
                <a:cs typeface="Arial"/>
                <a:sym typeface="Arial"/>
              </a:rPr>
              <a:t>LE PARCOURS CONSTRUIT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7" name="Google Shape;877;p45"/>
          <p:cNvSpPr/>
          <p:nvPr/>
        </p:nvSpPr>
        <p:spPr>
          <a:xfrm>
            <a:off x="960120" y="2770560"/>
            <a:ext cx="4791240" cy="265140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Dans ce jeu, les clients plus âgés sont en moyenne plus éloignés dans A et B. À âge et magasin donnés, la distance répartit les visites ; moins de visites vont avec un panier moyen plus élevé.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8" name="Google Shape;878;p45"/>
          <p:cNvSpPr/>
          <p:nvPr/>
        </p:nvSpPr>
        <p:spPr>
          <a:xfrm>
            <a:off x="6190560" y="1901880"/>
            <a:ext cx="5211720" cy="3748680"/>
          </a:xfrm>
          <a:prstGeom prst="roundRect">
            <a:avLst>
              <a:gd fmla="val 16667" name="adj"/>
            </a:avLst>
          </a:prstGeom>
          <a:solidFill>
            <a:srgbClr val="F1F5F7"/>
          </a:solidFill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9" name="Google Shape;879;p45"/>
          <p:cNvSpPr/>
          <p:nvPr/>
        </p:nvSpPr>
        <p:spPr>
          <a:xfrm>
            <a:off x="6400800" y="2130480"/>
            <a:ext cx="4791240" cy="47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2678A"/>
                </a:solidFill>
                <a:latin typeface="Arial"/>
                <a:ea typeface="Arial"/>
                <a:cs typeface="Arial"/>
                <a:sym typeface="Arial"/>
              </a:rPr>
              <a:t>CE QUE FAIT L'ALGORITHME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0" name="Google Shape;880;p45"/>
          <p:cNvSpPr/>
          <p:nvPr/>
        </p:nvSpPr>
        <p:spPr>
          <a:xfrm>
            <a:off x="6400800" y="2770560"/>
            <a:ext cx="4791240" cy="265140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À magasin et âge identiques, les clients qui viennent moins souvent reçoivent en priorité les paniers élevés.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La règle initiale ajoutait déjà 0,5 € par année d'âge : les visites n'expliquent qu'une partie du lien âge–panier.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1" name="Google Shape;881;p45"/>
          <p:cNvSpPr/>
          <p:nvPr/>
        </p:nvSpPr>
        <p:spPr>
          <a:xfrm>
            <a:off x="749880" y="5815440"/>
            <a:ext cx="10698120" cy="566640"/>
          </a:xfrm>
          <a:prstGeom prst="roundRect">
            <a:avLst>
              <a:gd fmla="val 16667" name="adj"/>
            </a:avLst>
          </a:prstGeom>
          <a:solidFill>
            <a:srgbClr val="F1F5F7"/>
          </a:solidFill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2" name="Google Shape;882;p45"/>
          <p:cNvSpPr/>
          <p:nvPr/>
        </p:nvSpPr>
        <p:spPr>
          <a:xfrm>
            <a:off x="932760" y="5861160"/>
            <a:ext cx="10332360" cy="456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Revenu et trajet non mesurés ; l'attribution construit ce lien visites–panier, sans prouver une cause réelle.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3" name="Google Shape;883;p45"/>
          <p:cNvSpPr/>
          <p:nvPr/>
        </p:nvSpPr>
        <p:spPr>
          <a:xfrm>
            <a:off x="731520" y="6574680"/>
            <a:ext cx="7954920" cy="16416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OLIVIER DELRIEU  /  06.10.2026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4" name="Google Shape;884;p45"/>
          <p:cNvSpPr/>
          <p:nvPr/>
        </p:nvSpPr>
        <p:spPr>
          <a:xfrm>
            <a:off x="10625400" y="6546960"/>
            <a:ext cx="840960" cy="21924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45 / 58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FCFB"/>
        </a:solidFill>
      </p:bgPr>
    </p:bg>
    <p:spTree>
      <p:nvGrpSpPr>
        <p:cNvPr id="888" name="Shape 8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9" name="Google Shape;889;p46"/>
          <p:cNvSpPr/>
          <p:nvPr/>
        </p:nvSpPr>
        <p:spPr>
          <a:xfrm>
            <a:off x="749880" y="420480"/>
            <a:ext cx="10698120" cy="29232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12678A"/>
                </a:solidFill>
                <a:latin typeface="Arial"/>
                <a:ea typeface="Arial"/>
                <a:cs typeface="Arial"/>
                <a:sym typeface="Arial"/>
              </a:rPr>
              <a:t>ATTRIBUTION · APRÈS L'ENQUÊTE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0" name="Google Shape;890;p46"/>
          <p:cNvSpPr/>
          <p:nvPr/>
        </p:nvSpPr>
        <p:spPr>
          <a:xfrm>
            <a:off x="749880" y="804600"/>
            <a:ext cx="10698120" cy="785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00" u="none" cap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Comment garder le même nuage âge–montant ?</a:t>
            </a:r>
            <a:endParaRPr b="0" i="0" sz="3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1" name="Google Shape;891;p46"/>
          <p:cNvSpPr/>
          <p:nvPr/>
        </p:nvSpPr>
        <p:spPr>
          <a:xfrm>
            <a:off x="749880" y="1627560"/>
            <a:ext cx="10698120" cy="31680"/>
          </a:xfrm>
          <a:prstGeom prst="rect">
            <a:avLst/>
          </a:prstGeom>
          <a:solidFill>
            <a:srgbClr val="D4DEE4"/>
          </a:solidFill>
          <a:ln>
            <a:noFill/>
          </a:ln>
        </p:spPr>
        <p:txBody>
          <a:bodyPr anchorCtr="0" anchor="ctr" bIns="0" lIns="90000" spcFirstLastPara="1" rIns="9000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2" name="Google Shape;892;p46"/>
          <p:cNvSpPr/>
          <p:nvPr/>
        </p:nvSpPr>
        <p:spPr>
          <a:xfrm>
            <a:off x="749880" y="1929240"/>
            <a:ext cx="3474360" cy="3355560"/>
          </a:xfrm>
          <a:prstGeom prst="roundRect">
            <a:avLst>
              <a:gd fmla="val 16667" name="adj"/>
            </a:avLst>
          </a:prstGeom>
          <a:solidFill>
            <a:srgbClr val="F1F5F7"/>
          </a:solidFill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3" name="Google Shape;893;p46"/>
          <p:cNvSpPr/>
          <p:nvPr/>
        </p:nvSpPr>
        <p:spPr>
          <a:xfrm>
            <a:off x="951120" y="2167200"/>
            <a:ext cx="3071880" cy="38376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2678A"/>
                </a:solidFill>
                <a:latin typeface="Arial"/>
                <a:ea typeface="Arial"/>
                <a:cs typeface="Arial"/>
                <a:sym typeface="Arial"/>
              </a:rPr>
              <a:t>1 · PLANIFIER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4" name="Google Shape;894;p46"/>
          <p:cNvSpPr/>
          <p:nvPr/>
        </p:nvSpPr>
        <p:spPr>
          <a:xfrm>
            <a:off x="951120" y="2724840"/>
            <a:ext cx="3071880" cy="233136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400 clients ont chacun un magasin, un âge et une distance fixes. À magasin et âge identiques : plus loin → moins de visites.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5" name="Google Shape;895;p46"/>
          <p:cNvSpPr/>
          <p:nvPr/>
        </p:nvSpPr>
        <p:spPr>
          <a:xfrm>
            <a:off x="4361760" y="1929240"/>
            <a:ext cx="3474360" cy="3355560"/>
          </a:xfrm>
          <a:prstGeom prst="roundRect">
            <a:avLst>
              <a:gd fmla="val 16667" name="adj"/>
            </a:avLst>
          </a:prstGeom>
          <a:solidFill>
            <a:srgbClr val="F1F5F7"/>
          </a:solidFill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6" name="Google Shape;896;p46"/>
          <p:cNvSpPr/>
          <p:nvPr/>
        </p:nvSpPr>
        <p:spPr>
          <a:xfrm>
            <a:off x="4563000" y="2167200"/>
            <a:ext cx="3071880" cy="38376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2678A"/>
                </a:solidFill>
                <a:latin typeface="Arial"/>
                <a:ea typeface="Arial"/>
                <a:cs typeface="Arial"/>
                <a:sym typeface="Arial"/>
              </a:rPr>
              <a:t>2 · ATTRIBUER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7" name="Google Shape;897;p46"/>
          <p:cNvSpPr/>
          <p:nvPr/>
        </p:nvSpPr>
        <p:spPr>
          <a:xfrm>
            <a:off x="4563000" y="2724840"/>
            <a:ext cx="3071880" cy="233136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À magasin et âge identiques, les montants existants vont en priorité aux clients qui viennent peu. Un profil non observé modifie cette priorité.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8" name="Google Shape;898;p46"/>
          <p:cNvSpPr/>
          <p:nvPr/>
        </p:nvSpPr>
        <p:spPr>
          <a:xfrm>
            <a:off x="7973640" y="1929240"/>
            <a:ext cx="3474360" cy="3355560"/>
          </a:xfrm>
          <a:prstGeom prst="roundRect">
            <a:avLst>
              <a:gd fmla="val 16667" name="adj"/>
            </a:avLst>
          </a:prstGeom>
          <a:solidFill>
            <a:srgbClr val="F1F5F7"/>
          </a:solidFill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9" name="Google Shape;899;p46"/>
          <p:cNvSpPr/>
          <p:nvPr/>
        </p:nvSpPr>
        <p:spPr>
          <a:xfrm>
            <a:off x="8174880" y="2167200"/>
            <a:ext cx="3071880" cy="38376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2678A"/>
                </a:solidFill>
                <a:latin typeface="Arial"/>
                <a:ea typeface="Arial"/>
                <a:cs typeface="Arial"/>
                <a:sym typeface="Arial"/>
              </a:rPr>
              <a:t>3 · INTERPRÉTER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0" name="Google Shape;900;p46"/>
          <p:cNvSpPr/>
          <p:nvPr/>
        </p:nvSpPr>
        <p:spPr>
          <a:xfrm>
            <a:off x="8174880" y="2724840"/>
            <a:ext cx="3071880" cy="233136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La règle initiale ajoutait déjà 0,5 €/an d'âge. L'attribution ajoute le lien avec les visites. Les 2 000 couples âge–montant restent identiques.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1" name="Google Shape;901;p46"/>
          <p:cNvSpPr/>
          <p:nvPr/>
        </p:nvSpPr>
        <p:spPr>
          <a:xfrm>
            <a:off x="749880" y="5815440"/>
            <a:ext cx="10698120" cy="566640"/>
          </a:xfrm>
          <a:prstGeom prst="roundRect">
            <a:avLst>
              <a:gd fmla="val 16667" name="adj"/>
            </a:avLst>
          </a:prstGeom>
          <a:solidFill>
            <a:srgbClr val="F1F5F7"/>
          </a:solidFill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2" name="Google Shape;902;p46"/>
          <p:cNvSpPr/>
          <p:nvPr/>
        </p:nvSpPr>
        <p:spPr>
          <a:xfrm>
            <a:off x="932760" y="5861160"/>
            <a:ext cx="10332360" cy="456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Même nuage âge–montant, nouvelle structure client : le graphique seul ne révèle pas comment les achats ont été attribués.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3" name="Google Shape;903;p46"/>
          <p:cNvSpPr/>
          <p:nvPr/>
        </p:nvSpPr>
        <p:spPr>
          <a:xfrm>
            <a:off x="731520" y="6574680"/>
            <a:ext cx="7954920" cy="16416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OLIVIER DELRIEU  /  06.10.2026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4" name="Google Shape;904;p46"/>
          <p:cNvSpPr/>
          <p:nvPr/>
        </p:nvSpPr>
        <p:spPr>
          <a:xfrm>
            <a:off x="10625400" y="6546960"/>
            <a:ext cx="840960" cy="21924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46 / 58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FCFB"/>
        </a:solidFill>
      </p:bgPr>
    </p:bg>
    <p:spTree>
      <p:nvGrpSpPr>
        <p:cNvPr id="908" name="Shape 9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9" name="Google Shape;909;p47"/>
          <p:cNvSpPr/>
          <p:nvPr/>
        </p:nvSpPr>
        <p:spPr>
          <a:xfrm>
            <a:off x="749880" y="420480"/>
            <a:ext cx="10698120" cy="29232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12678A"/>
                </a:solidFill>
                <a:latin typeface="Arial"/>
                <a:ea typeface="Arial"/>
                <a:cs typeface="Arial"/>
                <a:sym typeface="Arial"/>
              </a:rPr>
              <a:t>RÉGRESSION · ÂGE ET MONTANT D'UN ACHAT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0" name="Google Shape;910;p47"/>
          <p:cNvSpPr/>
          <p:nvPr/>
        </p:nvSpPr>
        <p:spPr>
          <a:xfrm>
            <a:off x="749880" y="804600"/>
            <a:ext cx="10698120" cy="785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00" u="none" cap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Revoir le nuage avant de refaire le calcul</a:t>
            </a:r>
            <a:endParaRPr b="0" i="0" sz="3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1" name="Google Shape;911;p47"/>
          <p:cNvSpPr/>
          <p:nvPr/>
        </p:nvSpPr>
        <p:spPr>
          <a:xfrm>
            <a:off x="749880" y="1627560"/>
            <a:ext cx="10698120" cy="31680"/>
          </a:xfrm>
          <a:prstGeom prst="rect">
            <a:avLst/>
          </a:prstGeom>
          <a:solidFill>
            <a:srgbClr val="D4DEE4"/>
          </a:solidFill>
          <a:ln>
            <a:noFill/>
          </a:ln>
        </p:spPr>
        <p:txBody>
          <a:bodyPr anchorCtr="0" anchor="ctr" bIns="0" lIns="90000" spcFirstLastPara="1" rIns="9000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Nuage âge-montant par visite avec droites A+B, A et B" id="912" name="Google Shape;912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9880" y="1847160"/>
            <a:ext cx="10698120" cy="4004640"/>
          </a:xfrm>
          <a:prstGeom prst="rect">
            <a:avLst/>
          </a:prstGeom>
          <a:noFill/>
          <a:ln>
            <a:noFill/>
          </a:ln>
        </p:spPr>
      </p:pic>
      <p:sp>
        <p:nvSpPr>
          <p:cNvPr id="913" name="Google Shape;913;p47"/>
          <p:cNvSpPr/>
          <p:nvPr/>
        </p:nvSpPr>
        <p:spPr>
          <a:xfrm>
            <a:off x="749880" y="5815440"/>
            <a:ext cx="10698120" cy="566640"/>
          </a:xfrm>
          <a:prstGeom prst="roundRect">
            <a:avLst>
              <a:gd fmla="val 16667" name="adj"/>
            </a:avLst>
          </a:prstGeom>
          <a:solidFill>
            <a:srgbClr val="F1F5F7"/>
          </a:solidFill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4" name="Google Shape;914;p47"/>
          <p:cNvSpPr/>
          <p:nvPr/>
        </p:nvSpPr>
        <p:spPr>
          <a:xfrm>
            <a:off x="932760" y="5861160"/>
            <a:ext cx="10332360" cy="456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Repartez du nuage vu au rappel : les points sont-ils serrés ou dispersés ? Que change la séparation A/B ? Puis recalculez r.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5" name="Google Shape;915;p47"/>
          <p:cNvSpPr/>
          <p:nvPr/>
        </p:nvSpPr>
        <p:spPr>
          <a:xfrm>
            <a:off x="731520" y="6574680"/>
            <a:ext cx="7954920" cy="16416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OLIVIER DELRIEU  /  06.10.2026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6" name="Google Shape;916;p47"/>
          <p:cNvSpPr/>
          <p:nvPr/>
        </p:nvSpPr>
        <p:spPr>
          <a:xfrm>
            <a:off x="10625400" y="6546960"/>
            <a:ext cx="840960" cy="21924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47 / 58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FCFB"/>
        </a:solidFill>
      </p:bgPr>
    </p:bg>
    <p:spTree>
      <p:nvGrpSpPr>
        <p:cNvPr id="920" name="Shape 9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" name="Google Shape;921;p48"/>
          <p:cNvSpPr/>
          <p:nvPr/>
        </p:nvSpPr>
        <p:spPr>
          <a:xfrm>
            <a:off x="749880" y="420480"/>
            <a:ext cx="10698120" cy="29232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12678A"/>
                </a:solidFill>
                <a:latin typeface="Arial"/>
                <a:ea typeface="Arial"/>
                <a:cs typeface="Arial"/>
                <a:sym typeface="Arial"/>
              </a:rPr>
              <a:t>CORRÉLATION · LIRE UN SIGNAL IMPARFAIT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2" name="Google Shape;922;p48"/>
          <p:cNvSpPr/>
          <p:nvPr/>
        </p:nvSpPr>
        <p:spPr>
          <a:xfrm>
            <a:off x="749880" y="804600"/>
            <a:ext cx="10698120" cy="785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00" u="none" cap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Lire r = 0.533 en trois étapes</a:t>
            </a:r>
            <a:endParaRPr b="0" i="0" sz="3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3" name="Google Shape;923;p48"/>
          <p:cNvSpPr/>
          <p:nvPr/>
        </p:nvSpPr>
        <p:spPr>
          <a:xfrm>
            <a:off x="749880" y="1627560"/>
            <a:ext cx="10698120" cy="31680"/>
          </a:xfrm>
          <a:prstGeom prst="rect">
            <a:avLst/>
          </a:prstGeom>
          <a:solidFill>
            <a:srgbClr val="D4DEE4"/>
          </a:solidFill>
          <a:ln>
            <a:noFill/>
          </a:ln>
        </p:spPr>
        <p:txBody>
          <a:bodyPr anchorCtr="0" anchor="ctr" bIns="0" lIns="90000" spcFirstLastPara="1" rIns="9000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4" name="Google Shape;924;p48"/>
          <p:cNvSpPr/>
          <p:nvPr/>
        </p:nvSpPr>
        <p:spPr>
          <a:xfrm>
            <a:off x="749880" y="1901880"/>
            <a:ext cx="3474360" cy="2944080"/>
          </a:xfrm>
          <a:prstGeom prst="roundRect">
            <a:avLst>
              <a:gd fmla="val 16667" name="adj"/>
            </a:avLst>
          </a:prstGeom>
          <a:solidFill>
            <a:srgbClr val="F1F5F7"/>
          </a:solidFill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5" name="Google Shape;925;p48"/>
          <p:cNvSpPr/>
          <p:nvPr/>
        </p:nvSpPr>
        <p:spPr>
          <a:xfrm>
            <a:off x="951120" y="2121480"/>
            <a:ext cx="3071880" cy="38376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2678A"/>
                </a:solidFill>
                <a:latin typeface="Arial"/>
                <a:ea typeface="Arial"/>
                <a:cs typeface="Arial"/>
                <a:sym typeface="Arial"/>
              </a:rPr>
              <a:t>1 · SENS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6" name="Google Shape;926;p48"/>
          <p:cNvSpPr/>
          <p:nvPr/>
        </p:nvSpPr>
        <p:spPr>
          <a:xfrm>
            <a:off x="951120" y="2670120"/>
            <a:ext cx="3071880" cy="1974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r &gt; 0 : la droite A+B monte. Dans ces visites, les âges plus élevés vont en moyenne avec des montants plus élevés.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7" name="Google Shape;927;p48"/>
          <p:cNvSpPr/>
          <p:nvPr/>
        </p:nvSpPr>
        <p:spPr>
          <a:xfrm>
            <a:off x="4361760" y="1901880"/>
            <a:ext cx="3474360" cy="2944080"/>
          </a:xfrm>
          <a:prstGeom prst="roundRect">
            <a:avLst>
              <a:gd fmla="val 16667" name="adj"/>
            </a:avLst>
          </a:prstGeom>
          <a:solidFill>
            <a:srgbClr val="F1F5F7"/>
          </a:solidFill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8" name="Google Shape;928;p48"/>
          <p:cNvSpPr/>
          <p:nvPr/>
        </p:nvSpPr>
        <p:spPr>
          <a:xfrm>
            <a:off x="4563000" y="2121480"/>
            <a:ext cx="3071880" cy="38376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2678A"/>
                </a:solidFill>
                <a:latin typeface="Arial"/>
                <a:ea typeface="Arial"/>
                <a:cs typeface="Arial"/>
                <a:sym typeface="Arial"/>
              </a:rPr>
              <a:t>2 · FORCE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9" name="Google Shape;929;p48"/>
          <p:cNvSpPr/>
          <p:nvPr/>
        </p:nvSpPr>
        <p:spPr>
          <a:xfrm>
            <a:off x="4563000" y="2670120"/>
            <a:ext cx="3071880" cy="1974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r va de −1 à +1. Ici 0.533 : tendance visible, mais dispersée. À 50 ans, 76 achats de 20 clients vont de 84.60 € à 128.00 €.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0" name="Google Shape;930;p48"/>
          <p:cNvSpPr/>
          <p:nvPr/>
        </p:nvSpPr>
        <p:spPr>
          <a:xfrm>
            <a:off x="7973640" y="1901880"/>
            <a:ext cx="3474360" cy="2944080"/>
          </a:xfrm>
          <a:prstGeom prst="roundRect">
            <a:avLst>
              <a:gd fmla="val 16667" name="adj"/>
            </a:avLst>
          </a:prstGeom>
          <a:solidFill>
            <a:srgbClr val="F1F5F7"/>
          </a:solidFill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1" name="Google Shape;931;p48"/>
          <p:cNvSpPr/>
          <p:nvPr/>
        </p:nvSpPr>
        <p:spPr>
          <a:xfrm>
            <a:off x="8174880" y="2121480"/>
            <a:ext cx="3071880" cy="38376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2678A"/>
                </a:solidFill>
                <a:latin typeface="Arial"/>
                <a:ea typeface="Arial"/>
                <a:cs typeface="Arial"/>
                <a:sym typeface="Arial"/>
              </a:rPr>
              <a:t>3 · PÉRIMÈTRE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2" name="Google Shape;932;p48"/>
          <p:cNvSpPr/>
          <p:nvPr/>
        </p:nvSpPr>
        <p:spPr>
          <a:xfrm>
            <a:off x="8174880" y="2670120"/>
            <a:ext cx="3071880" cy="1974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A+B : 0.533 ; A : 0.502 ; B : 0.416. La tendance existe aussi dans chaque magasin ; r ne mesure pas l'effet de vieillir.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3" name="Google Shape;933;p48"/>
          <p:cNvSpPr/>
          <p:nvPr/>
        </p:nvSpPr>
        <p:spPr>
          <a:xfrm>
            <a:off x="749880" y="5010840"/>
            <a:ext cx="10698120" cy="712800"/>
          </a:xfrm>
          <a:prstGeom prst="roundRect">
            <a:avLst>
              <a:gd fmla="val 16667" name="adj"/>
            </a:avLst>
          </a:prstGeom>
          <a:solidFill>
            <a:srgbClr val="102A43"/>
          </a:solidFill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4" name="Google Shape;934;p48"/>
          <p:cNvSpPr/>
          <p:nvPr/>
        </p:nvSpPr>
        <p:spPr>
          <a:xfrm>
            <a:off x="960120" y="5120640"/>
            <a:ext cx="10240920" cy="52992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FCFCFB"/>
                </a:solidFill>
                <a:latin typeface="Courier New"/>
                <a:ea typeface="Courier New"/>
                <a:cs typeface="Courier New"/>
                <a:sym typeface="Courier New"/>
              </a:rPr>
              <a:t>x = joined["age"]; y = joined["purchase_amount"]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99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FCFCFB"/>
                </a:solidFill>
                <a:latin typeface="Courier New"/>
                <a:ea typeface="Courier New"/>
                <a:cs typeface="Courier New"/>
                <a:sym typeface="Courier New"/>
              </a:rPr>
              <a:t>r = x.corr(y)  # 0.533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5" name="Google Shape;935;p48"/>
          <p:cNvSpPr/>
          <p:nvPr/>
        </p:nvSpPr>
        <p:spPr>
          <a:xfrm>
            <a:off x="749880" y="5852160"/>
            <a:ext cx="10698120" cy="529920"/>
          </a:xfrm>
          <a:prstGeom prst="roundRect">
            <a:avLst>
              <a:gd fmla="val 16667" name="adj"/>
            </a:avLst>
          </a:prstGeom>
          <a:solidFill>
            <a:srgbClr val="F1F5F7"/>
          </a:solidFill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6" name="Google Shape;936;p48"/>
          <p:cNvSpPr/>
          <p:nvPr/>
        </p:nvSpPr>
        <p:spPr>
          <a:xfrm>
            <a:off x="932760" y="5897880"/>
            <a:ext cx="10332360" cy="42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Lecture descriptive des 2 000 visites de 400 clients : r seul ne prouve ni une cause ni un lien dans une population plus large.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7" name="Google Shape;937;p48"/>
          <p:cNvSpPr/>
          <p:nvPr/>
        </p:nvSpPr>
        <p:spPr>
          <a:xfrm>
            <a:off x="731520" y="6574680"/>
            <a:ext cx="7954920" cy="16416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OLIVIER DELRIEU  /  06.10.2026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8" name="Google Shape;938;p48"/>
          <p:cNvSpPr/>
          <p:nvPr/>
        </p:nvSpPr>
        <p:spPr>
          <a:xfrm>
            <a:off x="10625400" y="6546960"/>
            <a:ext cx="840960" cy="21924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48 / 58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FCFB"/>
        </a:solidFill>
      </p:bgPr>
    </p:bg>
    <p:spTree>
      <p:nvGrpSpPr>
        <p:cNvPr id="942" name="Shape 9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3" name="Google Shape;943;p49"/>
          <p:cNvSpPr/>
          <p:nvPr/>
        </p:nvSpPr>
        <p:spPr>
          <a:xfrm>
            <a:off x="749880" y="420480"/>
            <a:ext cx="10698120" cy="29232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12678A"/>
                </a:solidFill>
                <a:latin typeface="Arial"/>
                <a:ea typeface="Arial"/>
                <a:cs typeface="Arial"/>
                <a:sym typeface="Arial"/>
              </a:rPr>
              <a:t>CORRÉLATION · COMPARER ET CALCULER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4" name="Google Shape;944;p49"/>
          <p:cNvSpPr/>
          <p:nvPr/>
        </p:nvSpPr>
        <p:spPr>
          <a:xfrm>
            <a:off x="749880" y="804600"/>
            <a:ext cx="10698120" cy="785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00" u="none" cap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r compare la force ; Cov et Var donnent la pente</a:t>
            </a:r>
            <a:endParaRPr b="0" i="0" sz="3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5" name="Google Shape;945;p49"/>
          <p:cNvSpPr/>
          <p:nvPr/>
        </p:nvSpPr>
        <p:spPr>
          <a:xfrm>
            <a:off x="749880" y="1627560"/>
            <a:ext cx="10698120" cy="31680"/>
          </a:xfrm>
          <a:prstGeom prst="rect">
            <a:avLst/>
          </a:prstGeom>
          <a:solidFill>
            <a:srgbClr val="D4DEE4"/>
          </a:solidFill>
          <a:ln>
            <a:noFill/>
          </a:ln>
        </p:spPr>
        <p:txBody>
          <a:bodyPr anchorCtr="0" anchor="ctr" bIns="0" lIns="90000" spcFirstLastPara="1" rIns="9000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6" name="Google Shape;946;p49"/>
          <p:cNvSpPr/>
          <p:nvPr/>
        </p:nvSpPr>
        <p:spPr>
          <a:xfrm>
            <a:off x="749880" y="1874520"/>
            <a:ext cx="10698120" cy="987120"/>
          </a:xfrm>
          <a:prstGeom prst="roundRect">
            <a:avLst>
              <a:gd fmla="val 16667" name="adj"/>
            </a:avLst>
          </a:prstGeom>
          <a:solidFill>
            <a:srgbClr val="F1F5F7"/>
          </a:solidFill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7" name="Google Shape;947;p49"/>
          <p:cNvSpPr/>
          <p:nvPr/>
        </p:nvSpPr>
        <p:spPr>
          <a:xfrm>
            <a:off x="960120" y="2048400"/>
            <a:ext cx="10277640" cy="621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€ → centimes : r reste 0.533 ; Cov est multipliée par 100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8" name="Google Shape;948;p49"/>
          <p:cNvSpPr/>
          <p:nvPr/>
        </p:nvSpPr>
        <p:spPr>
          <a:xfrm>
            <a:off x="749880" y="3072240"/>
            <a:ext cx="5257440" cy="1773720"/>
          </a:xfrm>
          <a:prstGeom prst="roundRect">
            <a:avLst>
              <a:gd fmla="val 16667" name="adj"/>
            </a:avLst>
          </a:prstGeom>
          <a:solidFill>
            <a:srgbClr val="F1F5F7"/>
          </a:solidFill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9" name="Google Shape;949;p49"/>
          <p:cNvSpPr/>
          <p:nvPr/>
        </p:nvSpPr>
        <p:spPr>
          <a:xfrm>
            <a:off x="960120" y="3282840"/>
            <a:ext cx="4836960" cy="34704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2678A"/>
                </a:solidFill>
                <a:latin typeface="Arial"/>
                <a:ea typeface="Arial"/>
                <a:cs typeface="Arial"/>
                <a:sym typeface="Arial"/>
              </a:rPr>
              <a:t>CORRÉLATION r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0" name="Google Shape;950;p49"/>
          <p:cNvSpPr/>
          <p:nvPr/>
        </p:nvSpPr>
        <p:spPr>
          <a:xfrm>
            <a:off x="960120" y="3721680"/>
            <a:ext cx="4836960" cy="93240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Sans unité : elle compare le sens et la force du lien. Changer les euros en centimes ne change pas r.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1" name="Google Shape;951;p49"/>
          <p:cNvSpPr/>
          <p:nvPr/>
        </p:nvSpPr>
        <p:spPr>
          <a:xfrm>
            <a:off x="6190560" y="3072240"/>
            <a:ext cx="5257440" cy="1773720"/>
          </a:xfrm>
          <a:prstGeom prst="roundRect">
            <a:avLst>
              <a:gd fmla="val 16667" name="adj"/>
            </a:avLst>
          </a:prstGeom>
          <a:solidFill>
            <a:srgbClr val="F1F5F7"/>
          </a:solidFill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2" name="Google Shape;952;p49"/>
          <p:cNvSpPr/>
          <p:nvPr/>
        </p:nvSpPr>
        <p:spPr>
          <a:xfrm>
            <a:off x="6400800" y="3282840"/>
            <a:ext cx="4836960" cy="34704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2678A"/>
                </a:solidFill>
                <a:latin typeface="Arial"/>
                <a:ea typeface="Arial"/>
                <a:cs typeface="Arial"/>
                <a:sym typeface="Arial"/>
              </a:rPr>
              <a:t>COVARIANCE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3" name="Google Shape;953;p49"/>
          <p:cNvSpPr/>
          <p:nvPr/>
        </p:nvSpPr>
        <p:spPr>
          <a:xfrm>
            <a:off x="6400800" y="3721680"/>
            <a:ext cx="4836960" cy="93240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44.8779 an·€ donnent ≈ 4 487.79 an·centimes. La covariance porte l'échelle, mais ne prédit rien seule.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4" name="Google Shape;954;p49"/>
          <p:cNvSpPr/>
          <p:nvPr/>
        </p:nvSpPr>
        <p:spPr>
          <a:xfrm>
            <a:off x="749880" y="5020200"/>
            <a:ext cx="10698120" cy="703800"/>
          </a:xfrm>
          <a:prstGeom prst="roundRect">
            <a:avLst>
              <a:gd fmla="val 16667" name="adj"/>
            </a:avLst>
          </a:prstGeom>
          <a:solidFill>
            <a:srgbClr val="102A43"/>
          </a:solidFill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5" name="Google Shape;955;p49"/>
          <p:cNvSpPr/>
          <p:nvPr/>
        </p:nvSpPr>
        <p:spPr>
          <a:xfrm>
            <a:off x="960120" y="5120640"/>
            <a:ext cx="10240920" cy="52992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FCFCFB"/>
                </a:solidFill>
                <a:latin typeface="Courier New"/>
                <a:ea typeface="Courier New"/>
                <a:cs typeface="Courier New"/>
                <a:sym typeface="Courier New"/>
              </a:rPr>
              <a:t>r_cent = x.corr(y * 100)     # 0.533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99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FCFCFB"/>
                </a:solidFill>
                <a:latin typeface="Courier New"/>
                <a:ea typeface="Courier New"/>
                <a:cs typeface="Courier New"/>
                <a:sym typeface="Courier New"/>
              </a:rPr>
              <a:t>cov_cent = x.cov(y * 100)  # 4 487.79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6" name="Google Shape;956;p49"/>
          <p:cNvSpPr/>
          <p:nvPr/>
        </p:nvSpPr>
        <p:spPr>
          <a:xfrm>
            <a:off x="749880" y="5852160"/>
            <a:ext cx="10698120" cy="529920"/>
          </a:xfrm>
          <a:prstGeom prst="roundRect">
            <a:avLst>
              <a:gd fmla="val 16667" name="adj"/>
            </a:avLst>
          </a:prstGeom>
          <a:solidFill>
            <a:srgbClr val="F1F5F7"/>
          </a:solidFill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7" name="Google Shape;957;p49"/>
          <p:cNvSpPr/>
          <p:nvPr/>
        </p:nvSpPr>
        <p:spPr>
          <a:xfrm>
            <a:off x="932760" y="5897880"/>
            <a:ext cx="10332360" cy="42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Code : suite de la page 48 (x et y déjà définis). Étape suivante : a = Cov/Var(âge), puis b.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8" name="Google Shape;958;p49"/>
          <p:cNvSpPr/>
          <p:nvPr/>
        </p:nvSpPr>
        <p:spPr>
          <a:xfrm>
            <a:off x="731520" y="6574680"/>
            <a:ext cx="7954920" cy="16416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OLIVIER DELRIEU  /  06.10.2026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9" name="Google Shape;959;p49"/>
          <p:cNvSpPr/>
          <p:nvPr/>
        </p:nvSpPr>
        <p:spPr>
          <a:xfrm>
            <a:off x="10625400" y="6546960"/>
            <a:ext cx="840960" cy="21924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49 / 58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FCFB"/>
        </a:solidFill>
      </p:bgPr>
    </p:bg>
    <p:spTree>
      <p:nvGrpSpPr>
        <p:cNvPr id="963" name="Shape 9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4" name="Google Shape;964;p50"/>
          <p:cNvSpPr/>
          <p:nvPr/>
        </p:nvSpPr>
        <p:spPr>
          <a:xfrm>
            <a:off x="749880" y="420480"/>
            <a:ext cx="10698120" cy="29232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12678A"/>
                </a:solidFill>
                <a:latin typeface="Arial"/>
                <a:ea typeface="Arial"/>
                <a:cs typeface="Arial"/>
                <a:sym typeface="Arial"/>
              </a:rPr>
              <a:t>RÉGRESSION · DE LA COVARIANCE À LA PENTE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5" name="Google Shape;965;p50"/>
          <p:cNvSpPr/>
          <p:nvPr/>
        </p:nvSpPr>
        <p:spPr>
          <a:xfrm>
            <a:off x="749880" y="804600"/>
            <a:ext cx="10698120" cy="785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00" u="none" cap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La covariance fixe le sens ; la variance fixe l'échelle</a:t>
            </a:r>
            <a:endParaRPr b="0" i="0" sz="3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6" name="Google Shape;966;p50"/>
          <p:cNvSpPr/>
          <p:nvPr/>
        </p:nvSpPr>
        <p:spPr>
          <a:xfrm>
            <a:off x="749880" y="1627560"/>
            <a:ext cx="10698120" cy="31680"/>
          </a:xfrm>
          <a:prstGeom prst="rect">
            <a:avLst/>
          </a:prstGeom>
          <a:solidFill>
            <a:srgbClr val="D4DEE4"/>
          </a:solidFill>
          <a:ln>
            <a:noFill/>
          </a:ln>
        </p:spPr>
        <p:txBody>
          <a:bodyPr anchorCtr="0" anchor="ctr" bIns="0" lIns="90000" spcFirstLastPara="1" rIns="9000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7" name="Google Shape;967;p50"/>
          <p:cNvSpPr/>
          <p:nvPr/>
        </p:nvSpPr>
        <p:spPr>
          <a:xfrm>
            <a:off x="749880" y="1874520"/>
            <a:ext cx="10698120" cy="987120"/>
          </a:xfrm>
          <a:prstGeom prst="roundRect">
            <a:avLst>
              <a:gd fmla="val 16667" name="adj"/>
            </a:avLst>
          </a:prstGeom>
          <a:solidFill>
            <a:srgbClr val="F1F5F7"/>
          </a:solidFill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8" name="Google Shape;968;p50"/>
          <p:cNvSpPr/>
          <p:nvPr/>
        </p:nvSpPr>
        <p:spPr>
          <a:xfrm>
            <a:off x="960120" y="2048400"/>
            <a:ext cx="10277640" cy="621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a = Cov(âge, montant) / Var(âge) = 44.88 / 79.42 ≈ 0.5650 €/an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9" name="Google Shape;969;p50"/>
          <p:cNvSpPr/>
          <p:nvPr/>
        </p:nvSpPr>
        <p:spPr>
          <a:xfrm>
            <a:off x="749880" y="3072240"/>
            <a:ext cx="5211720" cy="2514240"/>
          </a:xfrm>
          <a:prstGeom prst="roundRect">
            <a:avLst>
              <a:gd fmla="val 16667" name="adj"/>
            </a:avLst>
          </a:prstGeom>
          <a:solidFill>
            <a:srgbClr val="F1F5F7"/>
          </a:solidFill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0" name="Google Shape;970;p50"/>
          <p:cNvSpPr/>
          <p:nvPr/>
        </p:nvSpPr>
        <p:spPr>
          <a:xfrm>
            <a:off x="960120" y="3291840"/>
            <a:ext cx="4791240" cy="36540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2678A"/>
                </a:solidFill>
                <a:latin typeface="Arial"/>
                <a:ea typeface="Arial"/>
                <a:cs typeface="Arial"/>
                <a:sym typeface="Arial"/>
              </a:rPr>
              <a:t>LIRE LA PENTE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1" name="Google Shape;971;p50"/>
          <p:cNvSpPr/>
          <p:nvPr/>
        </p:nvSpPr>
        <p:spPr>
          <a:xfrm>
            <a:off x="960120" y="3758040"/>
            <a:ext cx="4791240" cy="1627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Cov = 44.88 an·€ ; Var(âge) = 79.42 ans². Leur rapport donne 0.5650 €/an.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Autre écriture : a = r × sY/sX, où sX et sY sont les écarts-types. r est sans unité ; a est en €/an.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2" name="Google Shape;972;p50"/>
          <p:cNvSpPr/>
          <p:nvPr/>
        </p:nvSpPr>
        <p:spPr>
          <a:xfrm>
            <a:off x="6190560" y="3072240"/>
            <a:ext cx="5257440" cy="2514240"/>
          </a:xfrm>
          <a:prstGeom prst="roundRect">
            <a:avLst>
              <a:gd fmla="val 16667" name="adj"/>
            </a:avLst>
          </a:prstGeom>
          <a:solidFill>
            <a:srgbClr val="102A43"/>
          </a:solidFill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3" name="Google Shape;973;p50"/>
          <p:cNvSpPr/>
          <p:nvPr/>
        </p:nvSpPr>
        <p:spPr>
          <a:xfrm>
            <a:off x="6400800" y="3291840"/>
            <a:ext cx="4836960" cy="36540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CFCFB"/>
                </a:solidFill>
                <a:latin typeface="Arial"/>
                <a:ea typeface="Arial"/>
                <a:cs typeface="Arial"/>
                <a:sym typeface="Arial"/>
              </a:rPr>
              <a:t>PYTHON · EXTRAIT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4" name="Google Shape;974;p50"/>
          <p:cNvSpPr/>
          <p:nvPr/>
        </p:nvSpPr>
        <p:spPr>
          <a:xfrm>
            <a:off x="6400800" y="3758040"/>
            <a:ext cx="4836960" cy="1627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FCFCFB"/>
                </a:solidFill>
                <a:latin typeface="Courier New"/>
                <a:ea typeface="Courier New"/>
                <a:cs typeface="Courier New"/>
                <a:sym typeface="Courier New"/>
              </a:rPr>
              <a:t>x = joined["age"]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FCFCFB"/>
                </a:solidFill>
                <a:latin typeface="Courier New"/>
                <a:ea typeface="Courier New"/>
                <a:cs typeface="Courier New"/>
                <a:sym typeface="Courier New"/>
              </a:rPr>
              <a:t>y = joined["purchase_amount"]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FCFCFB"/>
                </a:solidFill>
                <a:latin typeface="Courier New"/>
                <a:ea typeface="Courier New"/>
                <a:cs typeface="Courier New"/>
                <a:sym typeface="Courier New"/>
              </a:rPr>
              <a:t>a = x.cov(y) / x.var()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5" name="Google Shape;975;p50"/>
          <p:cNvSpPr/>
          <p:nvPr/>
        </p:nvSpPr>
        <p:spPr>
          <a:xfrm>
            <a:off x="749880" y="5852160"/>
            <a:ext cx="10698120" cy="529920"/>
          </a:xfrm>
          <a:prstGeom prst="roundRect">
            <a:avLst>
              <a:gd fmla="val 16667" name="adj"/>
            </a:avLst>
          </a:prstGeom>
          <a:solidFill>
            <a:srgbClr val="F1F5F7"/>
          </a:solidFill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6" name="Google Shape;976;p50"/>
          <p:cNvSpPr/>
          <p:nvPr/>
        </p:nvSpPr>
        <p:spPr>
          <a:xfrm>
            <a:off x="932760" y="5897880"/>
            <a:ext cx="10332360" cy="42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A+B : une visite = un point. cov() et var() utilisent ici la même convention d'échantillon.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7" name="Google Shape;977;p50"/>
          <p:cNvSpPr/>
          <p:nvPr/>
        </p:nvSpPr>
        <p:spPr>
          <a:xfrm>
            <a:off x="731520" y="6574680"/>
            <a:ext cx="7954920" cy="16416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OLIVIER DELRIEU  /  06.10.2026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8" name="Google Shape;978;p50"/>
          <p:cNvSpPr/>
          <p:nvPr/>
        </p:nvSpPr>
        <p:spPr>
          <a:xfrm>
            <a:off x="10625400" y="6546960"/>
            <a:ext cx="840960" cy="21924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50 / 58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FCFB"/>
        </a:solidFill>
      </p:bgPr>
    </p:bg>
    <p:spTree>
      <p:nvGrpSpPr>
        <p:cNvPr id="982" name="Shape 9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" name="Google Shape;983;p51"/>
          <p:cNvSpPr/>
          <p:nvPr/>
        </p:nvSpPr>
        <p:spPr>
          <a:xfrm>
            <a:off x="749880" y="420480"/>
            <a:ext cx="10698120" cy="29232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12678A"/>
                </a:solidFill>
                <a:latin typeface="Arial"/>
                <a:ea typeface="Arial"/>
                <a:cs typeface="Arial"/>
                <a:sym typeface="Arial"/>
              </a:rPr>
              <a:t>RÉGRESSION · ORDONNÉE À L'ORIGINE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4" name="Google Shape;984;p51"/>
          <p:cNvSpPr/>
          <p:nvPr/>
        </p:nvSpPr>
        <p:spPr>
          <a:xfrm>
            <a:off x="749880" y="804600"/>
            <a:ext cx="10698120" cy="785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00" u="none" cap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La droite passe par le point des moyennes</a:t>
            </a:r>
            <a:endParaRPr b="0" i="0" sz="3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5" name="Google Shape;985;p51"/>
          <p:cNvSpPr/>
          <p:nvPr/>
        </p:nvSpPr>
        <p:spPr>
          <a:xfrm>
            <a:off x="749880" y="1627560"/>
            <a:ext cx="10698120" cy="31680"/>
          </a:xfrm>
          <a:prstGeom prst="rect">
            <a:avLst/>
          </a:prstGeom>
          <a:solidFill>
            <a:srgbClr val="D4DEE4"/>
          </a:solidFill>
          <a:ln>
            <a:noFill/>
          </a:ln>
        </p:spPr>
        <p:txBody>
          <a:bodyPr anchorCtr="0" anchor="ctr" bIns="0" lIns="90000" spcFirstLastPara="1" rIns="9000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6" name="Google Shape;986;p51"/>
          <p:cNvSpPr/>
          <p:nvPr/>
        </p:nvSpPr>
        <p:spPr>
          <a:xfrm>
            <a:off x="749880" y="1874520"/>
            <a:ext cx="10698120" cy="987120"/>
          </a:xfrm>
          <a:prstGeom prst="roundRect">
            <a:avLst>
              <a:gd fmla="val 16667" name="adj"/>
            </a:avLst>
          </a:prstGeom>
          <a:solidFill>
            <a:srgbClr val="F1F5F7"/>
          </a:solidFill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7" name="Google Shape;987;p51"/>
          <p:cNvSpPr/>
          <p:nvPr/>
        </p:nvSpPr>
        <p:spPr>
          <a:xfrm>
            <a:off x="960120" y="2048400"/>
            <a:ext cx="10277640" cy="621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b = moyenne(Y) − a × moyenne(X) ≈ 78.02 €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8" name="Google Shape;988;p51"/>
          <p:cNvSpPr/>
          <p:nvPr/>
        </p:nvSpPr>
        <p:spPr>
          <a:xfrm>
            <a:off x="749880" y="3072240"/>
            <a:ext cx="5211720" cy="2514240"/>
          </a:xfrm>
          <a:prstGeom prst="roundRect">
            <a:avLst>
              <a:gd fmla="val 16667" name="adj"/>
            </a:avLst>
          </a:prstGeom>
          <a:solidFill>
            <a:srgbClr val="F1F5F7"/>
          </a:solidFill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9" name="Google Shape;989;p51"/>
          <p:cNvSpPr/>
          <p:nvPr/>
        </p:nvSpPr>
        <p:spPr>
          <a:xfrm>
            <a:off x="960120" y="3291840"/>
            <a:ext cx="4791240" cy="36540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2678A"/>
                </a:solidFill>
                <a:latin typeface="Arial"/>
                <a:ea typeface="Arial"/>
                <a:cs typeface="Arial"/>
                <a:sym typeface="Arial"/>
              </a:rPr>
              <a:t>COMPLÉTER LA DROITE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0" name="Google Shape;990;p51"/>
          <p:cNvSpPr/>
          <p:nvPr/>
        </p:nvSpPr>
        <p:spPr>
          <a:xfrm>
            <a:off x="960120" y="3758040"/>
            <a:ext cx="4791240" cy="1627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b = 102.43 − 0.5650 × 43.21 ≈ 78.02 €. Montant prédit = a × âge + b.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À 50 ans : 0.5650 × 50 + 78.02 ≈ 106.27 € par visite.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L'âge zéro est hors des données : b place la droite, sans décrire un vrai client.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1" name="Google Shape;991;p51"/>
          <p:cNvSpPr/>
          <p:nvPr/>
        </p:nvSpPr>
        <p:spPr>
          <a:xfrm>
            <a:off x="6190560" y="3072240"/>
            <a:ext cx="5257440" cy="2514240"/>
          </a:xfrm>
          <a:prstGeom prst="roundRect">
            <a:avLst>
              <a:gd fmla="val 16667" name="adj"/>
            </a:avLst>
          </a:prstGeom>
          <a:solidFill>
            <a:srgbClr val="102A43"/>
          </a:solidFill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2" name="Google Shape;992;p51"/>
          <p:cNvSpPr/>
          <p:nvPr/>
        </p:nvSpPr>
        <p:spPr>
          <a:xfrm>
            <a:off x="6400800" y="3291840"/>
            <a:ext cx="4836960" cy="36540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CFCFB"/>
                </a:solidFill>
                <a:latin typeface="Arial"/>
                <a:ea typeface="Arial"/>
                <a:cs typeface="Arial"/>
                <a:sym typeface="Arial"/>
              </a:rPr>
              <a:t>PYTHON · EXTRAIT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3" name="Google Shape;993;p51"/>
          <p:cNvSpPr/>
          <p:nvPr/>
        </p:nvSpPr>
        <p:spPr>
          <a:xfrm>
            <a:off x="6400800" y="3758040"/>
            <a:ext cx="4836960" cy="1627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FCFCFB"/>
                </a:solidFill>
                <a:latin typeface="Courier New"/>
                <a:ea typeface="Courier New"/>
                <a:cs typeface="Courier New"/>
                <a:sym typeface="Courier New"/>
              </a:rPr>
              <a:t>b = y.mean() - a * x.mean()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FCFCFB"/>
                </a:solidFill>
                <a:latin typeface="Courier New"/>
                <a:ea typeface="Courier New"/>
                <a:cs typeface="Courier New"/>
                <a:sym typeface="Courier New"/>
              </a:rPr>
              <a:t>predicted_50 = a * 50 + b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4" name="Google Shape;994;p51"/>
          <p:cNvSpPr/>
          <p:nvPr/>
        </p:nvSpPr>
        <p:spPr>
          <a:xfrm>
            <a:off x="749880" y="5852160"/>
            <a:ext cx="10698120" cy="529920"/>
          </a:xfrm>
          <a:prstGeom prst="roundRect">
            <a:avLst>
              <a:gd fmla="val 16667" name="adj"/>
            </a:avLst>
          </a:prstGeom>
          <a:solidFill>
            <a:srgbClr val="F1F5F7"/>
          </a:solidFill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5" name="Google Shape;995;p51"/>
          <p:cNvSpPr/>
          <p:nvPr/>
        </p:nvSpPr>
        <p:spPr>
          <a:xfrm>
            <a:off x="932760" y="5897880"/>
            <a:ext cx="10332360" cy="42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Les coefficients et les moyennes affichés sont arrondis ; le code conserve leur précision.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6" name="Google Shape;996;p51"/>
          <p:cNvSpPr/>
          <p:nvPr/>
        </p:nvSpPr>
        <p:spPr>
          <a:xfrm>
            <a:off x="731520" y="6574680"/>
            <a:ext cx="7954920" cy="16416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OLIVIER DELRIEU  /  06.10.2026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7" name="Google Shape;997;p51"/>
          <p:cNvSpPr/>
          <p:nvPr/>
        </p:nvSpPr>
        <p:spPr>
          <a:xfrm>
            <a:off x="10625400" y="6546960"/>
            <a:ext cx="840960" cy="21924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51 / 58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FCFB"/>
        </a:solidFill>
      </p:bgPr>
    </p:bg>
    <p:spTree>
      <p:nvGrpSpPr>
        <p:cNvPr id="1001" name="Shape 10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Google Shape;1002;p52"/>
          <p:cNvSpPr/>
          <p:nvPr/>
        </p:nvSpPr>
        <p:spPr>
          <a:xfrm>
            <a:off x="749880" y="420480"/>
            <a:ext cx="10698120" cy="29232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12678A"/>
                </a:solidFill>
                <a:latin typeface="Arial"/>
                <a:ea typeface="Arial"/>
                <a:cs typeface="Arial"/>
                <a:sym typeface="Arial"/>
              </a:rPr>
              <a:t>RÉGRESSION · ÉCARTS À LA DROITE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3" name="Google Shape;1003;p52"/>
          <p:cNvSpPr/>
          <p:nvPr/>
        </p:nvSpPr>
        <p:spPr>
          <a:xfrm>
            <a:off x="749880" y="804600"/>
            <a:ext cx="10698120" cy="785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00" u="none" cap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Chaque visite a un résidu : observé moins prédit</a:t>
            </a:r>
            <a:endParaRPr b="0" i="0" sz="3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4" name="Google Shape;1004;p52"/>
          <p:cNvSpPr/>
          <p:nvPr/>
        </p:nvSpPr>
        <p:spPr>
          <a:xfrm>
            <a:off x="749880" y="1627560"/>
            <a:ext cx="10698120" cy="31680"/>
          </a:xfrm>
          <a:prstGeom prst="rect">
            <a:avLst/>
          </a:prstGeom>
          <a:solidFill>
            <a:srgbClr val="D4DEE4"/>
          </a:solidFill>
          <a:ln>
            <a:noFill/>
          </a:ln>
        </p:spPr>
        <p:txBody>
          <a:bodyPr anchorCtr="0" anchor="ctr" bIns="0" lIns="90000" spcFirstLastPara="1" rIns="9000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5" name="Google Shape;1005;p52"/>
          <p:cNvSpPr/>
          <p:nvPr/>
        </p:nvSpPr>
        <p:spPr>
          <a:xfrm>
            <a:off x="749880" y="1874520"/>
            <a:ext cx="10698120" cy="987120"/>
          </a:xfrm>
          <a:prstGeom prst="roundRect">
            <a:avLst>
              <a:gd fmla="val 16667" name="adj"/>
            </a:avLst>
          </a:prstGeom>
          <a:solidFill>
            <a:srgbClr val="F1F5F7"/>
          </a:solidFill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6" name="Google Shape;1006;p52"/>
          <p:cNvSpPr/>
          <p:nvPr/>
        </p:nvSpPr>
        <p:spPr>
          <a:xfrm>
            <a:off x="960120" y="2048400"/>
            <a:ext cx="10277640" cy="621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Visite V00001 : 113.50 € − 101.18 € = +12.32 €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7" name="Google Shape;1007;p52"/>
          <p:cNvSpPr/>
          <p:nvPr/>
        </p:nvSpPr>
        <p:spPr>
          <a:xfrm>
            <a:off x="749880" y="3072240"/>
            <a:ext cx="5211720" cy="2514240"/>
          </a:xfrm>
          <a:prstGeom prst="roundRect">
            <a:avLst>
              <a:gd fmla="val 16667" name="adj"/>
            </a:avLst>
          </a:prstGeom>
          <a:solidFill>
            <a:srgbClr val="F1F5F7"/>
          </a:solidFill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8" name="Google Shape;1008;p52"/>
          <p:cNvSpPr/>
          <p:nvPr/>
        </p:nvSpPr>
        <p:spPr>
          <a:xfrm>
            <a:off x="960120" y="3291840"/>
            <a:ext cx="4791240" cy="36540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2678A"/>
                </a:solidFill>
                <a:latin typeface="Arial"/>
                <a:ea typeface="Arial"/>
                <a:cs typeface="Arial"/>
                <a:sym typeface="Arial"/>
              </a:rPr>
              <a:t>LIRE UN RÉSIDU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9" name="Google Shape;1009;p52"/>
          <p:cNvSpPr/>
          <p:nvPr/>
        </p:nvSpPr>
        <p:spPr>
          <a:xfrm>
            <a:off x="960120" y="3758040"/>
            <a:ext cx="4791240" cy="1627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À 41 ans, ce panier dépasse la valeur prédite de 12.32 €.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Un résidu peut mêler facteurs absents du modèle et variation aléatoire : ce n'est pas du bruit pur.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0" name="Google Shape;1010;p52"/>
          <p:cNvSpPr/>
          <p:nvPr/>
        </p:nvSpPr>
        <p:spPr>
          <a:xfrm>
            <a:off x="6190560" y="3072240"/>
            <a:ext cx="5257440" cy="2514240"/>
          </a:xfrm>
          <a:prstGeom prst="roundRect">
            <a:avLst>
              <a:gd fmla="val 16667" name="adj"/>
            </a:avLst>
          </a:prstGeom>
          <a:solidFill>
            <a:srgbClr val="102A43"/>
          </a:solidFill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1" name="Google Shape;1011;p52"/>
          <p:cNvSpPr/>
          <p:nvPr/>
        </p:nvSpPr>
        <p:spPr>
          <a:xfrm>
            <a:off x="6400800" y="3291840"/>
            <a:ext cx="4836960" cy="36540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CFCFB"/>
                </a:solidFill>
                <a:latin typeface="Arial"/>
                <a:ea typeface="Arial"/>
                <a:cs typeface="Arial"/>
                <a:sym typeface="Arial"/>
              </a:rPr>
              <a:t>PYTHON · EXTRAIT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2" name="Google Shape;1012;p52"/>
          <p:cNvSpPr/>
          <p:nvPr/>
        </p:nvSpPr>
        <p:spPr>
          <a:xfrm>
            <a:off x="6400800" y="3758040"/>
            <a:ext cx="4836960" cy="1627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FCFCFB"/>
                </a:solidFill>
                <a:latin typeface="Courier New"/>
                <a:ea typeface="Courier New"/>
                <a:cs typeface="Courier New"/>
                <a:sym typeface="Courier New"/>
              </a:rPr>
              <a:t>y_hat = a * x + b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FCFCFB"/>
                </a:solidFill>
                <a:latin typeface="Courier New"/>
                <a:ea typeface="Courier New"/>
                <a:cs typeface="Courier New"/>
                <a:sym typeface="Courier New"/>
              </a:rPr>
              <a:t>residuals = y - y_hat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3" name="Google Shape;1013;p52"/>
          <p:cNvSpPr/>
          <p:nvPr/>
        </p:nvSpPr>
        <p:spPr>
          <a:xfrm>
            <a:off x="749880" y="5852160"/>
            <a:ext cx="10698120" cy="529920"/>
          </a:xfrm>
          <a:prstGeom prst="roundRect">
            <a:avLst>
              <a:gd fmla="val 16667" name="adj"/>
            </a:avLst>
          </a:prstGeom>
          <a:solidFill>
            <a:srgbClr val="F1F5F7"/>
          </a:solidFill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4" name="Google Shape;1014;p52"/>
          <p:cNvSpPr/>
          <p:nvPr/>
        </p:nvSpPr>
        <p:spPr>
          <a:xfrm>
            <a:off x="932760" y="5897880"/>
            <a:ext cx="10332360" cy="42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Une visite = un résidu ; les visites répétées d'un même client restent dépendantes.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5" name="Google Shape;1015;p52"/>
          <p:cNvSpPr/>
          <p:nvPr/>
        </p:nvSpPr>
        <p:spPr>
          <a:xfrm>
            <a:off x="731520" y="6574680"/>
            <a:ext cx="7954920" cy="16416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OLIVIER DELRIEU  /  06.10.2026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6" name="Google Shape;1016;p52"/>
          <p:cNvSpPr/>
          <p:nvPr/>
        </p:nvSpPr>
        <p:spPr>
          <a:xfrm>
            <a:off x="10625400" y="6546960"/>
            <a:ext cx="840960" cy="21924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52 / 58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FCFB"/>
        </a:solidFill>
      </p:bgPr>
    </p:bg>
    <p:spTree>
      <p:nvGrpSpPr>
        <p:cNvPr id="1020" name="Shape 10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1" name="Google Shape;1021;p53"/>
          <p:cNvSpPr/>
          <p:nvPr/>
        </p:nvSpPr>
        <p:spPr>
          <a:xfrm>
            <a:off x="749880" y="420480"/>
            <a:ext cx="10698120" cy="29232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12678A"/>
                </a:solidFill>
                <a:latin typeface="Arial"/>
                <a:ea typeface="Arial"/>
                <a:cs typeface="Arial"/>
                <a:sym typeface="Arial"/>
              </a:rPr>
              <a:t>RÉGRESSION · EXPLIQUER R²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2" name="Google Shape;1022;p53"/>
          <p:cNvSpPr/>
          <p:nvPr/>
        </p:nvSpPr>
        <p:spPr>
          <a:xfrm>
            <a:off x="749880" y="804600"/>
            <a:ext cx="10698120" cy="785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00" u="none" cap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R² : quel gain apporte la droite ?</a:t>
            </a:r>
            <a:endParaRPr b="0" i="0" sz="3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3" name="Google Shape;1023;p53"/>
          <p:cNvSpPr/>
          <p:nvPr/>
        </p:nvSpPr>
        <p:spPr>
          <a:xfrm>
            <a:off x="749880" y="1627560"/>
            <a:ext cx="10698120" cy="31680"/>
          </a:xfrm>
          <a:prstGeom prst="rect">
            <a:avLst/>
          </a:prstGeom>
          <a:solidFill>
            <a:srgbClr val="D4DEE4"/>
          </a:solidFill>
          <a:ln>
            <a:noFill/>
          </a:ln>
        </p:spPr>
        <p:txBody>
          <a:bodyPr anchorCtr="0" anchor="ctr" bIns="0" lIns="90000" spcFirstLastPara="1" rIns="9000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4" name="Google Shape;1024;p53"/>
          <p:cNvSpPr/>
          <p:nvPr/>
        </p:nvSpPr>
        <p:spPr>
          <a:xfrm>
            <a:off x="749880" y="1874520"/>
            <a:ext cx="10698120" cy="987120"/>
          </a:xfrm>
          <a:prstGeom prst="roundRect">
            <a:avLst>
              <a:gd fmla="val 16667" name="adj"/>
            </a:avLst>
          </a:prstGeom>
          <a:solidFill>
            <a:srgbClr val="F1F5F7"/>
          </a:solidFill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5" name="Google Shape;1025;p53"/>
          <p:cNvSpPr/>
          <p:nvPr/>
        </p:nvSpPr>
        <p:spPr>
          <a:xfrm>
            <a:off x="960120" y="2048400"/>
            <a:ext cx="10277640" cy="621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R² = 1 − SSE / SST = 1 − 127 584 / 178 275 ≈ 0.284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6" name="Google Shape;1026;p53"/>
          <p:cNvSpPr/>
          <p:nvPr/>
        </p:nvSpPr>
        <p:spPr>
          <a:xfrm>
            <a:off x="749880" y="3072240"/>
            <a:ext cx="5211720" cy="2514240"/>
          </a:xfrm>
          <a:prstGeom prst="roundRect">
            <a:avLst>
              <a:gd fmla="val 16667" name="adj"/>
            </a:avLst>
          </a:prstGeom>
          <a:solidFill>
            <a:srgbClr val="F1F5F7"/>
          </a:solidFill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7" name="Google Shape;1027;p53"/>
          <p:cNvSpPr/>
          <p:nvPr/>
        </p:nvSpPr>
        <p:spPr>
          <a:xfrm>
            <a:off x="960120" y="3291840"/>
            <a:ext cx="4791240" cy="36540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2678A"/>
                </a:solidFill>
                <a:latin typeface="Arial"/>
                <a:ea typeface="Arial"/>
                <a:cs typeface="Arial"/>
                <a:sym typeface="Arial"/>
              </a:rPr>
              <a:t>LIRE R²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8" name="Google Shape;1028;p53"/>
          <p:cNvSpPr/>
          <p:nvPr/>
        </p:nvSpPr>
        <p:spPr>
          <a:xfrm>
            <a:off x="960120" y="3758040"/>
            <a:ext cx="4791240" cy="1627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SSE : somme des résidus² ; SST : somme des écarts² à la moyenne. La droite réduit cette somme de 28.4 % sur ces visites. R² ne mesure pas une cause.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9" name="Google Shape;1029;p53"/>
          <p:cNvSpPr/>
          <p:nvPr/>
        </p:nvSpPr>
        <p:spPr>
          <a:xfrm>
            <a:off x="6190560" y="3072240"/>
            <a:ext cx="5257440" cy="2514240"/>
          </a:xfrm>
          <a:prstGeom prst="roundRect">
            <a:avLst>
              <a:gd fmla="val 16667" name="adj"/>
            </a:avLst>
          </a:prstGeom>
          <a:solidFill>
            <a:srgbClr val="102A43"/>
          </a:solidFill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0" name="Google Shape;1030;p53"/>
          <p:cNvSpPr/>
          <p:nvPr/>
        </p:nvSpPr>
        <p:spPr>
          <a:xfrm>
            <a:off x="6400800" y="3291840"/>
            <a:ext cx="4836960" cy="36540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CFCFB"/>
                </a:solidFill>
                <a:latin typeface="Arial"/>
                <a:ea typeface="Arial"/>
                <a:cs typeface="Arial"/>
                <a:sym typeface="Arial"/>
              </a:rPr>
              <a:t>PYTHON · EXTRAIT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1" name="Google Shape;1031;p53"/>
          <p:cNvSpPr/>
          <p:nvPr/>
        </p:nvSpPr>
        <p:spPr>
          <a:xfrm>
            <a:off x="6400800" y="3758040"/>
            <a:ext cx="4836960" cy="1627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FCFCFB"/>
                </a:solidFill>
                <a:latin typeface="Courier New"/>
                <a:ea typeface="Courier New"/>
                <a:cs typeface="Courier New"/>
                <a:sym typeface="Courier New"/>
              </a:rPr>
              <a:t>sse = (residuals ** 2).sum()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FCFCFB"/>
                </a:solidFill>
                <a:latin typeface="Courier New"/>
                <a:ea typeface="Courier New"/>
                <a:cs typeface="Courier New"/>
                <a:sym typeface="Courier New"/>
              </a:rPr>
              <a:t>sst = ((y - y.mean()) ** 2).sum()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FCFCFB"/>
                </a:solidFill>
                <a:latin typeface="Courier New"/>
                <a:ea typeface="Courier New"/>
                <a:cs typeface="Courier New"/>
                <a:sym typeface="Courier New"/>
              </a:rPr>
              <a:t>r2 = 1 - sse / sst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2" name="Google Shape;1032;p53"/>
          <p:cNvSpPr/>
          <p:nvPr/>
        </p:nvSpPr>
        <p:spPr>
          <a:xfrm>
            <a:off x="749880" y="5852160"/>
            <a:ext cx="10698120" cy="529920"/>
          </a:xfrm>
          <a:prstGeom prst="roundRect">
            <a:avLst>
              <a:gd fmla="val 16667" name="adj"/>
            </a:avLst>
          </a:prstGeom>
          <a:solidFill>
            <a:srgbClr val="F1F5F7"/>
          </a:solidFill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3" name="Google Shape;1033;p53"/>
          <p:cNvSpPr/>
          <p:nvPr/>
        </p:nvSpPr>
        <p:spPr>
          <a:xfrm>
            <a:off x="932760" y="5897880"/>
            <a:ext cx="10332360" cy="42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Ici, une variable explicative et une ordonnée à l'origine : R² = r² ≈ 0.284.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4" name="Google Shape;1034;p53"/>
          <p:cNvSpPr/>
          <p:nvPr/>
        </p:nvSpPr>
        <p:spPr>
          <a:xfrm>
            <a:off x="731520" y="6574680"/>
            <a:ext cx="7954920" cy="16416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OLIVIER DELRIEU  /  06.10.2026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5" name="Google Shape;1035;p53"/>
          <p:cNvSpPr/>
          <p:nvPr/>
        </p:nvSpPr>
        <p:spPr>
          <a:xfrm>
            <a:off x="10625400" y="6546960"/>
            <a:ext cx="840960" cy="21924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53 / 58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FCFB"/>
        </a:solidFill>
      </p:bgPr>
    </p:bg>
    <p:spTree>
      <p:nvGrpSpPr>
        <p:cNvPr id="1039" name="Shape 10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0" name="Google Shape;1040;p54"/>
          <p:cNvSpPr/>
          <p:nvPr/>
        </p:nvSpPr>
        <p:spPr>
          <a:xfrm>
            <a:off x="749880" y="420480"/>
            <a:ext cx="10698120" cy="29232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12678A"/>
                </a:solidFill>
                <a:latin typeface="Arial"/>
                <a:ea typeface="Arial"/>
                <a:cs typeface="Arial"/>
                <a:sym typeface="Arial"/>
              </a:rPr>
              <a:t>RÉGRESSION · COMPRENDRE OU PRÉDIRE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1" name="Google Shape;1041;p54"/>
          <p:cNvSpPr/>
          <p:nvPr/>
        </p:nvSpPr>
        <p:spPr>
          <a:xfrm>
            <a:off x="749880" y="804600"/>
            <a:ext cx="10698120" cy="785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00" u="none" cap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Une prédiction ne dit pas pourquoi le panier change</a:t>
            </a:r>
            <a:endParaRPr b="0" i="0" sz="3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2" name="Google Shape;1042;p54"/>
          <p:cNvSpPr/>
          <p:nvPr/>
        </p:nvSpPr>
        <p:spPr>
          <a:xfrm>
            <a:off x="749880" y="1627560"/>
            <a:ext cx="10698120" cy="31680"/>
          </a:xfrm>
          <a:prstGeom prst="rect">
            <a:avLst/>
          </a:prstGeom>
          <a:solidFill>
            <a:srgbClr val="D4DEE4"/>
          </a:solidFill>
          <a:ln>
            <a:noFill/>
          </a:ln>
        </p:spPr>
        <p:txBody>
          <a:bodyPr anchorCtr="0" anchor="ctr" bIns="0" lIns="90000" spcFirstLastPara="1" rIns="9000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3" name="Google Shape;1043;p54"/>
          <p:cNvSpPr/>
          <p:nvPr/>
        </p:nvSpPr>
        <p:spPr>
          <a:xfrm>
            <a:off x="749880" y="1901880"/>
            <a:ext cx="5211720" cy="3748680"/>
          </a:xfrm>
          <a:prstGeom prst="roundRect">
            <a:avLst>
              <a:gd fmla="val 16667" name="adj"/>
            </a:avLst>
          </a:prstGeom>
          <a:solidFill>
            <a:srgbClr val="F1F5F7"/>
          </a:solidFill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4" name="Google Shape;1044;p54"/>
          <p:cNvSpPr/>
          <p:nvPr/>
        </p:nvSpPr>
        <p:spPr>
          <a:xfrm>
            <a:off x="960120" y="2130480"/>
            <a:ext cx="4791240" cy="47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2678A"/>
                </a:solidFill>
                <a:latin typeface="Arial"/>
                <a:ea typeface="Arial"/>
                <a:cs typeface="Arial"/>
                <a:sym typeface="Arial"/>
              </a:rPr>
              <a:t>POUR PRÉDIRE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5" name="Google Shape;1045;p54"/>
          <p:cNvSpPr/>
          <p:nvPr/>
        </p:nvSpPr>
        <p:spPr>
          <a:xfrm>
            <a:off x="960120" y="2770560"/>
            <a:ext cx="4791240" cy="265140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L'âge fournit une estimation moyenne pour des visites semblables, dans la plage observée.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Avec R² = 0.284 sur ces données, les montants restent dispersés autour de la droite.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6" name="Google Shape;1046;p54"/>
          <p:cNvSpPr/>
          <p:nvPr/>
        </p:nvSpPr>
        <p:spPr>
          <a:xfrm>
            <a:off x="6190560" y="1901880"/>
            <a:ext cx="5211720" cy="3748680"/>
          </a:xfrm>
          <a:prstGeom prst="roundRect">
            <a:avLst>
              <a:gd fmla="val 16667" name="adj"/>
            </a:avLst>
          </a:prstGeom>
          <a:solidFill>
            <a:srgbClr val="F1F5F7"/>
          </a:solidFill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7" name="Google Shape;1047;p54"/>
          <p:cNvSpPr/>
          <p:nvPr/>
        </p:nvSpPr>
        <p:spPr>
          <a:xfrm>
            <a:off x="6400800" y="2130480"/>
            <a:ext cx="4791240" cy="47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2678A"/>
                </a:solidFill>
                <a:latin typeface="Arial"/>
                <a:ea typeface="Arial"/>
                <a:cs typeface="Arial"/>
                <a:sym typeface="Arial"/>
              </a:rPr>
              <a:t>POUR COMPRENDRE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8" name="Google Shape;1048;p54"/>
          <p:cNvSpPr/>
          <p:nvPr/>
        </p:nvSpPr>
        <p:spPr>
          <a:xfrm>
            <a:off x="6400800" y="2770560"/>
            <a:ext cx="4791240" cy="265140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Le générateur du 1er octobre ajoutait 0.5 € par année d'âge au montant. La nouvelle attribution relie aussi distance, visites et paniers. La pente observée ne mesure pas à elle seule l'effet de vieillir.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9" name="Google Shape;1049;p54"/>
          <p:cNvSpPr/>
          <p:nvPr/>
        </p:nvSpPr>
        <p:spPr>
          <a:xfrm>
            <a:off x="749880" y="5815440"/>
            <a:ext cx="10698120" cy="566640"/>
          </a:xfrm>
          <a:prstGeom prst="roundRect">
            <a:avLst>
              <a:gd fmla="val 16667" name="adj"/>
            </a:avLst>
          </a:prstGeom>
          <a:solidFill>
            <a:srgbClr val="F1F5F7"/>
          </a:solidFill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0" name="Google Shape;1050;p54"/>
          <p:cNvSpPr/>
          <p:nvPr/>
        </p:nvSpPr>
        <p:spPr>
          <a:xfrm>
            <a:off x="932760" y="5861160"/>
            <a:ext cx="10332360" cy="456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Ici, une visite = un point : un client fréquent pèse plusieurs fois. Pour tester sur de nouveaux clients, séparer les clients entiers.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1" name="Google Shape;1051;p54"/>
          <p:cNvSpPr/>
          <p:nvPr/>
        </p:nvSpPr>
        <p:spPr>
          <a:xfrm>
            <a:off x="731520" y="6574680"/>
            <a:ext cx="7954920" cy="16416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OLIVIER DELRIEU  /  06.10.2026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2" name="Google Shape;1052;p54"/>
          <p:cNvSpPr/>
          <p:nvPr/>
        </p:nvSpPr>
        <p:spPr>
          <a:xfrm>
            <a:off x="10625400" y="6546960"/>
            <a:ext cx="840960" cy="21924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54 / 58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FCFB"/>
        </a:solidFill>
      </p:bgPr>
    </p:bg>
    <p:spTree>
      <p:nvGrpSpPr>
        <p:cNvPr id="1056" name="Shape 10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7" name="Google Shape;1057;p55"/>
          <p:cNvSpPr/>
          <p:nvPr/>
        </p:nvSpPr>
        <p:spPr>
          <a:xfrm>
            <a:off x="0" y="0"/>
            <a:ext cx="12197880" cy="6857640"/>
          </a:xfrm>
          <a:prstGeom prst="rect">
            <a:avLst/>
          </a:prstGeom>
          <a:solidFill>
            <a:srgbClr val="102A43"/>
          </a:solidFill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8" name="Google Shape;1058;p55"/>
          <p:cNvSpPr/>
          <p:nvPr/>
        </p:nvSpPr>
        <p:spPr>
          <a:xfrm>
            <a:off x="777240" y="749880"/>
            <a:ext cx="10606680" cy="40212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B8DCE8"/>
                </a:solidFill>
                <a:latin typeface="Arial"/>
                <a:ea typeface="Arial"/>
                <a:cs typeface="Arial"/>
                <a:sym typeface="Arial"/>
              </a:rPr>
              <a:t>ANNEXE · CAUSALITÉ · SUPPORT DE RÉSERVE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9" name="Google Shape;1059;p55"/>
          <p:cNvSpPr/>
          <p:nvPr/>
        </p:nvSpPr>
        <p:spPr>
          <a:xfrm>
            <a:off x="795600" y="1463040"/>
            <a:ext cx="914040" cy="54360"/>
          </a:xfrm>
          <a:prstGeom prst="rect">
            <a:avLst/>
          </a:prstGeom>
          <a:solidFill>
            <a:srgbClr val="B66D3A"/>
          </a:solidFill>
          <a:ln>
            <a:noFill/>
          </a:ln>
        </p:spPr>
        <p:txBody>
          <a:bodyPr anchorCtr="0" anchor="ctr" bIns="9700" lIns="90000" spcFirstLastPara="1" rIns="90000" wrap="square" tIns="9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0" name="Google Shape;1060;p55"/>
          <p:cNvSpPr/>
          <p:nvPr/>
        </p:nvSpPr>
        <p:spPr>
          <a:xfrm>
            <a:off x="777240" y="1847160"/>
            <a:ext cx="10606680" cy="1919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00" u="none" cap="none" strike="noStrike">
                <a:solidFill>
                  <a:srgbClr val="FCFCFB"/>
                </a:solidFill>
                <a:latin typeface="Arial"/>
                <a:ea typeface="Arial"/>
                <a:cs typeface="Arial"/>
                <a:sym typeface="Arial"/>
              </a:rPr>
              <a:t>Tester un effet causal :</a:t>
            </a:r>
            <a:endParaRPr b="0" i="0" sz="4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i="0" lang="en-US" sz="4000" u="none" cap="none" strike="noStrike">
                <a:solidFill>
                  <a:srgbClr val="FCFCFB"/>
                </a:solidFill>
                <a:latin typeface="Arial"/>
                <a:ea typeface="Arial"/>
                <a:cs typeface="Arial"/>
                <a:sym typeface="Arial"/>
              </a:rPr>
              <a:t>la promotion</a:t>
            </a:r>
            <a:endParaRPr b="0" i="0" sz="4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1" name="Google Shape;1061;p55"/>
          <p:cNvSpPr/>
          <p:nvPr/>
        </p:nvSpPr>
        <p:spPr>
          <a:xfrm>
            <a:off x="777240" y="4325040"/>
            <a:ext cx="10606680" cy="109692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00" u="none" cap="none" strike="noStrike">
                <a:solidFill>
                  <a:srgbClr val="DCE8EE"/>
                </a:solidFill>
                <a:latin typeface="Arial"/>
                <a:ea typeface="Arial"/>
                <a:cs typeface="Arial"/>
                <a:sym typeface="Arial"/>
              </a:rPr>
              <a:t>Retour aux deux magasins ; exemple hypothétique distinct des clients et visites simulés.</a:t>
            </a:r>
            <a:endParaRPr b="0" i="0" sz="2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2" name="Google Shape;1062;p55"/>
          <p:cNvSpPr/>
          <p:nvPr/>
        </p:nvSpPr>
        <p:spPr>
          <a:xfrm>
            <a:off x="731520" y="6574680"/>
            <a:ext cx="7954920" cy="16416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B8DCE8"/>
                </a:solidFill>
                <a:latin typeface="Arial"/>
                <a:ea typeface="Arial"/>
                <a:cs typeface="Arial"/>
                <a:sym typeface="Arial"/>
              </a:rPr>
              <a:t>OLIVIER DELRIEU  /  06.10.2026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3" name="Google Shape;1063;p55"/>
          <p:cNvSpPr/>
          <p:nvPr/>
        </p:nvSpPr>
        <p:spPr>
          <a:xfrm>
            <a:off x="10625400" y="6546960"/>
            <a:ext cx="840960" cy="21924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B8DCE8"/>
                </a:solidFill>
                <a:latin typeface="Arial"/>
                <a:ea typeface="Arial"/>
                <a:cs typeface="Arial"/>
                <a:sym typeface="Arial"/>
              </a:rPr>
              <a:t>55 / 58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FCFB"/>
        </a:solidFill>
      </p:bgPr>
    </p:bg>
    <p:spTree>
      <p:nvGrpSpPr>
        <p:cNvPr id="1067" name="Shape 10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8" name="Google Shape;1068;p56"/>
          <p:cNvSpPr/>
          <p:nvPr/>
        </p:nvSpPr>
        <p:spPr>
          <a:xfrm>
            <a:off x="749880" y="420480"/>
            <a:ext cx="10698120" cy="29232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12678A"/>
                </a:solidFill>
                <a:latin typeface="Arial"/>
                <a:ea typeface="Arial"/>
                <a:cs typeface="Arial"/>
                <a:sym typeface="Arial"/>
              </a:rPr>
              <a:t>CAUSALITÉ · DE L’OBSERVATION À L’ESSAI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9" name="Google Shape;1069;p56"/>
          <p:cNvSpPr/>
          <p:nvPr/>
        </p:nvSpPr>
        <p:spPr>
          <a:xfrm>
            <a:off x="749880" y="804600"/>
            <a:ext cx="10698120" cy="785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00" u="none" cap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Que faudrait-il changer pour tester une cause ?</a:t>
            </a:r>
            <a:endParaRPr b="0" i="0" sz="3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0" name="Google Shape;1070;p56"/>
          <p:cNvSpPr/>
          <p:nvPr/>
        </p:nvSpPr>
        <p:spPr>
          <a:xfrm>
            <a:off x="749880" y="1627560"/>
            <a:ext cx="10698120" cy="31680"/>
          </a:xfrm>
          <a:prstGeom prst="rect">
            <a:avLst/>
          </a:prstGeom>
          <a:solidFill>
            <a:srgbClr val="D4DEE4"/>
          </a:solidFill>
          <a:ln>
            <a:noFill/>
          </a:ln>
        </p:spPr>
        <p:txBody>
          <a:bodyPr anchorCtr="0" anchor="ctr" bIns="0" lIns="90000" spcFirstLastPara="1" rIns="9000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1" name="Google Shape;1071;p56"/>
          <p:cNvSpPr/>
          <p:nvPr/>
        </p:nvSpPr>
        <p:spPr>
          <a:xfrm>
            <a:off x="749880" y="1901880"/>
            <a:ext cx="5211720" cy="3748680"/>
          </a:xfrm>
          <a:prstGeom prst="roundRect">
            <a:avLst>
              <a:gd fmla="val 16667" name="adj"/>
            </a:avLst>
          </a:prstGeom>
          <a:solidFill>
            <a:srgbClr val="F1F5F7"/>
          </a:solidFill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2" name="Google Shape;1072;p56"/>
          <p:cNvSpPr/>
          <p:nvPr/>
        </p:nvSpPr>
        <p:spPr>
          <a:xfrm>
            <a:off x="960120" y="2130480"/>
            <a:ext cx="4791240" cy="47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2678A"/>
                </a:solidFill>
                <a:latin typeface="Arial"/>
                <a:ea typeface="Arial"/>
                <a:cs typeface="Arial"/>
                <a:sym typeface="Arial"/>
              </a:rPr>
              <a:t>DANS LE CSV DU 1ER OCTOBRE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3" name="Google Shape;1073;p56"/>
          <p:cNvSpPr/>
          <p:nvPr/>
        </p:nvSpPr>
        <p:spPr>
          <a:xfrm>
            <a:off x="960120" y="2770560"/>
            <a:ext cx="4791240" cy="265140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Âge–montant : tendance positive dans A et B.</a:t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Distance–montant : tendance surtout dans A+B.</a:t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4" name="Google Shape;1074;p56"/>
          <p:cNvSpPr/>
          <p:nvPr/>
        </p:nvSpPr>
        <p:spPr>
          <a:xfrm>
            <a:off x="6190560" y="1901880"/>
            <a:ext cx="5211720" cy="3748680"/>
          </a:xfrm>
          <a:prstGeom prst="roundRect">
            <a:avLst>
              <a:gd fmla="val 16667" name="adj"/>
            </a:avLst>
          </a:prstGeom>
          <a:solidFill>
            <a:srgbClr val="F1F5F7"/>
          </a:solidFill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5" name="Google Shape;1075;p56"/>
          <p:cNvSpPr/>
          <p:nvPr/>
        </p:nvSpPr>
        <p:spPr>
          <a:xfrm>
            <a:off x="6400800" y="2130480"/>
            <a:ext cx="4791240" cy="47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2678A"/>
                </a:solidFill>
                <a:latin typeface="Arial"/>
                <a:ea typeface="Arial"/>
                <a:cs typeface="Arial"/>
                <a:sym typeface="Arial"/>
              </a:rPr>
              <a:t>UNE INTERVENTION POSSIBLE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6" name="Google Shape;1076;p56"/>
          <p:cNvSpPr/>
          <p:nvPr/>
        </p:nvSpPr>
        <p:spPr>
          <a:xfrm>
            <a:off x="6400800" y="2770560"/>
            <a:ext cx="4791240" cy="265140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Changer les clients de magasin serait peu réaliste.</a:t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Activer ou non un coupon lors de visites prévues des mêmes clients.</a:t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Mesurer le panier avant déduction du coupon.</a:t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7" name="Google Shape;1077;p56"/>
          <p:cNvSpPr/>
          <p:nvPr/>
        </p:nvSpPr>
        <p:spPr>
          <a:xfrm>
            <a:off x="749880" y="5815440"/>
            <a:ext cx="10698120" cy="566640"/>
          </a:xfrm>
          <a:prstGeom prst="roundRect">
            <a:avLst>
              <a:gd fmla="val 16667" name="adj"/>
            </a:avLst>
          </a:prstGeom>
          <a:solidFill>
            <a:srgbClr val="F1F5F7"/>
          </a:solidFill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8" name="Google Shape;1078;p56"/>
          <p:cNvSpPr/>
          <p:nvPr/>
        </p:nvSpPr>
        <p:spPr>
          <a:xfrm>
            <a:off x="932760" y="5861160"/>
            <a:ext cx="10332360" cy="456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Essai hypothétique, distinct du CSV : il teste l’effet de la promotion sur le panier, pas celui de l’âge.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9" name="Google Shape;1079;p56"/>
          <p:cNvSpPr/>
          <p:nvPr/>
        </p:nvSpPr>
        <p:spPr>
          <a:xfrm>
            <a:off x="731520" y="6574680"/>
            <a:ext cx="7954920" cy="16416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OLIVIER DELRIEU  /  06.10.2026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0" name="Google Shape;1080;p56"/>
          <p:cNvSpPr/>
          <p:nvPr/>
        </p:nvSpPr>
        <p:spPr>
          <a:xfrm>
            <a:off x="10625400" y="6546960"/>
            <a:ext cx="840960" cy="21924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56 / 58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FCFB"/>
        </a:solidFill>
      </p:bgPr>
    </p:bg>
    <p:spTree>
      <p:nvGrpSpPr>
        <p:cNvPr id="1084" name="Shape 10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" name="Google Shape;1085;p57"/>
          <p:cNvSpPr/>
          <p:nvPr/>
        </p:nvSpPr>
        <p:spPr>
          <a:xfrm>
            <a:off x="749880" y="420480"/>
            <a:ext cx="10698120" cy="29232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12678A"/>
                </a:solidFill>
                <a:latin typeface="Arial"/>
                <a:ea typeface="Arial"/>
                <a:cs typeface="Arial"/>
                <a:sym typeface="Arial"/>
              </a:rPr>
              <a:t>PLAN CROISÉ · MÉTHODE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6" name="Google Shape;1086;p57"/>
          <p:cNvSpPr/>
          <p:nvPr/>
        </p:nvSpPr>
        <p:spPr>
          <a:xfrm>
            <a:off x="749880" y="804600"/>
            <a:ext cx="10698120" cy="785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00" u="none" cap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Les mêmes clients essaient les deux conditions</a:t>
            </a:r>
            <a:endParaRPr b="0" i="0" sz="3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7" name="Google Shape;1087;p57"/>
          <p:cNvSpPr/>
          <p:nvPr/>
        </p:nvSpPr>
        <p:spPr>
          <a:xfrm>
            <a:off x="749880" y="1627560"/>
            <a:ext cx="10698120" cy="31680"/>
          </a:xfrm>
          <a:prstGeom prst="rect">
            <a:avLst/>
          </a:prstGeom>
          <a:solidFill>
            <a:srgbClr val="D4DEE4"/>
          </a:solidFill>
          <a:ln>
            <a:noFill/>
          </a:ln>
        </p:spPr>
        <p:txBody>
          <a:bodyPr anchorCtr="0" anchor="ctr" bIns="0" lIns="90000" spcFirstLastPara="1" rIns="9000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8" name="Google Shape;1088;p57"/>
          <p:cNvSpPr/>
          <p:nvPr/>
        </p:nvSpPr>
        <p:spPr>
          <a:xfrm>
            <a:off x="768240" y="1810440"/>
            <a:ext cx="10652400" cy="41112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Chaque client suit une seule séquence, attribuée au hasard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9" name="Google Shape;1089;p57"/>
          <p:cNvSpPr/>
          <p:nvPr/>
        </p:nvSpPr>
        <p:spPr>
          <a:xfrm>
            <a:off x="3154680" y="2368440"/>
            <a:ext cx="1846800" cy="29232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Visite 1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0" name="Google Shape;1090;p57"/>
          <p:cNvSpPr/>
          <p:nvPr/>
        </p:nvSpPr>
        <p:spPr>
          <a:xfrm>
            <a:off x="5221080" y="2368440"/>
            <a:ext cx="1846800" cy="29232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Visite 2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1" name="Google Shape;1091;p57"/>
          <p:cNvSpPr/>
          <p:nvPr/>
        </p:nvSpPr>
        <p:spPr>
          <a:xfrm>
            <a:off x="7287840" y="2368440"/>
            <a:ext cx="1846800" cy="29232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Visite 3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2" name="Google Shape;1092;p57"/>
          <p:cNvSpPr/>
          <p:nvPr/>
        </p:nvSpPr>
        <p:spPr>
          <a:xfrm>
            <a:off x="9354240" y="2368440"/>
            <a:ext cx="1846800" cy="29232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Visite 4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3" name="Google Shape;1093;p57"/>
          <p:cNvSpPr/>
          <p:nvPr/>
        </p:nvSpPr>
        <p:spPr>
          <a:xfrm>
            <a:off x="804600" y="2871360"/>
            <a:ext cx="2157480" cy="41112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Séquence 1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4" name="Google Shape;1094;p57"/>
          <p:cNvSpPr/>
          <p:nvPr/>
        </p:nvSpPr>
        <p:spPr>
          <a:xfrm>
            <a:off x="804600" y="3940920"/>
            <a:ext cx="2157480" cy="41112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Séquence 2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5" name="Google Shape;1095;p57"/>
          <p:cNvSpPr/>
          <p:nvPr/>
        </p:nvSpPr>
        <p:spPr>
          <a:xfrm>
            <a:off x="3154680" y="2761560"/>
            <a:ext cx="1846800" cy="822600"/>
          </a:xfrm>
          <a:prstGeom prst="roundRect">
            <a:avLst>
              <a:gd fmla="val 16667" name="adj"/>
            </a:avLst>
          </a:prstGeom>
          <a:solidFill>
            <a:srgbClr val="12678A"/>
          </a:solidFill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6" name="Google Shape;1096;p57"/>
          <p:cNvSpPr/>
          <p:nvPr/>
        </p:nvSpPr>
        <p:spPr>
          <a:xfrm>
            <a:off x="3227760" y="2889360"/>
            <a:ext cx="1700280" cy="529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350" lIns="18350" spcFirstLastPara="1" rIns="18350" wrap="square" tIns="183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FCFCFB"/>
                </a:solidFill>
                <a:latin typeface="Arial"/>
                <a:ea typeface="Arial"/>
                <a:cs typeface="Arial"/>
                <a:sym typeface="Arial"/>
              </a:rPr>
              <a:t>Sans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FCFCFB"/>
                </a:solidFill>
                <a:latin typeface="Arial"/>
                <a:ea typeface="Arial"/>
                <a:cs typeface="Arial"/>
                <a:sym typeface="Arial"/>
              </a:rPr>
              <a:t>promotion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7" name="Google Shape;1097;p57"/>
          <p:cNvSpPr/>
          <p:nvPr/>
        </p:nvSpPr>
        <p:spPr>
          <a:xfrm>
            <a:off x="3154680" y="3831480"/>
            <a:ext cx="1846800" cy="822600"/>
          </a:xfrm>
          <a:prstGeom prst="roundRect">
            <a:avLst>
              <a:gd fmla="val 16667" name="adj"/>
            </a:avLst>
          </a:prstGeom>
          <a:solidFill>
            <a:srgbClr val="B66D3A"/>
          </a:solidFill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8" name="Google Shape;1098;p57"/>
          <p:cNvSpPr/>
          <p:nvPr/>
        </p:nvSpPr>
        <p:spPr>
          <a:xfrm>
            <a:off x="3227760" y="3959280"/>
            <a:ext cx="1700280" cy="529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350" lIns="18350" spcFirstLastPara="1" rIns="18350" wrap="square" tIns="183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FCFCFB"/>
                </a:solidFill>
                <a:latin typeface="Arial"/>
                <a:ea typeface="Arial"/>
                <a:cs typeface="Arial"/>
                <a:sym typeface="Arial"/>
              </a:rPr>
              <a:t>Avec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FCFCFB"/>
                </a:solidFill>
                <a:latin typeface="Arial"/>
                <a:ea typeface="Arial"/>
                <a:cs typeface="Arial"/>
                <a:sym typeface="Arial"/>
              </a:rPr>
              <a:t>promotion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9" name="Google Shape;1099;p57"/>
          <p:cNvSpPr/>
          <p:nvPr/>
        </p:nvSpPr>
        <p:spPr>
          <a:xfrm>
            <a:off x="5221080" y="2761560"/>
            <a:ext cx="1846800" cy="822600"/>
          </a:xfrm>
          <a:prstGeom prst="roundRect">
            <a:avLst>
              <a:gd fmla="val 16667" name="adj"/>
            </a:avLst>
          </a:prstGeom>
          <a:solidFill>
            <a:srgbClr val="B66D3A"/>
          </a:solidFill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0" name="Google Shape;1100;p57"/>
          <p:cNvSpPr/>
          <p:nvPr/>
        </p:nvSpPr>
        <p:spPr>
          <a:xfrm>
            <a:off x="5294520" y="2889360"/>
            <a:ext cx="1700280" cy="529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350" lIns="18350" spcFirstLastPara="1" rIns="18350" wrap="square" tIns="183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FCFCFB"/>
                </a:solidFill>
                <a:latin typeface="Arial"/>
                <a:ea typeface="Arial"/>
                <a:cs typeface="Arial"/>
                <a:sym typeface="Arial"/>
              </a:rPr>
              <a:t>Avec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FCFCFB"/>
                </a:solidFill>
                <a:latin typeface="Arial"/>
                <a:ea typeface="Arial"/>
                <a:cs typeface="Arial"/>
                <a:sym typeface="Arial"/>
              </a:rPr>
              <a:t>promotion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1" name="Google Shape;1101;p57"/>
          <p:cNvSpPr/>
          <p:nvPr/>
        </p:nvSpPr>
        <p:spPr>
          <a:xfrm>
            <a:off x="5221080" y="3831480"/>
            <a:ext cx="1846800" cy="822600"/>
          </a:xfrm>
          <a:prstGeom prst="roundRect">
            <a:avLst>
              <a:gd fmla="val 16667" name="adj"/>
            </a:avLst>
          </a:prstGeom>
          <a:solidFill>
            <a:srgbClr val="12678A"/>
          </a:solidFill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2" name="Google Shape;1102;p57"/>
          <p:cNvSpPr/>
          <p:nvPr/>
        </p:nvSpPr>
        <p:spPr>
          <a:xfrm>
            <a:off x="5294520" y="3959280"/>
            <a:ext cx="1700280" cy="529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350" lIns="18350" spcFirstLastPara="1" rIns="18350" wrap="square" tIns="183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FCFCFB"/>
                </a:solidFill>
                <a:latin typeface="Arial"/>
                <a:ea typeface="Arial"/>
                <a:cs typeface="Arial"/>
                <a:sym typeface="Arial"/>
              </a:rPr>
              <a:t>Sans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FCFCFB"/>
                </a:solidFill>
                <a:latin typeface="Arial"/>
                <a:ea typeface="Arial"/>
                <a:cs typeface="Arial"/>
                <a:sym typeface="Arial"/>
              </a:rPr>
              <a:t>promotion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3" name="Google Shape;1103;p57"/>
          <p:cNvSpPr/>
          <p:nvPr/>
        </p:nvSpPr>
        <p:spPr>
          <a:xfrm>
            <a:off x="7287840" y="2761560"/>
            <a:ext cx="1846800" cy="822600"/>
          </a:xfrm>
          <a:prstGeom prst="roundRect">
            <a:avLst>
              <a:gd fmla="val 16667" name="adj"/>
            </a:avLst>
          </a:prstGeom>
          <a:solidFill>
            <a:srgbClr val="12678A"/>
          </a:solidFill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4" name="Google Shape;1104;p57"/>
          <p:cNvSpPr/>
          <p:nvPr/>
        </p:nvSpPr>
        <p:spPr>
          <a:xfrm>
            <a:off x="7360920" y="2889360"/>
            <a:ext cx="1700280" cy="529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350" lIns="18350" spcFirstLastPara="1" rIns="18350" wrap="square" tIns="183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FCFCFB"/>
                </a:solidFill>
                <a:latin typeface="Arial"/>
                <a:ea typeface="Arial"/>
                <a:cs typeface="Arial"/>
                <a:sym typeface="Arial"/>
              </a:rPr>
              <a:t>Sans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FCFCFB"/>
                </a:solidFill>
                <a:latin typeface="Arial"/>
                <a:ea typeface="Arial"/>
                <a:cs typeface="Arial"/>
                <a:sym typeface="Arial"/>
              </a:rPr>
              <a:t>promotion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5" name="Google Shape;1105;p57"/>
          <p:cNvSpPr/>
          <p:nvPr/>
        </p:nvSpPr>
        <p:spPr>
          <a:xfrm>
            <a:off x="7287840" y="3831480"/>
            <a:ext cx="1846800" cy="822600"/>
          </a:xfrm>
          <a:prstGeom prst="roundRect">
            <a:avLst>
              <a:gd fmla="val 16667" name="adj"/>
            </a:avLst>
          </a:prstGeom>
          <a:solidFill>
            <a:srgbClr val="B66D3A"/>
          </a:solidFill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6" name="Google Shape;1106;p57"/>
          <p:cNvSpPr/>
          <p:nvPr/>
        </p:nvSpPr>
        <p:spPr>
          <a:xfrm>
            <a:off x="7360920" y="3959280"/>
            <a:ext cx="1700280" cy="529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350" lIns="18350" spcFirstLastPara="1" rIns="18350" wrap="square" tIns="183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FCFCFB"/>
                </a:solidFill>
                <a:latin typeface="Arial"/>
                <a:ea typeface="Arial"/>
                <a:cs typeface="Arial"/>
                <a:sym typeface="Arial"/>
              </a:rPr>
              <a:t>Avec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FCFCFB"/>
                </a:solidFill>
                <a:latin typeface="Arial"/>
                <a:ea typeface="Arial"/>
                <a:cs typeface="Arial"/>
                <a:sym typeface="Arial"/>
              </a:rPr>
              <a:t>promotion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7" name="Google Shape;1107;p57"/>
          <p:cNvSpPr/>
          <p:nvPr/>
        </p:nvSpPr>
        <p:spPr>
          <a:xfrm>
            <a:off x="9354240" y="2761560"/>
            <a:ext cx="1846800" cy="822600"/>
          </a:xfrm>
          <a:prstGeom prst="roundRect">
            <a:avLst>
              <a:gd fmla="val 16667" name="adj"/>
            </a:avLst>
          </a:prstGeom>
          <a:solidFill>
            <a:srgbClr val="B66D3A"/>
          </a:solidFill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8" name="Google Shape;1108;p57"/>
          <p:cNvSpPr/>
          <p:nvPr/>
        </p:nvSpPr>
        <p:spPr>
          <a:xfrm>
            <a:off x="9427320" y="2889360"/>
            <a:ext cx="1700280" cy="529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350" lIns="18350" spcFirstLastPara="1" rIns="18350" wrap="square" tIns="183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FCFCFB"/>
                </a:solidFill>
                <a:latin typeface="Arial"/>
                <a:ea typeface="Arial"/>
                <a:cs typeface="Arial"/>
                <a:sym typeface="Arial"/>
              </a:rPr>
              <a:t>Avec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FCFCFB"/>
                </a:solidFill>
                <a:latin typeface="Arial"/>
                <a:ea typeface="Arial"/>
                <a:cs typeface="Arial"/>
                <a:sym typeface="Arial"/>
              </a:rPr>
              <a:t>promotion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9" name="Google Shape;1109;p57"/>
          <p:cNvSpPr/>
          <p:nvPr/>
        </p:nvSpPr>
        <p:spPr>
          <a:xfrm>
            <a:off x="9354240" y="3831480"/>
            <a:ext cx="1846800" cy="822600"/>
          </a:xfrm>
          <a:prstGeom prst="roundRect">
            <a:avLst>
              <a:gd fmla="val 16667" name="adj"/>
            </a:avLst>
          </a:prstGeom>
          <a:solidFill>
            <a:srgbClr val="12678A"/>
          </a:solidFill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0" name="Google Shape;1110;p57"/>
          <p:cNvSpPr/>
          <p:nvPr/>
        </p:nvSpPr>
        <p:spPr>
          <a:xfrm>
            <a:off x="9427320" y="3959280"/>
            <a:ext cx="1700280" cy="529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350" lIns="18350" spcFirstLastPara="1" rIns="18350" wrap="square" tIns="183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FCFCFB"/>
                </a:solidFill>
                <a:latin typeface="Arial"/>
                <a:ea typeface="Arial"/>
                <a:cs typeface="Arial"/>
                <a:sym typeface="Arial"/>
              </a:rPr>
              <a:t>Sans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FCFCFB"/>
                </a:solidFill>
                <a:latin typeface="Arial"/>
                <a:ea typeface="Arial"/>
                <a:cs typeface="Arial"/>
                <a:sym typeface="Arial"/>
              </a:rPr>
              <a:t>promotion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1" name="Google Shape;1111;p57"/>
          <p:cNvSpPr/>
          <p:nvPr/>
        </p:nvSpPr>
        <p:spPr>
          <a:xfrm>
            <a:off x="749880" y="4919400"/>
            <a:ext cx="10698120" cy="658080"/>
          </a:xfrm>
          <a:prstGeom prst="roundRect">
            <a:avLst>
              <a:gd fmla="val 16667" name="adj"/>
            </a:avLst>
          </a:prstGeom>
          <a:solidFill>
            <a:srgbClr val="F1F5F7"/>
          </a:solidFill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2" name="Google Shape;1112;p57"/>
          <p:cNvSpPr/>
          <p:nvPr/>
        </p:nvSpPr>
        <p:spPr>
          <a:xfrm>
            <a:off x="932760" y="5038200"/>
            <a:ext cx="10332360" cy="42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Par client : panier moyen avant remise avec promotion − sans promotion. Puis moyenner les écarts.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3" name="Google Shape;1113;p57"/>
          <p:cNvSpPr/>
          <p:nvPr/>
        </p:nvSpPr>
        <p:spPr>
          <a:xfrm>
            <a:off x="749880" y="5815440"/>
            <a:ext cx="10698120" cy="566640"/>
          </a:xfrm>
          <a:prstGeom prst="roundRect">
            <a:avLst>
              <a:gd fmla="val 16667" name="adj"/>
            </a:avLst>
          </a:prstGeom>
          <a:solidFill>
            <a:srgbClr val="F1F5F7"/>
          </a:solidFill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4" name="Google Shape;1114;p57"/>
          <p:cNvSpPr/>
          <p:nvPr/>
        </p:nvSpPr>
        <p:spPr>
          <a:xfrm>
            <a:off x="932760" y="5861160"/>
            <a:ext cx="10332360" cy="456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Visites comparables : besoins et prix affichés proches ; délai entre visites si achats reportés ; noter les visites manquées.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5" name="Google Shape;1115;p57"/>
          <p:cNvSpPr/>
          <p:nvPr/>
        </p:nvSpPr>
        <p:spPr>
          <a:xfrm>
            <a:off x="731520" y="6574680"/>
            <a:ext cx="7954920" cy="16416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OLIVIER DELRIEU  /  06.10.2026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6" name="Google Shape;1116;p57"/>
          <p:cNvSpPr/>
          <p:nvPr/>
        </p:nvSpPr>
        <p:spPr>
          <a:xfrm>
            <a:off x="10625400" y="6546960"/>
            <a:ext cx="840960" cy="21924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57 / 58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FCFB"/>
        </a:solidFill>
      </p:bgPr>
    </p:bg>
    <p:spTree>
      <p:nvGrpSpPr>
        <p:cNvPr id="1120" name="Shape 1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1" name="Google Shape;1121;p58"/>
          <p:cNvSpPr/>
          <p:nvPr/>
        </p:nvSpPr>
        <p:spPr>
          <a:xfrm>
            <a:off x="749880" y="420480"/>
            <a:ext cx="10698120" cy="29232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12678A"/>
                </a:solidFill>
                <a:latin typeface="Arial"/>
                <a:ea typeface="Arial"/>
                <a:cs typeface="Arial"/>
                <a:sym typeface="Arial"/>
              </a:rPr>
              <a:t>PLAN CROISÉ · RÉSULTATS POSSIBLES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2" name="Google Shape;1122;p58"/>
          <p:cNvSpPr/>
          <p:nvPr/>
        </p:nvSpPr>
        <p:spPr>
          <a:xfrm>
            <a:off x="749880" y="804600"/>
            <a:ext cx="10698120" cy="785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00" u="none" cap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Que peut-on conclure des résultats ?</a:t>
            </a:r>
            <a:endParaRPr b="0" i="0" sz="3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3" name="Google Shape;1123;p58"/>
          <p:cNvSpPr/>
          <p:nvPr/>
        </p:nvSpPr>
        <p:spPr>
          <a:xfrm>
            <a:off x="749880" y="1627560"/>
            <a:ext cx="10698120" cy="31680"/>
          </a:xfrm>
          <a:prstGeom prst="rect">
            <a:avLst/>
          </a:prstGeom>
          <a:solidFill>
            <a:srgbClr val="D4DEE4"/>
          </a:solidFill>
          <a:ln>
            <a:noFill/>
          </a:ln>
        </p:spPr>
        <p:txBody>
          <a:bodyPr anchorCtr="0" anchor="ctr" bIns="0" lIns="90000" spcFirstLastPara="1" rIns="9000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4" name="Google Shape;1124;p58"/>
          <p:cNvSpPr/>
          <p:nvPr/>
        </p:nvSpPr>
        <p:spPr>
          <a:xfrm>
            <a:off x="731520" y="1947600"/>
            <a:ext cx="4091400" cy="918720"/>
          </a:xfrm>
          <a:prstGeom prst="rect">
            <a:avLst/>
          </a:prstGeom>
          <a:solidFill>
            <a:srgbClr val="102A43"/>
          </a:solidFill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5" name="Google Shape;1125;p58"/>
          <p:cNvSpPr/>
          <p:nvPr/>
        </p:nvSpPr>
        <p:spPr>
          <a:xfrm>
            <a:off x="841320" y="1965960"/>
            <a:ext cx="3894840" cy="905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CFCFB"/>
                </a:solidFill>
                <a:latin typeface="Arial"/>
                <a:ea typeface="Arial"/>
                <a:cs typeface="Arial"/>
                <a:sym typeface="Arial"/>
              </a:rPr>
              <a:t>Résultat possible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6" name="Google Shape;1126;p58"/>
          <p:cNvSpPr/>
          <p:nvPr/>
        </p:nvSpPr>
        <p:spPr>
          <a:xfrm>
            <a:off x="4846320" y="1947600"/>
            <a:ext cx="6606360" cy="918720"/>
          </a:xfrm>
          <a:prstGeom prst="rect">
            <a:avLst/>
          </a:prstGeom>
          <a:solidFill>
            <a:srgbClr val="102A43"/>
          </a:solidFill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7" name="Google Shape;1127;p58"/>
          <p:cNvSpPr/>
          <p:nvPr/>
        </p:nvSpPr>
        <p:spPr>
          <a:xfrm>
            <a:off x="4956120" y="1965960"/>
            <a:ext cx="6409440" cy="905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CFCFB"/>
                </a:solidFill>
                <a:latin typeface="Arial"/>
                <a:ea typeface="Arial"/>
                <a:cs typeface="Arial"/>
                <a:sym typeface="Arial"/>
              </a:rPr>
              <a:t>Lecture possible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8" name="Google Shape;1128;p58"/>
          <p:cNvSpPr/>
          <p:nvPr/>
        </p:nvSpPr>
        <p:spPr>
          <a:xfrm>
            <a:off x="731520" y="2889360"/>
            <a:ext cx="4091400" cy="918720"/>
          </a:xfrm>
          <a:prstGeom prst="rect">
            <a:avLst/>
          </a:prstGeom>
          <a:solidFill>
            <a:srgbClr val="F1F5F7"/>
          </a:solidFill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9" name="Google Shape;1129;p58"/>
          <p:cNvSpPr/>
          <p:nvPr/>
        </p:nvSpPr>
        <p:spPr>
          <a:xfrm>
            <a:off x="841320" y="2907720"/>
            <a:ext cx="3894840" cy="905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Panier avant remise plus élevé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dans les deux ordres ; écart précis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0" name="Google Shape;1130;p58"/>
          <p:cNvSpPr/>
          <p:nvPr/>
        </p:nvSpPr>
        <p:spPr>
          <a:xfrm>
            <a:off x="4846320" y="2889360"/>
            <a:ext cx="6606360" cy="918720"/>
          </a:xfrm>
          <a:prstGeom prst="rect">
            <a:avLst/>
          </a:prstGeom>
          <a:solidFill>
            <a:srgbClr val="F1F5F7"/>
          </a:solidFill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1" name="Google Shape;1131;p58"/>
          <p:cNvSpPr/>
          <p:nvPr/>
        </p:nvSpPr>
        <p:spPr>
          <a:xfrm>
            <a:off x="4956120" y="2907720"/>
            <a:ext cx="6409440" cy="905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Effet positif plausible si les visites sont comparables et sans effet persistant.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2" name="Google Shape;1132;p58"/>
          <p:cNvSpPr/>
          <p:nvPr/>
        </p:nvSpPr>
        <p:spPr>
          <a:xfrm>
            <a:off x="731520" y="3831480"/>
            <a:ext cx="4091400" cy="918720"/>
          </a:xfrm>
          <a:prstGeom prst="rect">
            <a:avLst/>
          </a:prstGeom>
          <a:solidFill>
            <a:srgbClr val="F1F5F7"/>
          </a:solidFill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3" name="Google Shape;1133;p58"/>
          <p:cNvSpPr/>
          <p:nvPr/>
        </p:nvSpPr>
        <p:spPr>
          <a:xfrm>
            <a:off x="841320" y="3849480"/>
            <a:ext cx="3894840" cy="905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Estimation imprécise : baisse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et hausse possibles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4" name="Google Shape;1134;p58"/>
          <p:cNvSpPr/>
          <p:nvPr/>
        </p:nvSpPr>
        <p:spPr>
          <a:xfrm>
            <a:off x="4846320" y="3831480"/>
            <a:ext cx="6606360" cy="918720"/>
          </a:xfrm>
          <a:prstGeom prst="rect">
            <a:avLst/>
          </a:prstGeom>
          <a:solidFill>
            <a:srgbClr val="F1F5F7"/>
          </a:solidFill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5" name="Google Shape;1135;p58"/>
          <p:cNvSpPr/>
          <p:nvPr/>
        </p:nvSpPr>
        <p:spPr>
          <a:xfrm>
            <a:off x="4956120" y="3849480"/>
            <a:ext cx="6409440" cy="905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Aucune conclusion claire sur l’effet moyen ; améliorer l’étude ou recueillir plus de données.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6" name="Google Shape;1136;p58"/>
          <p:cNvSpPr/>
          <p:nvPr/>
        </p:nvSpPr>
        <p:spPr>
          <a:xfrm>
            <a:off x="731520" y="4773240"/>
            <a:ext cx="4091400" cy="918720"/>
          </a:xfrm>
          <a:prstGeom prst="rect">
            <a:avLst/>
          </a:prstGeom>
          <a:solidFill>
            <a:srgbClr val="F1F5F7"/>
          </a:solidFill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7" name="Google Shape;1137;p58"/>
          <p:cNvSpPr/>
          <p:nvPr/>
        </p:nvSpPr>
        <p:spPr>
          <a:xfrm>
            <a:off x="841320" y="4791600"/>
            <a:ext cx="3894840" cy="905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Résultat différent selon l’ordre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ou la période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8" name="Google Shape;1138;p58"/>
          <p:cNvSpPr/>
          <p:nvPr/>
        </p:nvSpPr>
        <p:spPr>
          <a:xfrm>
            <a:off x="4846320" y="4773240"/>
            <a:ext cx="6606360" cy="918720"/>
          </a:xfrm>
          <a:prstGeom prst="rect">
            <a:avLst/>
          </a:prstGeom>
          <a:solidFill>
            <a:srgbClr val="F1F5F7"/>
          </a:solidFill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9" name="Google Shape;1139;p58"/>
          <p:cNvSpPr/>
          <p:nvPr/>
        </p:nvSpPr>
        <p:spPr>
          <a:xfrm>
            <a:off x="4956120" y="4791600"/>
            <a:ext cx="6409440" cy="905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203645"/>
                </a:solidFill>
                <a:latin typeface="Arial"/>
                <a:ea typeface="Arial"/>
                <a:cs typeface="Arial"/>
                <a:sym typeface="Arial"/>
              </a:rPr>
              <a:t>Examiner le temps et les achats reportés avant d’attribuer l’écart à la promotion.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0" name="Google Shape;1140;p58"/>
          <p:cNvSpPr/>
          <p:nvPr/>
        </p:nvSpPr>
        <p:spPr>
          <a:xfrm>
            <a:off x="749880" y="5852160"/>
            <a:ext cx="10698120" cy="529920"/>
          </a:xfrm>
          <a:prstGeom prst="roundRect">
            <a:avLst>
              <a:gd fmla="val 16667" name="adj"/>
            </a:avLst>
          </a:prstGeom>
          <a:solidFill>
            <a:srgbClr val="F1F5F7"/>
          </a:solidFill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1" name="Google Shape;1141;p58"/>
          <p:cNvSpPr/>
          <p:nvPr/>
        </p:nvSpPr>
        <p:spPr>
          <a:xfrm>
            <a:off x="932760" y="5897880"/>
            <a:ext cx="10332360" cy="42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Même un essai bien conduit répond à la question sur cette promotion, pas à celle sur l’âge ou la distance.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2" name="Google Shape;1142;p58"/>
          <p:cNvSpPr/>
          <p:nvPr/>
        </p:nvSpPr>
        <p:spPr>
          <a:xfrm>
            <a:off x="731520" y="6574680"/>
            <a:ext cx="7954920" cy="16416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OLIVIER DELRIEU  /  06.10.2026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3" name="Google Shape;1143;p58"/>
          <p:cNvSpPr/>
          <p:nvPr/>
        </p:nvSpPr>
        <p:spPr>
          <a:xfrm>
            <a:off x="10625400" y="6546960"/>
            <a:ext cx="840960" cy="219240"/>
          </a:xfrm>
          <a:prstGeom prst="rect">
            <a:avLst/>
          </a:prstGeom>
          <a:noFill/>
          <a:ln>
            <a:noFill/>
          </a:ln>
        </p:spPr>
        <p:txBody>
          <a:bodyPr anchorCtr="0" anchor="t" bIns="18350" lIns="18350" spcFirstLastPara="1" rIns="18350" wrap="square" tIns="18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26777"/>
                </a:solidFill>
                <a:latin typeface="Arial"/>
                <a:ea typeface="Arial"/>
                <a:cs typeface="Arial"/>
                <a:sym typeface="Arial"/>
              </a:rPr>
              <a:t>58 / 58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>Olivier Delrieu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