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VvTnPEhCk3CJJoxwxlrwNVEZw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19CA84-2429-48E1-83E8-C145EBBE092D}">
  <a:tblStyle styleId="{2219CA84-2429-48E1-83E8-C145EBBE09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22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2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2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23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2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2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2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29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29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30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30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3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3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3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1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32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3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3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3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3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33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33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sz="1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/>
          <p:nvPr/>
        </p:nvSpPr>
        <p:spPr>
          <a:xfrm>
            <a:off x="658440" y="567000"/>
            <a:ext cx="2788560" cy="347040"/>
          </a:xfrm>
          <a:prstGeom prst="roundRect">
            <a:avLst>
              <a:gd fmla="val 16667" name="adj"/>
            </a:avLst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8440" y="576000"/>
            <a:ext cx="2788560" cy="27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VENDREDI 18 SEPTEMBRE 2026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58440" y="1389960"/>
            <a:ext cx="10743840" cy="73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 descriptif à « sont-elles différentes ? »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94800" y="3154680"/>
            <a:ext cx="10058040" cy="44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Revue du projet • distributions par groupe • deux Gaussiennes</a:t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94800" y="4727520"/>
            <a:ext cx="10743840" cy="18000"/>
          </a:xfrm>
          <a:prstGeom prst="rect">
            <a:avLst/>
          </a:prstGeom>
          <a:solidFill>
            <a:srgbClr val="486581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694800" y="5029200"/>
            <a:ext cx="1005804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Observer  →  décider  →  coder  →  expliquer</a:t>
            </a:r>
            <a:endParaRPr b="0" sz="2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502920" y="6537960"/>
            <a:ext cx="4114440" cy="24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9372600" y="6537960"/>
            <a:ext cx="2285640" cy="24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1/31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594360" y="438840"/>
            <a:ext cx="10881000" cy="5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Une analyse défendable laisse quatre traces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508760" y="1005840"/>
            <a:ext cx="9783720" cy="30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Nous comparons les raisonnements, pas seulement les chiffres finaux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40080" y="1691640"/>
            <a:ext cx="255996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40080" y="1691640"/>
            <a:ext cx="2559960" cy="127800"/>
          </a:xfrm>
          <a:prstGeom prst="rect">
            <a:avLst/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41320" y="2084760"/>
            <a:ext cx="2157480" cy="42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Population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841320" y="2999160"/>
            <a:ext cx="2157480" cy="11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La ligne, le périmètre et le groupe sont nommés.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429000" y="1691640"/>
            <a:ext cx="255996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3429000" y="1691640"/>
            <a:ext cx="2559960" cy="127800"/>
          </a:xfrm>
          <a:prstGeom prst="rect">
            <a:avLst/>
          </a:prstGeom>
          <a:solidFill>
            <a:srgbClr val="6C63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630240" y="2084760"/>
            <a:ext cx="2157480" cy="42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Décisions QC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630240" y="2999160"/>
            <a:ext cx="2157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Chaque action est reliée à une règle vérifiable.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217920" y="1691640"/>
            <a:ext cx="255996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217920" y="1691640"/>
            <a:ext cx="2559960" cy="12780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419160" y="2084760"/>
            <a:ext cx="2157480" cy="42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Preuves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419160" y="2999160"/>
            <a:ext cx="2157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Tableaux et figures soutiennent la même </a:t>
            </a:r>
            <a:r>
              <a:rPr b="1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histoire</a:t>
            </a: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006840" y="1691640"/>
            <a:ext cx="255996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9006840" y="1691640"/>
            <a:ext cx="2559960" cy="127800"/>
          </a:xfrm>
          <a:prstGeom prst="rect">
            <a:avLst/>
          </a:prstGeom>
          <a:solidFill>
            <a:srgbClr val="F2C14E"/>
          </a:solidFill>
          <a:ln cap="flat" cmpd="sng" w="9525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9208080" y="2084760"/>
            <a:ext cx="2157480" cy="42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Frontière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208080" y="2999160"/>
            <a:ext cx="2157480" cy="118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Observation, explication et </a:t>
            </a:r>
            <a:r>
              <a:rPr b="1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généralisation</a:t>
            </a: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 restent séparées.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02920" y="6537960"/>
            <a:ext cx="4114440" cy="24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372600" y="6537960"/>
            <a:ext cx="2285640" cy="24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6/31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658440" y="530280"/>
            <a:ext cx="1691280" cy="347040"/>
          </a:xfrm>
          <a:prstGeom prst="roundRect">
            <a:avLst>
              <a:gd fmla="val 16667" name="adj"/>
            </a:avLst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58440" y="539640"/>
            <a:ext cx="169128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PAUSE • 01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58440" y="1143000"/>
            <a:ext cx="1069812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Votre conclusion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85800" y="2057400"/>
            <a:ext cx="10469520" cy="7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Choisissez un résultat que vous pouvez défendre sans montrer tout votre code.</a:t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76800" y="3182040"/>
            <a:ext cx="254412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3196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831960" y="3922920"/>
            <a:ext cx="22330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440520" y="3182040"/>
            <a:ext cx="254412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59604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596040" y="3922920"/>
            <a:ext cx="22330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Preuve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204240" y="3182040"/>
            <a:ext cx="254412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35976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359760" y="3922920"/>
            <a:ext cx="22330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Limite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967960" y="3182040"/>
            <a:ext cx="254412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12348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9123480" y="3922920"/>
            <a:ext cx="22330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Prochaine vérification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5/31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Ce que le journal QC doit rendre explicite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Trois défauts de qualité ; une valeur rare ne constitue pas un quatrième défaut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8" name="Google Shape;148;p5"/>
          <p:cNvGraphicFramePr/>
          <p:nvPr/>
        </p:nvGraphicFramePr>
        <p:xfrm>
          <a:off x="694800" y="1847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{2219CA84-2429-48E1-83E8-C145EBBE092D}</a:tableStyleId>
              </a:tblPr>
              <a:tblGrid>
                <a:gridCol w="3703325"/>
                <a:gridCol w="4251950"/>
                <a:gridCol w="2834650"/>
              </a:tblGrid>
              <a:tr h="8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constat</a:t>
                      </a:r>
                      <a:endParaRPr b="0" sz="1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de référence</a:t>
                      </a:r>
                      <a:endParaRPr b="0" sz="1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effet sur l’effectif</a:t>
                      </a:r>
                      <a:endParaRPr b="0" sz="1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ticket présent deux fois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garder une seule copie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−1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durée négative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exclure ; vraie durée inconnue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−1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étiquette « Email » avec espaces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corriger en email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trois durées rares mais plausibles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conserver et discuter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5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8/31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Résumés par groupe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Lisez ensemble effectif, centre et dispersion ; les durées sont en minutes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6"/>
          <p:cNvGraphicFramePr/>
          <p:nvPr/>
        </p:nvGraphicFramePr>
        <p:xfrm>
          <a:off x="438840" y="1874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{2219CA84-2429-48E1-83E8-C145EBBE092D}</a:tableStyleId>
              </a:tblPr>
              <a:tblGrid>
                <a:gridCol w="1508750"/>
                <a:gridCol w="822950"/>
                <a:gridCol w="1554475"/>
                <a:gridCol w="1554475"/>
                <a:gridCol w="1554475"/>
                <a:gridCol w="1417325"/>
                <a:gridCol w="1417325"/>
                <a:gridCol w="1490400"/>
              </a:tblGrid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moyenne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médiane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écart-type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b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2A43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phone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599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89.7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89.3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18.8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76.8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101.8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158.0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599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89.9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82.4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42.6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60.3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108.8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320.1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0F7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600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91.8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70.5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63.6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44.1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122.9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100" u="none" cap="none" strike="noStrike">
                          <a:solidFill>
                            <a:srgbClr val="243B5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418.0</a:t>
                      </a:r>
                      <a:endParaRPr b="0" sz="2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6"/>
          <p:cNvSpPr/>
          <p:nvPr/>
        </p:nvSpPr>
        <p:spPr>
          <a:xfrm>
            <a:off x="704160" y="5623560"/>
            <a:ext cx="10771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Question : quelle colonne change le plus votre lecture métier ?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9/31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forme apparaît quand les groupes sont séparés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Trois panneaux • mêmes axes • classes de 10 min • observations en bas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ject_histograms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520" y="1783080"/>
            <a:ext cx="10770120" cy="3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896040" y="5577840"/>
            <a:ext cx="10378080" cy="54828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9525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69920" y="5586840"/>
            <a:ext cx="100306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Observez le pic, la symétrie et la queue. La densité lissée reste une vue optionnelle.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11/31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boxplot résume — il n'explique pas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Les points au-delà des moustaches demandent du contexte, pas une suppression automatique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ject_boxplots.png" id="181" name="Google Shape;1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520" y="1783080"/>
            <a:ext cx="10212480" cy="3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896040" y="5577840"/>
            <a:ext cx="10378080" cy="54828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9525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69920" y="5586840"/>
            <a:ext cx="100306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même seuil de 180 minutes n'occupe pas la même position dans chaque groupe.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12/31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Fréquences observées à 180 minutes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Numérateur et dénominateur sont calculés à l’intérieur de chaque canal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requences_queue.png"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960" y="1783080"/>
            <a:ext cx="10191240" cy="3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896040" y="5577840"/>
            <a:ext cx="10378080" cy="54828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9525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1069920" y="5586840"/>
            <a:ext cx="100306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 sont des fréquences de cet échantillon, pas encore des probabilités théoriques.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13/31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C63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658440" y="557640"/>
            <a:ext cx="1691280" cy="347040"/>
          </a:xfrm>
          <a:prstGeom prst="roundRect">
            <a:avLst>
              <a:gd fmla="val 16667" name="adj"/>
            </a:avLst>
          </a:prstGeom>
          <a:solidFill>
            <a:srgbClr val="F2C14E"/>
          </a:solidFill>
          <a:ln cap="flat" cmpd="sng" w="9525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658440" y="567000"/>
            <a:ext cx="169128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RÉVÉLATION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58440" y="1307520"/>
            <a:ext cx="10652400" cy="80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Trois groupes, trois mécanismes simulés</a:t>
            </a:r>
            <a:endParaRPr b="0" sz="3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94800" y="2404800"/>
            <a:ext cx="1014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u="none" strike="noStrike">
                <a:solidFill>
                  <a:srgbClr val="E8E6FF"/>
                </a:solidFill>
                <a:latin typeface="Arial"/>
                <a:ea typeface="Arial"/>
                <a:cs typeface="Arial"/>
                <a:sym typeface="Arial"/>
              </a:rPr>
              <a:t>Vous avez d'abord décrit les données sans connaître leur générateur.</a:t>
            </a:r>
            <a:endParaRPr b="0" sz="2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86240" y="3282840"/>
            <a:ext cx="10560960" cy="1416960"/>
          </a:xfrm>
          <a:prstGeom prst="roundRect">
            <a:avLst>
              <a:gd fmla="val 16667" name="adj"/>
            </a:avLst>
          </a:prstGeom>
          <a:solidFill>
            <a:srgbClr val="554FCA"/>
          </a:solidFill>
          <a:ln cap="flat" cmpd="sng" w="9525">
            <a:solidFill>
              <a:srgbClr val="938EF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033200" y="3639240"/>
            <a:ext cx="10076400" cy="61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C'est la bonne direction : observer → proposer un modèle → vérifier ce qu'il explique.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13160" y="5394960"/>
            <a:ext cx="10698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D8D5FF"/>
                </a:solidFill>
                <a:latin typeface="Arial"/>
                <a:ea typeface="Arial"/>
                <a:cs typeface="Arial"/>
                <a:sym typeface="Arial"/>
              </a:rPr>
              <a:t>Un modèle est une simplification utile, pas l'étiquette vraie d'un histogramme.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15/31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Les mécanismes générateurs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Barres : échantillon avec trois valeurs rares ajoutées • courbes : modèles de départ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odel_reveal.png"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80" y="1783080"/>
            <a:ext cx="10769400" cy="3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/>
          <p:nvPr/>
        </p:nvSpPr>
        <p:spPr>
          <a:xfrm>
            <a:off x="896040" y="5577840"/>
            <a:ext cx="10378080" cy="54828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9525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1069920" y="5586840"/>
            <a:ext cx="100306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Une forme suggère un modèle ; ici, nous connaissons le générateur de chaque groupe.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16/31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phone : une forme approximativement normale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Générateur simulé : Normale(moyenne = 90, écart-type = 18)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64008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40080" y="1691640"/>
            <a:ext cx="3489480" cy="127800"/>
          </a:xfrm>
          <a:prstGeom prst="rect">
            <a:avLst/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84132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4132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Valeurs théoriques sur toute la droite ; ici les valeurs négatives sont négligeables.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3585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358520" y="1691640"/>
            <a:ext cx="3489480" cy="127800"/>
          </a:xfrm>
          <a:prstGeom prst="rect">
            <a:avLst/>
          </a:prstGeom>
          <a:solidFill>
            <a:srgbClr val="6C63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55976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Forme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5976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Approximativement symétrique autour de 90 minutes.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80773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8077320" y="1691640"/>
            <a:ext cx="3489480" cy="12780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27820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Repères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827820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moyenne ≈ médiane ; dispersion pilotée par l'écart-type.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17/31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chat : une forme lognormale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Générateur simulé : Lognormale(moyenne_log = log(80), écart_type_log = 0,45)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4008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40080" y="1691640"/>
            <a:ext cx="3489480" cy="127800"/>
          </a:xfrm>
          <a:prstGeom prst="rect">
            <a:avLst/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84132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4132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Valeurs strictement positives.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3585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358520" y="1691640"/>
            <a:ext cx="3489480" cy="127800"/>
          </a:xfrm>
          <a:prstGeom prst="rect">
            <a:avLst/>
          </a:prstGeom>
          <a:solidFill>
            <a:srgbClr val="6C63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455976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Forme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55976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Beaucoup de valeurs modérées, quelques valeurs beaucoup plus grandes.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0773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077320" y="1691640"/>
            <a:ext cx="3489480" cy="12780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827820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Repères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827820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moyenne &gt; médiane ; la queue influence fortement l'écart-type et le maximum.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18/31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email : une forme exponentielle décalée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Générateur simulé : 25 + Exponentielle(échelle = 65)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64008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640080" y="1691640"/>
            <a:ext cx="3489480" cy="127800"/>
          </a:xfrm>
          <a:prstGeom prst="rect">
            <a:avLst/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4132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84132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Aucune valeur sous 25 minutes dans le mécanisme propre.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43585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4358520" y="1691640"/>
            <a:ext cx="3489480" cy="127800"/>
          </a:xfrm>
          <a:prstGeom prst="rect">
            <a:avLst/>
          </a:prstGeom>
          <a:solidFill>
            <a:srgbClr val="6C63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455976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Forme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455976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Fréquence élevée près du minimum, puis longue décroissance.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8077320" y="1691640"/>
            <a:ext cx="3489480" cy="425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8077320" y="1691640"/>
            <a:ext cx="3489480" cy="12780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8278200" y="2084760"/>
            <a:ext cx="308736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Repères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8278200" y="2999160"/>
            <a:ext cx="3087360" cy="2285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moyenne &gt; médiane ; une queue très longue reste plausible.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19/31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Échantillon observé et modèle : deux objets différents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 modèle aide à raisonner au-delà des lignes, avec des hypothèses explicites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749880" y="1691640"/>
            <a:ext cx="5028840" cy="4160160"/>
          </a:xfrm>
          <a:prstGeom prst="roundRect">
            <a:avLst>
              <a:gd fmla="val 16667" name="adj"/>
            </a:avLst>
          </a:prstGeom>
          <a:solidFill>
            <a:srgbClr val="DDF1F1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005840" y="1965960"/>
            <a:ext cx="1316520" cy="347040"/>
          </a:xfrm>
          <a:prstGeom prst="roundRect">
            <a:avLst>
              <a:gd fmla="val 16667" name="adj"/>
            </a:avLst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005840" y="1974960"/>
            <a:ext cx="131652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OBSERVÉ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996840" y="2697480"/>
            <a:ext cx="4434480" cy="25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1 798 lignes analysables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fréquences empiriques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statistiques et figures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variabilité de l'échantillon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409800" y="1691640"/>
            <a:ext cx="5028840" cy="4160160"/>
          </a:xfrm>
          <a:prstGeom prst="roundRect">
            <a:avLst>
              <a:gd fmla="val 16667" name="adj"/>
            </a:avLst>
          </a:prstGeom>
          <a:solidFill>
            <a:srgbClr val="E8E6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6666120" y="1965960"/>
            <a:ext cx="1243080" cy="347040"/>
          </a:xfrm>
          <a:prstGeom prst="roundRect">
            <a:avLst>
              <a:gd fmla="val 16667" name="adj"/>
            </a:avLst>
          </a:prstGeom>
          <a:solidFill>
            <a:srgbClr val="6C63FF"/>
          </a:solidFill>
          <a:ln cap="flat" cmpd="sng" w="9525">
            <a:solidFill>
              <a:srgbClr val="6C63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666120" y="1974960"/>
            <a:ext cx="124308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6656760" y="2697480"/>
            <a:ext cx="4434480" cy="255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famille et paramètres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probabilités théoriques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hypothèses simplificatrices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21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•  prédictions à confronter</a:t>
            </a:r>
            <a:endParaRPr b="0" sz="2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760720" y="3346560"/>
            <a:ext cx="6397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none" strike="noStrike">
                <a:solidFill>
                  <a:srgbClr val="FF5A5F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sz="3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20/31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658440" y="557640"/>
            <a:ext cx="2148480" cy="347040"/>
          </a:xfrm>
          <a:prstGeom prst="roundRect">
            <a:avLst>
              <a:gd fmla="val 16667" name="adj"/>
            </a:avLst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58440" y="567000"/>
            <a:ext cx="214848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NOUVEAU PROBLÈME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58440" y="1298520"/>
            <a:ext cx="10698120" cy="776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Deux groupes, deux formes gaussiennes</a:t>
            </a:r>
            <a:endParaRPr b="0" sz="3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94800" y="2441520"/>
            <a:ext cx="101494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Les centres observés ne coïncident pas exactement.</a:t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941760" y="3355920"/>
            <a:ext cx="10314000" cy="13438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1225440" y="3675960"/>
            <a:ext cx="975636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Les populations sont-elles différentes — ou voyons-nous une fluctuation d'échantillonnage ?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24/31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échantillons gaussiens qui se chevauchent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Même n = 35 ; une moyenne observée par échantillon ; paramètres de population inconnus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aussian_samples.png" id="323" name="Google Shape;3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240" y="1783080"/>
            <a:ext cx="10264680" cy="3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7"/>
          <p:cNvSpPr/>
          <p:nvPr/>
        </p:nvSpPr>
        <p:spPr>
          <a:xfrm>
            <a:off x="896040" y="5577840"/>
            <a:ext cx="10378080" cy="54828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9525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069920" y="5586840"/>
            <a:ext cx="100306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écart est visible. Sa seule présence ne dit pas encore comment l'interpréter.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25/31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/>
          <p:nvPr/>
        </p:nvSpPr>
        <p:spPr>
          <a:xfrm>
            <a:off x="658440" y="530280"/>
            <a:ext cx="1691280" cy="347040"/>
          </a:xfrm>
          <a:prstGeom prst="roundRect">
            <a:avLst>
              <a:gd fmla="val 16667" name="adj"/>
            </a:avLst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658440" y="539640"/>
            <a:ext cx="169128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PAUSE • 05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658440" y="1143000"/>
            <a:ext cx="10698120" cy="74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Sont-elles différentes ?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85800" y="2057400"/>
            <a:ext cx="10469520" cy="7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 u="none" strike="noStrike">
                <a:solidFill>
                  <a:srgbClr val="D9E2EC"/>
                </a:solidFill>
                <a:latin typeface="Arial"/>
                <a:ea typeface="Arial"/>
                <a:cs typeface="Arial"/>
                <a:sym typeface="Arial"/>
              </a:rPr>
              <a:t>Votez OUI / NON / INFORMATION INSUFFISANTE, puis défendez votre réponse.</a:t>
            </a:r>
            <a:endParaRPr b="0" sz="2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676800" y="3182040"/>
            <a:ext cx="346536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83196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831960" y="3922920"/>
            <a:ext cx="315432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Citez l'écart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4361760" y="3182040"/>
            <a:ext cx="346536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451728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4517280" y="3922920"/>
            <a:ext cx="315432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Citez le chevauchement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8046720" y="3182040"/>
            <a:ext cx="3465360" cy="2148480"/>
          </a:xfrm>
          <a:prstGeom prst="roundRect">
            <a:avLst>
              <a:gd fmla="val 16667" name="adj"/>
            </a:avLst>
          </a:prstGeom>
          <a:solidFill>
            <a:srgbClr val="183B56"/>
          </a:solidFill>
          <a:ln cap="flat" cmpd="sng" w="9525">
            <a:solidFill>
              <a:srgbClr val="48658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8202240" y="3401640"/>
            <a:ext cx="411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2C1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sz="2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8202240" y="3922920"/>
            <a:ext cx="315432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Nommez ce qui manque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26/31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/>
          <p:nvPr/>
        </p:nvSpPr>
        <p:spPr>
          <a:xfrm>
            <a:off x="594360" y="438840"/>
            <a:ext cx="10881000" cy="69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histoires restent compatibles avec l'image</a:t>
            </a:r>
            <a:endParaRPr b="0" sz="3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594360" y="1188720"/>
            <a:ext cx="749520" cy="72720"/>
          </a:xfrm>
          <a:prstGeom prst="rect">
            <a:avLst/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28075" lIns="90000" spcFirstLastPara="1" rIns="90000" wrap="square" tIns="280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1508760" y="1005840"/>
            <a:ext cx="9783720" cy="6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question porte sur les populations ; la figure ne montre que deux échantillons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749880" y="1719000"/>
            <a:ext cx="5028840" cy="4023000"/>
          </a:xfrm>
          <a:prstGeom prst="roundRect">
            <a:avLst>
              <a:gd fmla="val 16667" name="adj"/>
            </a:avLst>
          </a:prstGeom>
          <a:solidFill>
            <a:srgbClr val="DDF1F1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1005840" y="1984320"/>
            <a:ext cx="1444320" cy="347040"/>
          </a:xfrm>
          <a:prstGeom prst="roundRect">
            <a:avLst>
              <a:gd fmla="val 16667" name="adj"/>
            </a:avLst>
          </a:prstGeom>
          <a:solidFill>
            <a:srgbClr val="087E8B"/>
          </a:solidFill>
          <a:ln cap="flat" cmpd="sng" w="9525">
            <a:solidFill>
              <a:srgbClr val="087E8B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1005840" y="1993320"/>
            <a:ext cx="144432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HISTOIRE 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005840" y="2706480"/>
            <a:ext cx="44161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Même processus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1005840" y="3447360"/>
            <a:ext cx="438876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L'écart observé vient de la variabilité entre échantillons.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6409800" y="1719000"/>
            <a:ext cx="5028840" cy="4023000"/>
          </a:xfrm>
          <a:prstGeom prst="roundRect">
            <a:avLst>
              <a:gd fmla="val 16667" name="adj"/>
            </a:avLst>
          </a:prstGeom>
          <a:solidFill>
            <a:srgbClr val="FFE5E3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6666120" y="1984320"/>
            <a:ext cx="1444320" cy="347040"/>
          </a:xfrm>
          <a:prstGeom prst="roundRect">
            <a:avLst>
              <a:gd fmla="val 16667" name="adj"/>
            </a:avLst>
          </a:prstGeom>
          <a:solidFill>
            <a:srgbClr val="FF5A5F"/>
          </a:solidFill>
          <a:ln cap="flat" cmpd="sng" w="9525">
            <a:solidFill>
              <a:srgbClr val="FF5A5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6666120" y="1993320"/>
            <a:ext cx="144432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HISTOIRE B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6666120" y="2706480"/>
            <a:ext cx="44161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Processus différents</a:t>
            </a:r>
            <a:endParaRPr b="0" sz="2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6666120" y="3447360"/>
            <a:ext cx="4388760" cy="95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L'écart observé reflète une différence réelle entre populations.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713160" y="5934600"/>
            <a:ext cx="10752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6C63FF"/>
                </a:solidFill>
                <a:latin typeface="Arial"/>
                <a:ea typeface="Arial"/>
                <a:cs typeface="Arial"/>
                <a:sym typeface="Arial"/>
              </a:rPr>
              <a:t>Il nous faut une règle qui quantifie la compatibilité des données avec ces histoires.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27D98"/>
                </a:solidFill>
                <a:latin typeface="Arial"/>
                <a:ea typeface="Arial"/>
                <a:cs typeface="Arial"/>
                <a:sym typeface="Arial"/>
              </a:rPr>
              <a:t>Vendredi  ·  27/31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7E8B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/>
          <p:nvPr/>
        </p:nvSpPr>
        <p:spPr>
          <a:xfrm>
            <a:off x="658440" y="548640"/>
            <a:ext cx="2395440" cy="347040"/>
          </a:xfrm>
          <a:prstGeom prst="roundRect">
            <a:avLst>
              <a:gd fmla="val 16667" name="adj"/>
            </a:avLst>
          </a:prstGeom>
          <a:solidFill>
            <a:srgbClr val="F2C14E"/>
          </a:solidFill>
          <a:ln cap="flat" cmpd="sng" w="9525">
            <a:solidFill>
              <a:srgbClr val="F2C14E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58440" y="557640"/>
            <a:ext cx="2395440" cy="2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SEMAINE PROCHAINE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658440" y="1280160"/>
            <a:ext cx="10560960" cy="749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Transformer la question en méthode formelle</a:t>
            </a:r>
            <a:endParaRPr b="0" sz="3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676800" y="2761560"/>
            <a:ext cx="2541600" cy="113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822960" y="3054240"/>
            <a:ext cx="2248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087E8B"/>
                </a:solidFill>
                <a:latin typeface="Arial"/>
                <a:ea typeface="Arial"/>
                <a:cs typeface="Arial"/>
                <a:sym typeface="Arial"/>
              </a:rPr>
              <a:t>H0 / H1</a:t>
            </a:r>
            <a:endParaRPr b="0" sz="1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3511440" y="2761560"/>
            <a:ext cx="2541600" cy="113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3657600" y="3054240"/>
            <a:ext cx="2248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087E8B"/>
                </a:solidFill>
                <a:latin typeface="Arial"/>
                <a:ea typeface="Arial"/>
                <a:cs typeface="Arial"/>
                <a:sym typeface="Arial"/>
              </a:rPr>
              <a:t>Statistique de test</a:t>
            </a:r>
            <a:endParaRPr b="0" sz="1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6346080" y="2761560"/>
            <a:ext cx="2541600" cy="113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6492240" y="3054240"/>
            <a:ext cx="2248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087E8B"/>
                </a:solidFill>
                <a:latin typeface="Arial"/>
                <a:ea typeface="Arial"/>
                <a:cs typeface="Arial"/>
                <a:sym typeface="Arial"/>
              </a:rPr>
              <a:t>Distribution d'échantillonnage</a:t>
            </a:r>
            <a:endParaRPr b="0" sz="1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9180720" y="2761560"/>
            <a:ext cx="2541600" cy="1133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9326880" y="3054240"/>
            <a:ext cx="22489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087E8B"/>
                </a:solidFill>
                <a:latin typeface="Arial"/>
                <a:ea typeface="Arial"/>
                <a:cs typeface="Arial"/>
                <a:sym typeface="Arial"/>
              </a:rPr>
              <a:t>p-value</a:t>
            </a:r>
            <a:endParaRPr b="0" sz="19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713160" y="4489560"/>
            <a:ext cx="1069812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Nous définirons, calculerons et interpréterons ces outils au prochain cours.</a:t>
            </a:r>
            <a:endParaRPr b="0" sz="2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713160" y="5669280"/>
            <a:ext cx="106981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none" strike="noStrike">
                <a:solidFill>
                  <a:srgbClr val="E7F7F7"/>
                </a:solidFill>
                <a:latin typeface="Arial"/>
                <a:ea typeface="Arial"/>
                <a:cs typeface="Arial"/>
                <a:sym typeface="Arial"/>
              </a:rPr>
              <a:t>Aujourd'hui, la bonne réponse est une question mieux posée — pas un verdict improvisé.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502920" y="6537960"/>
            <a:ext cx="41144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Garage404 • données simulées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9372600" y="6537960"/>
            <a:ext cx="2285640" cy="18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45700" spcFirstLastPara="1" rIns="45700" wrap="square" tIns="450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B8C5D1"/>
                </a:solidFill>
                <a:latin typeface="Arial"/>
                <a:ea typeface="Arial"/>
                <a:cs typeface="Arial"/>
                <a:sym typeface="Arial"/>
              </a:rPr>
              <a:t>Vendredi  ·  30/31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