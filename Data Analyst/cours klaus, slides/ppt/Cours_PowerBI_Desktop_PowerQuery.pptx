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6858000" cx="12192000"/>
  <p:notesSz cx="6858000" cy="12192000"/>
  <p:embeddedFontLst>
    <p:embeddedFont>
      <p:font typeface="Arial Black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h8tV+U0mPmYMX942Tb71CNGH4y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3" name="Google Shape;57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1" name="Google Shape;641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8" name="Google Shape;698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3" name="Google Shape;753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4" name="Google Shape;804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2" name="Google Shape;822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2" name="Google Shape;842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4" name="Google Shape;864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4" name="Google Shape;884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8" name="Google Shape;908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A4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241280" y="3474720"/>
            <a:ext cx="3657600" cy="3657600"/>
          </a:xfrm>
          <a:prstGeom prst="ellipse">
            <a:avLst/>
          </a:prstGeom>
          <a:solidFill>
            <a:srgbClr val="02C39A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777240" y="182880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1" lang="en-US" sz="4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Conception de Dashboard</a:t>
            </a:r>
            <a:endParaRPr sz="4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1" lang="en-US" sz="4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avec Power BI</a:t>
            </a:r>
            <a:endParaRPr sz="4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822960" y="361188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Prise en main de Power BI Desktop et préparation des données avec Power Query</a:t>
            </a:r>
            <a:endParaRPr sz="17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4663440"/>
            <a:ext cx="1703070" cy="640080"/>
          </a:xfrm>
          <a:prstGeom prst="roundRect">
            <a:avLst>
              <a:gd fmla="val 8571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68680" y="4663440"/>
            <a:ext cx="16116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2526030" y="4663440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846070" y="4663440"/>
            <a:ext cx="1703070" cy="640080"/>
          </a:xfrm>
          <a:prstGeom prst="roundRect">
            <a:avLst>
              <a:gd fmla="val 8571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2891790" y="4663440"/>
            <a:ext cx="16116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 Query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4549140" y="4663440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869180" y="4663440"/>
            <a:ext cx="1703070" cy="640080"/>
          </a:xfrm>
          <a:prstGeom prst="roundRect">
            <a:avLst>
              <a:gd fmla="val 8571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4914900" y="4663440"/>
            <a:ext cx="16116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Modèle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6572250" y="4663440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892290" y="4663440"/>
            <a:ext cx="1703070" cy="640080"/>
          </a:xfrm>
          <a:prstGeom prst="roundRect">
            <a:avLst>
              <a:gd fmla="val 8571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6938010" y="4663440"/>
            <a:ext cx="16116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Dashboard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57912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Objectifs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192024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sz="1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1143000" y="1938528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500"/>
              <a:buFont typeface="Arial Black"/>
              <a:buNone/>
            </a:pPr>
            <a:r>
              <a:rPr lang="en-US" sz="15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Comprendre l'écosystème Power BI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260604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sz="1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43000" y="2624328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500"/>
              <a:buFont typeface="Arial Black"/>
              <a:buNone/>
            </a:pPr>
            <a:r>
              <a:rPr lang="en-US" sz="15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Naviguer efficacement dans Power BI Desktop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329184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sz="1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143000" y="3310128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500"/>
              <a:buFont typeface="Arial Black"/>
              <a:buNone/>
            </a:pPr>
            <a:r>
              <a:rPr lang="en-US" sz="15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Importer des données depuis plusieurs sources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397764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sz="1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1143000" y="3995928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500"/>
              <a:buFont typeface="Arial Black"/>
              <a:buNone/>
            </a:pPr>
            <a:r>
              <a:rPr lang="en-US" sz="15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Nettoyer, transformer et structurer les données avec Power Query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466344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sz="1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1143000" y="4681728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500"/>
              <a:buFont typeface="Arial Black"/>
              <a:buNone/>
            </a:pPr>
            <a:r>
              <a:rPr lang="en-US" sz="15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Comprendre les bases du langage M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534924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sz="1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1143000" y="5367528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500"/>
              <a:buFont typeface="Arial Black"/>
              <a:buNone/>
            </a:pPr>
            <a:r>
              <a:rPr lang="en-US" sz="15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Produire une donnée propre, prête pour la modélisation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1 · ÉCOSYSTÈME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Qu'est-ce que Power BI ?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804672" y="2057400"/>
            <a:ext cx="50474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Business Intelligence : pratiques pour transformer la donnée en information exploitable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299923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804672" y="2880360"/>
            <a:ext cx="50474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Data Analytics : l'analyse au service de la décision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8640" y="382219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804672" y="3703320"/>
            <a:ext cx="50474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Power BI : l'outil Microsoft qui couvre préparation, modélisation et visualisation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309360" y="2743200"/>
            <a:ext cx="1554480" cy="1005840"/>
          </a:xfrm>
          <a:prstGeom prst="roundRect">
            <a:avLst>
              <a:gd fmla="val 545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6355080" y="274320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Donnée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brute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7863840" y="2743200"/>
            <a:ext cx="320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183880" y="2743200"/>
            <a:ext cx="1554480" cy="1005840"/>
          </a:xfrm>
          <a:prstGeom prst="roundRect">
            <a:avLst>
              <a:gd fmla="val 545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8229600" y="274320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Information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9738360" y="2743200"/>
            <a:ext cx="320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058400" y="2743200"/>
            <a:ext cx="1554480" cy="1005840"/>
          </a:xfrm>
          <a:prstGeom prst="roundRect">
            <a:avLst>
              <a:gd fmla="val 545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10104120" y="274320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Décision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48640" y="5120640"/>
            <a:ext cx="10789920" cy="502920"/>
          </a:xfrm>
          <a:prstGeom prst="roundRect">
            <a:avLst>
              <a:gd fmla="val 10909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1 · ÉCOSYSTÈME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L'écosystème Power BI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1965960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731520" y="214884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 BI Desktop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731520" y="25603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6F3"/>
              </a:buClr>
              <a:buSzPts val="1150"/>
              <a:buFont typeface="Arial Black"/>
              <a:buNone/>
            </a:pPr>
            <a:r>
              <a:rPr lang="en-US" sz="1150">
                <a:solidFill>
                  <a:srgbClr val="E7F6F3"/>
                </a:solidFill>
                <a:latin typeface="Arial Black"/>
                <a:ea typeface="Arial Black"/>
                <a:cs typeface="Arial Black"/>
                <a:sym typeface="Arial Black"/>
              </a:rPr>
              <a:t>Conception locale des rapports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114800" y="1965960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4297680" y="214884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Power BI Service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4297680" y="25603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150"/>
              <a:buFont typeface="Arial Black"/>
              <a:buNone/>
            </a:pPr>
            <a:r>
              <a:rPr lang="en-US" sz="115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Partage et collaboration en ligne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680960" y="1965960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7863840" y="214884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Power Query</a:t>
            </a:r>
            <a:endParaRPr sz="1400">
              <a:solidFill>
                <a:schemeClr val="lt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7863840" y="25603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Arial Black"/>
              <a:buNone/>
            </a:pPr>
            <a:r>
              <a:rPr lang="en-US" sz="115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Préparation des données</a:t>
            </a:r>
            <a:endParaRPr sz="1150">
              <a:solidFill>
                <a:schemeClr val="lt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48640" y="3520440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731520" y="37033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Power BI Mobile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731520" y="411480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150"/>
              <a:buFont typeface="Arial Black"/>
              <a:buNone/>
            </a:pPr>
            <a:r>
              <a:rPr lang="en-US" sz="115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Consultation des rapports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114800" y="3520440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4297680" y="37033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Gateway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4297680" y="411480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150"/>
              <a:buFont typeface="Arial Black"/>
              <a:buNone/>
            </a:pPr>
            <a:r>
              <a:rPr lang="en-US" sz="115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Passerelle vers des données on-premise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1 · ÉCOSYSTÈME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Le cycle de vie d'un projet Power BI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8640" y="237744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594360" y="2377440"/>
            <a:ext cx="119557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Sources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1835658" y="237744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945386" y="237744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1991106" y="2377440"/>
            <a:ext cx="119557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Importation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3232404" y="237744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342132" y="237744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3387852" y="2377440"/>
            <a:ext cx="119557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Query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4629150" y="237744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738878" y="237744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4784598" y="2377440"/>
            <a:ext cx="119557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Modèle de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données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6025896" y="237744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135624" y="237744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6181344" y="2377440"/>
            <a:ext cx="119557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Visuali-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sation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7422642" y="237744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532370" y="237744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7578090" y="2377440"/>
            <a:ext cx="119557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Publication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8819388" y="237744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929116" y="237744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8974836" y="2377440"/>
            <a:ext cx="119557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Partage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10216134" y="237744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0325862" y="237744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0371582" y="2377440"/>
            <a:ext cx="119557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Actuali-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sation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48640" y="39319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i="1"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Ce module couvre les 3 premières étapes (en couleur).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2 · POWER BI DESKTOP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Qu'est-ce que Power BI Desktop ?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226771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804672" y="2148840"/>
            <a:ext cx="55046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Application gratuite disponible sous Windows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48640" y="290779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804672" y="2788920"/>
            <a:ext cx="55046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Environnement principal de conception du Data Analyst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48640" y="354787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804672" y="3429000"/>
            <a:ext cx="55046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Rassemble import, préparation, modélisation de base et création des rapports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675120" y="2103120"/>
            <a:ext cx="4937760" cy="3108960"/>
          </a:xfrm>
          <a:prstGeom prst="roundRect">
            <a:avLst>
              <a:gd fmla="val 2941" name="adj"/>
            </a:avLst>
          </a:prstGeom>
          <a:solidFill>
            <a:srgbClr val="013A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732520" y="3063240"/>
            <a:ext cx="822960" cy="8229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8732520" y="306324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3A40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013A40"/>
                </a:solidFill>
                <a:latin typeface="Arial Black"/>
                <a:ea typeface="Arial Black"/>
                <a:cs typeface="Arial Black"/>
                <a:sym typeface="Arial Black"/>
              </a:rPr>
              <a:t>PBI</a:t>
            </a:r>
            <a:endParaRPr sz="1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949440" y="41148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1300"/>
              <a:buFont typeface="Arial Black"/>
              <a:buNone/>
            </a:pPr>
            <a:r>
              <a:rPr i="1" lang="en-US" sz="130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L'atelier où tout se construit</a:t>
            </a:r>
            <a:endParaRPr sz="1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2 · POWER BI DESKTOP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Découverte de l'interface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48640" y="1874520"/>
            <a:ext cx="7315200" cy="4297680"/>
          </a:xfrm>
          <a:prstGeom prst="roundRect">
            <a:avLst>
              <a:gd fmla="val 1277" name="adj"/>
            </a:avLst>
          </a:prstGeom>
          <a:solidFill>
            <a:srgbClr val="FFFFFF"/>
          </a:solidFill>
          <a:ln cap="flat" cmpd="sng" w="12700">
            <a:solidFill>
              <a:srgbClr val="C9D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48640" y="1874520"/>
            <a:ext cx="7315200" cy="320040"/>
          </a:xfrm>
          <a:prstGeom prst="rect">
            <a:avLst/>
          </a:prstGeom>
          <a:solidFill>
            <a:srgbClr val="013A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685800" y="187452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 BI Desktop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48640" y="2194560"/>
            <a:ext cx="7315200" cy="457200"/>
          </a:xfrm>
          <a:prstGeom prst="rect">
            <a:avLst/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548640" y="21945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Accueil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2377440" y="21945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Insertion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4206240" y="21945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Modélisation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6035040" y="21945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Affichage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914400" y="2897276"/>
            <a:ext cx="4389120" cy="2516886"/>
          </a:xfrm>
          <a:prstGeom prst="roundRect">
            <a:avLst>
              <a:gd fmla="val 1453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969264" y="2952140"/>
            <a:ext cx="256032" cy="25603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969264" y="29521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1280160" y="292470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Zone de rapport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522976" y="2897276"/>
            <a:ext cx="1975104" cy="2516886"/>
          </a:xfrm>
          <a:prstGeom prst="roundRect">
            <a:avLst>
              <a:gd fmla="val 1852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577840" y="2952140"/>
            <a:ext cx="256032" cy="25603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5577840" y="29521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5888736" y="2924708"/>
            <a:ext cx="1517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Volet Visualisations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914400" y="5551688"/>
            <a:ext cx="6583680" cy="436260"/>
          </a:xfrm>
          <a:prstGeom prst="roundRect">
            <a:avLst>
              <a:gd fmla="val 8384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969264" y="5606552"/>
            <a:ext cx="256032" cy="25603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969264" y="56065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1280160" y="557912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Navigation entre pages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183880" y="2130552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8183880" y="21305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8503920" y="20574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Ruban - accès aux menus et fonctions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183880" y="2514600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8183880" y="251460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8503920" y="2441448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Zone de rapport - construction des visuels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183880" y="2898648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8183880" y="289864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8503920" y="2825496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Volets - Visualisations, Données, Filtres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8183880" y="3282696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8183880" y="328269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8503920" y="320954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Navigation - bascule entre pages du rapport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48640" y="6263640"/>
            <a:ext cx="10789920" cy="502920"/>
          </a:xfrm>
          <a:prstGeom prst="roundRect">
            <a:avLst>
              <a:gd fmla="val 10909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731520" y="626364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Arial Black"/>
              <a:buNone/>
            </a:pPr>
            <a:r>
              <a:rPr i="1" lang="en-US" sz="11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Note formateur : l'agencement peut légèrement varier selon la version installée.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2 · POWER BI DESKTOP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579120" y="8001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Les trois vues de Power BI Desktop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48640" y="2011680"/>
            <a:ext cx="3520440" cy="548640"/>
          </a:xfrm>
          <a:prstGeom prst="roundRect">
            <a:avLst>
              <a:gd fmla="val 1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548640" y="201168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Vue Rapport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48640" y="2651760"/>
            <a:ext cx="3520440" cy="3200400"/>
          </a:xfrm>
          <a:prstGeom prst="roundRect">
            <a:avLst>
              <a:gd fmla="val 1714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777240" y="2880360"/>
            <a:ext cx="30632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Construction des visuels et mise en page du dashboard</a:t>
            </a:r>
            <a:endParaRPr sz="1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251960" y="2011680"/>
            <a:ext cx="3520440" cy="548640"/>
          </a:xfrm>
          <a:prstGeom prst="roundRect">
            <a:avLst>
              <a:gd fmla="val 1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4251960" y="201168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Vue Données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251960" y="2651760"/>
            <a:ext cx="3520440" cy="3200400"/>
          </a:xfrm>
          <a:prstGeom prst="roundRect">
            <a:avLst>
              <a:gd fmla="val 1714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4480560" y="2880360"/>
            <a:ext cx="30632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Inspection des tables, colonnes et valeurs importées</a:t>
            </a:r>
            <a:endParaRPr sz="1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955280" y="2011680"/>
            <a:ext cx="3520440" cy="548640"/>
          </a:xfrm>
          <a:prstGeom prst="roundRect">
            <a:avLst>
              <a:gd fmla="val 1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7955280" y="201168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Vue Modèle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7955280" y="2651760"/>
            <a:ext cx="3520440" cy="3200400"/>
          </a:xfrm>
          <a:prstGeom prst="roundRect">
            <a:avLst>
              <a:gd fmla="val 1714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8183880" y="2880360"/>
            <a:ext cx="30632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Visualisation des relations entre les tables</a:t>
            </a:r>
            <a:endParaRPr sz="1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2 · POWER BI DESKTOP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Le ruban Power BI Desktop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48640" y="2103120"/>
            <a:ext cx="11064240" cy="146304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12700">
            <a:solidFill>
              <a:srgbClr val="C9D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48640" y="2103120"/>
            <a:ext cx="11064240" cy="320040"/>
          </a:xfrm>
          <a:prstGeom prst="rect">
            <a:avLst/>
          </a:prstGeom>
          <a:solidFill>
            <a:srgbClr val="013A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685800" y="21031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 BI Desktop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548640" y="2423160"/>
            <a:ext cx="27660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Accueil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3314700" y="2423160"/>
            <a:ext cx="27660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Insertion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6080760" y="2423160"/>
            <a:ext cx="27660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Modélisation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8846820" y="2423160"/>
            <a:ext cx="27660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Affichage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548640" y="393192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i="1"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Le ruban suit la logique du workflow : préparer, structurer, mettre en page, ajuster l'affichage.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48640" y="4572000"/>
            <a:ext cx="2651760" cy="1280160"/>
          </a:xfrm>
          <a:prstGeom prst="roundRect">
            <a:avLst>
              <a:gd fmla="val 5714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685800" y="47091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Arial Black"/>
              <a:buNone/>
            </a:pPr>
            <a:r>
              <a:rPr b="1" lang="en-US" sz="135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Accueil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685800" y="507492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Import, actualisation, relations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337560" y="4572000"/>
            <a:ext cx="2651760" cy="1280160"/>
          </a:xfrm>
          <a:prstGeom prst="roundRect">
            <a:avLst>
              <a:gd fmla="val 5714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3474720" y="47091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Arial Black"/>
              <a:buNone/>
            </a:pPr>
            <a:r>
              <a:rPr b="1" lang="en-US" sz="135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Insertion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3474720" y="507492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Visuels, textes, images, formes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126480" y="4572000"/>
            <a:ext cx="2651760" cy="1280160"/>
          </a:xfrm>
          <a:prstGeom prst="roundRect">
            <a:avLst>
              <a:gd fmla="val 5714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6263640" y="47091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Arial Black"/>
              <a:buNone/>
            </a:pPr>
            <a:r>
              <a:rPr b="1" lang="en-US" sz="135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Modélisation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6263640" y="507492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Relations, propriétés (sans DAX)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8915400" y="4572000"/>
            <a:ext cx="2651760" cy="1280160"/>
          </a:xfrm>
          <a:prstGeom prst="roundRect">
            <a:avLst>
              <a:gd fmla="val 5714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9052560" y="47091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Arial Black"/>
              <a:buNone/>
            </a:pPr>
            <a:r>
              <a:rPr b="1" lang="en-US" sz="135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Affichage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9052560" y="507492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Thèmes, grille, zoom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2 · MENU ACCUEIL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Menu Accueil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48640" y="1874520"/>
            <a:ext cx="6949440" cy="192024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C9D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48640" y="1874520"/>
            <a:ext cx="6949440" cy="320040"/>
          </a:xfrm>
          <a:prstGeom prst="rect">
            <a:avLst/>
          </a:prstGeom>
          <a:solidFill>
            <a:srgbClr val="013A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685800" y="187452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 BI Desktop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48640" y="2194560"/>
            <a:ext cx="6949440" cy="457200"/>
          </a:xfrm>
          <a:prstGeom prst="rect">
            <a:avLst/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48640" y="2194560"/>
            <a:ext cx="173736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54864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 Black"/>
              <a:buNone/>
            </a:pPr>
            <a:r>
              <a:rPr b="1" lang="en-US" sz="10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Accueil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228600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Insertion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402336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Modélisation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576072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Affichage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48640" y="4050792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548640" y="40507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868680" y="397764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Obtenir des données - importer une source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548640" y="4434840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548640" y="443484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868680" y="4361688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Transformer les données - ouvrir Power Query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48640" y="4818888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548640" y="481888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868680" y="4745736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Actualiser - recharger les données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48640" y="5202936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548640" y="520293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868680" y="5129784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Gérer les relations - lier les tables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548640" y="5586984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548640" y="558698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1" name="Google Shape;271;p10"/>
          <p:cNvSpPr txBox="1"/>
          <p:nvPr/>
        </p:nvSpPr>
        <p:spPr>
          <a:xfrm>
            <a:off x="868680" y="5513832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Publier - envoyer vers Power BI Service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7818120" y="1874520"/>
            <a:ext cx="3840480" cy="4206240"/>
          </a:xfrm>
          <a:prstGeom prst="roundRect">
            <a:avLst>
              <a:gd fmla="val 238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8165592" y="21031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Exemple</a:t>
            </a:r>
            <a:endParaRPr sz="1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8046720" y="25146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Un Data Analyst clique sur "Obtenir des données" pour importer un export CSV de ventes mensuelles.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2 · MENU INSERTION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Menu Insertion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548640" y="1874520"/>
            <a:ext cx="6949440" cy="192024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C9D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48640" y="1874520"/>
            <a:ext cx="6949440" cy="320040"/>
          </a:xfrm>
          <a:prstGeom prst="rect">
            <a:avLst/>
          </a:prstGeom>
          <a:solidFill>
            <a:srgbClr val="013A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685800" y="187452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 BI Desktop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548640" y="2194560"/>
            <a:ext cx="6949440" cy="457200"/>
          </a:xfrm>
          <a:prstGeom prst="rect">
            <a:avLst/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54864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Accueil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2286000" y="2194560"/>
            <a:ext cx="173736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228600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 Black"/>
              <a:buNone/>
            </a:pPr>
            <a:r>
              <a:rPr b="1" lang="en-US" sz="10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Insertion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402336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Modélisation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576072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Affichage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48640" y="4050792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548640" y="40507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868680" y="397764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Visuels - ajouter un graphique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48640" y="4434840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548640" y="443484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868680" y="4361688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Zones de texte - titres et commentaires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48640" y="4818888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548640" y="481888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868680" y="4745736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Boutons - navigation interactive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48640" y="5202936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548640" y="520293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868680" y="5129784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Images - logos, pictogrammes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548640" y="5586984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548640" y="558698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868680" y="5513832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Formes - structurer visuellement la page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7818120" y="1874520"/>
            <a:ext cx="3840480" cy="4206240"/>
          </a:xfrm>
          <a:prstGeom prst="roundRect">
            <a:avLst>
              <a:gd fmla="val 238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8" name="Google Shape;308;p11"/>
          <p:cNvSpPr txBox="1"/>
          <p:nvPr/>
        </p:nvSpPr>
        <p:spPr>
          <a:xfrm>
            <a:off x="8046720" y="21031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Exemple</a:t>
            </a:r>
            <a:endParaRPr sz="1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8046720" y="25146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Ajouter un titre de page et le logo de l'entreprise via une zone de texte et une image.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0" name="Google Shape;310;p1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2 · MENU MODÉLISATION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Menu Modélisation (sans DAX)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48640" y="1874520"/>
            <a:ext cx="6035040" cy="192024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C9D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548640" y="1874520"/>
            <a:ext cx="6035040" cy="320040"/>
          </a:xfrm>
          <a:prstGeom prst="rect">
            <a:avLst/>
          </a:prstGeom>
          <a:solidFill>
            <a:srgbClr val="013A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685800" y="1874520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 BI Desktop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548640" y="2194560"/>
            <a:ext cx="6035040" cy="457200"/>
          </a:xfrm>
          <a:prstGeom prst="rect">
            <a:avLst/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548640" y="219456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Accueil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2057400" y="219456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Insertion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3566160" y="2194560"/>
            <a:ext cx="150876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3566160" y="219456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 Black"/>
              <a:buNone/>
            </a:pPr>
            <a:r>
              <a:rPr b="1" lang="en-US" sz="10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Modélisation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5074920" y="219456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Affichage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48640" y="4050792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8" name="Google Shape;328;p12"/>
          <p:cNvSpPr txBox="1"/>
          <p:nvPr/>
        </p:nvSpPr>
        <p:spPr>
          <a:xfrm>
            <a:off x="548640" y="40507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9" name="Google Shape;329;p12"/>
          <p:cNvSpPr txBox="1"/>
          <p:nvPr/>
        </p:nvSpPr>
        <p:spPr>
          <a:xfrm>
            <a:off x="868680" y="3977640"/>
            <a:ext cx="5715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Gestion des relations entre tables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548640" y="4434840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1" name="Google Shape;331;p12"/>
          <p:cNvSpPr txBox="1"/>
          <p:nvPr/>
        </p:nvSpPr>
        <p:spPr>
          <a:xfrm>
            <a:off x="548640" y="443484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2" name="Google Shape;332;p12"/>
          <p:cNvSpPr txBox="1"/>
          <p:nvPr/>
        </p:nvSpPr>
        <p:spPr>
          <a:xfrm>
            <a:off x="868680" y="4361688"/>
            <a:ext cx="5715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Propriétés des colonnes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548640" y="4818888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4" name="Google Shape;334;p12"/>
          <p:cNvSpPr txBox="1"/>
          <p:nvPr/>
        </p:nvSpPr>
        <p:spPr>
          <a:xfrm>
            <a:off x="548640" y="481888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5" name="Google Shape;335;p12"/>
          <p:cNvSpPr txBox="1"/>
          <p:nvPr/>
        </p:nvSpPr>
        <p:spPr>
          <a:xfrm>
            <a:off x="868680" y="4745736"/>
            <a:ext cx="5715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Catégories de données (ex. adresse, code postal)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6903720" y="1874520"/>
            <a:ext cx="4754880" cy="4206240"/>
          </a:xfrm>
          <a:prstGeom prst="roundRect">
            <a:avLst>
              <a:gd fmla="val 2174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7315200" y="3017520"/>
            <a:ext cx="1554480" cy="640080"/>
          </a:xfrm>
          <a:prstGeom prst="roundRect">
            <a:avLst>
              <a:gd fmla="val 8571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8" name="Google Shape;338;p12"/>
          <p:cNvSpPr txBox="1"/>
          <p:nvPr/>
        </p:nvSpPr>
        <p:spPr>
          <a:xfrm>
            <a:off x="7315200" y="30175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Ventes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9601200" y="3017520"/>
            <a:ext cx="1554480" cy="640080"/>
          </a:xfrm>
          <a:prstGeom prst="roundRect">
            <a:avLst>
              <a:gd fmla="val 8571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9601200" y="30175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Clients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341" name="Google Shape;341;p12"/>
          <p:cNvCxnSpPr/>
          <p:nvPr/>
        </p:nvCxnSpPr>
        <p:spPr>
          <a:xfrm>
            <a:off x="8869680" y="3337560"/>
            <a:ext cx="731520" cy="0"/>
          </a:xfrm>
          <a:prstGeom prst="straightConnector1">
            <a:avLst/>
          </a:prstGeom>
          <a:noFill/>
          <a:ln cap="flat" cmpd="sng" w="19050">
            <a:solidFill>
              <a:srgbClr val="5C6B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2"/>
          <p:cNvSpPr txBox="1"/>
          <p:nvPr/>
        </p:nvSpPr>
        <p:spPr>
          <a:xfrm>
            <a:off x="8869680" y="28803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100"/>
              <a:buFont typeface="Arial Black"/>
              <a:buNone/>
            </a:pPr>
            <a:r>
              <a:rPr i="1" lang="en-US" sz="11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 : N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7178040" y="5029200"/>
            <a:ext cx="4480560" cy="502920"/>
          </a:xfrm>
          <a:prstGeom prst="roundRect">
            <a:avLst>
              <a:gd fmla="val 10909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7360920" y="50292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Arial Black"/>
              <a:buNone/>
            </a:pPr>
            <a:r>
              <a:rPr i="1" lang="en-US" sz="11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Note formateur : les mesures et le DAX seront vus dans le module suivant.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2 · MENU AFFICHAGE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2" name="Google Shape;352;p13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Menu Affichage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48640" y="1874520"/>
            <a:ext cx="6949440" cy="192024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C9D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48640" y="1874520"/>
            <a:ext cx="6949440" cy="320040"/>
          </a:xfrm>
          <a:prstGeom prst="rect">
            <a:avLst/>
          </a:prstGeom>
          <a:solidFill>
            <a:srgbClr val="013A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5" name="Google Shape;355;p13"/>
          <p:cNvSpPr txBox="1"/>
          <p:nvPr/>
        </p:nvSpPr>
        <p:spPr>
          <a:xfrm>
            <a:off x="685800" y="187452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 BI Desktop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548640" y="2194560"/>
            <a:ext cx="6949440" cy="457200"/>
          </a:xfrm>
          <a:prstGeom prst="rect">
            <a:avLst/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7" name="Google Shape;357;p13"/>
          <p:cNvSpPr txBox="1"/>
          <p:nvPr/>
        </p:nvSpPr>
        <p:spPr>
          <a:xfrm>
            <a:off x="54864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Accueil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228600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Insertion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402336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Modélisation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5760720" y="2194560"/>
            <a:ext cx="173736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5760720" y="2194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 Black"/>
              <a:buNone/>
            </a:pPr>
            <a:r>
              <a:rPr b="1" lang="en-US" sz="10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Affichage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548640" y="4050792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548640" y="40507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868680" y="397764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Thèmes - habillage visuel du rapport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548640" y="4434840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6" name="Google Shape;366;p13"/>
          <p:cNvSpPr txBox="1"/>
          <p:nvPr/>
        </p:nvSpPr>
        <p:spPr>
          <a:xfrm>
            <a:off x="548640" y="443484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7" name="Google Shape;367;p13"/>
          <p:cNvSpPr txBox="1"/>
          <p:nvPr/>
        </p:nvSpPr>
        <p:spPr>
          <a:xfrm>
            <a:off x="868680" y="4361688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Grille et alignement - mise en page précise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548640" y="4818888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9" name="Google Shape;369;p13"/>
          <p:cNvSpPr txBox="1"/>
          <p:nvPr/>
        </p:nvSpPr>
        <p:spPr>
          <a:xfrm>
            <a:off x="548640" y="481888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0" name="Google Shape;370;p13"/>
          <p:cNvSpPr txBox="1"/>
          <p:nvPr/>
        </p:nvSpPr>
        <p:spPr>
          <a:xfrm>
            <a:off x="868680" y="4745736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Zoom - ajuster l'échelle de travail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548640" y="5202936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548640" y="520293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868680" y="5129784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Volets - afficher / masquer les panneaux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7818120" y="1874520"/>
            <a:ext cx="3840480" cy="4206240"/>
          </a:xfrm>
          <a:prstGeom prst="roundRect">
            <a:avLst>
              <a:gd fmla="val 238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8046720" y="219456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i="1"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Affichage sert à travailler efficacement, pas à modifier les données.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6" name="Google Shape;376;p1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4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2 · POWER BI DESKTOP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3" name="Google Shape;383;p1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Les volets essentiels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48640" y="2011680"/>
            <a:ext cx="5349240" cy="1737360"/>
          </a:xfrm>
          <a:prstGeom prst="roundRect">
            <a:avLst>
              <a:gd fmla="val 421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777240" y="224028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6" name="Google Shape;386;p14"/>
          <p:cNvSpPr txBox="1"/>
          <p:nvPr/>
        </p:nvSpPr>
        <p:spPr>
          <a:xfrm>
            <a:off x="777240" y="2240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7" name="Google Shape;387;p14"/>
          <p:cNvSpPr txBox="1"/>
          <p:nvPr/>
        </p:nvSpPr>
        <p:spPr>
          <a:xfrm>
            <a:off x="1325880" y="221284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50"/>
              <a:buFont typeface="Arial Black"/>
              <a:buNone/>
            </a:pPr>
            <a:r>
              <a:rPr b="1" lang="en-US" sz="145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Visualisations</a:t>
            </a:r>
            <a:endParaRPr sz="14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8" name="Google Shape;388;p14"/>
          <p:cNvSpPr txBox="1"/>
          <p:nvPr/>
        </p:nvSpPr>
        <p:spPr>
          <a:xfrm>
            <a:off x="1325880" y="260604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Choix et configuration du visuel sélectionné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6080760" y="2011680"/>
            <a:ext cx="5349240" cy="1737360"/>
          </a:xfrm>
          <a:prstGeom prst="roundRect">
            <a:avLst>
              <a:gd fmla="val 421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6309360" y="224028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1" name="Google Shape;391;p14"/>
          <p:cNvSpPr txBox="1"/>
          <p:nvPr/>
        </p:nvSpPr>
        <p:spPr>
          <a:xfrm>
            <a:off x="6309360" y="2240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2" name="Google Shape;392;p14"/>
          <p:cNvSpPr txBox="1"/>
          <p:nvPr/>
        </p:nvSpPr>
        <p:spPr>
          <a:xfrm>
            <a:off x="6858000" y="221284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50"/>
              <a:buFont typeface="Arial Black"/>
              <a:buNone/>
            </a:pPr>
            <a:r>
              <a:rPr b="1" lang="en-US" sz="145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Données / Champs</a:t>
            </a:r>
            <a:endParaRPr sz="14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6858000" y="260604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Liste des tables et colonnes disponibles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548640" y="3931920"/>
            <a:ext cx="5349240" cy="1737360"/>
          </a:xfrm>
          <a:prstGeom prst="roundRect">
            <a:avLst>
              <a:gd fmla="val 421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777240" y="416052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6" name="Google Shape;396;p14"/>
          <p:cNvSpPr txBox="1"/>
          <p:nvPr/>
        </p:nvSpPr>
        <p:spPr>
          <a:xfrm>
            <a:off x="77724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7" name="Google Shape;397;p14"/>
          <p:cNvSpPr txBox="1"/>
          <p:nvPr/>
        </p:nvSpPr>
        <p:spPr>
          <a:xfrm>
            <a:off x="1325880" y="413308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50"/>
              <a:buFont typeface="Arial Black"/>
              <a:buNone/>
            </a:pPr>
            <a:r>
              <a:rPr b="1" lang="en-US" sz="145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Filtres</a:t>
            </a:r>
            <a:endParaRPr sz="14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8" name="Google Shape;398;p14"/>
          <p:cNvSpPr txBox="1"/>
          <p:nvPr/>
        </p:nvSpPr>
        <p:spPr>
          <a:xfrm>
            <a:off x="1325880" y="452628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Filtres de page, de visuel, de rapport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6080760" y="3931920"/>
            <a:ext cx="5349240" cy="1737360"/>
          </a:xfrm>
          <a:prstGeom prst="roundRect">
            <a:avLst>
              <a:gd fmla="val 421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6309360" y="416052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63093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2" name="Google Shape;402;p14"/>
          <p:cNvSpPr txBox="1"/>
          <p:nvPr/>
        </p:nvSpPr>
        <p:spPr>
          <a:xfrm>
            <a:off x="6858000" y="413308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50"/>
              <a:buFont typeface="Arial Black"/>
              <a:buNone/>
            </a:pPr>
            <a:r>
              <a:rPr b="1" lang="en-US" sz="145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Sélection</a:t>
            </a:r>
            <a:endParaRPr sz="14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3" name="Google Shape;403;p14"/>
          <p:cNvSpPr txBox="1"/>
          <p:nvPr/>
        </p:nvSpPr>
        <p:spPr>
          <a:xfrm>
            <a:off x="6858000" y="452628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Ordre et visibilité des objets sur la page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4" name="Google Shape;404;p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14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2 · POWER BI DESKTOP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1" name="Google Shape;411;p15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Comprendre un visuel Power BI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822960" y="2286000"/>
            <a:ext cx="5669280" cy="3657600"/>
          </a:xfrm>
          <a:prstGeom prst="rect">
            <a:avLst/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1280160" y="4206240"/>
            <a:ext cx="640080" cy="1280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2240280" y="3108960"/>
            <a:ext cx="640080" cy="2377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3200400" y="3749040"/>
            <a:ext cx="640080" cy="1737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4160520" y="2560320"/>
            <a:ext cx="640080" cy="2926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5120640" y="3566160"/>
            <a:ext cx="640080" cy="1920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418" name="Google Shape;418;p15"/>
          <p:cNvCxnSpPr/>
          <p:nvPr/>
        </p:nvCxnSpPr>
        <p:spPr>
          <a:xfrm>
            <a:off x="1005840" y="5486400"/>
            <a:ext cx="5303520" cy="0"/>
          </a:xfrm>
          <a:prstGeom prst="straightConnector1">
            <a:avLst/>
          </a:prstGeom>
          <a:noFill/>
          <a:ln cap="flat" cmpd="sng" w="19050">
            <a:solidFill>
              <a:srgbClr val="1B2B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15"/>
          <p:cNvSpPr txBox="1"/>
          <p:nvPr/>
        </p:nvSpPr>
        <p:spPr>
          <a:xfrm>
            <a:off x="1005840" y="55778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Axe (catégories)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822960" y="2331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Valeurs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5029200" y="2377440"/>
            <a:ext cx="1280160" cy="54864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5029200" y="237744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Légende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6858000" y="2404872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6858000" y="24048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7178040" y="2331720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Axe - champ catégoriel affiché horizontalement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6858000" y="2788920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7" name="Google Shape;427;p15"/>
          <p:cNvSpPr txBox="1"/>
          <p:nvPr/>
        </p:nvSpPr>
        <p:spPr>
          <a:xfrm>
            <a:off x="6858000" y="278892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8" name="Google Shape;428;p15"/>
          <p:cNvSpPr txBox="1"/>
          <p:nvPr/>
        </p:nvSpPr>
        <p:spPr>
          <a:xfrm>
            <a:off x="7178040" y="2715768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Valeurs - mesure ou agrégat affiché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6858000" y="3172968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0" name="Google Shape;430;p15"/>
          <p:cNvSpPr txBox="1"/>
          <p:nvPr/>
        </p:nvSpPr>
        <p:spPr>
          <a:xfrm>
            <a:off x="6858000" y="317296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7178040" y="3099816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Légende - distingue plusieurs séries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6858000" y="3557016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3" name="Google Shape;433;p15"/>
          <p:cNvSpPr txBox="1"/>
          <p:nvPr/>
        </p:nvSpPr>
        <p:spPr>
          <a:xfrm>
            <a:off x="6858000" y="355701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4" name="Google Shape;434;p15"/>
          <p:cNvSpPr txBox="1"/>
          <p:nvPr/>
        </p:nvSpPr>
        <p:spPr>
          <a:xfrm>
            <a:off x="7178040" y="3483864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Info-bulles - détail au survol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6858000" y="3941064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6" name="Google Shape;436;p15"/>
          <p:cNvSpPr txBox="1"/>
          <p:nvPr/>
        </p:nvSpPr>
        <p:spPr>
          <a:xfrm>
            <a:off x="6858000" y="394106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7" name="Google Shape;437;p15"/>
          <p:cNvSpPr txBox="1"/>
          <p:nvPr/>
        </p:nvSpPr>
        <p:spPr>
          <a:xfrm>
            <a:off x="7178040" y="3867912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Filtres &amp; interactions - liens entre visuels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8" name="Google Shape;438;p1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15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6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2 · POWER BI DESKTOP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5" name="Google Shape;445;p16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De la donnée au graphique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548640" y="2103120"/>
            <a:ext cx="2526030" cy="1005840"/>
          </a:xfrm>
          <a:prstGeom prst="roundRect">
            <a:avLst>
              <a:gd fmla="val 545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7" name="Google Shape;447;p16"/>
          <p:cNvSpPr txBox="1"/>
          <p:nvPr/>
        </p:nvSpPr>
        <p:spPr>
          <a:xfrm>
            <a:off x="594360" y="2103120"/>
            <a:ext cx="243459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Table de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données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3074670" y="2103120"/>
            <a:ext cx="320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3394710" y="2103120"/>
            <a:ext cx="2526030" cy="1005840"/>
          </a:xfrm>
          <a:prstGeom prst="roundRect">
            <a:avLst>
              <a:gd fmla="val 545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3440430" y="2103120"/>
            <a:ext cx="243459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Sélection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des champs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1" name="Google Shape;451;p16"/>
          <p:cNvSpPr txBox="1"/>
          <p:nvPr/>
        </p:nvSpPr>
        <p:spPr>
          <a:xfrm>
            <a:off x="5920740" y="2103120"/>
            <a:ext cx="320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6240780" y="2103120"/>
            <a:ext cx="2526030" cy="1005840"/>
          </a:xfrm>
          <a:prstGeom prst="roundRect">
            <a:avLst>
              <a:gd fmla="val 545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3" name="Google Shape;453;p16"/>
          <p:cNvSpPr txBox="1"/>
          <p:nvPr/>
        </p:nvSpPr>
        <p:spPr>
          <a:xfrm>
            <a:off x="6286500" y="2103120"/>
            <a:ext cx="243459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Configuration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 visuel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4" name="Google Shape;454;p16"/>
          <p:cNvSpPr txBox="1"/>
          <p:nvPr/>
        </p:nvSpPr>
        <p:spPr>
          <a:xfrm>
            <a:off x="8766810" y="2103120"/>
            <a:ext cx="320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9086850" y="2103120"/>
            <a:ext cx="2526030" cy="1005840"/>
          </a:xfrm>
          <a:prstGeom prst="roundRect">
            <a:avLst>
              <a:gd fmla="val 545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6" name="Google Shape;456;p16"/>
          <p:cNvSpPr txBox="1"/>
          <p:nvPr/>
        </p:nvSpPr>
        <p:spPr>
          <a:xfrm>
            <a:off x="9132570" y="2103120"/>
            <a:ext cx="243459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Graphique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548640" y="3566160"/>
            <a:ext cx="411480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8" name="Google Shape;458;p16"/>
          <p:cNvSpPr txBox="1"/>
          <p:nvPr/>
        </p:nvSpPr>
        <p:spPr>
          <a:xfrm>
            <a:off x="621792" y="3566160"/>
            <a:ext cx="1911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Produit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9" name="Google Shape;459;p16"/>
          <p:cNvSpPr txBox="1"/>
          <p:nvPr/>
        </p:nvSpPr>
        <p:spPr>
          <a:xfrm>
            <a:off x="2679192" y="3566160"/>
            <a:ext cx="1911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Ventes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548640" y="3950208"/>
            <a:ext cx="4114800" cy="384048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1" name="Google Shape;461;p16"/>
          <p:cNvSpPr txBox="1"/>
          <p:nvPr/>
        </p:nvSpPr>
        <p:spPr>
          <a:xfrm>
            <a:off x="621792" y="3950208"/>
            <a:ext cx="1911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Café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2" name="Google Shape;462;p16"/>
          <p:cNvSpPr txBox="1"/>
          <p:nvPr/>
        </p:nvSpPr>
        <p:spPr>
          <a:xfrm>
            <a:off x="2679192" y="3950208"/>
            <a:ext cx="1911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1 200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548640" y="4334256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4" name="Google Shape;464;p16"/>
          <p:cNvSpPr txBox="1"/>
          <p:nvPr/>
        </p:nvSpPr>
        <p:spPr>
          <a:xfrm>
            <a:off x="621792" y="4334256"/>
            <a:ext cx="1911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Thé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5" name="Google Shape;465;p16"/>
          <p:cNvSpPr txBox="1"/>
          <p:nvPr/>
        </p:nvSpPr>
        <p:spPr>
          <a:xfrm>
            <a:off x="2679192" y="4334256"/>
            <a:ext cx="1911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850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548640" y="4718304"/>
            <a:ext cx="4114800" cy="384048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7" name="Google Shape;467;p16"/>
          <p:cNvSpPr txBox="1"/>
          <p:nvPr/>
        </p:nvSpPr>
        <p:spPr>
          <a:xfrm>
            <a:off x="621792" y="4718304"/>
            <a:ext cx="1911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Jus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8" name="Google Shape;468;p16"/>
          <p:cNvSpPr txBox="1"/>
          <p:nvPr/>
        </p:nvSpPr>
        <p:spPr>
          <a:xfrm>
            <a:off x="2679192" y="4718304"/>
            <a:ext cx="1911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640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9" name="Google Shape;469;p16"/>
          <p:cNvSpPr txBox="1"/>
          <p:nvPr/>
        </p:nvSpPr>
        <p:spPr>
          <a:xfrm>
            <a:off x="4846320" y="411480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400"/>
              <a:buFont typeface="Arial Black"/>
              <a:buNone/>
            </a:pPr>
            <a:r>
              <a:rPr lang="en-US" sz="24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5577840" y="3566160"/>
            <a:ext cx="5120640" cy="2011680"/>
          </a:xfrm>
          <a:prstGeom prst="rect">
            <a:avLst/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6035040" y="3767328"/>
            <a:ext cx="914400" cy="15361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7498080" y="4215384"/>
            <a:ext cx="914400" cy="108813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8961120" y="4484218"/>
            <a:ext cx="914400" cy="81930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474" name="Google Shape;474;p16"/>
          <p:cNvCxnSpPr/>
          <p:nvPr/>
        </p:nvCxnSpPr>
        <p:spPr>
          <a:xfrm>
            <a:off x="5760720" y="5303520"/>
            <a:ext cx="4754880" cy="0"/>
          </a:xfrm>
          <a:prstGeom prst="straightConnector1">
            <a:avLst/>
          </a:prstGeom>
          <a:noFill/>
          <a:ln cap="flat" cmpd="sng" w="15225">
            <a:solidFill>
              <a:srgbClr val="1B2B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1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16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7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3 · IMPORT &amp; PRÉPARATION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2" name="Google Shape;482;p17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Les sources de données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548640" y="2011680"/>
            <a:ext cx="3520440" cy="1463040"/>
          </a:xfrm>
          <a:prstGeom prst="roundRect">
            <a:avLst>
              <a:gd fmla="val 5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4" name="Google Shape;484;p17"/>
          <p:cNvSpPr txBox="1"/>
          <p:nvPr/>
        </p:nvSpPr>
        <p:spPr>
          <a:xfrm>
            <a:off x="548640" y="2011680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Excel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4251960" y="2011680"/>
            <a:ext cx="3520440" cy="1463040"/>
          </a:xfrm>
          <a:prstGeom prst="roundRect">
            <a:avLst>
              <a:gd fmla="val 5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6" name="Google Shape;486;p17"/>
          <p:cNvSpPr txBox="1"/>
          <p:nvPr/>
        </p:nvSpPr>
        <p:spPr>
          <a:xfrm>
            <a:off x="4251960" y="2011680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CSV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7955280" y="2011680"/>
            <a:ext cx="3520440" cy="1463040"/>
          </a:xfrm>
          <a:prstGeom prst="roundRect">
            <a:avLst>
              <a:gd fmla="val 5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7955280" y="2011680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Fichiers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texte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548640" y="3657600"/>
            <a:ext cx="3520440" cy="1463040"/>
          </a:xfrm>
          <a:prstGeom prst="roundRect">
            <a:avLst>
              <a:gd fmla="val 5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0" name="Google Shape;490;p17"/>
          <p:cNvSpPr txBox="1"/>
          <p:nvPr/>
        </p:nvSpPr>
        <p:spPr>
          <a:xfrm>
            <a:off x="548640" y="3657600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Bases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SQL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4251960" y="3657600"/>
            <a:ext cx="3520440" cy="1463040"/>
          </a:xfrm>
          <a:prstGeom prst="roundRect">
            <a:avLst>
              <a:gd fmla="val 5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2" name="Google Shape;492;p17"/>
          <p:cNvSpPr txBox="1"/>
          <p:nvPr/>
        </p:nvSpPr>
        <p:spPr>
          <a:xfrm>
            <a:off x="4236721" y="3657600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Web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7955280" y="3657600"/>
            <a:ext cx="3520440" cy="1463040"/>
          </a:xfrm>
          <a:prstGeom prst="roundRect">
            <a:avLst>
              <a:gd fmla="val 5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4" name="Google Shape;494;p17"/>
          <p:cNvSpPr txBox="1"/>
          <p:nvPr/>
        </p:nvSpPr>
        <p:spPr>
          <a:xfrm>
            <a:off x="7955280" y="3657600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SharePoint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5" name="Google Shape;495;p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17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8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3 · IMPORT &amp; PRÉPARATION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2" name="Google Shape;502;p18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Importer ou se connecter ?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548640" y="2103120"/>
            <a:ext cx="5394960" cy="2926080"/>
          </a:xfrm>
          <a:prstGeom prst="roundRect">
            <a:avLst>
              <a:gd fmla="val 2500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4" name="Google Shape;504;p18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Import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5" name="Google Shape;505;p18"/>
          <p:cNvSpPr txBox="1"/>
          <p:nvPr/>
        </p:nvSpPr>
        <p:spPr>
          <a:xfrm>
            <a:off x="777240" y="27889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•  Copie des données dans le fichier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6" name="Google Shape;506;p18"/>
          <p:cNvSpPr txBox="1"/>
          <p:nvPr/>
        </p:nvSpPr>
        <p:spPr>
          <a:xfrm>
            <a:off x="777240" y="32918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•  Rapide, autonome hors ligne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7" name="Google Shape;507;p18"/>
          <p:cNvSpPr txBox="1"/>
          <p:nvPr/>
        </p:nvSpPr>
        <p:spPr>
          <a:xfrm>
            <a:off x="777240" y="37947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•  Nécessite une actualisation manuelle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6217920" y="2103120"/>
            <a:ext cx="5394960" cy="2926080"/>
          </a:xfrm>
          <a:prstGeom prst="roundRect">
            <a:avLst>
              <a:gd fmla="val 25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9" name="Google Shape;509;p18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DirectQuery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0" name="Google Shape;510;p18"/>
          <p:cNvSpPr txBox="1"/>
          <p:nvPr/>
        </p:nvSpPr>
        <p:spPr>
          <a:xfrm>
            <a:off x="6446520" y="27889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•  Interrogation en direct de la source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1" name="Google Shape;511;p18"/>
          <p:cNvSpPr txBox="1"/>
          <p:nvPr/>
        </p:nvSpPr>
        <p:spPr>
          <a:xfrm>
            <a:off x="6446520" y="32918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•  Données toujours à jour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2" name="Google Shape;512;p18"/>
          <p:cNvSpPr txBox="1"/>
          <p:nvPr/>
        </p:nvSpPr>
        <p:spPr>
          <a:xfrm>
            <a:off x="6446520" y="37947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•  Dépend de la disponibilité de la source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548640" y="5303520"/>
            <a:ext cx="10789920" cy="502920"/>
          </a:xfrm>
          <a:prstGeom prst="roundRect">
            <a:avLst>
              <a:gd fmla="val 10909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4" name="Google Shape;514;p18"/>
          <p:cNvSpPr txBox="1"/>
          <p:nvPr/>
        </p:nvSpPr>
        <p:spPr>
          <a:xfrm>
            <a:off x="731520" y="530352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Arial Black"/>
              <a:buNone/>
            </a:pPr>
            <a:r>
              <a:rPr i="1" lang="en-US" sz="11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Note formateur : rester conceptuel - la configuration technique de DirectQuery n'est pas abordée ici.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5" name="Google Shape;515;p1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18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9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3 · IMPORT &amp; PRÉPARATION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2" name="Google Shape;522;p19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Pourquoi préparer les données ?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3" name="Google Shape;523;p19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4" name="Google Shape;524;p19"/>
          <p:cNvSpPr txBox="1"/>
          <p:nvPr/>
        </p:nvSpPr>
        <p:spPr>
          <a:xfrm>
            <a:off x="804672" y="2057400"/>
            <a:ext cx="5230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Valeurs manquantes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548640" y="267919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6" name="Google Shape;526;p19"/>
          <p:cNvSpPr txBox="1"/>
          <p:nvPr/>
        </p:nvSpPr>
        <p:spPr>
          <a:xfrm>
            <a:off x="804672" y="2560320"/>
            <a:ext cx="5230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Doublons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8" name="Google Shape;528;p19"/>
          <p:cNvSpPr txBox="1"/>
          <p:nvPr/>
        </p:nvSpPr>
        <p:spPr>
          <a:xfrm>
            <a:off x="804672" y="3063240"/>
            <a:ext cx="5230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Mauvaise typologie (texte au lieu de nombre)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548640" y="368503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0" name="Google Shape;530;p19"/>
          <p:cNvSpPr txBox="1"/>
          <p:nvPr/>
        </p:nvSpPr>
        <p:spPr>
          <a:xfrm>
            <a:off x="804672" y="3566160"/>
            <a:ext cx="5230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Colonnes inutiles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548640" y="418795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2" name="Google Shape;532;p19"/>
          <p:cNvSpPr txBox="1"/>
          <p:nvPr/>
        </p:nvSpPr>
        <p:spPr>
          <a:xfrm>
            <a:off x="804672" y="4069080"/>
            <a:ext cx="5230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Noms incohérents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548640" y="469087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4" name="Google Shape;534;p19"/>
          <p:cNvSpPr txBox="1"/>
          <p:nvPr/>
        </p:nvSpPr>
        <p:spPr>
          <a:xfrm>
            <a:off x="804672" y="4572000"/>
            <a:ext cx="5230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Formats de dates hétérogènes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6400800" y="2103120"/>
            <a:ext cx="2468880" cy="3291840"/>
          </a:xfrm>
          <a:prstGeom prst="roundRect">
            <a:avLst>
              <a:gd fmla="val 2963" name="adj"/>
            </a:avLst>
          </a:prstGeom>
          <a:solidFill>
            <a:srgbClr val="F6ED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6" name="Google Shape;536;p19"/>
          <p:cNvSpPr txBox="1"/>
          <p:nvPr/>
        </p:nvSpPr>
        <p:spPr>
          <a:xfrm>
            <a:off x="6629400" y="22860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B85042"/>
                </a:solidFill>
                <a:latin typeface="Arial Black"/>
                <a:ea typeface="Arial Black"/>
                <a:cs typeface="Arial Black"/>
                <a:sym typeface="Arial Black"/>
              </a:rPr>
              <a:t>Données brutes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7" name="Google Shape;537;p19"/>
          <p:cNvSpPr txBox="1"/>
          <p:nvPr/>
        </p:nvSpPr>
        <p:spPr>
          <a:xfrm>
            <a:off x="6629400" y="27889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✕  Colonnes mal nommées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8" name="Google Shape;538;p19"/>
          <p:cNvSpPr txBox="1"/>
          <p:nvPr/>
        </p:nvSpPr>
        <p:spPr>
          <a:xfrm>
            <a:off x="6629400" y="32918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✕  Types incorrects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9" name="Google Shape;539;p19"/>
          <p:cNvSpPr txBox="1"/>
          <p:nvPr/>
        </p:nvSpPr>
        <p:spPr>
          <a:xfrm>
            <a:off x="6629400" y="37947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✕  Doublons présents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9144000" y="2103120"/>
            <a:ext cx="2468880" cy="3291840"/>
          </a:xfrm>
          <a:prstGeom prst="roundRect">
            <a:avLst>
              <a:gd fmla="val 296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41" name="Google Shape;541;p19"/>
          <p:cNvSpPr txBox="1"/>
          <p:nvPr/>
        </p:nvSpPr>
        <p:spPr>
          <a:xfrm>
            <a:off x="9372600" y="22860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Données propres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42" name="Google Shape;542;p19"/>
          <p:cNvSpPr txBox="1"/>
          <p:nvPr/>
        </p:nvSpPr>
        <p:spPr>
          <a:xfrm>
            <a:off x="9372600" y="27889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  Colonnes claires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43" name="Google Shape;543;p19"/>
          <p:cNvSpPr txBox="1"/>
          <p:nvPr/>
        </p:nvSpPr>
        <p:spPr>
          <a:xfrm>
            <a:off x="9372600" y="32918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  Types corrects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44" name="Google Shape;544;p19"/>
          <p:cNvSpPr txBox="1"/>
          <p:nvPr/>
        </p:nvSpPr>
        <p:spPr>
          <a:xfrm>
            <a:off x="9372600" y="37947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  Table dédoublonnée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45" name="Google Shape;545;p1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19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4 · POWER QUERY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52" name="Google Shape;552;p20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Qu'est-ce que Power Query ?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54" name="Google Shape;554;p20"/>
          <p:cNvSpPr txBox="1"/>
          <p:nvPr/>
        </p:nvSpPr>
        <p:spPr>
          <a:xfrm>
            <a:off x="804672" y="2057400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Moteur de préparation des données de Power BI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55" name="Google Shape;555;p20"/>
          <p:cNvSpPr/>
          <p:nvPr/>
        </p:nvSpPr>
        <p:spPr>
          <a:xfrm>
            <a:off x="548640" y="281635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56" name="Google Shape;556;p20"/>
          <p:cNvSpPr txBox="1"/>
          <p:nvPr/>
        </p:nvSpPr>
        <p:spPr>
          <a:xfrm>
            <a:off x="804672" y="2697480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Repose sur le principe ETL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548640" y="345643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58" name="Google Shape;558;p20"/>
          <p:cNvSpPr txBox="1"/>
          <p:nvPr/>
        </p:nvSpPr>
        <p:spPr>
          <a:xfrm>
            <a:off x="804672" y="3337560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Accessible depuis Power BI Desktop et Excel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548640" y="4023360"/>
            <a:ext cx="1615440" cy="1005840"/>
          </a:xfrm>
          <a:prstGeom prst="roundRect">
            <a:avLst>
              <a:gd fmla="val 545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0" name="Google Shape;560;p20"/>
          <p:cNvSpPr txBox="1"/>
          <p:nvPr/>
        </p:nvSpPr>
        <p:spPr>
          <a:xfrm>
            <a:off x="594360" y="4023360"/>
            <a:ext cx="152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Extraction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1" name="Google Shape;561;p20"/>
          <p:cNvSpPr txBox="1"/>
          <p:nvPr/>
        </p:nvSpPr>
        <p:spPr>
          <a:xfrm>
            <a:off x="2164080" y="4023360"/>
            <a:ext cx="320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2484120" y="4023360"/>
            <a:ext cx="1615440" cy="1005840"/>
          </a:xfrm>
          <a:prstGeom prst="roundRect">
            <a:avLst>
              <a:gd fmla="val 545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3" name="Google Shape;563;p20"/>
          <p:cNvSpPr txBox="1"/>
          <p:nvPr/>
        </p:nvSpPr>
        <p:spPr>
          <a:xfrm>
            <a:off x="2529840" y="4023360"/>
            <a:ext cx="152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Transformation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4" name="Google Shape;564;p20"/>
          <p:cNvSpPr txBox="1"/>
          <p:nvPr/>
        </p:nvSpPr>
        <p:spPr>
          <a:xfrm>
            <a:off x="4099560" y="4023360"/>
            <a:ext cx="320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4419600" y="4023360"/>
            <a:ext cx="1615440" cy="1005840"/>
          </a:xfrm>
          <a:prstGeom prst="roundRect">
            <a:avLst>
              <a:gd fmla="val 545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6" name="Google Shape;566;p20"/>
          <p:cNvSpPr txBox="1"/>
          <p:nvPr/>
        </p:nvSpPr>
        <p:spPr>
          <a:xfrm>
            <a:off x="4465320" y="4023360"/>
            <a:ext cx="152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Chargement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6583680" y="2103120"/>
            <a:ext cx="5029200" cy="3017520"/>
          </a:xfrm>
          <a:prstGeom prst="roundRect">
            <a:avLst>
              <a:gd fmla="val 3030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8" name="Google Shape;568;p20"/>
          <p:cNvSpPr txBox="1"/>
          <p:nvPr/>
        </p:nvSpPr>
        <p:spPr>
          <a:xfrm>
            <a:off x="6858000" y="237744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Power Query est le moteur de préparation des données.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9" name="Google Shape;569;p20"/>
          <p:cNvSpPr txBox="1"/>
          <p:nvPr/>
        </p:nvSpPr>
        <p:spPr>
          <a:xfrm>
            <a:off x="6858000" y="3291840"/>
            <a:ext cx="4480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Il transforme des données brutes en données prêtes pour la modélisation, sans écrire de code.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70" name="Google Shape;570;p2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4 · POWER QUERY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77" name="Google Shape;577;p2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Découverte de l'interface Power Query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548640" y="1874520"/>
            <a:ext cx="7315200" cy="4297680"/>
          </a:xfrm>
          <a:prstGeom prst="roundRect">
            <a:avLst>
              <a:gd fmla="val 1277" name="adj"/>
            </a:avLst>
          </a:prstGeom>
          <a:solidFill>
            <a:srgbClr val="FFFFFF"/>
          </a:solidFill>
          <a:ln cap="flat" cmpd="sng" w="12700">
            <a:solidFill>
              <a:srgbClr val="C9D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548640" y="1874520"/>
            <a:ext cx="7315200" cy="320040"/>
          </a:xfrm>
          <a:prstGeom prst="rect">
            <a:avLst/>
          </a:prstGeom>
          <a:solidFill>
            <a:srgbClr val="013A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0" name="Google Shape;580;p21"/>
          <p:cNvSpPr txBox="1"/>
          <p:nvPr/>
        </p:nvSpPr>
        <p:spPr>
          <a:xfrm>
            <a:off x="685800" y="187452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Éditeur Power Query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548640" y="2194560"/>
            <a:ext cx="7315200" cy="457200"/>
          </a:xfrm>
          <a:prstGeom prst="rect">
            <a:avLst/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2" name="Google Shape;582;p21"/>
          <p:cNvSpPr txBox="1"/>
          <p:nvPr/>
        </p:nvSpPr>
        <p:spPr>
          <a:xfrm>
            <a:off x="548640" y="2194560"/>
            <a:ext cx="243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Accueil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3" name="Google Shape;583;p21"/>
          <p:cNvSpPr txBox="1"/>
          <p:nvPr/>
        </p:nvSpPr>
        <p:spPr>
          <a:xfrm>
            <a:off x="2987040" y="2194560"/>
            <a:ext cx="243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Transformer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4" name="Google Shape;584;p21"/>
          <p:cNvSpPr txBox="1"/>
          <p:nvPr/>
        </p:nvSpPr>
        <p:spPr>
          <a:xfrm>
            <a:off x="5425440" y="2194560"/>
            <a:ext cx="243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Ajouter une colonne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768096" y="2897276"/>
            <a:ext cx="1609344" cy="3020263"/>
          </a:xfrm>
          <a:prstGeom prst="roundRect">
            <a:avLst>
              <a:gd fmla="val 2273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822960" y="2952140"/>
            <a:ext cx="256032" cy="25603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7" name="Google Shape;587;p21"/>
          <p:cNvSpPr txBox="1"/>
          <p:nvPr/>
        </p:nvSpPr>
        <p:spPr>
          <a:xfrm>
            <a:off x="822960" y="29521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8" name="Google Shape;588;p21"/>
          <p:cNvSpPr txBox="1"/>
          <p:nvPr/>
        </p:nvSpPr>
        <p:spPr>
          <a:xfrm>
            <a:off x="1133856" y="2924708"/>
            <a:ext cx="11521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Liste des requêtes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2596896" y="2897276"/>
            <a:ext cx="3291840" cy="3020263"/>
          </a:xfrm>
          <a:prstGeom prst="roundRect">
            <a:avLst>
              <a:gd fmla="val 1211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2651760" y="2952140"/>
            <a:ext cx="256032" cy="25603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1" name="Google Shape;591;p21"/>
          <p:cNvSpPr txBox="1"/>
          <p:nvPr/>
        </p:nvSpPr>
        <p:spPr>
          <a:xfrm>
            <a:off x="2651760" y="29521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2" name="Google Shape;592;p21"/>
          <p:cNvSpPr txBox="1"/>
          <p:nvPr/>
        </p:nvSpPr>
        <p:spPr>
          <a:xfrm>
            <a:off x="2962656" y="292470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Aperçu des données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6108192" y="2897276"/>
            <a:ext cx="1609344" cy="3020263"/>
          </a:xfrm>
          <a:prstGeom prst="roundRect">
            <a:avLst>
              <a:gd fmla="val 2273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6163056" y="2952140"/>
            <a:ext cx="256032" cy="25603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5" name="Google Shape;595;p21"/>
          <p:cNvSpPr txBox="1"/>
          <p:nvPr/>
        </p:nvSpPr>
        <p:spPr>
          <a:xfrm>
            <a:off x="6163056" y="29521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6" name="Google Shape;596;p21"/>
          <p:cNvSpPr txBox="1"/>
          <p:nvPr/>
        </p:nvSpPr>
        <p:spPr>
          <a:xfrm>
            <a:off x="6473952" y="2924708"/>
            <a:ext cx="11521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Étapes appliquées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7" name="Google Shape;597;p21"/>
          <p:cNvSpPr/>
          <p:nvPr/>
        </p:nvSpPr>
        <p:spPr>
          <a:xfrm>
            <a:off x="8183880" y="2130552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8" name="Google Shape;598;p21"/>
          <p:cNvSpPr txBox="1"/>
          <p:nvPr/>
        </p:nvSpPr>
        <p:spPr>
          <a:xfrm>
            <a:off x="8183880" y="21305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9" name="Google Shape;599;p21"/>
          <p:cNvSpPr txBox="1"/>
          <p:nvPr/>
        </p:nvSpPr>
        <p:spPr>
          <a:xfrm>
            <a:off x="8503920" y="20574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Liste des requêtes importées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8183880" y="2514600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1" name="Google Shape;601;p21"/>
          <p:cNvSpPr txBox="1"/>
          <p:nvPr/>
        </p:nvSpPr>
        <p:spPr>
          <a:xfrm>
            <a:off x="8183880" y="251460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2" name="Google Shape;602;p21"/>
          <p:cNvSpPr txBox="1"/>
          <p:nvPr/>
        </p:nvSpPr>
        <p:spPr>
          <a:xfrm>
            <a:off x="8503920" y="2441448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Aperçu des données en cours de transformation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3" name="Google Shape;603;p21"/>
          <p:cNvSpPr/>
          <p:nvPr/>
        </p:nvSpPr>
        <p:spPr>
          <a:xfrm>
            <a:off x="8183880" y="2898648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4" name="Google Shape;604;p21"/>
          <p:cNvSpPr txBox="1"/>
          <p:nvPr/>
        </p:nvSpPr>
        <p:spPr>
          <a:xfrm>
            <a:off x="8183880" y="289864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5" name="Google Shape;605;p21"/>
          <p:cNvSpPr txBox="1"/>
          <p:nvPr/>
        </p:nvSpPr>
        <p:spPr>
          <a:xfrm>
            <a:off x="8503920" y="2825496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Étapes appliquées - historique modifiable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8183880" y="3282696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7" name="Google Shape;607;p21"/>
          <p:cNvSpPr txBox="1"/>
          <p:nvPr/>
        </p:nvSpPr>
        <p:spPr>
          <a:xfrm>
            <a:off x="8183880" y="328269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8" name="Google Shape;608;p21"/>
          <p:cNvSpPr txBox="1"/>
          <p:nvPr/>
        </p:nvSpPr>
        <p:spPr>
          <a:xfrm>
            <a:off x="8503920" y="320954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Barre de formule - code M de l'étape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9" name="Google Shape;609;p21"/>
          <p:cNvSpPr/>
          <p:nvPr/>
        </p:nvSpPr>
        <p:spPr>
          <a:xfrm>
            <a:off x="548640" y="6263640"/>
            <a:ext cx="10789920" cy="502920"/>
          </a:xfrm>
          <a:prstGeom prst="roundRect">
            <a:avLst>
              <a:gd fmla="val 10909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10" name="Google Shape;610;p21"/>
          <p:cNvSpPr txBox="1"/>
          <p:nvPr/>
        </p:nvSpPr>
        <p:spPr>
          <a:xfrm>
            <a:off x="731520" y="626364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Arial Black"/>
              <a:buNone/>
            </a:pPr>
            <a:r>
              <a:rPr i="1" lang="en-US" sz="11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Note formateur : on accède à l'éditeur via Accueil → Transformer les données.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11" name="Google Shape;611;p2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21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4 · POWER QUERY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18" name="Google Shape;618;p2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Le principe des requêtes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548640" y="2194560"/>
            <a:ext cx="3474720" cy="1097280"/>
          </a:xfrm>
          <a:prstGeom prst="roundRect">
            <a:avLst>
              <a:gd fmla="val 5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0" name="Google Shape;620;p22"/>
          <p:cNvSpPr txBox="1"/>
          <p:nvPr/>
        </p:nvSpPr>
        <p:spPr>
          <a:xfrm>
            <a:off x="594360" y="219456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Source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1" name="Google Shape;621;p22"/>
          <p:cNvSpPr txBox="1"/>
          <p:nvPr/>
        </p:nvSpPr>
        <p:spPr>
          <a:xfrm>
            <a:off x="4023360" y="2194560"/>
            <a:ext cx="320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4343400" y="2194560"/>
            <a:ext cx="3474720" cy="1097280"/>
          </a:xfrm>
          <a:prstGeom prst="roundRect">
            <a:avLst>
              <a:gd fmla="val 5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3" name="Google Shape;623;p22"/>
          <p:cNvSpPr txBox="1"/>
          <p:nvPr/>
        </p:nvSpPr>
        <p:spPr>
          <a:xfrm>
            <a:off x="4389120" y="219456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Transformations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4" name="Google Shape;624;p22"/>
          <p:cNvSpPr txBox="1"/>
          <p:nvPr/>
        </p:nvSpPr>
        <p:spPr>
          <a:xfrm>
            <a:off x="7818120" y="2194560"/>
            <a:ext cx="320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8138160" y="2194560"/>
            <a:ext cx="3474720" cy="1097280"/>
          </a:xfrm>
          <a:prstGeom prst="roundRect">
            <a:avLst>
              <a:gd fmla="val 5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6" name="Google Shape;626;p22"/>
          <p:cNvSpPr txBox="1"/>
          <p:nvPr/>
        </p:nvSpPr>
        <p:spPr>
          <a:xfrm>
            <a:off x="8183880" y="219456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Résultat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7" name="Google Shape;627;p22"/>
          <p:cNvSpPr txBox="1"/>
          <p:nvPr/>
        </p:nvSpPr>
        <p:spPr>
          <a:xfrm>
            <a:off x="548640" y="3749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Étapes empilées (mémorisées et modifiables) :</a:t>
            </a:r>
            <a:endParaRPr sz="1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8" name="Google Shape;628;p22"/>
          <p:cNvSpPr/>
          <p:nvPr/>
        </p:nvSpPr>
        <p:spPr>
          <a:xfrm>
            <a:off x="548640" y="4251960"/>
            <a:ext cx="1828800" cy="502920"/>
          </a:xfrm>
          <a:prstGeom prst="roundRect">
            <a:avLst>
              <a:gd fmla="val 9091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9" name="Google Shape;629;p22"/>
          <p:cNvSpPr txBox="1"/>
          <p:nvPr/>
        </p:nvSpPr>
        <p:spPr>
          <a:xfrm>
            <a:off x="548640" y="42519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Source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2514600" y="4251960"/>
            <a:ext cx="1828800" cy="502920"/>
          </a:xfrm>
          <a:prstGeom prst="roundRect">
            <a:avLst>
              <a:gd fmla="val 9091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1" name="Google Shape;631;p22"/>
          <p:cNvSpPr txBox="1"/>
          <p:nvPr/>
        </p:nvSpPr>
        <p:spPr>
          <a:xfrm>
            <a:off x="2514600" y="42519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Colonnes filtrées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2" name="Google Shape;632;p22"/>
          <p:cNvSpPr/>
          <p:nvPr/>
        </p:nvSpPr>
        <p:spPr>
          <a:xfrm>
            <a:off x="4480560" y="4251960"/>
            <a:ext cx="1828800" cy="502920"/>
          </a:xfrm>
          <a:prstGeom prst="roundRect">
            <a:avLst>
              <a:gd fmla="val 9091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3" name="Google Shape;633;p22"/>
          <p:cNvSpPr txBox="1"/>
          <p:nvPr/>
        </p:nvSpPr>
        <p:spPr>
          <a:xfrm>
            <a:off x="4480560" y="42519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Types modifiés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6446520" y="4251960"/>
            <a:ext cx="1828800" cy="502920"/>
          </a:xfrm>
          <a:prstGeom prst="roundRect">
            <a:avLst>
              <a:gd fmla="val 9091" name="adj"/>
            </a:avLst>
          </a:prstGeom>
          <a:solidFill>
            <a:srgbClr val="02C39A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5" name="Google Shape;635;p22"/>
          <p:cNvSpPr txBox="1"/>
          <p:nvPr/>
        </p:nvSpPr>
        <p:spPr>
          <a:xfrm>
            <a:off x="6446520" y="42519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Doublons supprimés</a:t>
            </a:r>
            <a:endParaRPr sz="10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6" name="Google Shape;636;p22"/>
          <p:cNvSpPr/>
          <p:nvPr/>
        </p:nvSpPr>
        <p:spPr>
          <a:xfrm>
            <a:off x="548640" y="5029200"/>
            <a:ext cx="10789920" cy="502920"/>
          </a:xfrm>
          <a:prstGeom prst="roundRect">
            <a:avLst>
              <a:gd fmla="val 10909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7" name="Google Shape;637;p22"/>
          <p:cNvSpPr txBox="1"/>
          <p:nvPr/>
        </p:nvSpPr>
        <p:spPr>
          <a:xfrm>
            <a:off x="731520" y="502920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Arial Black"/>
              <a:buNone/>
            </a:pPr>
            <a:r>
              <a:rPr i="1" lang="en-US" sz="11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Note formateur : relancer la requête rejoue automatiquement toutes les étapes, dans l'ordre.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8" name="Google Shape;638;p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22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3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4 · POWER QUERY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5" name="Google Shape;645;p23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Les transformations essentielles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6" name="Google Shape;646;p23"/>
          <p:cNvSpPr/>
          <p:nvPr/>
        </p:nvSpPr>
        <p:spPr>
          <a:xfrm>
            <a:off x="548640" y="2011680"/>
            <a:ext cx="3566160" cy="777240"/>
          </a:xfrm>
          <a:prstGeom prst="roundRect">
            <a:avLst>
              <a:gd fmla="val 7059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7" name="Google Shape;647;p23"/>
          <p:cNvSpPr txBox="1"/>
          <p:nvPr/>
        </p:nvSpPr>
        <p:spPr>
          <a:xfrm>
            <a:off x="685800" y="20116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Supprimer des colonnes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4251960" y="2011680"/>
            <a:ext cx="3566160" cy="777240"/>
          </a:xfrm>
          <a:prstGeom prst="roundRect">
            <a:avLst>
              <a:gd fmla="val 7059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9" name="Google Shape;649;p23"/>
          <p:cNvSpPr txBox="1"/>
          <p:nvPr/>
        </p:nvSpPr>
        <p:spPr>
          <a:xfrm>
            <a:off x="4389120" y="20116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Renommer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7955280" y="2011680"/>
            <a:ext cx="3566160" cy="777240"/>
          </a:xfrm>
          <a:prstGeom prst="roundRect">
            <a:avLst>
              <a:gd fmla="val 7059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1" name="Google Shape;651;p23"/>
          <p:cNvSpPr txBox="1"/>
          <p:nvPr/>
        </p:nvSpPr>
        <p:spPr>
          <a:xfrm>
            <a:off x="8092440" y="20116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Filtrer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2" name="Google Shape;652;p23"/>
          <p:cNvSpPr/>
          <p:nvPr/>
        </p:nvSpPr>
        <p:spPr>
          <a:xfrm>
            <a:off x="548640" y="2926080"/>
            <a:ext cx="3566160" cy="777240"/>
          </a:xfrm>
          <a:prstGeom prst="roundRect">
            <a:avLst>
              <a:gd fmla="val 7059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3" name="Google Shape;653;p23"/>
          <p:cNvSpPr txBox="1"/>
          <p:nvPr/>
        </p:nvSpPr>
        <p:spPr>
          <a:xfrm>
            <a:off x="685800" y="29260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Trier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4" name="Google Shape;654;p23"/>
          <p:cNvSpPr/>
          <p:nvPr/>
        </p:nvSpPr>
        <p:spPr>
          <a:xfrm>
            <a:off x="4251960" y="2926080"/>
            <a:ext cx="3566160" cy="777240"/>
          </a:xfrm>
          <a:prstGeom prst="roundRect">
            <a:avLst>
              <a:gd fmla="val 7059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5" name="Google Shape;655;p23"/>
          <p:cNvSpPr txBox="1"/>
          <p:nvPr/>
        </p:nvSpPr>
        <p:spPr>
          <a:xfrm>
            <a:off x="4389120" y="29260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Remplacer des valeurs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7955280" y="2926080"/>
            <a:ext cx="3566160" cy="777240"/>
          </a:xfrm>
          <a:prstGeom prst="roundRect">
            <a:avLst>
              <a:gd fmla="val 7059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7" name="Google Shape;657;p23"/>
          <p:cNvSpPr txBox="1"/>
          <p:nvPr/>
        </p:nvSpPr>
        <p:spPr>
          <a:xfrm>
            <a:off x="8092440" y="29260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Supprimer les doublons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8" name="Google Shape;658;p23"/>
          <p:cNvSpPr/>
          <p:nvPr/>
        </p:nvSpPr>
        <p:spPr>
          <a:xfrm>
            <a:off x="548640" y="3840480"/>
            <a:ext cx="3566160" cy="777240"/>
          </a:xfrm>
          <a:prstGeom prst="roundRect">
            <a:avLst>
              <a:gd fmla="val 7059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9" name="Google Shape;659;p23"/>
          <p:cNvSpPr txBox="1"/>
          <p:nvPr/>
        </p:nvSpPr>
        <p:spPr>
          <a:xfrm>
            <a:off x="685800" y="38404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Modifier les types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0" name="Google Shape;660;p23"/>
          <p:cNvSpPr/>
          <p:nvPr/>
        </p:nvSpPr>
        <p:spPr>
          <a:xfrm>
            <a:off x="4251960" y="3840480"/>
            <a:ext cx="3566160" cy="777240"/>
          </a:xfrm>
          <a:prstGeom prst="roundRect">
            <a:avLst>
              <a:gd fmla="val 7059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1" name="Google Shape;661;p23"/>
          <p:cNvSpPr txBox="1"/>
          <p:nvPr/>
        </p:nvSpPr>
        <p:spPr>
          <a:xfrm>
            <a:off x="4389120" y="38404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Fractionner une colonne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2" name="Google Shape;662;p23"/>
          <p:cNvSpPr/>
          <p:nvPr/>
        </p:nvSpPr>
        <p:spPr>
          <a:xfrm>
            <a:off x="7955280" y="3840480"/>
            <a:ext cx="3566160" cy="777240"/>
          </a:xfrm>
          <a:prstGeom prst="roundRect">
            <a:avLst>
              <a:gd fmla="val 7059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3" name="Google Shape;663;p23"/>
          <p:cNvSpPr txBox="1"/>
          <p:nvPr/>
        </p:nvSpPr>
        <p:spPr>
          <a:xfrm>
            <a:off x="8092440" y="38404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Fusionner des colonnes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4" name="Google Shape;664;p2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23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4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4 · POWER QUERY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1" name="Google Shape;671;p2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Les types de données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2" name="Google Shape;672;p24"/>
          <p:cNvSpPr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3" name="Google Shape;673;p24"/>
          <p:cNvSpPr txBox="1"/>
          <p:nvPr/>
        </p:nvSpPr>
        <p:spPr>
          <a:xfrm>
            <a:off x="621792" y="20116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Type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4" name="Google Shape;674;p24"/>
          <p:cNvSpPr txBox="1"/>
          <p:nvPr/>
        </p:nvSpPr>
        <p:spPr>
          <a:xfrm>
            <a:off x="4279392" y="20116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Exemple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5" name="Google Shape;675;p24"/>
          <p:cNvSpPr/>
          <p:nvPr/>
        </p:nvSpPr>
        <p:spPr>
          <a:xfrm>
            <a:off x="548640" y="2468880"/>
            <a:ext cx="7315200" cy="457200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6" name="Google Shape;676;p24"/>
          <p:cNvSpPr txBox="1"/>
          <p:nvPr/>
        </p:nvSpPr>
        <p:spPr>
          <a:xfrm>
            <a:off x="621792" y="24688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Texte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7" name="Google Shape;677;p24"/>
          <p:cNvSpPr txBox="1"/>
          <p:nvPr/>
        </p:nvSpPr>
        <p:spPr>
          <a:xfrm>
            <a:off x="4279392" y="24688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"Client A"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8" name="Google Shape;678;p24"/>
          <p:cNvSpPr/>
          <p:nvPr/>
        </p:nvSpPr>
        <p:spPr>
          <a:xfrm>
            <a:off x="548640" y="2926080"/>
            <a:ext cx="7315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9" name="Google Shape;679;p24"/>
          <p:cNvSpPr txBox="1"/>
          <p:nvPr/>
        </p:nvSpPr>
        <p:spPr>
          <a:xfrm>
            <a:off x="621792" y="29260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Nombre entier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0" name="Google Shape;680;p24"/>
          <p:cNvSpPr txBox="1"/>
          <p:nvPr/>
        </p:nvSpPr>
        <p:spPr>
          <a:xfrm>
            <a:off x="4279392" y="29260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125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1" name="Google Shape;681;p24"/>
          <p:cNvSpPr/>
          <p:nvPr/>
        </p:nvSpPr>
        <p:spPr>
          <a:xfrm>
            <a:off x="548640" y="3383280"/>
            <a:ext cx="7315200" cy="457200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2" name="Google Shape;682;p24"/>
          <p:cNvSpPr txBox="1"/>
          <p:nvPr/>
        </p:nvSpPr>
        <p:spPr>
          <a:xfrm>
            <a:off x="621792" y="33832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Nombre décimal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3" name="Google Shape;683;p24"/>
          <p:cNvSpPr txBox="1"/>
          <p:nvPr/>
        </p:nvSpPr>
        <p:spPr>
          <a:xfrm>
            <a:off x="4279392" y="33832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12,50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4" name="Google Shape;684;p24"/>
          <p:cNvSpPr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5" name="Google Shape;685;p24"/>
          <p:cNvSpPr txBox="1"/>
          <p:nvPr/>
        </p:nvSpPr>
        <p:spPr>
          <a:xfrm>
            <a:off x="621792" y="38404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Date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6" name="Google Shape;686;p24"/>
          <p:cNvSpPr txBox="1"/>
          <p:nvPr/>
        </p:nvSpPr>
        <p:spPr>
          <a:xfrm>
            <a:off x="4279392" y="38404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13/09/2026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7" name="Google Shape;687;p24"/>
          <p:cNvSpPr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8" name="Google Shape;688;p24"/>
          <p:cNvSpPr txBox="1"/>
          <p:nvPr/>
        </p:nvSpPr>
        <p:spPr>
          <a:xfrm>
            <a:off x="621792" y="42976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Date/heure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9" name="Google Shape;689;p24"/>
          <p:cNvSpPr txBox="1"/>
          <p:nvPr/>
        </p:nvSpPr>
        <p:spPr>
          <a:xfrm>
            <a:off x="4279392" y="42976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13/09/2026 14:30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90" name="Google Shape;690;p24"/>
          <p:cNvSpPr/>
          <p:nvPr/>
        </p:nvSpPr>
        <p:spPr>
          <a:xfrm>
            <a:off x="548640" y="4754880"/>
            <a:ext cx="7315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91" name="Google Shape;691;p24"/>
          <p:cNvSpPr txBox="1"/>
          <p:nvPr/>
        </p:nvSpPr>
        <p:spPr>
          <a:xfrm>
            <a:off x="621792" y="47548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Logique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92" name="Google Shape;692;p24"/>
          <p:cNvSpPr txBox="1"/>
          <p:nvPr/>
        </p:nvSpPr>
        <p:spPr>
          <a:xfrm>
            <a:off x="4279392" y="475488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Vrai / Faux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93" name="Google Shape;693;p24"/>
          <p:cNvSpPr/>
          <p:nvPr/>
        </p:nvSpPr>
        <p:spPr>
          <a:xfrm>
            <a:off x="8138160" y="2011680"/>
            <a:ext cx="3520440" cy="502920"/>
          </a:xfrm>
          <a:prstGeom prst="roundRect">
            <a:avLst>
              <a:gd fmla="val 10909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94" name="Google Shape;694;p24"/>
          <p:cNvSpPr txBox="1"/>
          <p:nvPr/>
        </p:nvSpPr>
        <p:spPr>
          <a:xfrm>
            <a:off x="8321040" y="201168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Arial Black"/>
              <a:buNone/>
            </a:pPr>
            <a:r>
              <a:rPr i="1" lang="en-US" sz="11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Note formateur : un montant importé en texte ne peut pas être additionné tant qu'il n'est pas retypé.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95" name="Google Shape;695;p2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24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5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4 · CAS PRATIQUE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02" name="Google Shape;702;p25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Nettoyer une table réelle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03" name="Google Shape;703;p25"/>
          <p:cNvSpPr txBox="1"/>
          <p:nvPr/>
        </p:nvSpPr>
        <p:spPr>
          <a:xfrm>
            <a:off x="548640" y="187452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B85042"/>
                </a:solidFill>
                <a:latin typeface="Arial Black"/>
                <a:ea typeface="Arial Black"/>
                <a:cs typeface="Arial Black"/>
                <a:sym typeface="Arial Black"/>
              </a:rPr>
              <a:t>Table brute</a:t>
            </a:r>
            <a:endParaRPr sz="1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04" name="Google Shape;704;p25"/>
          <p:cNvSpPr/>
          <p:nvPr/>
        </p:nvSpPr>
        <p:spPr>
          <a:xfrm>
            <a:off x="548640" y="2240280"/>
            <a:ext cx="5212080" cy="41148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05" name="Google Shape;705;p25"/>
          <p:cNvSpPr txBox="1"/>
          <p:nvPr/>
        </p:nvSpPr>
        <p:spPr>
          <a:xfrm>
            <a:off x="621792" y="224028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06" name="Google Shape;706;p25"/>
          <p:cNvSpPr txBox="1"/>
          <p:nvPr/>
        </p:nvSpPr>
        <p:spPr>
          <a:xfrm>
            <a:off x="1664208" y="224028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Client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07" name="Google Shape;707;p25"/>
          <p:cNvSpPr txBox="1"/>
          <p:nvPr/>
        </p:nvSpPr>
        <p:spPr>
          <a:xfrm>
            <a:off x="2706624" y="224028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Ville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08" name="Google Shape;708;p25"/>
          <p:cNvSpPr txBox="1"/>
          <p:nvPr/>
        </p:nvSpPr>
        <p:spPr>
          <a:xfrm>
            <a:off x="3749040" y="224028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09" name="Google Shape;709;p25"/>
          <p:cNvSpPr txBox="1"/>
          <p:nvPr/>
        </p:nvSpPr>
        <p:spPr>
          <a:xfrm>
            <a:off x="4791456" y="224028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Qté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0" name="Google Shape;710;p25"/>
          <p:cNvSpPr/>
          <p:nvPr/>
        </p:nvSpPr>
        <p:spPr>
          <a:xfrm>
            <a:off x="548640" y="2651760"/>
            <a:ext cx="5212080" cy="411480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1" name="Google Shape;711;p25"/>
          <p:cNvSpPr txBox="1"/>
          <p:nvPr/>
        </p:nvSpPr>
        <p:spPr>
          <a:xfrm>
            <a:off x="621792" y="265176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12/01/24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2" name="Google Shape;712;p25"/>
          <p:cNvSpPr txBox="1"/>
          <p:nvPr/>
        </p:nvSpPr>
        <p:spPr>
          <a:xfrm>
            <a:off x="1664208" y="265176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Dupont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3" name="Google Shape;713;p25"/>
          <p:cNvSpPr txBox="1"/>
          <p:nvPr/>
        </p:nvSpPr>
        <p:spPr>
          <a:xfrm>
            <a:off x="2706624" y="265176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paris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4" name="Google Shape;714;p25"/>
          <p:cNvSpPr txBox="1"/>
          <p:nvPr/>
        </p:nvSpPr>
        <p:spPr>
          <a:xfrm>
            <a:off x="3749040" y="265176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"1200"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5" name="Google Shape;715;p25"/>
          <p:cNvSpPr txBox="1"/>
          <p:nvPr/>
        </p:nvSpPr>
        <p:spPr>
          <a:xfrm>
            <a:off x="4791456" y="265176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6" name="Google Shape;716;p25"/>
          <p:cNvSpPr/>
          <p:nvPr/>
        </p:nvSpPr>
        <p:spPr>
          <a:xfrm>
            <a:off x="548640" y="3063240"/>
            <a:ext cx="52120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7" name="Google Shape;717;p25"/>
          <p:cNvSpPr txBox="1"/>
          <p:nvPr/>
        </p:nvSpPr>
        <p:spPr>
          <a:xfrm>
            <a:off x="621792" y="306324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12/01/24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8" name="Google Shape;718;p25"/>
          <p:cNvSpPr txBox="1"/>
          <p:nvPr/>
        </p:nvSpPr>
        <p:spPr>
          <a:xfrm>
            <a:off x="1664208" y="306324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Dupont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9" name="Google Shape;719;p25"/>
          <p:cNvSpPr txBox="1"/>
          <p:nvPr/>
        </p:nvSpPr>
        <p:spPr>
          <a:xfrm>
            <a:off x="2706624" y="306324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paris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0" name="Google Shape;720;p25"/>
          <p:cNvSpPr txBox="1"/>
          <p:nvPr/>
        </p:nvSpPr>
        <p:spPr>
          <a:xfrm>
            <a:off x="3749040" y="306324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"1200"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1" name="Google Shape;721;p25"/>
          <p:cNvSpPr txBox="1"/>
          <p:nvPr/>
        </p:nvSpPr>
        <p:spPr>
          <a:xfrm>
            <a:off x="4791456" y="306324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2" name="Google Shape;722;p25"/>
          <p:cNvSpPr/>
          <p:nvPr/>
        </p:nvSpPr>
        <p:spPr>
          <a:xfrm>
            <a:off x="548640" y="3474720"/>
            <a:ext cx="5212080" cy="411480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3" name="Google Shape;723;p25"/>
          <p:cNvSpPr txBox="1"/>
          <p:nvPr/>
        </p:nvSpPr>
        <p:spPr>
          <a:xfrm>
            <a:off x="621792" y="347472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13-01-2024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4" name="Google Shape;724;p25"/>
          <p:cNvSpPr txBox="1"/>
          <p:nvPr/>
        </p:nvSpPr>
        <p:spPr>
          <a:xfrm>
            <a:off x="1664208" y="347472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Martin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5" name="Google Shape;725;p25"/>
          <p:cNvSpPr txBox="1"/>
          <p:nvPr/>
        </p:nvSpPr>
        <p:spPr>
          <a:xfrm>
            <a:off x="2706624" y="347472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Lyon 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6" name="Google Shape;726;p25"/>
          <p:cNvSpPr txBox="1"/>
          <p:nvPr/>
        </p:nvSpPr>
        <p:spPr>
          <a:xfrm>
            <a:off x="3749040" y="347472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980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7" name="Google Shape;727;p25"/>
          <p:cNvSpPr txBox="1"/>
          <p:nvPr/>
        </p:nvSpPr>
        <p:spPr>
          <a:xfrm>
            <a:off x="4791456" y="3474720"/>
            <a:ext cx="896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8" name="Google Shape;728;p25"/>
          <p:cNvSpPr txBox="1"/>
          <p:nvPr/>
        </p:nvSpPr>
        <p:spPr>
          <a:xfrm>
            <a:off x="548640" y="384048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100"/>
              <a:buFont typeface="Arial Black"/>
              <a:buNone/>
            </a:pPr>
            <a:r>
              <a:rPr i="1" lang="en-US" sz="11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Doublon · CA en texte · casse incohérente · formats de date différents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9" name="Google Shape;729;p25"/>
          <p:cNvSpPr txBox="1"/>
          <p:nvPr/>
        </p:nvSpPr>
        <p:spPr>
          <a:xfrm>
            <a:off x="6309360" y="18745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  <a:t>Table corrigée</a:t>
            </a:r>
            <a:endParaRPr sz="1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0" name="Google Shape;730;p25"/>
          <p:cNvSpPr/>
          <p:nvPr/>
        </p:nvSpPr>
        <p:spPr>
          <a:xfrm>
            <a:off x="6309360" y="2240280"/>
            <a:ext cx="530352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1" name="Google Shape;731;p25"/>
          <p:cNvSpPr txBox="1"/>
          <p:nvPr/>
        </p:nvSpPr>
        <p:spPr>
          <a:xfrm>
            <a:off x="6382512" y="22402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2" name="Google Shape;732;p25"/>
          <p:cNvSpPr txBox="1"/>
          <p:nvPr/>
        </p:nvSpPr>
        <p:spPr>
          <a:xfrm>
            <a:off x="7443216" y="22402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Client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3" name="Google Shape;733;p25"/>
          <p:cNvSpPr txBox="1"/>
          <p:nvPr/>
        </p:nvSpPr>
        <p:spPr>
          <a:xfrm>
            <a:off x="8503920" y="22402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Ville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4" name="Google Shape;734;p25"/>
          <p:cNvSpPr txBox="1"/>
          <p:nvPr/>
        </p:nvSpPr>
        <p:spPr>
          <a:xfrm>
            <a:off x="9564624" y="22402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5" name="Google Shape;735;p25"/>
          <p:cNvSpPr txBox="1"/>
          <p:nvPr/>
        </p:nvSpPr>
        <p:spPr>
          <a:xfrm>
            <a:off x="10625328" y="22402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Qté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6" name="Google Shape;736;p25"/>
          <p:cNvSpPr/>
          <p:nvPr/>
        </p:nvSpPr>
        <p:spPr>
          <a:xfrm>
            <a:off x="6309360" y="2651760"/>
            <a:ext cx="5303520" cy="411480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7" name="Google Shape;737;p25"/>
          <p:cNvSpPr txBox="1"/>
          <p:nvPr/>
        </p:nvSpPr>
        <p:spPr>
          <a:xfrm>
            <a:off x="6382512" y="26517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12/01/2024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8" name="Google Shape;738;p25"/>
          <p:cNvSpPr txBox="1"/>
          <p:nvPr/>
        </p:nvSpPr>
        <p:spPr>
          <a:xfrm>
            <a:off x="7443216" y="26517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Dupont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9" name="Google Shape;739;p25"/>
          <p:cNvSpPr txBox="1"/>
          <p:nvPr/>
        </p:nvSpPr>
        <p:spPr>
          <a:xfrm>
            <a:off x="8503920" y="26517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Paris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0" name="Google Shape;740;p25"/>
          <p:cNvSpPr txBox="1"/>
          <p:nvPr/>
        </p:nvSpPr>
        <p:spPr>
          <a:xfrm>
            <a:off x="9564624" y="26517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1200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1" name="Google Shape;741;p25"/>
          <p:cNvSpPr txBox="1"/>
          <p:nvPr/>
        </p:nvSpPr>
        <p:spPr>
          <a:xfrm>
            <a:off x="10625328" y="26517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2" name="Google Shape;742;p25"/>
          <p:cNvSpPr/>
          <p:nvPr/>
        </p:nvSpPr>
        <p:spPr>
          <a:xfrm>
            <a:off x="6309360" y="3063240"/>
            <a:ext cx="53035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3" name="Google Shape;743;p25"/>
          <p:cNvSpPr txBox="1"/>
          <p:nvPr/>
        </p:nvSpPr>
        <p:spPr>
          <a:xfrm>
            <a:off x="6382512" y="30632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13/01/2024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4" name="Google Shape;744;p25"/>
          <p:cNvSpPr txBox="1"/>
          <p:nvPr/>
        </p:nvSpPr>
        <p:spPr>
          <a:xfrm>
            <a:off x="7443216" y="30632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Martin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5" name="Google Shape;745;p25"/>
          <p:cNvSpPr txBox="1"/>
          <p:nvPr/>
        </p:nvSpPr>
        <p:spPr>
          <a:xfrm>
            <a:off x="8503920" y="30632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Lyon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6" name="Google Shape;746;p25"/>
          <p:cNvSpPr txBox="1"/>
          <p:nvPr/>
        </p:nvSpPr>
        <p:spPr>
          <a:xfrm>
            <a:off x="9564624" y="30632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980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7" name="Google Shape;747;p25"/>
          <p:cNvSpPr txBox="1"/>
          <p:nvPr/>
        </p:nvSpPr>
        <p:spPr>
          <a:xfrm>
            <a:off x="10625328" y="30632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8" name="Google Shape;748;p25"/>
          <p:cNvSpPr/>
          <p:nvPr/>
        </p:nvSpPr>
        <p:spPr>
          <a:xfrm>
            <a:off x="548640" y="5120640"/>
            <a:ext cx="11064240" cy="502920"/>
          </a:xfrm>
          <a:prstGeom prst="roundRect">
            <a:avLst>
              <a:gd fmla="val 10909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9" name="Google Shape;749;p25"/>
          <p:cNvSpPr txBox="1"/>
          <p:nvPr/>
        </p:nvSpPr>
        <p:spPr>
          <a:xfrm>
            <a:off x="731520" y="512064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Arial Black"/>
              <a:buNone/>
            </a:pPr>
            <a:r>
              <a:rPr i="1" lang="en-US" sz="11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Note formateur : la pratique révèle les pièges réels des données - bien plus que la théorie.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50" name="Google Shape;750;p2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25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6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4 · POWER QUERY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57" name="Google Shape;757;p26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Transformer une structure de données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58" name="Google Shape;758;p26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59" name="Google Shape;759;p26"/>
          <p:cNvSpPr txBox="1"/>
          <p:nvPr/>
        </p:nvSpPr>
        <p:spPr>
          <a:xfrm>
            <a:off x="804672" y="2057400"/>
            <a:ext cx="3858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Pivot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0" name="Google Shape;760;p26"/>
          <p:cNvSpPr/>
          <p:nvPr/>
        </p:nvSpPr>
        <p:spPr>
          <a:xfrm>
            <a:off x="548640" y="263347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1" name="Google Shape;761;p26"/>
          <p:cNvSpPr txBox="1"/>
          <p:nvPr/>
        </p:nvSpPr>
        <p:spPr>
          <a:xfrm>
            <a:off x="804672" y="2514600"/>
            <a:ext cx="3858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Dépivotage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2" name="Google Shape;762;p26"/>
          <p:cNvSpPr/>
          <p:nvPr/>
        </p:nvSpPr>
        <p:spPr>
          <a:xfrm>
            <a:off x="548640" y="309067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3" name="Google Shape;763;p26"/>
          <p:cNvSpPr txBox="1"/>
          <p:nvPr/>
        </p:nvSpPr>
        <p:spPr>
          <a:xfrm>
            <a:off x="804672" y="2971800"/>
            <a:ext cx="3858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Transposition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4" name="Google Shape;764;p26"/>
          <p:cNvSpPr/>
          <p:nvPr/>
        </p:nvSpPr>
        <p:spPr>
          <a:xfrm>
            <a:off x="548640" y="354787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5" name="Google Shape;765;p26"/>
          <p:cNvSpPr txBox="1"/>
          <p:nvPr/>
        </p:nvSpPr>
        <p:spPr>
          <a:xfrm>
            <a:off x="804672" y="3429000"/>
            <a:ext cx="3858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Remplissage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6" name="Google Shape;766;p26"/>
          <p:cNvSpPr/>
          <p:nvPr/>
        </p:nvSpPr>
        <p:spPr>
          <a:xfrm>
            <a:off x="548640" y="400507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7" name="Google Shape;767;p26"/>
          <p:cNvSpPr txBox="1"/>
          <p:nvPr/>
        </p:nvSpPr>
        <p:spPr>
          <a:xfrm>
            <a:off x="804672" y="3886200"/>
            <a:ext cx="3858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Regroupement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8" name="Google Shape;768;p26"/>
          <p:cNvSpPr txBox="1"/>
          <p:nvPr/>
        </p:nvSpPr>
        <p:spPr>
          <a:xfrm>
            <a:off x="4846320" y="19202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Table "large"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9" name="Google Shape;769;p26"/>
          <p:cNvSpPr/>
          <p:nvPr/>
        </p:nvSpPr>
        <p:spPr>
          <a:xfrm>
            <a:off x="4846320" y="2286000"/>
            <a:ext cx="301752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0" name="Google Shape;770;p26"/>
          <p:cNvSpPr txBox="1"/>
          <p:nvPr/>
        </p:nvSpPr>
        <p:spPr>
          <a:xfrm>
            <a:off x="4919472" y="2286000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Produit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1" name="Google Shape;771;p26"/>
          <p:cNvSpPr txBox="1"/>
          <p:nvPr/>
        </p:nvSpPr>
        <p:spPr>
          <a:xfrm>
            <a:off x="5925312" y="2286000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Jan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2" name="Google Shape;772;p26"/>
          <p:cNvSpPr txBox="1"/>
          <p:nvPr/>
        </p:nvSpPr>
        <p:spPr>
          <a:xfrm>
            <a:off x="6931152" y="2286000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Fév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3" name="Google Shape;773;p26"/>
          <p:cNvSpPr/>
          <p:nvPr/>
        </p:nvSpPr>
        <p:spPr>
          <a:xfrm>
            <a:off x="4846320" y="2670048"/>
            <a:ext cx="3017520" cy="384048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4" name="Google Shape;774;p26"/>
          <p:cNvSpPr txBox="1"/>
          <p:nvPr/>
        </p:nvSpPr>
        <p:spPr>
          <a:xfrm>
            <a:off x="4919472" y="2670048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Café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5" name="Google Shape;775;p26"/>
          <p:cNvSpPr txBox="1"/>
          <p:nvPr/>
        </p:nvSpPr>
        <p:spPr>
          <a:xfrm>
            <a:off x="5925312" y="2670048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120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6" name="Google Shape;776;p26"/>
          <p:cNvSpPr txBox="1"/>
          <p:nvPr/>
        </p:nvSpPr>
        <p:spPr>
          <a:xfrm>
            <a:off x="6931152" y="2670048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140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7" name="Google Shape;777;p26"/>
          <p:cNvSpPr/>
          <p:nvPr/>
        </p:nvSpPr>
        <p:spPr>
          <a:xfrm>
            <a:off x="4846320" y="3054096"/>
            <a:ext cx="30175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8" name="Google Shape;778;p26"/>
          <p:cNvSpPr txBox="1"/>
          <p:nvPr/>
        </p:nvSpPr>
        <p:spPr>
          <a:xfrm>
            <a:off x="4919472" y="3054096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Thé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9" name="Google Shape;779;p26"/>
          <p:cNvSpPr txBox="1"/>
          <p:nvPr/>
        </p:nvSpPr>
        <p:spPr>
          <a:xfrm>
            <a:off x="5925312" y="3054096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80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0" name="Google Shape;780;p26"/>
          <p:cNvSpPr txBox="1"/>
          <p:nvPr/>
        </p:nvSpPr>
        <p:spPr>
          <a:xfrm>
            <a:off x="6931152" y="3054096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95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1" name="Google Shape;781;p26"/>
          <p:cNvSpPr txBox="1"/>
          <p:nvPr/>
        </p:nvSpPr>
        <p:spPr>
          <a:xfrm>
            <a:off x="7955280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200"/>
              <a:buFont typeface="Arial Black"/>
              <a:buNone/>
            </a:pPr>
            <a:r>
              <a:rPr lang="en-US" sz="22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2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2" name="Google Shape;782;p26"/>
          <p:cNvSpPr txBox="1"/>
          <p:nvPr/>
        </p:nvSpPr>
        <p:spPr>
          <a:xfrm>
            <a:off x="8595360" y="19202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Table "longue"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3" name="Google Shape;783;p26"/>
          <p:cNvSpPr/>
          <p:nvPr/>
        </p:nvSpPr>
        <p:spPr>
          <a:xfrm>
            <a:off x="8595360" y="2286000"/>
            <a:ext cx="301752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4" name="Google Shape;784;p26"/>
          <p:cNvSpPr txBox="1"/>
          <p:nvPr/>
        </p:nvSpPr>
        <p:spPr>
          <a:xfrm>
            <a:off x="8668512" y="2286000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Produit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5" name="Google Shape;785;p26"/>
          <p:cNvSpPr txBox="1"/>
          <p:nvPr/>
        </p:nvSpPr>
        <p:spPr>
          <a:xfrm>
            <a:off x="9674352" y="2286000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Mois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6" name="Google Shape;786;p26"/>
          <p:cNvSpPr txBox="1"/>
          <p:nvPr/>
        </p:nvSpPr>
        <p:spPr>
          <a:xfrm>
            <a:off x="10680192" y="2286000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Valeur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7" name="Google Shape;787;p26"/>
          <p:cNvSpPr/>
          <p:nvPr/>
        </p:nvSpPr>
        <p:spPr>
          <a:xfrm>
            <a:off x="8595360" y="2670048"/>
            <a:ext cx="3017520" cy="384048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8" name="Google Shape;788;p26"/>
          <p:cNvSpPr txBox="1"/>
          <p:nvPr/>
        </p:nvSpPr>
        <p:spPr>
          <a:xfrm>
            <a:off x="8668512" y="2670048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Café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9" name="Google Shape;789;p26"/>
          <p:cNvSpPr txBox="1"/>
          <p:nvPr/>
        </p:nvSpPr>
        <p:spPr>
          <a:xfrm>
            <a:off x="9674352" y="2670048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Jan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0" name="Google Shape;790;p26"/>
          <p:cNvSpPr txBox="1"/>
          <p:nvPr/>
        </p:nvSpPr>
        <p:spPr>
          <a:xfrm>
            <a:off x="10680192" y="2670048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120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1" name="Google Shape;791;p26"/>
          <p:cNvSpPr/>
          <p:nvPr/>
        </p:nvSpPr>
        <p:spPr>
          <a:xfrm>
            <a:off x="8595360" y="3054096"/>
            <a:ext cx="30175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2" name="Google Shape;792;p26"/>
          <p:cNvSpPr txBox="1"/>
          <p:nvPr/>
        </p:nvSpPr>
        <p:spPr>
          <a:xfrm>
            <a:off x="8668512" y="3054096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Café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3" name="Google Shape;793;p26"/>
          <p:cNvSpPr txBox="1"/>
          <p:nvPr/>
        </p:nvSpPr>
        <p:spPr>
          <a:xfrm>
            <a:off x="9674352" y="3054096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Fév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4" name="Google Shape;794;p26"/>
          <p:cNvSpPr txBox="1"/>
          <p:nvPr/>
        </p:nvSpPr>
        <p:spPr>
          <a:xfrm>
            <a:off x="10680192" y="3054096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140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5" name="Google Shape;795;p26"/>
          <p:cNvSpPr/>
          <p:nvPr/>
        </p:nvSpPr>
        <p:spPr>
          <a:xfrm>
            <a:off x="8595360" y="3438144"/>
            <a:ext cx="3017520" cy="384048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6" name="Google Shape;796;p26"/>
          <p:cNvSpPr txBox="1"/>
          <p:nvPr/>
        </p:nvSpPr>
        <p:spPr>
          <a:xfrm>
            <a:off x="8668512" y="3438144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Thé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7" name="Google Shape;797;p26"/>
          <p:cNvSpPr txBox="1"/>
          <p:nvPr/>
        </p:nvSpPr>
        <p:spPr>
          <a:xfrm>
            <a:off x="9674352" y="3438144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Jan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8" name="Google Shape;798;p26"/>
          <p:cNvSpPr txBox="1"/>
          <p:nvPr/>
        </p:nvSpPr>
        <p:spPr>
          <a:xfrm>
            <a:off x="10680192" y="3438144"/>
            <a:ext cx="859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80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9" name="Google Shape;799;p26"/>
          <p:cNvSpPr/>
          <p:nvPr/>
        </p:nvSpPr>
        <p:spPr>
          <a:xfrm>
            <a:off x="548640" y="4937760"/>
            <a:ext cx="11064240" cy="502920"/>
          </a:xfrm>
          <a:prstGeom prst="roundRect">
            <a:avLst>
              <a:gd fmla="val 10909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00" name="Google Shape;800;p26"/>
          <p:cNvSpPr txBox="1"/>
          <p:nvPr/>
        </p:nvSpPr>
        <p:spPr>
          <a:xfrm>
            <a:off x="731520" y="49377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Arial Black"/>
              <a:buNone/>
            </a:pPr>
            <a:r>
              <a:rPr i="1" lang="en-US" sz="11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Note formateur : la table longue est le format attendu par la majorité des visuels Power BI.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01" name="Google Shape;801;p2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26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7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4 · POWER QUERY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08" name="Google Shape;808;p27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Combiner les données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09" name="Google Shape;809;p27"/>
          <p:cNvSpPr/>
          <p:nvPr/>
        </p:nvSpPr>
        <p:spPr>
          <a:xfrm>
            <a:off x="548640" y="2103120"/>
            <a:ext cx="5394960" cy="3108960"/>
          </a:xfrm>
          <a:prstGeom prst="roundRect">
            <a:avLst>
              <a:gd fmla="val 2353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0" name="Google Shape;810;p27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Ajouter (Append)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1" name="Google Shape;811;p27"/>
          <p:cNvSpPr txBox="1"/>
          <p:nvPr/>
        </p:nvSpPr>
        <p:spPr>
          <a:xfrm>
            <a:off x="777240" y="27889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•  Empile les lignes de plusieurs tables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2" name="Google Shape;812;p27"/>
          <p:cNvSpPr txBox="1"/>
          <p:nvPr/>
        </p:nvSpPr>
        <p:spPr>
          <a:xfrm>
            <a:off x="777240" y="32918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•  Même structure de colonnes requise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3" name="Google Shape;813;p27"/>
          <p:cNvSpPr txBox="1"/>
          <p:nvPr/>
        </p:nvSpPr>
        <p:spPr>
          <a:xfrm>
            <a:off x="777240" y="37947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•  Ex. : ventes de janvier + février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4" name="Google Shape;814;p27"/>
          <p:cNvSpPr/>
          <p:nvPr/>
        </p:nvSpPr>
        <p:spPr>
          <a:xfrm>
            <a:off x="6217920" y="2103120"/>
            <a:ext cx="5394960" cy="3108960"/>
          </a:xfrm>
          <a:prstGeom prst="roundRect">
            <a:avLst>
              <a:gd fmla="val 235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5" name="Google Shape;815;p27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Fusionner (Merge)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6" name="Google Shape;816;p27"/>
          <p:cNvSpPr txBox="1"/>
          <p:nvPr/>
        </p:nvSpPr>
        <p:spPr>
          <a:xfrm>
            <a:off x="6446520" y="27889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•  Croise les colonnes de deux tables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7" name="Google Shape;817;p27"/>
          <p:cNvSpPr txBox="1"/>
          <p:nvPr/>
        </p:nvSpPr>
        <p:spPr>
          <a:xfrm>
            <a:off x="6446520" y="32918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•  Nécessite une clé commune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8" name="Google Shape;818;p27"/>
          <p:cNvSpPr txBox="1"/>
          <p:nvPr/>
        </p:nvSpPr>
        <p:spPr>
          <a:xfrm>
            <a:off x="6446520" y="37947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•  Ex. : ventes + informations client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9" name="Google Shape;819;p2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27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28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4 · POWER QUERY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6" name="Google Shape;826;p28"/>
          <p:cNvSpPr txBox="1"/>
          <p:nvPr/>
        </p:nvSpPr>
        <p:spPr>
          <a:xfrm>
            <a:off x="57912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Paramètres et transformations reproductibles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7" name="Google Shape;827;p28"/>
          <p:cNvSpPr/>
          <p:nvPr/>
        </p:nvSpPr>
        <p:spPr>
          <a:xfrm>
            <a:off x="548640" y="2377440"/>
            <a:ext cx="2529840" cy="1097280"/>
          </a:xfrm>
          <a:prstGeom prst="roundRect">
            <a:avLst>
              <a:gd fmla="val 5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8" name="Google Shape;828;p28"/>
          <p:cNvSpPr txBox="1"/>
          <p:nvPr/>
        </p:nvSpPr>
        <p:spPr>
          <a:xfrm>
            <a:off x="594360" y="2377440"/>
            <a:ext cx="243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Paramètre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(ex. année)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9" name="Google Shape;829;p28"/>
          <p:cNvSpPr txBox="1"/>
          <p:nvPr/>
        </p:nvSpPr>
        <p:spPr>
          <a:xfrm>
            <a:off x="3078480" y="2377440"/>
            <a:ext cx="320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0" name="Google Shape;830;p28"/>
          <p:cNvSpPr/>
          <p:nvPr/>
        </p:nvSpPr>
        <p:spPr>
          <a:xfrm>
            <a:off x="3398520" y="2377440"/>
            <a:ext cx="2529840" cy="1097280"/>
          </a:xfrm>
          <a:prstGeom prst="roundRect">
            <a:avLst>
              <a:gd fmla="val 5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1" name="Google Shape;831;p28"/>
          <p:cNvSpPr txBox="1"/>
          <p:nvPr/>
        </p:nvSpPr>
        <p:spPr>
          <a:xfrm>
            <a:off x="3444240" y="2377440"/>
            <a:ext cx="243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Requête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générique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2" name="Google Shape;832;p28"/>
          <p:cNvSpPr txBox="1"/>
          <p:nvPr/>
        </p:nvSpPr>
        <p:spPr>
          <a:xfrm>
            <a:off x="5928360" y="2377440"/>
            <a:ext cx="320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3" name="Google Shape;833;p28"/>
          <p:cNvSpPr/>
          <p:nvPr/>
        </p:nvSpPr>
        <p:spPr>
          <a:xfrm>
            <a:off x="6248400" y="2377440"/>
            <a:ext cx="2529840" cy="1097280"/>
          </a:xfrm>
          <a:prstGeom prst="roundRect">
            <a:avLst>
              <a:gd fmla="val 5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4" name="Google Shape;834;p28"/>
          <p:cNvSpPr txBox="1"/>
          <p:nvPr/>
        </p:nvSpPr>
        <p:spPr>
          <a:xfrm>
            <a:off x="6294120" y="2377440"/>
            <a:ext cx="243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Résultat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actualisable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5" name="Google Shape;835;p28"/>
          <p:cNvSpPr/>
          <p:nvPr/>
        </p:nvSpPr>
        <p:spPr>
          <a:xfrm>
            <a:off x="548640" y="409651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6" name="Google Shape;836;p28"/>
          <p:cNvSpPr txBox="1"/>
          <p:nvPr/>
        </p:nvSpPr>
        <p:spPr>
          <a:xfrm>
            <a:off x="804672" y="3977640"/>
            <a:ext cx="10259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Un paramètre généralise une requête (chemin de fichier, année, filtre)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7" name="Google Shape;837;p28"/>
          <p:cNvSpPr/>
          <p:nvPr/>
        </p:nvSpPr>
        <p:spPr>
          <a:xfrm>
            <a:off x="548640" y="464515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8" name="Google Shape;838;p28"/>
          <p:cNvSpPr txBox="1"/>
          <p:nvPr/>
        </p:nvSpPr>
        <p:spPr>
          <a:xfrm>
            <a:off x="804672" y="4526280"/>
            <a:ext cx="10259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Il permet de réutiliser la même préparation d'un mois sur l'autre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9" name="Google Shape;839;p2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28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9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5 · LANGAGE M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46" name="Google Shape;846;p29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Pourquoi le langage M ?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47" name="Google Shape;847;p29"/>
          <p:cNvSpPr/>
          <p:nvPr/>
        </p:nvSpPr>
        <p:spPr>
          <a:xfrm>
            <a:off x="548640" y="2286000"/>
            <a:ext cx="3474720" cy="118872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48" name="Google Shape;848;p29"/>
          <p:cNvSpPr txBox="1"/>
          <p:nvPr/>
        </p:nvSpPr>
        <p:spPr>
          <a:xfrm>
            <a:off x="594360" y="2286000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Action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utilisateur (clic)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49" name="Google Shape;849;p29"/>
          <p:cNvSpPr txBox="1"/>
          <p:nvPr/>
        </p:nvSpPr>
        <p:spPr>
          <a:xfrm>
            <a:off x="4023360" y="2286000"/>
            <a:ext cx="320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0" name="Google Shape;850;p29"/>
          <p:cNvSpPr/>
          <p:nvPr/>
        </p:nvSpPr>
        <p:spPr>
          <a:xfrm>
            <a:off x="4343400" y="2286000"/>
            <a:ext cx="3474720" cy="1188720"/>
          </a:xfrm>
          <a:prstGeom prst="roundRect">
            <a:avLst>
              <a:gd fmla="val 461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1" name="Google Shape;851;p29"/>
          <p:cNvSpPr txBox="1"/>
          <p:nvPr/>
        </p:nvSpPr>
        <p:spPr>
          <a:xfrm>
            <a:off x="4389120" y="2286000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Étape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 Query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2" name="Google Shape;852;p29"/>
          <p:cNvSpPr txBox="1"/>
          <p:nvPr/>
        </p:nvSpPr>
        <p:spPr>
          <a:xfrm>
            <a:off x="7818120" y="2286000"/>
            <a:ext cx="320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400"/>
              <a:buFont typeface="Arial Black"/>
              <a:buNone/>
            </a:pPr>
            <a:r>
              <a:rPr lang="en-US" sz="14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3" name="Google Shape;853;p29"/>
          <p:cNvSpPr/>
          <p:nvPr/>
        </p:nvSpPr>
        <p:spPr>
          <a:xfrm>
            <a:off x="8138160" y="2286000"/>
            <a:ext cx="3474720" cy="118872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4" name="Google Shape;854;p29"/>
          <p:cNvSpPr txBox="1"/>
          <p:nvPr/>
        </p:nvSpPr>
        <p:spPr>
          <a:xfrm>
            <a:off x="8183880" y="2286000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Code M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généré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5" name="Google Shape;855;p29"/>
          <p:cNvSpPr/>
          <p:nvPr/>
        </p:nvSpPr>
        <p:spPr>
          <a:xfrm>
            <a:off x="548640" y="418795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6" name="Google Shape;856;p29"/>
          <p:cNvSpPr txBox="1"/>
          <p:nvPr/>
        </p:nvSpPr>
        <p:spPr>
          <a:xfrm>
            <a:off x="804672" y="4069080"/>
            <a:ext cx="10533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Power Query utilise le langage M en arrière-plan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7" name="Google Shape;857;p29"/>
          <p:cNvSpPr/>
          <p:nvPr/>
        </p:nvSpPr>
        <p:spPr>
          <a:xfrm>
            <a:off x="548640" y="473659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8" name="Google Shape;858;p29"/>
          <p:cNvSpPr txBox="1"/>
          <p:nvPr/>
        </p:nvSpPr>
        <p:spPr>
          <a:xfrm>
            <a:off x="804672" y="4617720"/>
            <a:ext cx="10533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Chaque transformation réalisée dans l'interface génère automatiquement du code M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9" name="Google Shape;859;p29"/>
          <p:cNvSpPr/>
          <p:nvPr/>
        </p:nvSpPr>
        <p:spPr>
          <a:xfrm>
            <a:off x="548640" y="5285232"/>
            <a:ext cx="100584" cy="10058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0" name="Google Shape;860;p29"/>
          <p:cNvSpPr txBox="1"/>
          <p:nvPr/>
        </p:nvSpPr>
        <p:spPr>
          <a:xfrm>
            <a:off x="804672" y="5166360"/>
            <a:ext cx="10533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L'interface graphique permet d'éviter de coder manuellement au départ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1" name="Google Shape;861;p2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29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5 · LANGAGE M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8" name="Google Shape;868;p30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Lire une requête M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9" name="Google Shape;869;p30"/>
          <p:cNvSpPr/>
          <p:nvPr/>
        </p:nvSpPr>
        <p:spPr>
          <a:xfrm>
            <a:off x="548640" y="2011680"/>
            <a:ext cx="6400800" cy="3017520"/>
          </a:xfrm>
          <a:prstGeom prst="roundRect">
            <a:avLst>
              <a:gd fmla="val 1818" name="adj"/>
            </a:avLst>
          </a:prstGeom>
          <a:solidFill>
            <a:srgbClr val="013A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0" name="Google Shape;870;p30"/>
          <p:cNvSpPr txBox="1"/>
          <p:nvPr/>
        </p:nvSpPr>
        <p:spPr>
          <a:xfrm>
            <a:off x="777240" y="2194560"/>
            <a:ext cx="5943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  <a:t>let</a:t>
            </a:r>
            <a:br>
              <a:rPr lang="en-US" sz="12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  <a:t>    Source = Excel.Workbook(...),</a:t>
            </a:r>
            <a:br>
              <a:rPr lang="en-US" sz="12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  <a:t>    Filtré = Table.SelectRows(Source, ...),</a:t>
            </a:r>
            <a:br>
              <a:rPr lang="en-US" sz="12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  <a:t>    Typé = Table.TransformColumnTypes(Filtré, ...)</a:t>
            </a:r>
            <a:br>
              <a:rPr lang="en-US" sz="12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  <a:t>in</a:t>
            </a:r>
            <a:br>
              <a:rPr lang="en-US" sz="12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Arial Black"/>
              <a:buNone/>
            </a:pPr>
            <a:r>
              <a:rPr lang="en-US" sz="12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  <a:t>    Typé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1" name="Google Shape;871;p30"/>
          <p:cNvSpPr/>
          <p:nvPr/>
        </p:nvSpPr>
        <p:spPr>
          <a:xfrm>
            <a:off x="7223760" y="2221992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2" name="Google Shape;872;p30"/>
          <p:cNvSpPr txBox="1"/>
          <p:nvPr/>
        </p:nvSpPr>
        <p:spPr>
          <a:xfrm>
            <a:off x="7223760" y="22219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3" name="Google Shape;873;p30"/>
          <p:cNvSpPr txBox="1"/>
          <p:nvPr/>
        </p:nvSpPr>
        <p:spPr>
          <a:xfrm>
            <a:off x="7543800" y="214884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let - ouvre la liste des étapes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4" name="Google Shape;874;p30"/>
          <p:cNvSpPr/>
          <p:nvPr/>
        </p:nvSpPr>
        <p:spPr>
          <a:xfrm>
            <a:off x="7223760" y="2606040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5" name="Google Shape;875;p30"/>
          <p:cNvSpPr txBox="1"/>
          <p:nvPr/>
        </p:nvSpPr>
        <p:spPr>
          <a:xfrm>
            <a:off x="7223760" y="260604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6" name="Google Shape;876;p30"/>
          <p:cNvSpPr txBox="1"/>
          <p:nvPr/>
        </p:nvSpPr>
        <p:spPr>
          <a:xfrm>
            <a:off x="7543800" y="2532888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chaque étape référence la précédente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7" name="Google Shape;877;p30"/>
          <p:cNvSpPr/>
          <p:nvPr/>
        </p:nvSpPr>
        <p:spPr>
          <a:xfrm>
            <a:off x="7223760" y="2990088"/>
            <a:ext cx="219456" cy="21945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8" name="Google Shape;878;p30"/>
          <p:cNvSpPr txBox="1"/>
          <p:nvPr/>
        </p:nvSpPr>
        <p:spPr>
          <a:xfrm>
            <a:off x="7223760" y="299008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9" name="Google Shape;879;p30"/>
          <p:cNvSpPr txBox="1"/>
          <p:nvPr/>
        </p:nvSpPr>
        <p:spPr>
          <a:xfrm>
            <a:off x="7543800" y="2916936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in - indique le résultat final retourné</a:t>
            </a:r>
            <a:endParaRPr sz="12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0" name="Google Shape;880;p30"/>
          <p:cNvSpPr/>
          <p:nvPr/>
        </p:nvSpPr>
        <p:spPr>
          <a:xfrm>
            <a:off x="548640" y="5349240"/>
            <a:ext cx="11064240" cy="502920"/>
          </a:xfrm>
          <a:prstGeom prst="roundRect">
            <a:avLst>
              <a:gd fmla="val 10909" name="adj"/>
            </a:avLst>
          </a:prstGeom>
          <a:solidFill>
            <a:srgbClr val="EEF6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1" name="Google Shape;881;p3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30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5 · LANGAGE M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8" name="Google Shape;888;p3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Interface graphique vs langage M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9" name="Google Shape;889;p31"/>
          <p:cNvSpPr/>
          <p:nvPr/>
        </p:nvSpPr>
        <p:spPr>
          <a:xfrm>
            <a:off x="548640" y="2103120"/>
            <a:ext cx="1106424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0" name="Google Shape;890;p31"/>
          <p:cNvSpPr txBox="1"/>
          <p:nvPr/>
        </p:nvSpPr>
        <p:spPr>
          <a:xfrm>
            <a:off x="621792" y="210312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Situation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1" name="Google Shape;891;p31"/>
          <p:cNvSpPr txBox="1"/>
          <p:nvPr/>
        </p:nvSpPr>
        <p:spPr>
          <a:xfrm>
            <a:off x="4309872" y="210312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Interface graphique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2" name="Google Shape;892;p31"/>
          <p:cNvSpPr txBox="1"/>
          <p:nvPr/>
        </p:nvSpPr>
        <p:spPr>
          <a:xfrm>
            <a:off x="7997952" y="210312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Langage M</a:t>
            </a:r>
            <a:endParaRPr sz="11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3" name="Google Shape;893;p31"/>
          <p:cNvSpPr/>
          <p:nvPr/>
        </p:nvSpPr>
        <p:spPr>
          <a:xfrm>
            <a:off x="548640" y="2651760"/>
            <a:ext cx="11064240" cy="548640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4" name="Google Shape;894;p31"/>
          <p:cNvSpPr txBox="1"/>
          <p:nvPr/>
        </p:nvSpPr>
        <p:spPr>
          <a:xfrm>
            <a:off x="621792" y="265176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Transformation courante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5" name="Google Shape;895;p31"/>
          <p:cNvSpPr txBox="1"/>
          <p:nvPr/>
        </p:nvSpPr>
        <p:spPr>
          <a:xfrm>
            <a:off x="4309872" y="265176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Suffisante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6" name="Google Shape;896;p31"/>
          <p:cNvSpPr txBox="1"/>
          <p:nvPr/>
        </p:nvSpPr>
        <p:spPr>
          <a:xfrm>
            <a:off x="7997952" y="265176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Non nécessaire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7" name="Google Shape;897;p3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8" name="Google Shape;898;p31"/>
          <p:cNvSpPr txBox="1"/>
          <p:nvPr/>
        </p:nvSpPr>
        <p:spPr>
          <a:xfrm>
            <a:off x="621792" y="320040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Transformation absente des menus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9" name="Google Shape;899;p31"/>
          <p:cNvSpPr txBox="1"/>
          <p:nvPr/>
        </p:nvSpPr>
        <p:spPr>
          <a:xfrm>
            <a:off x="4309872" y="320040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Limitée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0" name="Google Shape;900;p31"/>
          <p:cNvSpPr txBox="1"/>
          <p:nvPr/>
        </p:nvSpPr>
        <p:spPr>
          <a:xfrm>
            <a:off x="7997952" y="320040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Utile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1" name="Google Shape;901;p3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solidFill>
            <a:srgbClr val="EEF6F5"/>
          </a:solidFill>
          <a:ln cap="flat" cmpd="sng" w="9525">
            <a:solidFill>
              <a:srgbClr val="D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2" name="Google Shape;902;p31"/>
          <p:cNvSpPr txBox="1"/>
          <p:nvPr/>
        </p:nvSpPr>
        <p:spPr>
          <a:xfrm>
            <a:off x="621792" y="374904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Industrialiser une préparation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3" name="Google Shape;903;p31"/>
          <p:cNvSpPr txBox="1"/>
          <p:nvPr/>
        </p:nvSpPr>
        <p:spPr>
          <a:xfrm>
            <a:off x="4309872" y="374904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Répétitif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4" name="Google Shape;904;p31"/>
          <p:cNvSpPr txBox="1"/>
          <p:nvPr/>
        </p:nvSpPr>
        <p:spPr>
          <a:xfrm>
            <a:off x="7997952" y="3749040"/>
            <a:ext cx="3541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B2B2E"/>
                </a:solidFill>
                <a:latin typeface="Arial Black"/>
                <a:ea typeface="Arial Black"/>
                <a:cs typeface="Arial Black"/>
                <a:sym typeface="Arial Black"/>
              </a:rPr>
              <a:t>Recommandé</a:t>
            </a:r>
            <a:endParaRPr sz="1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5" name="Google Shape;905;p3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31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A40"/>
        </a:solidFill>
      </p:bgPr>
    </p:bg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PARTIE 6 · SYNTHÈSE</a:t>
            </a:r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2" name="Google Shape;912;p3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Cas pratique / synthèse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3" name="Google Shape;913;p32"/>
          <p:cNvSpPr/>
          <p:nvPr/>
        </p:nvSpPr>
        <p:spPr>
          <a:xfrm>
            <a:off x="548640" y="182880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4" name="Google Shape;914;p32"/>
          <p:cNvSpPr txBox="1"/>
          <p:nvPr/>
        </p:nvSpPr>
        <p:spPr>
          <a:xfrm>
            <a:off x="576072" y="1828800"/>
            <a:ext cx="123215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Source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Excel/CSV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5" name="Google Shape;915;p32"/>
          <p:cNvSpPr txBox="1"/>
          <p:nvPr/>
        </p:nvSpPr>
        <p:spPr>
          <a:xfrm>
            <a:off x="1835658" y="182880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9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6" name="Google Shape;916;p32"/>
          <p:cNvSpPr/>
          <p:nvPr/>
        </p:nvSpPr>
        <p:spPr>
          <a:xfrm>
            <a:off x="1945386" y="182880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7" name="Google Shape;917;p32"/>
          <p:cNvSpPr txBox="1"/>
          <p:nvPr/>
        </p:nvSpPr>
        <p:spPr>
          <a:xfrm>
            <a:off x="1972818" y="1828800"/>
            <a:ext cx="123215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Importation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8" name="Google Shape;918;p32"/>
          <p:cNvSpPr txBox="1"/>
          <p:nvPr/>
        </p:nvSpPr>
        <p:spPr>
          <a:xfrm>
            <a:off x="3232404" y="182880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9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9" name="Google Shape;919;p32"/>
          <p:cNvSpPr/>
          <p:nvPr/>
        </p:nvSpPr>
        <p:spPr>
          <a:xfrm>
            <a:off x="3342132" y="182880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0" name="Google Shape;920;p32"/>
          <p:cNvSpPr txBox="1"/>
          <p:nvPr/>
        </p:nvSpPr>
        <p:spPr>
          <a:xfrm>
            <a:off x="3369564" y="1828800"/>
            <a:ext cx="123215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Query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1" name="Google Shape;921;p32"/>
          <p:cNvSpPr txBox="1"/>
          <p:nvPr/>
        </p:nvSpPr>
        <p:spPr>
          <a:xfrm>
            <a:off x="4629150" y="182880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9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2" name="Google Shape;922;p32"/>
          <p:cNvSpPr/>
          <p:nvPr/>
        </p:nvSpPr>
        <p:spPr>
          <a:xfrm>
            <a:off x="4738878" y="182880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3" name="Google Shape;923;p32"/>
          <p:cNvSpPr txBox="1"/>
          <p:nvPr/>
        </p:nvSpPr>
        <p:spPr>
          <a:xfrm>
            <a:off x="4766310" y="1828800"/>
            <a:ext cx="123215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Nettoyage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4" name="Google Shape;924;p32"/>
          <p:cNvSpPr txBox="1"/>
          <p:nvPr/>
        </p:nvSpPr>
        <p:spPr>
          <a:xfrm>
            <a:off x="6025896" y="182880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9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5" name="Google Shape;925;p32"/>
          <p:cNvSpPr/>
          <p:nvPr/>
        </p:nvSpPr>
        <p:spPr>
          <a:xfrm>
            <a:off x="6135624" y="182880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6" name="Google Shape;926;p32"/>
          <p:cNvSpPr txBox="1"/>
          <p:nvPr/>
        </p:nvSpPr>
        <p:spPr>
          <a:xfrm>
            <a:off x="6163056" y="1828800"/>
            <a:ext cx="123215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Transfor-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mation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7" name="Google Shape;927;p32"/>
          <p:cNvSpPr txBox="1"/>
          <p:nvPr/>
        </p:nvSpPr>
        <p:spPr>
          <a:xfrm>
            <a:off x="7422642" y="182880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9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8" name="Google Shape;928;p32"/>
          <p:cNvSpPr/>
          <p:nvPr/>
        </p:nvSpPr>
        <p:spPr>
          <a:xfrm>
            <a:off x="7532370" y="182880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9" name="Google Shape;929;p32"/>
          <p:cNvSpPr txBox="1"/>
          <p:nvPr/>
        </p:nvSpPr>
        <p:spPr>
          <a:xfrm>
            <a:off x="7559802" y="1828800"/>
            <a:ext cx="123215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Contrôle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qualité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0" name="Google Shape;930;p32"/>
          <p:cNvSpPr txBox="1"/>
          <p:nvPr/>
        </p:nvSpPr>
        <p:spPr>
          <a:xfrm>
            <a:off x="8819388" y="182880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9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1" name="Google Shape;931;p32"/>
          <p:cNvSpPr/>
          <p:nvPr/>
        </p:nvSpPr>
        <p:spPr>
          <a:xfrm>
            <a:off x="8929116" y="182880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2" name="Google Shape;932;p32"/>
          <p:cNvSpPr txBox="1"/>
          <p:nvPr/>
        </p:nvSpPr>
        <p:spPr>
          <a:xfrm>
            <a:off x="8956548" y="1828800"/>
            <a:ext cx="123215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Données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prêtes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3" name="Google Shape;933;p32"/>
          <p:cNvSpPr txBox="1"/>
          <p:nvPr/>
        </p:nvSpPr>
        <p:spPr>
          <a:xfrm>
            <a:off x="10216134" y="1828800"/>
            <a:ext cx="1097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9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4" name="Google Shape;934;p32"/>
          <p:cNvSpPr/>
          <p:nvPr/>
        </p:nvSpPr>
        <p:spPr>
          <a:xfrm>
            <a:off x="10325862" y="1828800"/>
            <a:ext cx="1287018" cy="1188720"/>
          </a:xfrm>
          <a:prstGeom prst="roundRect">
            <a:avLst>
              <a:gd fmla="val 461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5" name="Google Shape;935;p32"/>
          <p:cNvSpPr txBox="1"/>
          <p:nvPr/>
        </p:nvSpPr>
        <p:spPr>
          <a:xfrm>
            <a:off x="10353294" y="1828800"/>
            <a:ext cx="123215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 Black"/>
              <a:buNone/>
            </a:pPr>
            <a:r>
              <a:rPr b="1" lang="en-US" sz="9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Dashboard</a:t>
            </a:r>
            <a:endParaRPr sz="9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6" name="Google Shape;936;p32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Arial Black"/>
              <a:buNone/>
            </a:pPr>
            <a:r>
              <a:rPr b="1" lang="en-US" sz="1500">
                <a:solidFill>
                  <a:srgbClr val="02C39A"/>
                </a:solidFill>
                <a:latin typeface="Arial Black"/>
                <a:ea typeface="Arial Black"/>
                <a:cs typeface="Arial Black"/>
                <a:sym typeface="Arial Black"/>
              </a:rPr>
              <a:t>Points clés à retenir</a:t>
            </a:r>
            <a:endParaRPr sz="1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7" name="Google Shape;937;p32"/>
          <p:cNvSpPr/>
          <p:nvPr/>
        </p:nvSpPr>
        <p:spPr>
          <a:xfrm>
            <a:off x="548640" y="4096512"/>
            <a:ext cx="100584" cy="10058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8" name="Google Shape;938;p32"/>
          <p:cNvSpPr txBox="1"/>
          <p:nvPr/>
        </p:nvSpPr>
        <p:spPr>
          <a:xfrm>
            <a:off x="804672" y="3977640"/>
            <a:ext cx="5413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L'écosystème Power BI et le rôle de Desktop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9" name="Google Shape;939;p32"/>
          <p:cNvSpPr/>
          <p:nvPr/>
        </p:nvSpPr>
        <p:spPr>
          <a:xfrm>
            <a:off x="548640" y="4553712"/>
            <a:ext cx="100584" cy="10058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0" name="Google Shape;940;p32"/>
          <p:cNvSpPr txBox="1"/>
          <p:nvPr/>
        </p:nvSpPr>
        <p:spPr>
          <a:xfrm>
            <a:off x="804672" y="4434840"/>
            <a:ext cx="5413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La préparation des données avec Power Query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1" name="Google Shape;941;p32"/>
          <p:cNvSpPr/>
          <p:nvPr/>
        </p:nvSpPr>
        <p:spPr>
          <a:xfrm>
            <a:off x="548640" y="5010912"/>
            <a:ext cx="100584" cy="10058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2" name="Google Shape;942;p32"/>
          <p:cNvSpPr txBox="1"/>
          <p:nvPr/>
        </p:nvSpPr>
        <p:spPr>
          <a:xfrm>
            <a:off x="804672" y="4892040"/>
            <a:ext cx="5413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Les bases du langage M</a:t>
            </a:r>
            <a:endParaRPr sz="135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3" name="Google Shape;943;p32"/>
          <p:cNvSpPr/>
          <p:nvPr/>
        </p:nvSpPr>
        <p:spPr>
          <a:xfrm>
            <a:off x="6583680" y="3566160"/>
            <a:ext cx="5029200" cy="2377440"/>
          </a:xfrm>
          <a:prstGeom prst="roundRect">
            <a:avLst>
              <a:gd fmla="val 3846" name="adj"/>
            </a:avLst>
          </a:prstGeom>
          <a:solidFill>
            <a:srgbClr val="028090">
              <a:alpha val="80000"/>
            </a:srgbClr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4" name="Google Shape;944;p32"/>
          <p:cNvSpPr txBox="1"/>
          <p:nvPr/>
        </p:nvSpPr>
        <p:spPr>
          <a:xfrm>
            <a:off x="6858000" y="37490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La suite logique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5" name="Google Shape;945;p32"/>
          <p:cNvSpPr txBox="1"/>
          <p:nvPr/>
        </p:nvSpPr>
        <p:spPr>
          <a:xfrm>
            <a:off x="6858000" y="4206240"/>
            <a:ext cx="44805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DEA"/>
              </a:buClr>
              <a:buSzPts val="1400"/>
              <a:buFont typeface="Arial Black"/>
              <a:buNone/>
            </a:pPr>
            <a:r>
              <a:rPr i="1" lang="en-US" sz="1400">
                <a:solidFill>
                  <a:srgbClr val="CFEDEA"/>
                </a:solidFill>
                <a:latin typeface="Arial Black"/>
                <a:ea typeface="Arial Black"/>
                <a:cs typeface="Arial Black"/>
                <a:sym typeface="Arial Black"/>
              </a:rPr>
              <a:t>Modélisation des données → DAX → Visualisation → Dashboard </a:t>
            </a:r>
            <a:endParaRPr sz="1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6" name="Google Shape;946;p3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E"/>
              </a:buClr>
              <a:buSzPts val="1000"/>
              <a:buFont typeface="Arial Black"/>
              <a:buNone/>
            </a:pPr>
            <a:r>
              <a:rPr lang="en-US" sz="1000">
                <a:solidFill>
                  <a:srgbClr val="5C6B6E"/>
                </a:solidFill>
                <a:latin typeface="Arial Black"/>
                <a:ea typeface="Arial Black"/>
                <a:cs typeface="Arial Black"/>
                <a:sym typeface="Arial Black"/>
              </a:rPr>
              <a:t>32</a:t>
            </a:r>
            <a:endParaRPr sz="1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2026-09-13T07:52:23Z</dcterms:created>
  <dc:creator>PptxGenJS</dc:creator>
</cp:coreProperties>
</file>