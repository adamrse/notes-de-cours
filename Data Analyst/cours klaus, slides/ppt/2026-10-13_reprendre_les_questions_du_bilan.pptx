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9.xml"/><Relationship Id="rId4" Type="http://schemas.openxmlformats.org/officeDocument/2006/relationships/slide" Target="slide14.xml"/><Relationship Id="rId5" Type="http://schemas.openxmlformats.org/officeDocument/2006/relationships/slide" Target="slide19.xml"/><Relationship Id="rId6" Type="http://schemas.openxmlformats.org/officeDocument/2006/relationships/slide" Target="slide25.xml"/><Relationship Id="rId7" Type="http://schemas.openxmlformats.org/officeDocument/2006/relationships/slide" Target="slide32.xml"/><Relationship Id="rId8" Type="http://schemas.openxmlformats.org/officeDocument/2006/relationships/slide" Target="slide40.xml"/><Relationship Id="rId9" Type="http://schemas.openxmlformats.org/officeDocument/2006/relationships/slide" Target="slide45.xml"/><Relationship Id="rId10" Type="http://schemas.openxmlformats.org/officeDocument/2006/relationships/slide" Target="slide48.xml"/><Relationship Id="rId11" Type="http://schemas.openxmlformats.org/officeDocument/2006/relationships/slide" Target="slide53.xml"/><Relationship Id="rId12" Type="http://schemas.openxmlformats.org/officeDocument/2006/relationships/slide" Target="slide57.xml"/><Relationship Id="rId13" Type="http://schemas.openxmlformats.org/officeDocument/2006/relationships/slide" Target="slide6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slide" Target="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slide" Target="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slide" Target="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slide" Target="slide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slide" Target="slide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slide" Target="slide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slide" Target="slide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13 OCTOBRE 2026 · BROUILLON</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Reprendre les questions</a:t>
            </a:r>
          </a:p>
          <a:p>
            <a:pPr>
              <a:spcAft>
                <a:spcPts val="800"/>
              </a:spcAft>
              <a:defRPr sz="4300" b="1">
                <a:solidFill>
                  <a:srgbClr val="FFFFFF"/>
                </a:solidFill>
                <a:latin typeface="Aptos"/>
              </a:defRPr>
            </a:pPr>
            <a:r>
              <a:t>du bilan</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Comprendre la règle, expliquer une réponse, puis essayer un autre cas.</a:t>
            </a:r>
          </a:p>
          <a:p>
            <a:pPr>
              <a:spcAft>
                <a:spcPts val="800"/>
              </a:spcAft>
              <a:defRPr sz="2500" b="0">
                <a:solidFill>
                  <a:srgbClr val="D7E7EF"/>
                </a:solidFill>
                <a:latin typeface="Aptos"/>
              </a:defRPr>
            </a:pPr>
            <a:r>
              <a:t>En complément : découvrir R².</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8" name="TextBox 7"/>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1 / 73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SOMMAIRE CLIQUABLE · MÊMES REPÈRES QUE LE NOTEBOOK</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Aller à une question du bilan</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navigate:ED01">
            <a:hlinkClick action="ppaction://hlinksldjump" r:id="rId2"/>
          </p:cNvPr>
          <p:cNvSpPr/>
          <p:nvPr/>
        </p:nvSpPr>
        <p:spPr>
          <a:xfrm>
            <a:off x="594360" y="18653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avigate:ED01">
            <a:hlinkClick action="ppaction://hlinksldjump" r:id="rId2"/>
          </p:cNvPr>
          <p:cNvSpPr txBox="1"/>
          <p:nvPr/>
        </p:nvSpPr>
        <p:spPr>
          <a:xfrm>
            <a:off x="704088" y="19293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ED01 · 3</a:t>
            </a:r>
          </a:p>
        </p:txBody>
      </p:sp>
      <p:sp>
        <p:nvSpPr>
          <p:cNvPr id="7" name="navigate:ED01">
            <a:hlinkClick action="ppaction://hlinksldjump" r:id="rId2"/>
          </p:cNvPr>
          <p:cNvSpPr txBox="1"/>
          <p:nvPr/>
        </p:nvSpPr>
        <p:spPr>
          <a:xfrm>
            <a:off x="704088" y="2185416"/>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Moyennes et poids des clients</a:t>
            </a:r>
          </a:p>
        </p:txBody>
      </p:sp>
      <p:sp>
        <p:nvSpPr>
          <p:cNvPr id="8" name="navigate:EP01">
            <a:hlinkClick action="ppaction://hlinksldjump" r:id="rId3"/>
          </p:cNvPr>
          <p:cNvSpPr/>
          <p:nvPr/>
        </p:nvSpPr>
        <p:spPr>
          <a:xfrm>
            <a:off x="4315968" y="18653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avigate:EP01">
            <a:hlinkClick action="ppaction://hlinksldjump" r:id="rId3"/>
          </p:cNvPr>
          <p:cNvSpPr txBox="1"/>
          <p:nvPr/>
        </p:nvSpPr>
        <p:spPr>
          <a:xfrm>
            <a:off x="4425696" y="19293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EP01 · 9</a:t>
            </a:r>
          </a:p>
        </p:txBody>
      </p:sp>
      <p:sp>
        <p:nvSpPr>
          <p:cNvPr id="10" name="navigate:EP01">
            <a:hlinkClick action="ppaction://hlinksldjump" r:id="rId3"/>
          </p:cNvPr>
          <p:cNvSpPr txBox="1"/>
          <p:nvPr/>
        </p:nvSpPr>
        <p:spPr>
          <a:xfrm>
            <a:off x="4425696" y="2185416"/>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Vérifier le retour d’une fonction</a:t>
            </a:r>
          </a:p>
        </p:txBody>
      </p:sp>
      <p:sp>
        <p:nvSpPr>
          <p:cNvPr id="11" name="navigate:E01">
            <a:hlinkClick action="ppaction://hlinksldjump" r:id="rId4"/>
          </p:cNvPr>
          <p:cNvSpPr/>
          <p:nvPr/>
        </p:nvSpPr>
        <p:spPr>
          <a:xfrm>
            <a:off x="8037576" y="18653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avigate:E01">
            <a:hlinkClick action="ppaction://hlinksldjump" r:id="rId4"/>
          </p:cNvPr>
          <p:cNvSpPr txBox="1"/>
          <p:nvPr/>
        </p:nvSpPr>
        <p:spPr>
          <a:xfrm>
            <a:off x="8147304" y="19293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E01 · 14</a:t>
            </a:r>
          </a:p>
        </p:txBody>
      </p:sp>
      <p:sp>
        <p:nvSpPr>
          <p:cNvPr id="13" name="navigate:E01">
            <a:hlinkClick action="ppaction://hlinksldjump" r:id="rId4"/>
          </p:cNvPr>
          <p:cNvSpPr txBox="1"/>
          <p:nvPr/>
        </p:nvSpPr>
        <p:spPr>
          <a:xfrm>
            <a:off x="8147304" y="2185416"/>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Comprendre la variation des pentes</a:t>
            </a:r>
          </a:p>
        </p:txBody>
      </p:sp>
      <p:sp>
        <p:nvSpPr>
          <p:cNvPr id="14" name="navigate:S03">
            <a:hlinkClick action="ppaction://hlinksldjump" r:id="rId5"/>
          </p:cNvPr>
          <p:cNvSpPr/>
          <p:nvPr/>
        </p:nvSpPr>
        <p:spPr>
          <a:xfrm>
            <a:off x="594360" y="27797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avigate:S03">
            <a:hlinkClick action="ppaction://hlinksldjump" r:id="rId5"/>
          </p:cNvPr>
          <p:cNvSpPr txBox="1"/>
          <p:nvPr/>
        </p:nvSpPr>
        <p:spPr>
          <a:xfrm>
            <a:off x="704088" y="28437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S03 · 19</a:t>
            </a:r>
          </a:p>
        </p:txBody>
      </p:sp>
      <p:sp>
        <p:nvSpPr>
          <p:cNvPr id="16" name="navigate:S03">
            <a:hlinkClick action="ppaction://hlinksldjump" r:id="rId5"/>
          </p:cNvPr>
          <p:cNvSpPr txBox="1"/>
          <p:nvPr/>
        </p:nvSpPr>
        <p:spPr>
          <a:xfrm>
            <a:off x="704088" y="3099816"/>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Interpréter la valeur p</a:t>
            </a:r>
          </a:p>
        </p:txBody>
      </p:sp>
      <p:sp>
        <p:nvSpPr>
          <p:cNvPr id="17" name="navigate:ES01">
            <a:hlinkClick action="ppaction://hlinksldjump" r:id="rId6"/>
          </p:cNvPr>
          <p:cNvSpPr/>
          <p:nvPr/>
        </p:nvSpPr>
        <p:spPr>
          <a:xfrm>
            <a:off x="4315968" y="27797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avigate:ES01">
            <a:hlinkClick action="ppaction://hlinksldjump" r:id="rId6"/>
          </p:cNvPr>
          <p:cNvSpPr txBox="1"/>
          <p:nvPr/>
        </p:nvSpPr>
        <p:spPr>
          <a:xfrm>
            <a:off x="4425696" y="28437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ES01 · 25</a:t>
            </a:r>
          </a:p>
        </p:txBody>
      </p:sp>
      <p:sp>
        <p:nvSpPr>
          <p:cNvPr id="19" name="navigate:ES01">
            <a:hlinkClick action="ppaction://hlinksldjump" r:id="rId6"/>
          </p:cNvPr>
          <p:cNvSpPr txBox="1"/>
          <p:nvPr/>
        </p:nvSpPr>
        <p:spPr>
          <a:xfrm>
            <a:off x="4425696" y="3099816"/>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Passer du test à une décision</a:t>
            </a:r>
          </a:p>
        </p:txBody>
      </p:sp>
      <p:sp>
        <p:nvSpPr>
          <p:cNvPr id="20" name="navigate:E02">
            <a:hlinkClick action="ppaction://hlinksldjump" r:id="rId7"/>
          </p:cNvPr>
          <p:cNvSpPr/>
          <p:nvPr/>
        </p:nvSpPr>
        <p:spPr>
          <a:xfrm>
            <a:off x="8037576" y="27797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avigate:E02">
            <a:hlinkClick action="ppaction://hlinksldjump" r:id="rId7"/>
          </p:cNvPr>
          <p:cNvSpPr txBox="1"/>
          <p:nvPr/>
        </p:nvSpPr>
        <p:spPr>
          <a:xfrm>
            <a:off x="8147304" y="28437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E02 · 32</a:t>
            </a:r>
          </a:p>
        </p:txBody>
      </p:sp>
      <p:sp>
        <p:nvSpPr>
          <p:cNvPr id="22" name="navigate:E02">
            <a:hlinkClick action="ppaction://hlinksldjump" r:id="rId7"/>
          </p:cNvPr>
          <p:cNvSpPr txBox="1"/>
          <p:nvPr/>
        </p:nvSpPr>
        <p:spPr>
          <a:xfrm>
            <a:off x="8147304" y="3099816"/>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Examiner une association</a:t>
            </a:r>
          </a:p>
        </p:txBody>
      </p:sp>
      <p:sp>
        <p:nvSpPr>
          <p:cNvPr id="23" name="navigate:Q13">
            <a:hlinkClick action="ppaction://hlinksldjump" r:id="rId8"/>
          </p:cNvPr>
          <p:cNvSpPr/>
          <p:nvPr/>
        </p:nvSpPr>
        <p:spPr>
          <a:xfrm>
            <a:off x="594360" y="36941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vigate:Q13">
            <a:hlinkClick action="ppaction://hlinksldjump" r:id="rId8"/>
          </p:cNvPr>
          <p:cNvSpPr txBox="1"/>
          <p:nvPr/>
        </p:nvSpPr>
        <p:spPr>
          <a:xfrm>
            <a:off x="704088" y="37581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Q13 · 40</a:t>
            </a:r>
          </a:p>
        </p:txBody>
      </p:sp>
      <p:sp>
        <p:nvSpPr>
          <p:cNvPr id="25" name="navigate:Q13">
            <a:hlinkClick action="ppaction://hlinksldjump" r:id="rId8"/>
          </p:cNvPr>
          <p:cNvSpPr txBox="1"/>
          <p:nvPr/>
        </p:nvSpPr>
        <p:spPr>
          <a:xfrm>
            <a:off x="704088" y="4014215"/>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Séparer les clients</a:t>
            </a:r>
          </a:p>
        </p:txBody>
      </p:sp>
      <p:sp>
        <p:nvSpPr>
          <p:cNvPr id="26" name="navigate:Q14">
            <a:hlinkClick action="ppaction://hlinksldjump" r:id="rId9"/>
          </p:cNvPr>
          <p:cNvSpPr/>
          <p:nvPr/>
        </p:nvSpPr>
        <p:spPr>
          <a:xfrm>
            <a:off x="4315968" y="36941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vigate:Q14">
            <a:hlinkClick action="ppaction://hlinksldjump" r:id="rId9"/>
          </p:cNvPr>
          <p:cNvSpPr txBox="1"/>
          <p:nvPr/>
        </p:nvSpPr>
        <p:spPr>
          <a:xfrm>
            <a:off x="4425696" y="37581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Q14 · 45</a:t>
            </a:r>
          </a:p>
        </p:txBody>
      </p:sp>
      <p:sp>
        <p:nvSpPr>
          <p:cNvPr id="28" name="navigate:Q14">
            <a:hlinkClick action="ppaction://hlinksldjump" r:id="rId9"/>
          </p:cNvPr>
          <p:cNvSpPr txBox="1"/>
          <p:nvPr/>
        </p:nvSpPr>
        <p:spPr>
          <a:xfrm>
            <a:off x="4425696" y="4014215"/>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Erreurs des modèles · appui pour E04</a:t>
            </a:r>
          </a:p>
        </p:txBody>
      </p:sp>
      <p:sp>
        <p:nvSpPr>
          <p:cNvPr id="29" name="navigate:E04">
            <a:hlinkClick action="ppaction://hlinksldjump" r:id="rId10"/>
          </p:cNvPr>
          <p:cNvSpPr/>
          <p:nvPr/>
        </p:nvSpPr>
        <p:spPr>
          <a:xfrm>
            <a:off x="8037576" y="36941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navigate:E04">
            <a:hlinkClick action="ppaction://hlinksldjump" r:id="rId10"/>
          </p:cNvPr>
          <p:cNvSpPr txBox="1"/>
          <p:nvPr/>
        </p:nvSpPr>
        <p:spPr>
          <a:xfrm>
            <a:off x="8147304" y="37581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E04 · 48</a:t>
            </a:r>
          </a:p>
        </p:txBody>
      </p:sp>
      <p:sp>
        <p:nvSpPr>
          <p:cNvPr id="31" name="navigate:E04">
            <a:hlinkClick action="ppaction://hlinksldjump" r:id="rId10"/>
          </p:cNvPr>
          <p:cNvSpPr txBox="1"/>
          <p:nvPr/>
        </p:nvSpPr>
        <p:spPr>
          <a:xfrm>
            <a:off x="8147304" y="4014215"/>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Garder une évaluation indépendante</a:t>
            </a:r>
          </a:p>
        </p:txBody>
      </p:sp>
      <p:sp>
        <p:nvSpPr>
          <p:cNvPr id="32" name="navigate:G03">
            <a:hlinkClick action="ppaction://hlinksldjump" r:id="rId11"/>
          </p:cNvPr>
          <p:cNvSpPr/>
          <p:nvPr/>
        </p:nvSpPr>
        <p:spPr>
          <a:xfrm>
            <a:off x="594360" y="46085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navigate:G03">
            <a:hlinkClick action="ppaction://hlinksldjump" r:id="rId11"/>
          </p:cNvPr>
          <p:cNvSpPr txBox="1"/>
          <p:nvPr/>
        </p:nvSpPr>
        <p:spPr>
          <a:xfrm>
            <a:off x="704088" y="46725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G03 · 53</a:t>
            </a:r>
          </a:p>
        </p:txBody>
      </p:sp>
      <p:sp>
        <p:nvSpPr>
          <p:cNvPr id="34" name="navigate:G03">
            <a:hlinkClick action="ppaction://hlinksldjump" r:id="rId11"/>
          </p:cNvPr>
          <p:cNvSpPr txBox="1"/>
          <p:nvPr/>
        </p:nvSpPr>
        <p:spPr>
          <a:xfrm>
            <a:off x="704088" y="4928616"/>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Distinguer divergence et conflit</a:t>
            </a:r>
          </a:p>
        </p:txBody>
      </p:sp>
      <p:sp>
        <p:nvSpPr>
          <p:cNvPr id="35" name="navigate:EG01">
            <a:hlinkClick action="ppaction://hlinksldjump" r:id="rId12"/>
          </p:cNvPr>
          <p:cNvSpPr/>
          <p:nvPr/>
        </p:nvSpPr>
        <p:spPr>
          <a:xfrm>
            <a:off x="4315968" y="46085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navigate:EG01">
            <a:hlinkClick action="ppaction://hlinksldjump" r:id="rId12"/>
          </p:cNvPr>
          <p:cNvSpPr txBox="1"/>
          <p:nvPr/>
        </p:nvSpPr>
        <p:spPr>
          <a:xfrm>
            <a:off x="4425696" y="46725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EG01 · 57</a:t>
            </a:r>
          </a:p>
        </p:txBody>
      </p:sp>
      <p:sp>
        <p:nvSpPr>
          <p:cNvPr id="37" name="navigate:EG01">
            <a:hlinkClick action="ppaction://hlinksldjump" r:id="rId12"/>
          </p:cNvPr>
          <p:cNvSpPr txBox="1"/>
          <p:nvPr/>
        </p:nvSpPr>
        <p:spPr>
          <a:xfrm>
            <a:off x="4425696" y="4928616"/>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Terminer une fusion</a:t>
            </a:r>
          </a:p>
        </p:txBody>
      </p:sp>
      <p:sp>
        <p:nvSpPr>
          <p:cNvPr id="38" name="navigate:R2">
            <a:hlinkClick action="ppaction://hlinksldjump" r:id="rId13"/>
          </p:cNvPr>
          <p:cNvSpPr/>
          <p:nvPr/>
        </p:nvSpPr>
        <p:spPr>
          <a:xfrm>
            <a:off x="8037576" y="4608576"/>
            <a:ext cx="3511296" cy="8412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navigate:R2">
            <a:hlinkClick action="ppaction://hlinksldjump" r:id="rId13"/>
          </p:cNvPr>
          <p:cNvSpPr txBox="1"/>
          <p:nvPr/>
        </p:nvSpPr>
        <p:spPr>
          <a:xfrm>
            <a:off x="8147304" y="4672584"/>
            <a:ext cx="3291840" cy="274320"/>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Q10 / E03 · 63</a:t>
            </a:r>
          </a:p>
        </p:txBody>
      </p:sp>
      <p:sp>
        <p:nvSpPr>
          <p:cNvPr id="40" name="navigate:R2">
            <a:hlinkClick action="ppaction://hlinksldjump" r:id="rId13"/>
          </p:cNvPr>
          <p:cNvSpPr txBox="1"/>
          <p:nvPr/>
        </p:nvSpPr>
        <p:spPr>
          <a:xfrm>
            <a:off x="8147304" y="4928616"/>
            <a:ext cx="3291840" cy="475488"/>
          </a:xfrm>
          <a:prstGeom prst="rect">
            <a:avLst/>
          </a:prstGeom>
          <a:noFill/>
        </p:spPr>
        <p:txBody>
          <a:bodyPr wrap="square" lIns="22860" rIns="22860" tIns="13716" bIns="13716">
            <a:spAutoFit/>
          </a:bodyPr>
          <a:lstStyle/>
          <a:p>
            <a:pPr>
              <a:spcAft>
                <a:spcPts val="0"/>
              </a:spcAft>
              <a:defRPr sz="1500" b="0">
                <a:solidFill>
                  <a:srgbClr val="142D4E"/>
                </a:solidFill>
                <a:latin typeface="Aptos"/>
              </a:defRPr>
            </a:pPr>
            <a:r>
              <a:t>Partie R² · découverte</a:t>
            </a:r>
          </a:p>
        </p:txBody>
      </p:sp>
      <p:sp>
        <p:nvSpPr>
          <p:cNvPr id="41" name="Rectangle 40"/>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Choisir un repère. Le bouton « Sommaire » permet de revenir ici depuis chaque partie.</a:t>
            </a:r>
          </a:p>
        </p:txBody>
      </p:sp>
      <p:sp>
        <p:nvSpPr>
          <p:cNvPr id="43" name="TextBox 4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44" name="TextBox 43"/>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2 / 73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À REPRENDRE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ED01 · Moyennes et poids des clients</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ED01 · contexte D05.</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ED01</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3 / 73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ED01 · CONTEXTE DE D05 RÉSUMÉ</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Quelle moyenne répond à la question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3258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109728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C1 : deux achats de 10 € et 30 €. C2 : un achat de 80 €.</a:t>
            </a:r>
          </a:p>
          <a:p>
            <a:pPr>
              <a:spcAft>
                <a:spcPts val="100"/>
              </a:spcAft>
              <a:defRPr sz="2200" b="0">
                <a:solidFill>
                  <a:srgbClr val="22364C"/>
                </a:solidFill>
                <a:latin typeface="Aptos"/>
              </a:defRPr>
            </a:pPr>
            <a:r>
              <a:t>Objectif de D05 : donner le même poids aux deux clients.</a:t>
            </a:r>
          </a:p>
        </p:txBody>
      </p:sp>
      <p:sp>
        <p:nvSpPr>
          <p:cNvPr id="7" name="TextBox 6"/>
          <p:cNvSpPr txBox="1"/>
          <p:nvPr/>
        </p:nvSpPr>
        <p:spPr>
          <a:xfrm>
            <a:off x="758952" y="3438144"/>
            <a:ext cx="10634472" cy="1965960"/>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À propos de D05 : pourquoi la moyenne de tous les achats répond-elle à une autre question que la moyenne des paniers moyens des clients ? Expliquez avec C1 et C2, sans écrire de code.</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Commencer par préciser ce que chaque valeur et chaque diviseur représentent.</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ED01</a:t>
            </a:r>
          </a:p>
        </p:txBody>
      </p:sp>
      <p:sp>
        <p:nvSpPr>
          <p:cNvPr id="12"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4 / 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ED01 · THÉORIE : UNE MOYENNE DONNE DES POIDS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Choisir ce qui compte autant</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Chaque achat</a:t>
            </a:r>
          </a:p>
        </p:txBody>
      </p:sp>
      <p:sp>
        <p:nvSpPr>
          <p:cNvPr id="7" name="TextBox 6"/>
          <p:cNvSpPr txBox="1"/>
          <p:nvPr/>
        </p:nvSpPr>
        <p:spPr>
          <a:xfrm>
            <a:off x="749808"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Additionner les achats et diviser par leur nombre. Un client avec plus d’achats compte davantage.</a:t>
            </a:r>
          </a:p>
        </p:txBody>
      </p:sp>
      <p:sp>
        <p:nvSpPr>
          <p:cNvPr id="8" name="Rectangle 7"/>
          <p:cNvSpPr/>
          <p:nvPr/>
        </p:nvSpPr>
        <p:spPr>
          <a:xfrm>
            <a:off x="6176772"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2220"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Chaque client</a:t>
            </a:r>
          </a:p>
        </p:txBody>
      </p:sp>
      <p:sp>
        <p:nvSpPr>
          <p:cNvPr id="10" name="TextBox 9"/>
          <p:cNvSpPr txBox="1"/>
          <p:nvPr/>
        </p:nvSpPr>
        <p:spPr>
          <a:xfrm>
            <a:off x="6332220"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Calculer d’abord le panier moyen de chaque client, puis la moyenne de ces valeurs.</a:t>
            </a:r>
          </a:p>
        </p:txBody>
      </p:sp>
      <p:sp>
        <p:nvSpPr>
          <p:cNvPr id="11" name="Rectangle 10"/>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Les deux calculs peuvent être justes tout en répondant à deux questions différentes.</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ED01</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5 / 73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D05 / ED01 · EXEMPLE GUIDÉ AVEC D’AUTRES MONTANTS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Exemple guidé : achats, clients et dépenses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548640"/>
          </a:xfrm>
          <a:prstGeom prst="rect">
            <a:avLst/>
          </a:prstGeom>
          <a:noFill/>
        </p:spPr>
        <p:txBody>
          <a:bodyPr wrap="square" lIns="22860" rIns="22860" tIns="13716" bIns="13716">
            <a:spAutoFit/>
          </a:bodyPr>
          <a:lstStyle/>
          <a:p>
            <a:pPr>
              <a:spcAft>
                <a:spcPts val="0"/>
              </a:spcAft>
              <a:defRPr sz="2100" b="0">
                <a:solidFill>
                  <a:srgbClr val="22364C"/>
                </a:solidFill>
                <a:latin typeface="Aptos"/>
              </a:defRPr>
            </a:pPr>
            <a:r>
              <a:t>Même mois : trois achats, deux clients. Total : 144 €.</a:t>
            </a:r>
          </a:p>
        </p:txBody>
      </p:sp>
      <p:graphicFrame>
        <p:nvGraphicFramePr>
          <p:cNvPr id="6" name="Table 5"/>
          <p:cNvGraphicFramePr>
            <a:graphicFrameLocks noGrp="1"/>
          </p:cNvGraphicFramePr>
          <p:nvPr/>
        </p:nvGraphicFramePr>
        <p:xfrm>
          <a:off x="621792" y="2679192"/>
          <a:ext cx="3154680" cy="2642616"/>
        </p:xfrm>
        <a:graphic>
          <a:graphicData uri="http://schemas.openxmlformats.org/drawingml/2006/table">
            <a:tbl>
              <a:tblPr firstRow="1" bandRow="1">
                <a:tableStyleId>{5C22544A-7EE6-4342-B048-85BDC9FD1C3A}</a:tableStyleId>
              </a:tblPr>
              <a:tblGrid>
                <a:gridCol w="960120"/>
                <a:gridCol w="914400"/>
                <a:gridCol w="1280160"/>
              </a:tblGrid>
              <a:tr h="660654">
                <a:tc>
                  <a:txBody>
                    <a:bodyPr/>
                    <a:lstStyle/>
                    <a:p>
                      <a:pPr>
                        <a:defRPr sz="2000" b="1">
                          <a:solidFill>
                            <a:srgbClr val="FFFFFF"/>
                          </a:solidFill>
                          <a:latin typeface="Aptos"/>
                        </a:defRPr>
                      </a:pPr>
                      <a:r>
                        <a:t>Client</a:t>
                      </a:r>
                    </a:p>
                  </a:txBody>
                  <a:tcPr marL="73152" marR="73152" marT="36576" marB="36576">
                    <a:solidFill>
                      <a:srgbClr val="142D4E"/>
                    </a:solidFill>
                  </a:tcPr>
                </a:tc>
                <a:tc>
                  <a:txBody>
                    <a:bodyPr/>
                    <a:lstStyle/>
                    <a:p>
                      <a:pPr>
                        <a:defRPr sz="2000" b="1">
                          <a:solidFill>
                            <a:srgbClr val="FFFFFF"/>
                          </a:solidFill>
                          <a:latin typeface="Aptos"/>
                        </a:defRPr>
                      </a:pPr>
                      <a:r>
                        <a:t>Achat</a:t>
                      </a:r>
                    </a:p>
                  </a:txBody>
                  <a:tcPr marL="73152" marR="73152" marT="36576" marB="36576">
                    <a:solidFill>
                      <a:srgbClr val="142D4E"/>
                    </a:solidFill>
                  </a:tcPr>
                </a:tc>
                <a:tc>
                  <a:txBody>
                    <a:bodyPr/>
                    <a:lstStyle/>
                    <a:p>
                      <a:pPr>
                        <a:defRPr sz="2000" b="1">
                          <a:solidFill>
                            <a:srgbClr val="FFFFFF"/>
                          </a:solidFill>
                          <a:latin typeface="Aptos"/>
                        </a:defRPr>
                      </a:pPr>
                      <a:r>
                        <a:t>Montant</a:t>
                      </a:r>
                    </a:p>
                  </a:txBody>
                  <a:tcPr marL="73152" marR="73152" marT="36576" marB="36576">
                    <a:solidFill>
                      <a:srgbClr val="142D4E"/>
                    </a:solidFill>
                  </a:tcPr>
                </a:tc>
              </a:tr>
              <a:tr h="660654">
                <a:tc>
                  <a:txBody>
                    <a:bodyPr/>
                    <a:lstStyle/>
                    <a:p>
                      <a:pPr>
                        <a:defRPr sz="2000" b="0">
                          <a:solidFill>
                            <a:srgbClr val="22364C"/>
                          </a:solidFill>
                          <a:latin typeface="Aptos"/>
                        </a:defRPr>
                      </a:pPr>
                      <a:r>
                        <a:t>C1</a:t>
                      </a:r>
                    </a:p>
                  </a:txBody>
                  <a:tcPr marL="73152" marR="73152" marT="36576" marB="36576">
                    <a:solidFill>
                      <a:srgbClr val="EFF4F9"/>
                    </a:solidFill>
                  </a:tcPr>
                </a:tc>
                <a:tc>
                  <a:txBody>
                    <a:bodyPr/>
                    <a:lstStyle/>
                    <a:p>
                      <a:pPr>
                        <a:defRPr sz="2000" b="0">
                          <a:solidFill>
                            <a:srgbClr val="22364C"/>
                          </a:solidFill>
                          <a:latin typeface="Aptos"/>
                        </a:defRPr>
                      </a:pPr>
                      <a:r>
                        <a:t>V1</a:t>
                      </a:r>
                    </a:p>
                  </a:txBody>
                  <a:tcPr marL="73152" marR="73152" marT="36576" marB="36576">
                    <a:solidFill>
                      <a:srgbClr val="EFF4F9"/>
                    </a:solidFill>
                  </a:tcPr>
                </a:tc>
                <a:tc>
                  <a:txBody>
                    <a:bodyPr/>
                    <a:lstStyle/>
                    <a:p>
                      <a:pPr>
                        <a:defRPr sz="2000" b="0">
                          <a:solidFill>
                            <a:srgbClr val="22364C"/>
                          </a:solidFill>
                          <a:latin typeface="Aptos"/>
                        </a:defRPr>
                      </a:pPr>
                      <a:r>
                        <a:t>12 €</a:t>
                      </a:r>
                    </a:p>
                  </a:txBody>
                  <a:tcPr marL="73152" marR="73152" marT="36576" marB="36576">
                    <a:solidFill>
                      <a:srgbClr val="EFF4F9"/>
                    </a:solidFill>
                  </a:tcPr>
                </a:tc>
              </a:tr>
              <a:tr h="660654">
                <a:tc>
                  <a:txBody>
                    <a:bodyPr/>
                    <a:lstStyle/>
                    <a:p>
                      <a:pPr>
                        <a:defRPr sz="2000" b="0">
                          <a:solidFill>
                            <a:srgbClr val="22364C"/>
                          </a:solidFill>
                          <a:latin typeface="Aptos"/>
                        </a:defRPr>
                      </a:pPr>
                      <a:r>
                        <a:t>C1</a:t>
                      </a:r>
                    </a:p>
                  </a:txBody>
                  <a:tcPr marL="73152" marR="73152" marT="36576" marB="36576">
                    <a:solidFill>
                      <a:srgbClr val="EFF4F9"/>
                    </a:solidFill>
                  </a:tcPr>
                </a:tc>
                <a:tc>
                  <a:txBody>
                    <a:bodyPr/>
                    <a:lstStyle/>
                    <a:p>
                      <a:pPr>
                        <a:defRPr sz="2000" b="0">
                          <a:solidFill>
                            <a:srgbClr val="22364C"/>
                          </a:solidFill>
                          <a:latin typeface="Aptos"/>
                        </a:defRPr>
                      </a:pPr>
                      <a:r>
                        <a:t>V2</a:t>
                      </a:r>
                    </a:p>
                  </a:txBody>
                  <a:tcPr marL="73152" marR="73152" marT="36576" marB="36576">
                    <a:solidFill>
                      <a:srgbClr val="EFF4F9"/>
                    </a:solidFill>
                  </a:tcPr>
                </a:tc>
                <a:tc>
                  <a:txBody>
                    <a:bodyPr/>
                    <a:lstStyle/>
                    <a:p>
                      <a:pPr>
                        <a:defRPr sz="2000" b="0">
                          <a:solidFill>
                            <a:srgbClr val="22364C"/>
                          </a:solidFill>
                          <a:latin typeface="Aptos"/>
                        </a:defRPr>
                      </a:pPr>
                      <a:r>
                        <a:t>36 €</a:t>
                      </a:r>
                    </a:p>
                  </a:txBody>
                  <a:tcPr marL="73152" marR="73152" marT="36576" marB="36576">
                    <a:solidFill>
                      <a:srgbClr val="EFF4F9"/>
                    </a:solidFill>
                  </a:tcPr>
                </a:tc>
              </a:tr>
              <a:tr h="660654">
                <a:tc>
                  <a:txBody>
                    <a:bodyPr/>
                    <a:lstStyle/>
                    <a:p>
                      <a:pPr>
                        <a:defRPr sz="2000" b="0">
                          <a:solidFill>
                            <a:srgbClr val="22364C"/>
                          </a:solidFill>
                          <a:latin typeface="Aptos"/>
                        </a:defRPr>
                      </a:pPr>
                      <a:r>
                        <a:t>C2</a:t>
                      </a:r>
                    </a:p>
                  </a:txBody>
                  <a:tcPr marL="73152" marR="73152" marT="36576" marB="36576">
                    <a:solidFill>
                      <a:srgbClr val="EFF4F9"/>
                    </a:solidFill>
                  </a:tcPr>
                </a:tc>
                <a:tc>
                  <a:txBody>
                    <a:bodyPr/>
                    <a:lstStyle/>
                    <a:p>
                      <a:pPr>
                        <a:defRPr sz="2000" b="0">
                          <a:solidFill>
                            <a:srgbClr val="22364C"/>
                          </a:solidFill>
                          <a:latin typeface="Aptos"/>
                        </a:defRPr>
                      </a:pPr>
                      <a:r>
                        <a:t>V3</a:t>
                      </a:r>
                    </a:p>
                  </a:txBody>
                  <a:tcPr marL="73152" marR="73152" marT="36576" marB="36576">
                    <a:solidFill>
                      <a:srgbClr val="EFF4F9"/>
                    </a:solidFill>
                  </a:tcPr>
                </a:tc>
                <a:tc>
                  <a:txBody>
                    <a:bodyPr/>
                    <a:lstStyle/>
                    <a:p>
                      <a:pPr>
                        <a:defRPr sz="2000" b="0">
                          <a:solidFill>
                            <a:srgbClr val="22364C"/>
                          </a:solidFill>
                          <a:latin typeface="Aptos"/>
                        </a:defRPr>
                      </a:pPr>
                      <a:r>
                        <a:t>96 €</a:t>
                      </a:r>
                    </a:p>
                  </a:txBody>
                  <a:tcPr marL="73152" marR="73152" marT="36576" marB="36576">
                    <a:solidFill>
                      <a:srgbClr val="EFF4F9"/>
                    </a:solidFill>
                  </a:tcPr>
                </a:tc>
              </a:tr>
            </a:tbl>
          </a:graphicData>
        </a:graphic>
      </p:graphicFrame>
      <p:sp>
        <p:nvSpPr>
          <p:cNvPr id="7" name="TextBox 6"/>
          <p:cNvSpPr txBox="1"/>
          <p:nvPr/>
        </p:nvSpPr>
        <p:spPr>
          <a:xfrm>
            <a:off x="4041648" y="2514600"/>
            <a:ext cx="7498079" cy="384048"/>
          </a:xfrm>
          <a:prstGeom prst="rect">
            <a:avLst/>
          </a:prstGeom>
          <a:noFill/>
        </p:spPr>
        <p:txBody>
          <a:bodyPr wrap="square" lIns="22860" rIns="22860" tIns="13716" bIns="13716">
            <a:spAutoFit/>
          </a:bodyPr>
          <a:lstStyle/>
          <a:p>
            <a:pPr>
              <a:spcAft>
                <a:spcPts val="0"/>
              </a:spcAft>
              <a:defRPr sz="2100" b="1">
                <a:solidFill>
                  <a:srgbClr val="142D4E"/>
                </a:solidFill>
                <a:latin typeface="Aptos"/>
              </a:defRPr>
            </a:pPr>
            <a:r>
              <a:t>Par achat : 48 €</a:t>
            </a:r>
          </a:p>
        </p:txBody>
      </p:sp>
      <p:sp>
        <p:nvSpPr>
          <p:cNvPr id="8" name="TextBox 7"/>
          <p:cNvSpPr txBox="1"/>
          <p:nvPr/>
        </p:nvSpPr>
        <p:spPr>
          <a:xfrm>
            <a:off x="4041648" y="2907792"/>
            <a:ext cx="7498079" cy="557784"/>
          </a:xfrm>
          <a:prstGeom prst="rect">
            <a:avLst/>
          </a:prstGeom>
          <a:noFill/>
        </p:spPr>
        <p:txBody>
          <a:bodyPr wrap="square" lIns="22860" rIns="22860" tIns="13716" bIns="13716">
            <a:spAutoFit/>
          </a:bodyPr>
          <a:lstStyle/>
          <a:p>
            <a:pPr>
              <a:spcAft>
                <a:spcPts val="0"/>
              </a:spcAft>
              <a:defRPr sz="2000" b="0">
                <a:solidFill>
                  <a:srgbClr val="22364C"/>
                </a:solidFill>
                <a:latin typeface="Aptos"/>
              </a:defRPr>
            </a:pPr>
            <a:r>
              <a:t>(12 + 36 + 96) / 3 = 48 €. Chaque achat compte autant.</a:t>
            </a:r>
          </a:p>
        </p:txBody>
      </p:sp>
      <p:sp>
        <p:nvSpPr>
          <p:cNvPr id="9" name="TextBox 8"/>
          <p:cNvSpPr txBox="1"/>
          <p:nvPr/>
        </p:nvSpPr>
        <p:spPr>
          <a:xfrm>
            <a:off x="4041648" y="3511296"/>
            <a:ext cx="7498079" cy="384048"/>
          </a:xfrm>
          <a:prstGeom prst="rect">
            <a:avLst/>
          </a:prstGeom>
          <a:noFill/>
        </p:spPr>
        <p:txBody>
          <a:bodyPr wrap="square" lIns="22860" rIns="22860" tIns="13716" bIns="13716">
            <a:spAutoFit/>
          </a:bodyPr>
          <a:lstStyle/>
          <a:p>
            <a:pPr>
              <a:spcAft>
                <a:spcPts val="0"/>
              </a:spcAft>
              <a:defRPr sz="2100" b="1">
                <a:solidFill>
                  <a:srgbClr val="142D4E"/>
                </a:solidFill>
                <a:latin typeface="Aptos"/>
              </a:defRPr>
            </a:pPr>
            <a:r>
              <a:t>Moyenne des paniers moyens : 60 €</a:t>
            </a:r>
          </a:p>
        </p:txBody>
      </p:sp>
      <p:sp>
        <p:nvSpPr>
          <p:cNvPr id="10" name="TextBox 9"/>
          <p:cNvSpPr txBox="1"/>
          <p:nvPr/>
        </p:nvSpPr>
        <p:spPr>
          <a:xfrm>
            <a:off x="4041648" y="3904487"/>
            <a:ext cx="7498079" cy="557784"/>
          </a:xfrm>
          <a:prstGeom prst="rect">
            <a:avLst/>
          </a:prstGeom>
          <a:noFill/>
        </p:spPr>
        <p:txBody>
          <a:bodyPr wrap="square" lIns="22860" rIns="22860" tIns="13716" bIns="13716">
            <a:spAutoFit/>
          </a:bodyPr>
          <a:lstStyle/>
          <a:p>
            <a:pPr>
              <a:spcAft>
                <a:spcPts val="0"/>
              </a:spcAft>
              <a:defRPr sz="2000" b="0">
                <a:solidFill>
                  <a:srgbClr val="22364C"/>
                </a:solidFill>
                <a:latin typeface="Aptos"/>
              </a:defRPr>
            </a:pPr>
            <a:r>
              <a:t>C1 : 24 € ; C2 : 96 €. (24 + 96) / 2 = 60 €.</a:t>
            </a:r>
          </a:p>
        </p:txBody>
      </p:sp>
      <p:sp>
        <p:nvSpPr>
          <p:cNvPr id="11" name="TextBox 10"/>
          <p:cNvSpPr txBox="1"/>
          <p:nvPr/>
        </p:nvSpPr>
        <p:spPr>
          <a:xfrm>
            <a:off x="4041648" y="4507992"/>
            <a:ext cx="7498079" cy="384048"/>
          </a:xfrm>
          <a:prstGeom prst="rect">
            <a:avLst/>
          </a:prstGeom>
          <a:noFill/>
        </p:spPr>
        <p:txBody>
          <a:bodyPr wrap="square" lIns="22860" rIns="22860" tIns="13716" bIns="13716">
            <a:spAutoFit/>
          </a:bodyPr>
          <a:lstStyle/>
          <a:p>
            <a:pPr>
              <a:spcAft>
                <a:spcPts val="0"/>
              </a:spcAft>
              <a:defRPr sz="2100" b="1">
                <a:solidFill>
                  <a:srgbClr val="142D4E"/>
                </a:solidFill>
                <a:latin typeface="Aptos"/>
              </a:defRPr>
            </a:pPr>
            <a:r>
              <a:t>Dépense mensuelle par client : 72 €</a:t>
            </a:r>
          </a:p>
        </p:txBody>
      </p:sp>
      <p:sp>
        <p:nvSpPr>
          <p:cNvPr id="12" name="TextBox 11"/>
          <p:cNvSpPr txBox="1"/>
          <p:nvPr/>
        </p:nvSpPr>
        <p:spPr>
          <a:xfrm>
            <a:off x="4041648" y="4901183"/>
            <a:ext cx="7498079" cy="557784"/>
          </a:xfrm>
          <a:prstGeom prst="rect">
            <a:avLst/>
          </a:prstGeom>
          <a:noFill/>
        </p:spPr>
        <p:txBody>
          <a:bodyPr wrap="square" lIns="22860" rIns="22860" tIns="13716" bIns="13716">
            <a:spAutoFit/>
          </a:bodyPr>
          <a:lstStyle/>
          <a:p>
            <a:pPr>
              <a:spcAft>
                <a:spcPts val="0"/>
              </a:spcAft>
              <a:defRPr sz="2000" b="0">
                <a:solidFill>
                  <a:srgbClr val="22364C"/>
                </a:solidFill>
                <a:latin typeface="Aptos"/>
              </a:defRPr>
            </a:pPr>
            <a:r>
              <a:t>C1 : 48 € ; C2 : 96 €. (48 + 96) / 2 = 72 €.</a:t>
            </a:r>
          </a:p>
        </p:txBody>
      </p:sp>
      <p:sp>
        <p:nvSpPr>
          <p:cNvPr id="13" name="Rectangle 12"/>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ED01 : la moyenne par achat donne deux fois plus de poids à C1. La moyenne des paniers moyens donne le même poids aux clients.</a:t>
            </a:r>
          </a:p>
        </p:txBody>
      </p:sp>
      <p:sp>
        <p:nvSpPr>
          <p:cNvPr id="15" name="TextBox 14"/>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6" name="TextBox 15"/>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ED01</a:t>
            </a:r>
          </a:p>
        </p:txBody>
      </p:sp>
      <p:sp>
        <p:nvSpPr>
          <p:cNvPr id="17"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8" name="TextBox 17"/>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6 / 73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ED01 · RÉPONSE EXPLIQUÉE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ED01 · Revenir aux montants du bilan</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Par achat : 40 €</a:t>
            </a:r>
          </a:p>
        </p:txBody>
      </p:sp>
      <p:sp>
        <p:nvSpPr>
          <p:cNvPr id="7" name="TextBox 6"/>
          <p:cNvSpPr txBox="1"/>
          <p:nvPr/>
        </p:nvSpPr>
        <p:spPr>
          <a:xfrm>
            <a:off x="749808"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(10 + 30 + 80) / 3 = 40 €.</a:t>
            </a:r>
          </a:p>
          <a:p>
            <a:pPr>
              <a:spcAft>
                <a:spcPts val="900"/>
              </a:spcAft>
              <a:defRPr sz="2300" b="0">
                <a:solidFill>
                  <a:srgbClr val="22364C"/>
                </a:solidFill>
                <a:latin typeface="Aptos"/>
              </a:defRPr>
            </a:pPr>
            <a:r>
              <a:t>C1 représente deux achats sur trois.</a:t>
            </a:r>
          </a:p>
        </p:txBody>
      </p:sp>
      <p:sp>
        <p:nvSpPr>
          <p:cNvPr id="8" name="Rectangle 7"/>
          <p:cNvSpPr/>
          <p:nvPr/>
        </p:nvSpPr>
        <p:spPr>
          <a:xfrm>
            <a:off x="6176772"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2220"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Par client : 50 €</a:t>
            </a:r>
          </a:p>
        </p:txBody>
      </p:sp>
      <p:sp>
        <p:nvSpPr>
          <p:cNvPr id="10" name="TextBox 9"/>
          <p:cNvSpPr txBox="1"/>
          <p:nvPr/>
        </p:nvSpPr>
        <p:spPr>
          <a:xfrm>
            <a:off x="6332220"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C1 : (10 + 30) / 2 = 20 €.</a:t>
            </a:r>
          </a:p>
          <a:p>
            <a:pPr>
              <a:spcAft>
                <a:spcPts val="900"/>
              </a:spcAft>
              <a:defRPr sz="2300" b="0">
                <a:solidFill>
                  <a:srgbClr val="22364C"/>
                </a:solidFill>
                <a:latin typeface="Aptos"/>
              </a:defRPr>
            </a:pPr>
            <a:r>
              <a:t>C2 : 80 €.</a:t>
            </a:r>
          </a:p>
          <a:p>
            <a:pPr>
              <a:spcAft>
                <a:spcPts val="900"/>
              </a:spcAft>
              <a:defRPr sz="2300" b="0">
                <a:solidFill>
                  <a:srgbClr val="22364C"/>
                </a:solidFill>
                <a:latin typeface="Aptos"/>
              </a:defRPr>
            </a:pPr>
            <a:r>
              <a:t>(20 + 80) / 2 = 50 €.</a:t>
            </a:r>
          </a:p>
        </p:txBody>
      </p:sp>
      <p:sp>
        <p:nvSpPr>
          <p:cNvPr id="11" name="Rectangle 10"/>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Chaque client pèse ici une moitié dans la moyenne des paniers moyens.</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ED01</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7 / 73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À VOUS · AUTRES ACHATS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Vérifier le sens du diviseur</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170432"/>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91440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Même mois : C1 achète pour 20 €, puis 40 € ; C2 achète pour 90 €.</a:t>
            </a:r>
          </a:p>
          <a:p>
            <a:pPr>
              <a:spcAft>
                <a:spcPts val="100"/>
              </a:spcAft>
              <a:defRPr sz="2200" b="0">
                <a:solidFill>
                  <a:srgbClr val="22364C"/>
                </a:solidFill>
                <a:latin typeface="Aptos"/>
              </a:defRPr>
            </a:pPr>
            <a:r>
              <a:t>On veut décrire les achats, puis les clients à poids égal.</a:t>
            </a:r>
          </a:p>
        </p:txBody>
      </p:sp>
      <p:sp>
        <p:nvSpPr>
          <p:cNvPr id="7" name="TextBox 6"/>
          <p:cNvSpPr txBox="1"/>
          <p:nvPr/>
        </p:nvSpPr>
        <p:spPr>
          <a:xfrm>
            <a:off x="658368" y="33375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1</a:t>
            </a:r>
          </a:p>
        </p:txBody>
      </p:sp>
      <p:sp>
        <p:nvSpPr>
          <p:cNvPr id="8" name="TextBox 7"/>
          <p:cNvSpPr txBox="1"/>
          <p:nvPr/>
        </p:nvSpPr>
        <p:spPr>
          <a:xfrm>
            <a:off x="1207008" y="33284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Avant de calculer : quelles valeurs allez-vous moyenner dans chaque cas ?</a:t>
            </a:r>
          </a:p>
        </p:txBody>
      </p:sp>
      <p:sp>
        <p:nvSpPr>
          <p:cNvPr id="9" name="TextBox 8"/>
          <p:cNvSpPr txBox="1"/>
          <p:nvPr/>
        </p:nvSpPr>
        <p:spPr>
          <a:xfrm>
            <a:off x="658368" y="40233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2</a:t>
            </a:r>
          </a:p>
        </p:txBody>
      </p:sp>
      <p:sp>
        <p:nvSpPr>
          <p:cNvPr id="10" name="TextBox 9"/>
          <p:cNvSpPr txBox="1"/>
          <p:nvPr/>
        </p:nvSpPr>
        <p:spPr>
          <a:xfrm>
            <a:off x="1207008" y="40142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Calculez la moyenne par achat et la moyenne des paniers moyens par client.</a:t>
            </a:r>
          </a:p>
        </p:txBody>
      </p:sp>
      <p:sp>
        <p:nvSpPr>
          <p:cNvPr id="11" name="TextBox 10"/>
          <p:cNvSpPr txBox="1"/>
          <p:nvPr/>
        </p:nvSpPr>
        <p:spPr>
          <a:xfrm>
            <a:off x="658368" y="47091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3</a:t>
            </a:r>
          </a:p>
        </p:txBody>
      </p:sp>
      <p:sp>
        <p:nvSpPr>
          <p:cNvPr id="12" name="TextBox 11"/>
          <p:cNvSpPr txBox="1"/>
          <p:nvPr/>
        </p:nvSpPr>
        <p:spPr>
          <a:xfrm>
            <a:off x="1207008" y="47000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Vérifiez le diviseur. La dépense mensuelle moyenne par client serait-elle identique ?</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ED01</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8 / 73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À REPRENDRE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EP01 · Vérifier le retour d’une fonction</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EP01 · contexte P01.</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EP01</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9 / 73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P01 / EP01 · CONTEXTE RÉSUMÉ</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Python : comment repérer un mauvais retour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3258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109728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Une fonction minutes_to_hours(90) doit fournir une durée en heures, utilisable ensuite dans un autre calcul. Elle renvoie actuellement le texte « 1.5 heures ».</a:t>
            </a:r>
          </a:p>
        </p:txBody>
      </p:sp>
      <p:sp>
        <p:nvSpPr>
          <p:cNvPr id="7" name="TextBox 6"/>
          <p:cNvSpPr txBox="1"/>
          <p:nvPr/>
        </p:nvSpPr>
        <p:spPr>
          <a:xfrm>
            <a:off x="758952" y="3438144"/>
            <a:ext cx="10634472" cy="1965960"/>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À propos de P01 : pour l'entrée 90, décrivez un contrôle qui permettrait de repérer le défaut actuel. Précisez le résultat attendu et pourquoi il doit pouvoir être réutilisé dans un calcul. Aucun code n'est demandé.</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Démarche : annoncer le résultat attendu, contrôler le retour, puis le réutiliser.</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EP01</a:t>
            </a:r>
          </a:p>
        </p:txBody>
      </p:sp>
      <p:sp>
        <p:nvSpPr>
          <p:cNvPr id="12"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10 / 73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P01 / EP01 · RÉPONSE : UN NOMBRE AVANT L’AFFICHAGE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Renvoyer un nombre réutilisable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20240"/>
            <a:ext cx="7287768" cy="35844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03120"/>
            <a:ext cx="6976872" cy="3291840"/>
          </a:xfrm>
          <a:prstGeom prst="rect">
            <a:avLst/>
          </a:prstGeom>
          <a:noFill/>
        </p:spPr>
        <p:txBody>
          <a:bodyPr wrap="square" lIns="22860" rIns="22860" tIns="13716" bIns="13716">
            <a:spAutoFit/>
          </a:bodyPr>
          <a:lstStyle/>
          <a:p>
            <a:pPr>
              <a:spcAft>
                <a:spcPts val="400"/>
              </a:spcAft>
              <a:defRPr sz="1900" b="0">
                <a:solidFill>
                  <a:srgbClr val="22364C"/>
                </a:solidFill>
                <a:latin typeface="DejaVu Sans Mono"/>
              </a:defRPr>
            </a:pPr>
            <a:r>
              <a:t>from minutes_to_hours import minutes_to_hours</a:t>
            </a:r>
          </a:p>
          <a:p>
            <a:pPr>
              <a:spcAft>
                <a:spcPts val="400"/>
              </a:spcAft>
              <a:defRPr sz="1900" b="0">
                <a:solidFill>
                  <a:srgbClr val="22364C"/>
                </a:solidFill>
                <a:latin typeface="DejaVu Sans Mono"/>
              </a:defRPr>
            </a:pPr>
          </a:p>
          <a:p>
            <a:pPr>
              <a:spcAft>
                <a:spcPts val="400"/>
              </a:spcAft>
              <a:defRPr sz="1900" b="0">
                <a:solidFill>
                  <a:srgbClr val="22364C"/>
                </a:solidFill>
                <a:latin typeface="DejaVu Sans Mono"/>
              </a:defRPr>
            </a:pPr>
            <a:r>
              <a:t>result = minutes_to_hours(90)</a:t>
            </a:r>
          </a:p>
          <a:p>
            <a:pPr>
              <a:spcAft>
                <a:spcPts val="400"/>
              </a:spcAft>
              <a:defRPr sz="1900" b="0">
                <a:solidFill>
                  <a:srgbClr val="22364C"/>
                </a:solidFill>
                <a:latin typeface="DejaVu Sans Mono"/>
              </a:defRPr>
            </a:pPr>
            <a:r>
              <a:t>print(result)          # 1.5</a:t>
            </a:r>
          </a:p>
          <a:p>
            <a:pPr>
              <a:spcAft>
                <a:spcPts val="400"/>
              </a:spcAft>
              <a:defRPr sz="1900" b="0">
                <a:solidFill>
                  <a:srgbClr val="22364C"/>
                </a:solidFill>
                <a:latin typeface="DejaVu Sans Mono"/>
              </a:defRPr>
            </a:pPr>
            <a:r>
              <a:t>print(result + 0.5)    # 2.0</a:t>
            </a:r>
          </a:p>
          <a:p>
            <a:pPr>
              <a:spcAft>
                <a:spcPts val="400"/>
              </a:spcAft>
              <a:defRPr sz="1900" b="0">
                <a:solidFill>
                  <a:srgbClr val="22364C"/>
                </a:solidFill>
                <a:latin typeface="DejaVu Sans Mono"/>
              </a:defRPr>
            </a:pPr>
            <a:r>
              <a:t>print(f"{result} h")  # Display only</a:t>
            </a:r>
          </a:p>
        </p:txBody>
      </p:sp>
      <p:sp>
        <p:nvSpPr>
          <p:cNvPr id="7" name="TextBox 6"/>
          <p:cNvSpPr txBox="1"/>
          <p:nvPr/>
        </p:nvSpPr>
        <p:spPr>
          <a:xfrm>
            <a:off x="8110727" y="2029968"/>
            <a:ext cx="3447288" cy="3401568"/>
          </a:xfrm>
          <a:prstGeom prst="rect">
            <a:avLst/>
          </a:prstGeom>
          <a:noFill/>
        </p:spPr>
        <p:txBody>
          <a:bodyPr wrap="square" lIns="22860" rIns="22860" tIns="13716" bIns="13716">
            <a:spAutoFit/>
          </a:bodyPr>
          <a:lstStyle/>
          <a:p>
            <a:pPr>
              <a:spcAft>
                <a:spcPts val="1300"/>
              </a:spcAft>
              <a:defRPr sz="2200" b="0">
                <a:solidFill>
                  <a:srgbClr val="22364C"/>
                </a:solidFill>
                <a:latin typeface="Aptos"/>
              </a:defRPr>
            </a:pPr>
            <a:r>
              <a:t>Entrée : minutes numériques, finies, ≥ 0 ; fractions admises.</a:t>
            </a:r>
          </a:p>
          <a:p>
            <a:pPr>
              <a:spcAft>
                <a:spcPts val="1300"/>
              </a:spcAft>
              <a:defRPr sz="2200" b="0">
                <a:solidFill>
                  <a:srgbClr val="22364C"/>
                </a:solidFill>
                <a:latin typeface="Aptos"/>
              </a:defRPr>
            </a:pPr>
            <a:r>
              <a:t>Sortie : nombre d’heures.</a:t>
            </a:r>
          </a:p>
          <a:p>
            <a:pPr>
              <a:spcAft>
                <a:spcPts val="1300"/>
              </a:spcAft>
              <a:defRPr sz="2200" b="0">
                <a:solidFill>
                  <a:srgbClr val="22364C"/>
                </a:solidFill>
                <a:latin typeface="Aptos"/>
              </a:defRPr>
            </a:pPr>
            <a:r>
              <a:t>Construire l’affichage après le calcul.</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90 min = 1,5 h = 1 h 30 min. Exécuter depuis examples/.</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EP01</a:t>
            </a:r>
          </a:p>
        </p:txBody>
      </p:sp>
      <p:sp>
        <p:nvSpPr>
          <p:cNvPr id="12"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11 / 73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EP01 · CONTRÔLE GUIDÉ À EXÉCUTER DEPUIS examples/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Tester le résultat de la fonction</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20240"/>
            <a:ext cx="7287768" cy="35844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03120"/>
            <a:ext cx="6976872" cy="3291840"/>
          </a:xfrm>
          <a:prstGeom prst="rect">
            <a:avLst/>
          </a:prstGeom>
          <a:noFill/>
        </p:spPr>
        <p:txBody>
          <a:bodyPr wrap="square" lIns="22860" rIns="22860" tIns="13716" bIns="13716">
            <a:spAutoFit/>
          </a:bodyPr>
          <a:lstStyle/>
          <a:p>
            <a:pPr>
              <a:spcAft>
                <a:spcPts val="400"/>
              </a:spcAft>
              <a:defRPr sz="1900" b="0">
                <a:solidFill>
                  <a:srgbClr val="22364C"/>
                </a:solidFill>
                <a:latin typeface="DejaVu Sans Mono"/>
              </a:defRPr>
            </a:pPr>
            <a:r>
              <a:t>from minutes_to_hours import minutes_to_hours</a:t>
            </a:r>
          </a:p>
          <a:p>
            <a:pPr>
              <a:spcAft>
                <a:spcPts val="400"/>
              </a:spcAft>
              <a:defRPr sz="1900" b="0">
                <a:solidFill>
                  <a:srgbClr val="22364C"/>
                </a:solidFill>
                <a:latin typeface="DejaVu Sans Mono"/>
              </a:defRPr>
            </a:pPr>
          </a:p>
          <a:p>
            <a:pPr>
              <a:spcAft>
                <a:spcPts val="400"/>
              </a:spcAft>
              <a:defRPr sz="1900" b="0">
                <a:solidFill>
                  <a:srgbClr val="22364C"/>
                </a:solidFill>
                <a:latin typeface="DejaVu Sans Mono"/>
              </a:defRPr>
            </a:pPr>
            <a:r>
              <a:t>result = minutes_to_hours(90)</a:t>
            </a:r>
          </a:p>
          <a:p>
            <a:pPr>
              <a:spcAft>
                <a:spcPts val="400"/>
              </a:spcAft>
              <a:defRPr sz="1900" b="0">
                <a:solidFill>
                  <a:srgbClr val="22364C"/>
                </a:solidFill>
                <a:latin typeface="DejaVu Sans Mono"/>
              </a:defRPr>
            </a:pPr>
            <a:r>
              <a:t>assert isinstance(result, float)</a:t>
            </a:r>
          </a:p>
          <a:p>
            <a:pPr>
              <a:spcAft>
                <a:spcPts val="400"/>
              </a:spcAft>
              <a:defRPr sz="1900" b="0">
                <a:solidFill>
                  <a:srgbClr val="22364C"/>
                </a:solidFill>
                <a:latin typeface="DejaVu Sans Mono"/>
              </a:defRPr>
            </a:pPr>
            <a:r>
              <a:t>assert result == 1.5</a:t>
            </a:r>
          </a:p>
          <a:p>
            <a:pPr>
              <a:spcAft>
                <a:spcPts val="400"/>
              </a:spcAft>
              <a:defRPr sz="1900" b="0">
                <a:solidFill>
                  <a:srgbClr val="22364C"/>
                </a:solidFill>
                <a:latin typeface="DejaVu Sans Mono"/>
              </a:defRPr>
            </a:pPr>
            <a:r>
              <a:t>assert result + 0.5 == 2.0</a:t>
            </a:r>
          </a:p>
          <a:p>
            <a:pPr>
              <a:spcAft>
                <a:spcPts val="400"/>
              </a:spcAft>
              <a:defRPr sz="1900" b="0">
                <a:solidFill>
                  <a:srgbClr val="22364C"/>
                </a:solidFill>
                <a:latin typeface="DejaVu Sans Mono"/>
              </a:defRPr>
            </a:pPr>
          </a:p>
          <a:p>
            <a:pPr>
              <a:spcAft>
                <a:spcPts val="400"/>
              </a:spcAft>
              <a:defRPr sz="1900" b="0">
                <a:solidFill>
                  <a:srgbClr val="22364C"/>
                </a:solidFill>
                <a:latin typeface="DejaVu Sans Mono"/>
              </a:defRPr>
            </a:pPr>
            <a:r>
              <a:t>print("Checks passed")</a:t>
            </a:r>
          </a:p>
        </p:txBody>
      </p:sp>
      <p:sp>
        <p:nvSpPr>
          <p:cNvPr id="7" name="TextBox 6"/>
          <p:cNvSpPr txBox="1"/>
          <p:nvPr/>
        </p:nvSpPr>
        <p:spPr>
          <a:xfrm>
            <a:off x="8110727" y="2029968"/>
            <a:ext cx="3447288" cy="3401568"/>
          </a:xfrm>
          <a:prstGeom prst="rect">
            <a:avLst/>
          </a:prstGeom>
          <a:noFill/>
        </p:spPr>
        <p:txBody>
          <a:bodyPr wrap="square" lIns="22860" rIns="22860" tIns="13716" bIns="13716">
            <a:spAutoFit/>
          </a:bodyPr>
          <a:lstStyle/>
          <a:p>
            <a:pPr>
              <a:spcAft>
                <a:spcPts val="1300"/>
              </a:spcAft>
              <a:defRPr sz="2200" b="0">
                <a:solidFill>
                  <a:srgbClr val="22364C"/>
                </a:solidFill>
                <a:latin typeface="Aptos"/>
              </a:defRPr>
            </a:pPr>
            <a:r>
              <a:t>Contrôler type, valeur et réutilisation.</a:t>
            </a:r>
          </a:p>
          <a:p>
            <a:pPr>
              <a:spcAft>
                <a:spcPts val="1300"/>
              </a:spcAft>
              <a:defRPr sz="2200" b="0">
                <a:solidFill>
                  <a:srgbClr val="22364C"/>
                </a:solidFill>
                <a:latin typeface="Aptos"/>
              </a:defRPr>
            </a:pPr>
            <a:r>
              <a:t>assert arrête l’exécution si la condition est fausse.</a:t>
            </a:r>
          </a:p>
          <a:p>
            <a:pPr>
              <a:spcAft>
                <a:spcPts val="1300"/>
              </a:spcAft>
              <a:defRPr sz="2200" b="0">
                <a:solidFill>
                  <a:srgbClr val="22364C"/>
                </a:solidFill>
                <a:latin typeface="Aptos"/>
              </a:defRPr>
            </a:pPr>
            <a:r>
              <a:t>La conversion inverse ne teste pas cette fonction.</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Examiner le retour directement : retirer le texte après coup peut masquer un défaut.</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EP01</a:t>
            </a:r>
          </a:p>
        </p:txBody>
      </p:sp>
      <p:sp>
        <p:nvSpPr>
          <p:cNvPr id="12"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12 / 73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À VOUS · AUTRE ENTRÉE : 105 MINUTES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Écrire un test qui détecte les défauts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170432"/>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91440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minutes_to_hours : minutes numériques finies ≥ 0, fractions admises → nombre d’heures.</a:t>
            </a:r>
          </a:p>
          <a:p>
            <a:pPr>
              <a:spcAft>
                <a:spcPts val="100"/>
              </a:spcAft>
              <a:defRPr sz="2200" b="0">
                <a:solidFill>
                  <a:srgbClr val="22364C"/>
                </a:solidFill>
                <a:latin typeface="Aptos"/>
              </a:defRPr>
            </a:pPr>
            <a:r>
              <a:t>Entrée à tester : 105.</a:t>
            </a:r>
          </a:p>
        </p:txBody>
      </p:sp>
      <p:sp>
        <p:nvSpPr>
          <p:cNvPr id="7" name="TextBox 6"/>
          <p:cNvSpPr txBox="1"/>
          <p:nvPr/>
        </p:nvSpPr>
        <p:spPr>
          <a:xfrm>
            <a:off x="658368" y="33375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1</a:t>
            </a:r>
          </a:p>
        </p:txBody>
      </p:sp>
      <p:sp>
        <p:nvSpPr>
          <p:cNvPr id="8" name="TextBox 7"/>
          <p:cNvSpPr txBox="1"/>
          <p:nvPr/>
        </p:nvSpPr>
        <p:spPr>
          <a:xfrm>
            <a:off x="1207008" y="33284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Avant exécution : valeur attendue, type et réutilisation arithmétique ?</a:t>
            </a:r>
          </a:p>
        </p:txBody>
      </p:sp>
      <p:sp>
        <p:nvSpPr>
          <p:cNvPr id="9" name="TextBox 8"/>
          <p:cNvSpPr txBox="1"/>
          <p:nvPr/>
        </p:nvSpPr>
        <p:spPr>
          <a:xfrm>
            <a:off x="658368" y="40233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2</a:t>
            </a:r>
          </a:p>
        </p:txBody>
      </p:sp>
      <p:sp>
        <p:nvSpPr>
          <p:cNvPr id="10" name="TextBox 9"/>
          <p:cNvSpPr txBox="1"/>
          <p:nvPr/>
        </p:nvSpPr>
        <p:spPr>
          <a:xfrm>
            <a:off x="1207008" y="40142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Écrivez un contrôle de minutes_to_hours elle-même.</a:t>
            </a:r>
          </a:p>
        </p:txBody>
      </p:sp>
      <p:sp>
        <p:nvSpPr>
          <p:cNvPr id="11" name="TextBox 10"/>
          <p:cNvSpPr txBox="1"/>
          <p:nvPr/>
        </p:nvSpPr>
        <p:spPr>
          <a:xfrm>
            <a:off x="658368" y="47091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3</a:t>
            </a:r>
          </a:p>
        </p:txBody>
      </p:sp>
      <p:sp>
        <p:nvSpPr>
          <p:cNvPr id="12" name="TextBox 11"/>
          <p:cNvSpPr txBox="1"/>
          <p:nvPr/>
        </p:nvSpPr>
        <p:spPr>
          <a:xfrm>
            <a:off x="1207008" y="47000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Testez une fraction, puis une durée négative : elle doit lever ValueError.</a:t>
            </a:r>
          </a:p>
        </p:txBody>
      </p:sp>
      <p:sp>
        <p:nvSpPr>
          <p:cNvPr id="13" name="Rectangle 12"/>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Détecter un retour textuel, un arrondi ou l’acceptation d’une valeur interdite.</a:t>
            </a:r>
          </a:p>
        </p:txBody>
      </p:sp>
      <p:sp>
        <p:nvSpPr>
          <p:cNvPr id="15" name="TextBox 14"/>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6" name="TextBox 15"/>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EP01</a:t>
            </a:r>
          </a:p>
        </p:txBody>
      </p:sp>
      <p:sp>
        <p:nvSpPr>
          <p:cNvPr id="17"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8" name="TextBox 17"/>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13 / 73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À REPRENDRE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E01 · Comprendre la variation des pentes</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E01 · contexte Q04.</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E01</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14 / 73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Q04 / E01 · CONTEXTE RÉSUMÉ</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Pourquoi deux tirages donnent-ils deux pentes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3258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109728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Q04 : montant = 80 + 0,50 × âge + bruit (en €). Bruit de moyenne nulle, indépendant de l’âge.</a:t>
            </a:r>
          </a:p>
          <a:p>
            <a:pPr>
              <a:spcAft>
                <a:spcPts val="100"/>
              </a:spcAft>
              <a:defRPr sz="2200" b="0">
                <a:solidFill>
                  <a:srgbClr val="22364C"/>
                </a:solidFill>
                <a:latin typeface="Aptos"/>
              </a:defRPr>
            </a:pPr>
            <a:r>
              <a:t>40 clients par tirage : pentes 0,62 et 0,43 €/an.</a:t>
            </a:r>
          </a:p>
        </p:txBody>
      </p:sp>
      <p:sp>
        <p:nvSpPr>
          <p:cNvPr id="7" name="TextBox 6"/>
          <p:cNvSpPr txBox="1"/>
          <p:nvPr/>
        </p:nvSpPr>
        <p:spPr>
          <a:xfrm>
            <a:off x="758952" y="3438144"/>
            <a:ext cx="10634472" cy="1965960"/>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À propos de Q04 : expliquez pourquoi les deux pentes peuvent différer. Proposez un contrôle utile avant de conclure à une erreur de code.</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Démarche : distinguer la règle fixe, le tirage aléatoire et le contrôle du calcul.</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E01</a:t>
            </a:r>
          </a:p>
        </p:txBody>
      </p:sp>
      <p:sp>
        <p:nvSpPr>
          <p:cNvPr id="12"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15 / 73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Q04 / E01 · VISUALISER LA VARIATION</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Même règle, deux tirages, deux pentes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12648"/>
          </a:xfrm>
          <a:prstGeom prst="rect">
            <a:avLst/>
          </a:prstGeom>
          <a:noFill/>
        </p:spPr>
        <p:txBody>
          <a:bodyPr wrap="square" lIns="22860" rIns="22860" tIns="13716" bIns="13716">
            <a:spAutoFit/>
          </a:bodyPr>
          <a:lstStyle/>
          <a:p>
            <a:pPr>
              <a:spcAft>
                <a:spcPts val="100"/>
              </a:spcAft>
              <a:defRPr sz="2000" b="0">
                <a:solidFill>
                  <a:srgbClr val="22364C"/>
                </a:solidFill>
                <a:latin typeface="Aptos"/>
              </a:defRPr>
            </a:pPr>
            <a:r>
              <a:t>Illustration de Q04 : même règle (80 + 0,50 × âge + bruit), deux tirages de 40 clients.</a:t>
            </a:r>
          </a:p>
        </p:txBody>
      </p:sp>
      <p:pic>
        <p:nvPicPr>
          <p:cNvPr id="6" name="Picture 5" descr="sampling q04.png"/>
          <p:cNvPicPr>
            <a:picLocks noChangeAspect="1"/>
          </p:cNvPicPr>
          <p:nvPr/>
        </p:nvPicPr>
        <p:blipFill>
          <a:blip r:embed="rId2"/>
          <a:stretch>
            <a:fillRect/>
          </a:stretch>
        </p:blipFill>
        <p:spPr>
          <a:xfrm>
            <a:off x="884582" y="2532888"/>
            <a:ext cx="6460434" cy="2971800"/>
          </a:xfrm>
          <a:prstGeom prst="rect">
            <a:avLst/>
          </a:prstGeom>
        </p:spPr>
      </p:pic>
      <p:sp>
        <p:nvSpPr>
          <p:cNvPr id="7" name="TextBox 6"/>
          <p:cNvSpPr txBox="1"/>
          <p:nvPr/>
        </p:nvSpPr>
        <p:spPr>
          <a:xfrm>
            <a:off x="7863840" y="2578608"/>
            <a:ext cx="3675887" cy="2926080"/>
          </a:xfrm>
          <a:prstGeom prst="rect">
            <a:avLst/>
          </a:prstGeom>
          <a:noFill/>
        </p:spPr>
        <p:txBody>
          <a:bodyPr wrap="square" lIns="22860" rIns="22860" tIns="13716" bIns="13716">
            <a:spAutoFit/>
          </a:bodyPr>
          <a:lstStyle/>
          <a:p>
            <a:pPr>
              <a:spcAft>
                <a:spcPts val="1200"/>
              </a:spcAft>
              <a:defRPr sz="2300" b="0">
                <a:solidFill>
                  <a:srgbClr val="22364C"/>
                </a:solidFill>
                <a:latin typeface="Aptos"/>
              </a:defRPr>
            </a:pPr>
            <a:r>
              <a:t>La règle reste fixe.</a:t>
            </a:r>
          </a:p>
          <a:p>
            <a:pPr>
              <a:spcAft>
                <a:spcPts val="1200"/>
              </a:spcAft>
              <a:defRPr sz="2300" b="0">
                <a:solidFill>
                  <a:srgbClr val="22364C"/>
                </a:solidFill>
                <a:latin typeface="Aptos"/>
              </a:defRPr>
            </a:pPr>
            <a:r>
              <a:t>Les âges et le bruit changent.</a:t>
            </a:r>
          </a:p>
          <a:p>
            <a:pPr>
              <a:spcAft>
                <a:spcPts val="1200"/>
              </a:spcAft>
              <a:defRPr sz="2300" b="0">
                <a:solidFill>
                  <a:srgbClr val="22364C"/>
                </a:solidFill>
                <a:latin typeface="Aptos"/>
              </a:defRPr>
            </a:pPr>
            <a:r>
              <a:t>Les pentes estimées peuvent donc différer.</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Réponse à E01 : ces deux pentes ne suffisent pas à prouver une erreur de code.</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E01</a:t>
            </a:r>
          </a:p>
        </p:txBody>
      </p:sp>
      <p:sp>
        <p:nvSpPr>
          <p:cNvPr id="12"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16 / 73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E01 · CHOISIR UN CONTRÔLE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Contrôler le calcul et le hasard</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Sans bruit</a:t>
            </a:r>
          </a:p>
        </p:txBody>
      </p:sp>
      <p:sp>
        <p:nvSpPr>
          <p:cNvPr id="7" name="TextBox 6"/>
          <p:cNvSpPr txBox="1"/>
          <p:nvPr/>
        </p:nvSpPr>
        <p:spPr>
          <a:xfrm>
            <a:off x="749808"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Garder plusieurs âges distincts : retrouver 0,5 €/an, à l’arrondi près.</a:t>
            </a:r>
          </a:p>
        </p:txBody>
      </p:sp>
      <p:sp>
        <p:nvSpPr>
          <p:cNvPr id="8" name="Rectangle 7"/>
          <p:cNvSpPr/>
          <p:nvPr/>
        </p:nvSpPr>
        <p:spPr>
          <a:xfrm>
            <a:off x="6176772"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2220"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Avec bruit</a:t>
            </a:r>
          </a:p>
        </p:txBody>
      </p:sp>
      <p:sp>
        <p:nvSpPr>
          <p:cNvPr id="10" name="TextBox 9"/>
          <p:cNvSpPr txBox="1"/>
          <p:nvPr/>
        </p:nvSpPr>
        <p:spPr>
          <a:xfrm>
            <a:off x="6332220"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Répéter les tirages. Comparer les pentes, puis augmenter l’effectif.</a:t>
            </a:r>
          </a:p>
        </p:txBody>
      </p:sp>
      <p:sp>
        <p:nvSpPr>
          <p:cNvPr id="11" name="Rectangle 10"/>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Réponse à E01 : vérifier sans bruit, puis répéter avec bruit. Ne pas chercher la graine qui donne la pente voulue.</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E01</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17 / 73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À VOUS · AUTRE RÈGLE DE SIMULATION</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Une pente différente révèle-t-elle un défaut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170432"/>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91440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Montant = 50 + 0,30 × âge + bruit indépendant de l’âge, de moyenne nulle.</a:t>
            </a:r>
          </a:p>
          <a:p>
            <a:pPr>
              <a:spcAft>
                <a:spcPts val="100"/>
              </a:spcAft>
              <a:defRPr sz="2200" b="0">
                <a:solidFill>
                  <a:srgbClr val="22364C"/>
                </a:solidFill>
                <a:latin typeface="Aptos"/>
              </a:defRPr>
            </a:pPr>
            <a:r>
              <a:t>Deux échantillons de 30 clients donnent 0,18 et 0,41 €/an.</a:t>
            </a:r>
          </a:p>
        </p:txBody>
      </p:sp>
      <p:sp>
        <p:nvSpPr>
          <p:cNvPr id="7" name="TextBox 6"/>
          <p:cNvSpPr txBox="1"/>
          <p:nvPr/>
        </p:nvSpPr>
        <p:spPr>
          <a:xfrm>
            <a:off x="658368" y="33375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1</a:t>
            </a:r>
          </a:p>
        </p:txBody>
      </p:sp>
      <p:sp>
        <p:nvSpPr>
          <p:cNvPr id="8" name="TextBox 7"/>
          <p:cNvSpPr txBox="1"/>
          <p:nvPr/>
        </p:nvSpPr>
        <p:spPr>
          <a:xfrm>
            <a:off x="1207008" y="33284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Séparez ce qui est fixé dans la règle de ce qui change entre les tirages.</a:t>
            </a:r>
          </a:p>
        </p:txBody>
      </p:sp>
      <p:sp>
        <p:nvSpPr>
          <p:cNvPr id="9" name="TextBox 8"/>
          <p:cNvSpPr txBox="1"/>
          <p:nvPr/>
        </p:nvSpPr>
        <p:spPr>
          <a:xfrm>
            <a:off x="658368" y="40233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2</a:t>
            </a:r>
          </a:p>
        </p:txBody>
      </p:sp>
      <p:sp>
        <p:nvSpPr>
          <p:cNvPr id="10" name="TextBox 9"/>
          <p:cNvSpPr txBox="1"/>
          <p:nvPr/>
        </p:nvSpPr>
        <p:spPr>
          <a:xfrm>
            <a:off x="1207008" y="40142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Prédisez la pente sans bruit, avec plusieurs âges distincts. Quel contrôle faire ?</a:t>
            </a:r>
          </a:p>
        </p:txBody>
      </p:sp>
      <p:sp>
        <p:nvSpPr>
          <p:cNvPr id="11" name="TextBox 10"/>
          <p:cNvSpPr txBox="1"/>
          <p:nvPr/>
        </p:nvSpPr>
        <p:spPr>
          <a:xfrm>
            <a:off x="658368" y="47091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3</a:t>
            </a:r>
          </a:p>
        </p:txBody>
      </p:sp>
      <p:sp>
        <p:nvSpPr>
          <p:cNvPr id="12" name="TextBox 11"/>
          <p:cNvSpPr txBox="1"/>
          <p:nvPr/>
        </p:nvSpPr>
        <p:spPr>
          <a:xfrm>
            <a:off x="1207008" y="47000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Avec bruit, que comparez-vous sur plusieurs tirages fixés à l’avance ?</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E01</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18 / 73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À REPRENDRE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S03 · Interpréter la valeur p</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S03.</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S03</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19 / 73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S03 · DÉFINITION</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La statistique t de Welch : mesurer un écart</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37943"/>
            <a:ext cx="10927080" cy="603504"/>
          </a:xfrm>
          <a:prstGeom prst="rect">
            <a:avLst/>
          </a:prstGeom>
          <a:noFill/>
        </p:spPr>
        <p:txBody>
          <a:bodyPr wrap="square" lIns="22860" rIns="22860" tIns="13716" bIns="13716">
            <a:spAutoFit/>
          </a:bodyPr>
          <a:lstStyle/>
          <a:p>
            <a:pPr>
              <a:spcAft>
                <a:spcPts val="0"/>
              </a:spcAft>
              <a:defRPr sz="2000" b="0">
                <a:solidFill>
                  <a:srgbClr val="22364C"/>
                </a:solidFill>
                <a:latin typeface="Aptos"/>
              </a:defRPr>
            </a:pPr>
            <a:r>
              <a:t>Deux groupes indépendants ; Welch permet des dispersions différentes.</a:t>
            </a:r>
          </a:p>
          <a:p>
            <a:pPr>
              <a:spcAft>
                <a:spcPts val="0"/>
              </a:spcAft>
              <a:defRPr sz="2000" b="0">
                <a:solidFill>
                  <a:srgbClr val="22364C"/>
                </a:solidFill>
                <a:latin typeface="Aptos"/>
              </a:defRPr>
            </a:pPr>
            <a:r>
              <a:t>H₀ : les moyennes des populations sont égales.</a:t>
            </a:r>
          </a:p>
        </p:txBody>
      </p:sp>
      <p:pic>
        <p:nvPicPr>
          <p:cNvPr id="6" name="Picture 5" descr="t = (moyenne B − moyenne A) / racine(sA²/nA + sB²/nB). Le dénominateur estime la variabilité de cet écart entre échantillons."/>
          <p:cNvPicPr>
            <a:picLocks noChangeAspect="1"/>
          </p:cNvPicPr>
          <p:nvPr/>
        </p:nvPicPr>
        <p:blipFill>
          <a:blip r:embed="rId2"/>
          <a:stretch>
            <a:fillRect/>
          </a:stretch>
        </p:blipFill>
        <p:spPr>
          <a:xfrm>
            <a:off x="965568" y="2459736"/>
            <a:ext cx="10221238" cy="3108960"/>
          </a:xfrm>
          <a:prstGeom prst="rect">
            <a:avLst/>
          </a:prstGeom>
        </p:spPr>
      </p:pic>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Erreur standard : variabilité estimée de l’écart entre échantillons. Exemple : 3 € / 1,37 € → t ≈ 2,20.</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S03</a:t>
            </a:r>
          </a:p>
        </p:txBody>
      </p:sp>
      <p:sp>
        <p:nvSpPr>
          <p:cNvPr id="11"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20 / 73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S03 / ES01 · PRÉREQUIS : H₀ ET H₁</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Avant p : formuler la question sur les populations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H₀ : μA = μB</a:t>
            </a:r>
          </a:p>
        </p:txBody>
      </p:sp>
      <p:sp>
        <p:nvSpPr>
          <p:cNvPr id="7" name="TextBox 6"/>
          <p:cNvSpPr txBox="1"/>
          <p:nvPr/>
        </p:nvSpPr>
        <p:spPr>
          <a:xfrm>
            <a:off x="749808"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Moyennes de population égales.</a:t>
            </a:r>
          </a:p>
        </p:txBody>
      </p:sp>
      <p:sp>
        <p:nvSpPr>
          <p:cNvPr id="8" name="Rectangle 7"/>
          <p:cNvSpPr/>
          <p:nvPr/>
        </p:nvSpPr>
        <p:spPr>
          <a:xfrm>
            <a:off x="4315968"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H₁ : μA ≠ μB</a:t>
            </a:r>
          </a:p>
        </p:txBody>
      </p:sp>
      <p:sp>
        <p:nvSpPr>
          <p:cNvPr id="10" name="TextBox 9"/>
          <p:cNvSpPr txBox="1"/>
          <p:nvPr/>
        </p:nvSpPr>
        <p:spPr>
          <a:xfrm>
            <a:off x="4471416"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Moyennes différentes : l’écart peut aller dans les deux sens (test bilatéral).</a:t>
            </a:r>
          </a:p>
        </p:txBody>
      </p:sp>
      <p:sp>
        <p:nvSpPr>
          <p:cNvPr id="11" name="Rectangle 10"/>
          <p:cNvSpPr/>
          <p:nvPr/>
        </p:nvSpPr>
        <p:spPr>
          <a:xfrm>
            <a:off x="8037576"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Le test</a:t>
            </a:r>
          </a:p>
        </p:txBody>
      </p:sp>
      <p:sp>
        <p:nvSpPr>
          <p:cNvPr id="13" name="TextBox 12"/>
          <p:cNvSpPr txBox="1"/>
          <p:nvPr/>
        </p:nvSpPr>
        <p:spPr>
          <a:xfrm>
            <a:off x="8193024"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Comparer l’écart observé à la variation attendue sous H₀ et les hypothèses du test.</a:t>
            </a:r>
          </a:p>
        </p:txBody>
      </p:sp>
      <p:sp>
        <p:nvSpPr>
          <p:cNvPr id="14" name="Rectangle 13"/>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μ : moyenne inconnue d’une population. Les moyennes observées peuvent varier d’un échantillon à l’autre.</a:t>
            </a:r>
          </a:p>
        </p:txBody>
      </p:sp>
      <p:sp>
        <p:nvSpPr>
          <p:cNvPr id="16" name="TextBox 1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7" name="TextBox 1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S03</a:t>
            </a:r>
          </a:p>
        </p:txBody>
      </p:sp>
      <p:sp>
        <p:nvSpPr>
          <p:cNvPr id="1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9" name="TextBox 1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21 / 73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S03 · CONTEXTE RÉSUMÉ</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p = 0,03 : que peut-on dire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3258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109728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Welch compare deux moyennes. H₀ : moyennes égales. Test bilatéral, conditions satisfaites, dont l’indépendance.</a:t>
            </a:r>
          </a:p>
          <a:p>
            <a:pPr>
              <a:spcAft>
                <a:spcPts val="100"/>
              </a:spcAft>
              <a:defRPr sz="2200" b="0">
                <a:solidFill>
                  <a:srgbClr val="22364C"/>
                </a:solidFill>
                <a:latin typeface="Aptos"/>
              </a:defRPr>
            </a:pPr>
            <a:r>
              <a:t>Seuil fixé avant l’analyse : 5 %. Résultat : p = 0,03.</a:t>
            </a:r>
          </a:p>
        </p:txBody>
      </p:sp>
      <p:sp>
        <p:nvSpPr>
          <p:cNvPr id="7" name="TextBox 6"/>
          <p:cNvSpPr txBox="1"/>
          <p:nvPr/>
        </p:nvSpPr>
        <p:spPr>
          <a:xfrm>
            <a:off x="758952" y="3246120"/>
            <a:ext cx="10634472" cy="274320"/>
          </a:xfrm>
          <a:prstGeom prst="rect">
            <a:avLst/>
          </a:prstGeom>
          <a:noFill/>
        </p:spPr>
        <p:txBody>
          <a:bodyPr wrap="square" lIns="22860" rIns="22860" tIns="13716" bIns="13716">
            <a:spAutoFit/>
          </a:bodyPr>
          <a:lstStyle/>
          <a:p>
            <a:pPr>
              <a:spcAft>
                <a:spcPts val="0"/>
              </a:spcAft>
              <a:defRPr sz="1500" b="0">
                <a:solidFill>
                  <a:srgbClr val="087F8C"/>
                </a:solidFill>
                <a:latin typeface="Aptos"/>
              </a:defRPr>
            </a:pPr>
            <a:r>
              <a:t>Question reprise en discussion · choix du QCM non reproduits</a:t>
            </a:r>
          </a:p>
        </p:txBody>
      </p:sp>
      <p:sp>
        <p:nvSpPr>
          <p:cNvPr id="8" name="TextBox 7"/>
          <p:cNvSpPr txBox="1"/>
          <p:nvPr/>
        </p:nvSpPr>
        <p:spPr>
          <a:xfrm>
            <a:off x="758952" y="3621024"/>
            <a:ext cx="10634472" cy="1783080"/>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Quelle interprétation est correcte ?</a:t>
            </a:r>
          </a:p>
        </p:txBody>
      </p:sp>
      <p:sp>
        <p:nvSpPr>
          <p:cNvPr id="9" name="Rectangle 8"/>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Démarche : lire p sous H₀, comparer au seuil, puis préciser la limite de la conclusion.</a:t>
            </a:r>
          </a:p>
        </p:txBody>
      </p:sp>
      <p:sp>
        <p:nvSpPr>
          <p:cNvPr id="11" name="TextBox 10"/>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2" name="TextBox 11"/>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S03</a:t>
            </a:r>
          </a:p>
        </p:txBody>
      </p:sp>
      <p:sp>
        <p:nvSpPr>
          <p:cNvPr id="13"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4" name="TextBox 13"/>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22 / 73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S03 · LIRE LA PROBABILITÉ SOUS H₀</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p = 0,03 : une probabilité calculée sous H₀</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12648"/>
          </a:xfrm>
          <a:prstGeom prst="rect">
            <a:avLst/>
          </a:prstGeom>
          <a:noFill/>
        </p:spPr>
        <p:txBody>
          <a:bodyPr wrap="square" lIns="22860" rIns="22860" tIns="13716" bIns="13716">
            <a:spAutoFit/>
          </a:bodyPr>
          <a:lstStyle/>
          <a:p>
            <a:pPr>
              <a:spcAft>
                <a:spcPts val="100"/>
              </a:spcAft>
              <a:defRPr sz="2000" b="0">
                <a:solidFill>
                  <a:srgbClr val="22364C"/>
                </a:solidFill>
                <a:latin typeface="Aptos"/>
              </a:defRPr>
            </a:pPr>
            <a:r>
              <a:t>Sous H₀ et les hypothèses du test : distribution de la statistique du test, pas des montants. Zones colorées = 3 %.</a:t>
            </a:r>
          </a:p>
        </p:txBody>
      </p:sp>
      <p:pic>
        <p:nvPicPr>
          <p:cNvPr id="6" name="Picture 5" descr="p value.png"/>
          <p:cNvPicPr>
            <a:picLocks noChangeAspect="1"/>
          </p:cNvPicPr>
          <p:nvPr/>
        </p:nvPicPr>
        <p:blipFill>
          <a:blip r:embed="rId2"/>
          <a:stretch>
            <a:fillRect/>
          </a:stretch>
        </p:blipFill>
        <p:spPr>
          <a:xfrm>
            <a:off x="884582" y="2532888"/>
            <a:ext cx="6460434" cy="2971800"/>
          </a:xfrm>
          <a:prstGeom prst="rect">
            <a:avLst/>
          </a:prstGeom>
        </p:spPr>
      </p:pic>
      <p:sp>
        <p:nvSpPr>
          <p:cNvPr id="7" name="TextBox 6"/>
          <p:cNvSpPr txBox="1"/>
          <p:nvPr/>
        </p:nvSpPr>
        <p:spPr>
          <a:xfrm>
            <a:off x="7863840" y="2578608"/>
            <a:ext cx="3675887" cy="2926080"/>
          </a:xfrm>
          <a:prstGeom prst="rect">
            <a:avLst/>
          </a:prstGeom>
          <a:noFill/>
        </p:spPr>
        <p:txBody>
          <a:bodyPr wrap="square" lIns="22860" rIns="22860" tIns="13716" bIns="13716">
            <a:spAutoFit/>
          </a:bodyPr>
          <a:lstStyle/>
          <a:p>
            <a:pPr>
              <a:spcAft>
                <a:spcPts val="1200"/>
              </a:spcAft>
              <a:defRPr sz="2300" b="0">
                <a:solidFill>
                  <a:srgbClr val="22364C"/>
                </a:solidFill>
                <a:latin typeface="Aptos"/>
              </a:defRPr>
            </a:pPr>
            <a:r>
              <a:t>La statistique rapporte l’écart à sa variabilité.</a:t>
            </a:r>
          </a:p>
          <a:p>
            <a:pPr>
              <a:spcAft>
                <a:spcPts val="1200"/>
              </a:spcAft>
              <a:defRPr sz="2300" b="0">
                <a:solidFill>
                  <a:srgbClr val="22364C"/>
                </a:solidFill>
                <a:latin typeface="Aptos"/>
              </a:defRPr>
            </a:pPr>
            <a:r>
              <a:t>Zones colorées : résultat au moins aussi extrême, dans les deux sens.</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p suppose H₀ ; ce n’est pas la probabilité que H₀ soit vraie.</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S03</a:t>
            </a:r>
          </a:p>
        </p:txBody>
      </p:sp>
      <p:sp>
        <p:nvSpPr>
          <p:cNvPr id="12"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23 / 73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S03 · RÉPONSE AU SEUIL FIXÉ À 5 %</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Ce que p permet de dire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Sous H₀</a:t>
            </a:r>
          </a:p>
        </p:txBody>
      </p:sp>
      <p:sp>
        <p:nvSpPr>
          <p:cNvPr id="7" name="TextBox 6"/>
          <p:cNvSpPr txBox="1"/>
          <p:nvPr/>
        </p:nvSpPr>
        <p:spPr>
          <a:xfrm>
            <a:off x="749808"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Avec les hypothèses du test : 3 % de probabilité d’un résultat au moins aussi extrême.</a:t>
            </a:r>
          </a:p>
        </p:txBody>
      </p:sp>
      <p:sp>
        <p:nvSpPr>
          <p:cNvPr id="8" name="Rectangle 7"/>
          <p:cNvSpPr/>
          <p:nvPr/>
        </p:nvSpPr>
        <p:spPr>
          <a:xfrm>
            <a:off x="4315968"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Au seuil de 5 %</a:t>
            </a:r>
          </a:p>
        </p:txBody>
      </p:sp>
      <p:sp>
        <p:nvSpPr>
          <p:cNvPr id="10" name="TextBox 9"/>
          <p:cNvSpPr txBox="1"/>
          <p:nvPr/>
        </p:nvSpPr>
        <p:spPr>
          <a:xfrm>
            <a:off x="4471416"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0,03 &lt; 0,05 : rejeter H₀. Une erreur reste possible.</a:t>
            </a:r>
          </a:p>
        </p:txBody>
      </p:sp>
      <p:sp>
        <p:nvSpPr>
          <p:cNvPr id="11" name="Rectangle 10"/>
          <p:cNvSpPr/>
          <p:nvPr/>
        </p:nvSpPr>
        <p:spPr>
          <a:xfrm>
            <a:off x="8037576"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Pour décider</a:t>
            </a:r>
          </a:p>
        </p:txBody>
      </p:sp>
      <p:sp>
        <p:nvSpPr>
          <p:cNvPr id="13" name="TextBox 12"/>
          <p:cNvSpPr txBox="1"/>
          <p:nvPr/>
        </p:nvSpPr>
        <p:spPr>
          <a:xfrm>
            <a:off x="8193024"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Quelle ampleur ? Quelle utilité ?</a:t>
            </a:r>
          </a:p>
        </p:txBody>
      </p:sp>
      <p:sp>
        <p:nvSpPr>
          <p:cNvPr id="14" name="Rectangle 13"/>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p ne mesure ni l’ampleur de l’écart ni son intérêt commercial. Non significatif ne prouve pas l’égalité.</a:t>
            </a:r>
          </a:p>
        </p:txBody>
      </p:sp>
      <p:sp>
        <p:nvSpPr>
          <p:cNvPr id="16" name="TextBox 1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7" name="TextBox 1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S03</a:t>
            </a:r>
          </a:p>
        </p:txBody>
      </p:sp>
      <p:sp>
        <p:nvSpPr>
          <p:cNvPr id="1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9" name="TextBox 1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24 / 73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À REPRENDRE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ES01 · Passer du test à une décision</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ES01 · contexte S03.</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ES01</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25 / 73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ES01 · QUESTION D’ORIGINE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Une petite valeur p suffit-elle pour décider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8952" y="2029968"/>
            <a:ext cx="10634472" cy="3355848"/>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À propos de S03, un collègue conclut : « p = 0.03, donc il n'y a que 3 % de chances que H₀ soit vraie et la différence est commercialement importante. » Corrigez les deux parties de cette conclusion. Quelles informations faudrait-il examiner pour juger l'importance commerciale ?</a:t>
            </a:r>
          </a:p>
        </p:txBody>
      </p:sp>
      <p:sp>
        <p:nvSpPr>
          <p:cNvPr id="6" name="Rectangle 5"/>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Démarche : corriger le sens de p, puis examiner montant, incertitude, marge et coûts.</a:t>
            </a:r>
          </a:p>
        </p:txBody>
      </p:sp>
      <p:sp>
        <p:nvSpPr>
          <p:cNvPr id="8" name="TextBox 7"/>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9" name="TextBox 8"/>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ES01</a:t>
            </a:r>
          </a:p>
        </p:txBody>
      </p:sp>
      <p:sp>
        <p:nvSpPr>
          <p:cNvPr id="10"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1" name="TextBox 10"/>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26 / 73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ES01 · NOUVEL EXEMPLE COMMERCIAL</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L’écart estimé ne suffit pas : lire son incertitude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01952"/>
            <a:ext cx="5367528" cy="1709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029968"/>
            <a:ext cx="5056632" cy="576072"/>
          </a:xfrm>
          <a:prstGeom prst="rect">
            <a:avLst/>
          </a:prstGeom>
          <a:noFill/>
        </p:spPr>
        <p:txBody>
          <a:bodyPr wrap="square" lIns="22860" rIns="22860" tIns="13716" bIns="13716">
            <a:spAutoFit/>
          </a:bodyPr>
          <a:lstStyle/>
          <a:p>
            <a:pPr>
              <a:spcAft>
                <a:spcPts val="800"/>
              </a:spcAft>
              <a:defRPr sz="2100" b="1">
                <a:solidFill>
                  <a:srgbClr val="142D4E"/>
                </a:solidFill>
                <a:latin typeface="Aptos"/>
              </a:defRPr>
            </a:pPr>
            <a:r>
              <a:t>Exemple : 50 € et 53 €</a:t>
            </a:r>
          </a:p>
        </p:txBody>
      </p:sp>
      <p:sp>
        <p:nvSpPr>
          <p:cNvPr id="7" name="TextBox 6"/>
          <p:cNvSpPr txBox="1"/>
          <p:nvPr/>
        </p:nvSpPr>
        <p:spPr>
          <a:xfrm>
            <a:off x="749808" y="2642616"/>
            <a:ext cx="5056632" cy="896112"/>
          </a:xfrm>
          <a:prstGeom prst="rect">
            <a:avLst/>
          </a:prstGeom>
          <a:noFill/>
        </p:spPr>
        <p:txBody>
          <a:bodyPr wrap="square" lIns="22860" rIns="22860" tIns="13716" bIns="13716">
            <a:spAutoFit/>
          </a:bodyPr>
          <a:lstStyle/>
          <a:p>
            <a:pPr>
              <a:spcAft>
                <a:spcPts val="900"/>
              </a:spcAft>
              <a:defRPr sz="2000" b="0">
                <a:solidFill>
                  <a:srgbClr val="22364C"/>
                </a:solidFill>
                <a:latin typeface="Aptos"/>
              </a:defRPr>
            </a:pPr>
            <a:r>
              <a:t>Écart mensuel estimé par client : +3 €.</a:t>
            </a:r>
          </a:p>
        </p:txBody>
      </p:sp>
      <p:sp>
        <p:nvSpPr>
          <p:cNvPr id="8" name="Rectangle 7"/>
          <p:cNvSpPr/>
          <p:nvPr/>
        </p:nvSpPr>
        <p:spPr>
          <a:xfrm>
            <a:off x="6190488" y="1901952"/>
            <a:ext cx="5367528" cy="1709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5936" y="2029968"/>
            <a:ext cx="5056632" cy="576072"/>
          </a:xfrm>
          <a:prstGeom prst="rect">
            <a:avLst/>
          </a:prstGeom>
          <a:noFill/>
        </p:spPr>
        <p:txBody>
          <a:bodyPr wrap="square" lIns="22860" rIns="22860" tIns="13716" bIns="13716">
            <a:spAutoFit/>
          </a:bodyPr>
          <a:lstStyle/>
          <a:p>
            <a:pPr>
              <a:spcAft>
                <a:spcPts val="800"/>
              </a:spcAft>
              <a:defRPr sz="2100" b="1">
                <a:solidFill>
                  <a:srgbClr val="142D4E"/>
                </a:solidFill>
                <a:latin typeface="Aptos"/>
              </a:defRPr>
            </a:pPr>
            <a:r>
              <a:t>Intervalle à 95 %</a:t>
            </a:r>
          </a:p>
        </p:txBody>
      </p:sp>
      <p:sp>
        <p:nvSpPr>
          <p:cNvPr id="10" name="TextBox 9"/>
          <p:cNvSpPr txBox="1"/>
          <p:nvPr/>
        </p:nvSpPr>
        <p:spPr>
          <a:xfrm>
            <a:off x="6345936" y="2642616"/>
            <a:ext cx="5056632" cy="896112"/>
          </a:xfrm>
          <a:prstGeom prst="rect">
            <a:avLst/>
          </a:prstGeom>
          <a:noFill/>
        </p:spPr>
        <p:txBody>
          <a:bodyPr wrap="square" lIns="22860" rIns="22860" tIns="13716" bIns="13716">
            <a:spAutoFit/>
          </a:bodyPr>
          <a:lstStyle/>
          <a:p>
            <a:pPr>
              <a:spcAft>
                <a:spcPts val="900"/>
              </a:spcAft>
              <a:defRPr sz="2000" b="0">
                <a:solidFill>
                  <a:srgbClr val="22364C"/>
                </a:solidFill>
                <a:latin typeface="Aptos"/>
              </a:defRPr>
            </a:pPr>
            <a:r>
              <a:t>[+0,3 € ; +5,7 €] : imprécision estimée, sous les hypothèses de la méthode.</a:t>
            </a:r>
          </a:p>
        </p:txBody>
      </p:sp>
      <p:sp>
        <p:nvSpPr>
          <p:cNvPr id="11" name="Rectangle 10"/>
          <p:cNvSpPr/>
          <p:nvPr/>
        </p:nvSpPr>
        <p:spPr>
          <a:xfrm>
            <a:off x="594360" y="3767328"/>
            <a:ext cx="5367528" cy="1709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895344"/>
            <a:ext cx="5056632" cy="576072"/>
          </a:xfrm>
          <a:prstGeom prst="rect">
            <a:avLst/>
          </a:prstGeom>
          <a:noFill/>
        </p:spPr>
        <p:txBody>
          <a:bodyPr wrap="square" lIns="22860" rIns="22860" tIns="13716" bIns="13716">
            <a:spAutoFit/>
          </a:bodyPr>
          <a:lstStyle/>
          <a:p>
            <a:pPr>
              <a:spcAft>
                <a:spcPts val="800"/>
              </a:spcAft>
              <a:defRPr sz="2100" b="1">
                <a:solidFill>
                  <a:srgbClr val="142D4E"/>
                </a:solidFill>
                <a:latin typeface="Aptos"/>
              </a:defRPr>
            </a:pPr>
            <a:r>
              <a:t>Sur des tirages répétés</a:t>
            </a:r>
          </a:p>
        </p:txBody>
      </p:sp>
      <p:sp>
        <p:nvSpPr>
          <p:cNvPr id="13" name="TextBox 12"/>
          <p:cNvSpPr txBox="1"/>
          <p:nvPr/>
        </p:nvSpPr>
        <p:spPr>
          <a:xfrm>
            <a:off x="749808" y="4507992"/>
            <a:ext cx="5056632" cy="896112"/>
          </a:xfrm>
          <a:prstGeom prst="rect">
            <a:avLst/>
          </a:prstGeom>
          <a:noFill/>
        </p:spPr>
        <p:txBody>
          <a:bodyPr wrap="square" lIns="22860" rIns="22860" tIns="13716" bIns="13716">
            <a:spAutoFit/>
          </a:bodyPr>
          <a:lstStyle/>
          <a:p>
            <a:pPr>
              <a:spcAft>
                <a:spcPts val="900"/>
              </a:spcAft>
              <a:defRPr sz="2000" b="0">
                <a:solidFill>
                  <a:srgbClr val="22364C"/>
                </a:solidFill>
                <a:latin typeface="Aptos"/>
              </a:defRPr>
            </a:pPr>
            <a:r>
              <a:t>Environ 95 % des intervalles ainsi calculés contiendraient le véritable écart.</a:t>
            </a:r>
          </a:p>
        </p:txBody>
      </p:sp>
      <p:sp>
        <p:nvSpPr>
          <p:cNvPr id="14" name="Rectangle 13"/>
          <p:cNvSpPr/>
          <p:nvPr/>
        </p:nvSpPr>
        <p:spPr>
          <a:xfrm>
            <a:off x="6190488" y="3767328"/>
            <a:ext cx="5367528" cy="1709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3895344"/>
            <a:ext cx="5056632" cy="576072"/>
          </a:xfrm>
          <a:prstGeom prst="rect">
            <a:avLst/>
          </a:prstGeom>
          <a:noFill/>
        </p:spPr>
        <p:txBody>
          <a:bodyPr wrap="square" lIns="22860" rIns="22860" tIns="13716" bIns="13716">
            <a:spAutoFit/>
          </a:bodyPr>
          <a:lstStyle/>
          <a:p>
            <a:pPr>
              <a:spcAft>
                <a:spcPts val="800"/>
              </a:spcAft>
              <a:defRPr sz="2100" b="1">
                <a:solidFill>
                  <a:srgbClr val="142D4E"/>
                </a:solidFill>
                <a:latin typeface="Aptos"/>
              </a:defRPr>
            </a:pPr>
            <a:r>
              <a:t>Si l’intervalle contient 0</a:t>
            </a:r>
          </a:p>
        </p:txBody>
      </p:sp>
      <p:sp>
        <p:nvSpPr>
          <p:cNvPr id="16" name="TextBox 15"/>
          <p:cNvSpPr txBox="1"/>
          <p:nvPr/>
        </p:nvSpPr>
        <p:spPr>
          <a:xfrm>
            <a:off x="6345936" y="4507992"/>
            <a:ext cx="5056632" cy="896112"/>
          </a:xfrm>
          <a:prstGeom prst="rect">
            <a:avLst/>
          </a:prstGeom>
          <a:noFill/>
        </p:spPr>
        <p:txBody>
          <a:bodyPr wrap="square" lIns="22860" rIns="22860" tIns="13716" bIns="13716">
            <a:spAutoFit/>
          </a:bodyPr>
          <a:lstStyle/>
          <a:p>
            <a:pPr>
              <a:spcAft>
                <a:spcPts val="900"/>
              </a:spcAft>
              <a:defRPr sz="2000" b="0">
                <a:solidFill>
                  <a:srgbClr val="22364C"/>
                </a:solidFill>
                <a:latin typeface="Aptos"/>
              </a:defRPr>
            </a:pPr>
            <a:r>
              <a:t>L’absence d’écart reste compatible avec les données ; l’égalité n’est pas prouvée.</a:t>
            </a:r>
          </a:p>
        </p:txBody>
      </p:sp>
      <p:sp>
        <p:nvSpPr>
          <p:cNvPr id="17" name="TextBox 16"/>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8" name="TextBox 17"/>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ES01</a:t>
            </a:r>
          </a:p>
        </p:txBody>
      </p:sp>
      <p:sp>
        <p:nvSpPr>
          <p:cNvPr id="19"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20" name="TextBox 19"/>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27 / 73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ES01 · MÊME EXEMPLE : OFFRE ATTRIBUÉE AU HASARD</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Significatif ne signifie pas rentable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67512"/>
          </a:xfrm>
          <a:prstGeom prst="rect">
            <a:avLst/>
          </a:prstGeom>
          <a:noFill/>
        </p:spPr>
        <p:txBody>
          <a:bodyPr wrap="square" lIns="22860" rIns="22860" tIns="13716" bIns="13716">
            <a:spAutoFit/>
          </a:bodyPr>
          <a:lstStyle/>
          <a:p>
            <a:pPr>
              <a:spcAft>
                <a:spcPts val="300"/>
              </a:spcAft>
              <a:defRPr sz="2100" b="0">
                <a:solidFill>
                  <a:srgbClr val="22364C"/>
                </a:solidFill>
                <a:latin typeface="Aptos"/>
              </a:defRPr>
            </a:pPr>
            <a:r>
              <a:t>Dépense mensuelle/client : 50 € sans offre, 53 € avec offre. 60 clients/groupe. Coût par client recevant l’offre.</a:t>
            </a:r>
          </a:p>
        </p:txBody>
      </p:sp>
      <p:graphicFrame>
        <p:nvGraphicFramePr>
          <p:cNvPr id="6" name="Table 5"/>
          <p:cNvGraphicFramePr>
            <a:graphicFrameLocks noGrp="1"/>
          </p:cNvGraphicFramePr>
          <p:nvPr/>
        </p:nvGraphicFramePr>
        <p:xfrm>
          <a:off x="621792" y="2688336"/>
          <a:ext cx="10927078" cy="2734053"/>
        </p:xfrm>
        <a:graphic>
          <a:graphicData uri="http://schemas.openxmlformats.org/drawingml/2006/table">
            <a:tbl>
              <a:tblPr firstRow="1" bandRow="1">
                <a:tableStyleId>{5C22544A-7EE6-4342-B048-85BDC9FD1C3A}</a:tableStyleId>
              </a:tblPr>
              <a:tblGrid>
                <a:gridCol w="2479253"/>
                <a:gridCol w="2571077"/>
                <a:gridCol w="5876748"/>
              </a:tblGrid>
              <a:tr h="594360">
                <a:tc>
                  <a:txBody>
                    <a:bodyPr/>
                    <a:lstStyle/>
                    <a:p>
                      <a:pPr>
                        <a:defRPr sz="2200" b="1">
                          <a:solidFill>
                            <a:srgbClr val="FFFFFF"/>
                          </a:solidFill>
                          <a:latin typeface="Aptos"/>
                        </a:defRPr>
                      </a:pPr>
                      <a:r>
                        <a:t>Information</a:t>
                      </a:r>
                    </a:p>
                  </a:txBody>
                  <a:tcPr marL="109728" marR="109728" marT="54864" marB="54864">
                    <a:solidFill>
                      <a:srgbClr val="142D4E"/>
                    </a:solidFill>
                  </a:tcPr>
                </a:tc>
                <a:tc>
                  <a:txBody>
                    <a:bodyPr/>
                    <a:lstStyle/>
                    <a:p>
                      <a:pPr>
                        <a:defRPr sz="2200" b="1">
                          <a:solidFill>
                            <a:srgbClr val="FFFFFF"/>
                          </a:solidFill>
                          <a:latin typeface="Aptos"/>
                        </a:defRPr>
                      </a:pPr>
                      <a:r>
                        <a:t>Valeur</a:t>
                      </a:r>
                    </a:p>
                  </a:txBody>
                  <a:tcPr marL="109728" marR="109728" marT="54864" marB="54864">
                    <a:solidFill>
                      <a:srgbClr val="142D4E"/>
                    </a:solidFill>
                  </a:tcPr>
                </a:tc>
                <a:tc>
                  <a:txBody>
                    <a:bodyPr/>
                    <a:lstStyle/>
                    <a:p>
                      <a:pPr>
                        <a:defRPr sz="2200" b="1">
                          <a:solidFill>
                            <a:srgbClr val="FFFFFF"/>
                          </a:solidFill>
                          <a:latin typeface="Aptos"/>
                        </a:defRPr>
                      </a:pPr>
                      <a:r>
                        <a:t>Lecture</a:t>
                      </a:r>
                    </a:p>
                  </a:txBody>
                  <a:tcPr marL="109728" marR="109728" marT="54864" marB="54864">
                    <a:solidFill>
                      <a:srgbClr val="142D4E"/>
                    </a:solidFill>
                  </a:tcPr>
                </a:tc>
              </a:tr>
              <a:tr h="713231">
                <a:tc>
                  <a:txBody>
                    <a:bodyPr/>
                    <a:lstStyle/>
                    <a:p>
                      <a:pPr>
                        <a:defRPr sz="2200" b="0">
                          <a:solidFill>
                            <a:srgbClr val="22364C"/>
                          </a:solidFill>
                          <a:latin typeface="Aptos"/>
                        </a:defRPr>
                      </a:pPr>
                      <a:r>
                        <a:t>Écart estimé</a:t>
                      </a:r>
                    </a:p>
                  </a:txBody>
                  <a:tcPr marL="109728" marR="109728" marT="54864" marB="54864">
                    <a:solidFill>
                      <a:srgbClr val="EFF4F9"/>
                    </a:solidFill>
                  </a:tcPr>
                </a:tc>
                <a:tc>
                  <a:txBody>
                    <a:bodyPr/>
                    <a:lstStyle/>
                    <a:p>
                      <a:pPr>
                        <a:defRPr sz="2200" b="0">
                          <a:solidFill>
                            <a:srgbClr val="22364C"/>
                          </a:solidFill>
                          <a:latin typeface="Aptos"/>
                        </a:defRPr>
                      </a:pPr>
                      <a:r>
                        <a:t>+3 € ; p = 0,03</a:t>
                      </a:r>
                    </a:p>
                  </a:txBody>
                  <a:tcPr marL="109728" marR="109728" marT="54864" marB="54864">
                    <a:solidFill>
                      <a:srgbClr val="EFF4F9"/>
                    </a:solidFill>
                  </a:tcPr>
                </a:tc>
                <a:tc>
                  <a:txBody>
                    <a:bodyPr/>
                    <a:lstStyle/>
                    <a:p>
                      <a:pPr>
                        <a:defRPr sz="2200" b="0">
                          <a:solidFill>
                            <a:srgbClr val="22364C"/>
                          </a:solidFill>
                          <a:latin typeface="Aptos"/>
                        </a:defRPr>
                      </a:pPr>
                      <a:r>
                        <a:t>Intervalle à 95 % : environ +0,3 à +5,7 €</a:t>
                      </a:r>
                    </a:p>
                  </a:txBody>
                  <a:tcPr marL="109728" marR="109728" marT="54864" marB="54864">
                    <a:solidFill>
                      <a:srgbClr val="EFF4F9"/>
                    </a:solidFill>
                  </a:tcPr>
                </a:tc>
              </a:tr>
              <a:tr h="713231">
                <a:tc>
                  <a:txBody>
                    <a:bodyPr/>
                    <a:lstStyle/>
                    <a:p>
                      <a:pPr>
                        <a:defRPr sz="2200" b="0">
                          <a:solidFill>
                            <a:srgbClr val="22364C"/>
                          </a:solidFill>
                          <a:latin typeface="Aptos"/>
                        </a:defRPr>
                      </a:pPr>
                      <a:r>
                        <a:t>Marge</a:t>
                      </a:r>
                    </a:p>
                  </a:txBody>
                  <a:tcPr marL="109728" marR="109728" marT="54864" marB="54864">
                    <a:solidFill>
                      <a:srgbClr val="FFFFFF"/>
                    </a:solidFill>
                  </a:tcPr>
                </a:tc>
                <a:tc>
                  <a:txBody>
                    <a:bodyPr/>
                    <a:lstStyle/>
                    <a:p>
                      <a:pPr>
                        <a:defRPr sz="2200" b="0">
                          <a:solidFill>
                            <a:srgbClr val="22364C"/>
                          </a:solidFill>
                          <a:latin typeface="Aptos"/>
                        </a:defRPr>
                      </a:pPr>
                      <a:r>
                        <a:t>30 %</a:t>
                      </a:r>
                    </a:p>
                  </a:txBody>
                  <a:tcPr marL="109728" marR="109728" marT="54864" marB="54864">
                    <a:solidFill>
                      <a:srgbClr val="FFFFFF"/>
                    </a:solidFill>
                  </a:tcPr>
                </a:tc>
                <a:tc>
                  <a:txBody>
                    <a:bodyPr/>
                    <a:lstStyle/>
                    <a:p>
                      <a:pPr>
                        <a:defRPr sz="2200" b="0">
                          <a:solidFill>
                            <a:srgbClr val="22364C"/>
                          </a:solidFill>
                          <a:latin typeface="Aptos"/>
                        </a:defRPr>
                      </a:pPr>
                      <a:r>
                        <a:t>Gain de marge estimé : 0,30 × 3 = 0,90 €</a:t>
                      </a:r>
                    </a:p>
                  </a:txBody>
                  <a:tcPr marL="109728" marR="109728" marT="54864" marB="54864">
                    <a:solidFill>
                      <a:srgbClr val="FFFFFF"/>
                    </a:solidFill>
                  </a:tcPr>
                </a:tc>
              </a:tr>
              <a:tr h="713231">
                <a:tc>
                  <a:txBody>
                    <a:bodyPr/>
                    <a:lstStyle/>
                    <a:p>
                      <a:pPr>
                        <a:defRPr sz="2200" b="0">
                          <a:solidFill>
                            <a:srgbClr val="22364C"/>
                          </a:solidFill>
                          <a:latin typeface="Aptos"/>
                        </a:defRPr>
                      </a:pPr>
                      <a:r>
                        <a:t>Coût de l’offre</a:t>
                      </a:r>
                    </a:p>
                  </a:txBody>
                  <a:tcPr marL="109728" marR="109728" marT="54864" marB="54864">
                    <a:solidFill>
                      <a:srgbClr val="EFF4F9"/>
                    </a:solidFill>
                  </a:tcPr>
                </a:tc>
                <a:tc>
                  <a:txBody>
                    <a:bodyPr/>
                    <a:lstStyle/>
                    <a:p>
                      <a:pPr>
                        <a:defRPr sz="2200" b="0">
                          <a:solidFill>
                            <a:srgbClr val="22364C"/>
                          </a:solidFill>
                          <a:latin typeface="Aptos"/>
                        </a:defRPr>
                      </a:pPr>
                      <a:r>
                        <a:t>2 € / client</a:t>
                      </a:r>
                    </a:p>
                  </a:txBody>
                  <a:tcPr marL="109728" marR="109728" marT="54864" marB="54864">
                    <a:solidFill>
                      <a:srgbClr val="EFF4F9"/>
                    </a:solidFill>
                  </a:tcPr>
                </a:tc>
                <a:tc>
                  <a:txBody>
                    <a:bodyPr/>
                    <a:lstStyle/>
                    <a:p>
                      <a:pPr>
                        <a:defRPr sz="2200" b="0">
                          <a:solidFill>
                            <a:srgbClr val="22364C"/>
                          </a:solidFill>
                          <a:latin typeface="Aptos"/>
                        </a:defRPr>
                      </a:pPr>
                      <a:r>
                        <a:t>Solde estimé : 0,90 − 2 = −1,10 €</a:t>
                      </a:r>
                    </a:p>
                  </a:txBody>
                  <a:tcPr marL="109728" marR="109728" marT="54864" marB="54864">
                    <a:solidFill>
                      <a:srgbClr val="EFF4F9"/>
                    </a:solidFill>
                  </a:tcPr>
                </a:tc>
              </a:tr>
            </a:tbl>
          </a:graphicData>
        </a:graphic>
      </p:graphicFrame>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Réponse à ES01 : p n’est pas la probabilité de H₀. Ici, l’écart est significatif, mais le solde estimé est négatif.</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ES01</a:t>
            </a:r>
          </a:p>
        </p:txBody>
      </p:sp>
      <p:sp>
        <p:nvSpPr>
          <p:cNvPr id="11"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28 / 73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ES01 · SIMULATION</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Plus de clients : une moyenne plus stable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37943"/>
            <a:ext cx="10927080" cy="603504"/>
          </a:xfrm>
          <a:prstGeom prst="rect">
            <a:avLst/>
          </a:prstGeom>
          <a:noFill/>
        </p:spPr>
        <p:txBody>
          <a:bodyPr wrap="square" lIns="22860" rIns="22860" tIns="13716" bIns="13716">
            <a:spAutoFit/>
          </a:bodyPr>
          <a:lstStyle/>
          <a:p>
            <a:pPr>
              <a:spcAft>
                <a:spcPts val="0"/>
              </a:spcAft>
              <a:defRPr sz="2000" b="0">
                <a:solidFill>
                  <a:srgbClr val="22364C"/>
                </a:solidFill>
                <a:latin typeface="Aptos"/>
              </a:defRPr>
            </a:pPr>
            <a:r>
              <a:t>Achats indépendants ; moyenne de population connue dans cette simulation : 100 €.</a:t>
            </a:r>
          </a:p>
          <a:p>
            <a:pPr>
              <a:spcAft>
                <a:spcPts val="0"/>
              </a:spcAft>
              <a:defRPr sz="2000" b="0">
                <a:solidFill>
                  <a:srgbClr val="22364C"/>
                </a:solidFill>
                <a:latin typeface="Aptos"/>
              </a:defRPr>
            </a:pPr>
            <a:r>
              <a:t>Chaque courbe cumule les clients d’une même série de tirages.</a:t>
            </a:r>
          </a:p>
        </p:txBody>
      </p:sp>
      <p:pic>
        <p:nvPicPr>
          <p:cNvPr id="6" name="Picture 5" descr="Trois moyennes cumulées de10à10000clients se rapprochent de la référence100€, avec des fluctuations. Abscisse logarithmique."/>
          <p:cNvPicPr>
            <a:picLocks noChangeAspect="1"/>
          </p:cNvPicPr>
          <p:nvPr/>
        </p:nvPicPr>
        <p:blipFill>
          <a:blip r:embed="rId2"/>
          <a:stretch>
            <a:fillRect/>
          </a:stretch>
        </p:blipFill>
        <p:spPr>
          <a:xfrm>
            <a:off x="965568" y="2459736"/>
            <a:ext cx="10221238" cy="3108960"/>
          </a:xfrm>
          <a:prstGeom prst="rect">
            <a:avLst/>
          </a:prstGeom>
        </p:spPr>
      </p:pic>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La moyenne se stabilise, sans se rapprocher régulièrement à chaque ajout. Les achats individuels restent dispersés.</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ES01</a:t>
            </a:r>
          </a:p>
        </p:txBody>
      </p:sp>
      <p:sp>
        <p:nvSpPr>
          <p:cNvPr id="11"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29 / 73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ES01 · MÊME ÉCART, MÊME DISPERSION, EFFECTIF DIFFÉRENT</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Un petit écart peut devenir significatif</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37943"/>
            <a:ext cx="10927080" cy="603504"/>
          </a:xfrm>
          <a:prstGeom prst="rect">
            <a:avLst/>
          </a:prstGeom>
          <a:noFill/>
        </p:spPr>
        <p:txBody>
          <a:bodyPr wrap="square" lIns="22860" rIns="22860" tIns="13716" bIns="13716">
            <a:spAutoFit/>
          </a:bodyPr>
          <a:lstStyle/>
          <a:p>
            <a:pPr>
              <a:spcAft>
                <a:spcPts val="0"/>
              </a:spcAft>
              <a:defRPr sz="2000" b="0">
                <a:solidFill>
                  <a:srgbClr val="22364C"/>
                </a:solidFill>
                <a:latin typeface="Aptos"/>
              </a:defRPr>
            </a:pPr>
            <a:r>
              <a:t>Scénarios calculés : écart +1 €, écart-type 20 € ; n clients dans chaque groupe.</a:t>
            </a:r>
          </a:p>
          <a:p>
            <a:pPr>
              <a:spcAft>
                <a:spcPts val="0"/>
              </a:spcAft>
              <a:defRPr sz="2000" b="0">
                <a:solidFill>
                  <a:srgbClr val="22364C"/>
                </a:solidFill>
                <a:latin typeface="Aptos"/>
              </a:defRPr>
            </a:pPr>
            <a:r>
              <a:t>Barres : intervalle à 95 % de l’écart. Test de Welch bilatéral, seuil fixé à 5 %.</a:t>
            </a:r>
          </a:p>
        </p:txBody>
      </p:sp>
      <p:pic>
        <p:nvPicPr>
          <p:cNvPr id="6" name="Picture 5" descr="À n50,500,5000par groupe, écart fixé+1€ ; p≈0,803/0,429/0,012. Les intervalles se rétrécissent. À5000, le petit écart est significatif mais reste sous le seuil rentable+6,67€."/>
          <p:cNvPicPr>
            <a:picLocks noChangeAspect="1"/>
          </p:cNvPicPr>
          <p:nvPr/>
        </p:nvPicPr>
        <p:blipFill>
          <a:blip r:embed="rId2"/>
          <a:stretch>
            <a:fillRect/>
          </a:stretch>
        </p:blipFill>
        <p:spPr>
          <a:xfrm>
            <a:off x="965568" y="2459736"/>
            <a:ext cx="10221238" cy="3108960"/>
          </a:xfrm>
          <a:prstGeom prst="rect">
            <a:avLst/>
          </a:prstGeom>
        </p:spPr>
      </p:pic>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Offre attribuée au hasard. Marge 30 %, coût 2 €/client : gain estimé = 0,30 × 1 − 2 = −1,70 €/client.</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ES01</a:t>
            </a:r>
          </a:p>
        </p:txBody>
      </p:sp>
      <p:sp>
        <p:nvSpPr>
          <p:cNvPr id="11"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30 / 73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À VOUS · APPLIQUER LA DÉMARCHE À UNE AUTRE OFFRE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Interpréter le test, puis décider</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170432"/>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91440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Offre attribuée au hasard. Écart de dépense estimé : +4 €/client ; intervalle à 95 % : [−1 € ; +9 €].</a:t>
            </a:r>
          </a:p>
          <a:p>
            <a:pPr>
              <a:spcAft>
                <a:spcPts val="100"/>
              </a:spcAft>
              <a:defRPr sz="2200" b="0">
                <a:solidFill>
                  <a:srgbClr val="22364C"/>
                </a:solidFill>
                <a:latin typeface="Aptos"/>
              </a:defRPr>
            </a:pPr>
            <a:r>
              <a:t>p = 0,12 ; seuil prévu : 5 %. Marge : 25 % ; coût : 2 €/client recevant l’offre.</a:t>
            </a:r>
          </a:p>
        </p:txBody>
      </p:sp>
      <p:sp>
        <p:nvSpPr>
          <p:cNvPr id="7" name="TextBox 6"/>
          <p:cNvSpPr txBox="1"/>
          <p:nvPr/>
        </p:nvSpPr>
        <p:spPr>
          <a:xfrm>
            <a:off x="658368" y="33375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1</a:t>
            </a:r>
          </a:p>
        </p:txBody>
      </p:sp>
      <p:sp>
        <p:nvSpPr>
          <p:cNvPr id="8" name="TextBox 7"/>
          <p:cNvSpPr txBox="1"/>
          <p:nvPr/>
        </p:nvSpPr>
        <p:spPr>
          <a:xfrm>
            <a:off x="1207008" y="33284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Formulez H₀ et interprétez p sous les hypothèses du test.</a:t>
            </a:r>
          </a:p>
        </p:txBody>
      </p:sp>
      <p:sp>
        <p:nvSpPr>
          <p:cNvPr id="9" name="TextBox 8"/>
          <p:cNvSpPr txBox="1"/>
          <p:nvPr/>
        </p:nvSpPr>
        <p:spPr>
          <a:xfrm>
            <a:off x="658368" y="40233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2</a:t>
            </a:r>
          </a:p>
        </p:txBody>
      </p:sp>
      <p:sp>
        <p:nvSpPr>
          <p:cNvPr id="10" name="TextBox 9"/>
          <p:cNvSpPr txBox="1"/>
          <p:nvPr/>
        </p:nvSpPr>
        <p:spPr>
          <a:xfrm>
            <a:off x="1207008" y="40142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Concluez au seuil de 5 %. Peut-on affirmer l’égalité ?</a:t>
            </a:r>
          </a:p>
        </p:txBody>
      </p:sp>
      <p:sp>
        <p:nvSpPr>
          <p:cNvPr id="11" name="TextBox 10"/>
          <p:cNvSpPr txBox="1"/>
          <p:nvPr/>
        </p:nvSpPr>
        <p:spPr>
          <a:xfrm>
            <a:off x="658368" y="47091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3</a:t>
            </a:r>
          </a:p>
        </p:txBody>
      </p:sp>
      <p:sp>
        <p:nvSpPr>
          <p:cNvPr id="12" name="TextBox 11"/>
          <p:cNvSpPr txBox="1"/>
          <p:nvPr/>
        </p:nvSpPr>
        <p:spPr>
          <a:xfrm>
            <a:off x="1207008" y="47000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Calculez le gain net estimé. Pourquoi la décision reste-t-elle incertaine ?</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ES01</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31 / 73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À REPRENDRE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E02 · Examiner une association</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E02 · au choix : Q07 ou Q08.</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E02</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32 / 73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E02 · DÉFINITION VISUELLE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Association linéaire : une tendance en ligne droite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37943"/>
            <a:ext cx="10927080" cy="603504"/>
          </a:xfrm>
          <a:prstGeom prst="rect">
            <a:avLst/>
          </a:prstGeom>
          <a:noFill/>
        </p:spPr>
        <p:txBody>
          <a:bodyPr wrap="square" lIns="22860" rIns="22860" tIns="13716" bIns="13716">
            <a:spAutoFit/>
          </a:bodyPr>
          <a:lstStyle/>
          <a:p>
            <a:pPr>
              <a:spcAft>
                <a:spcPts val="0"/>
              </a:spcAft>
              <a:defRPr sz="2000" b="0">
                <a:solidFill>
                  <a:srgbClr val="22364C"/>
                </a:solidFill>
                <a:latin typeface="Aptos"/>
              </a:defRPr>
            </a:pPr>
            <a:r>
              <a:t>Chaque point représente un client. Une droite résume comment les montants varient avec la distance.</a:t>
            </a:r>
          </a:p>
        </p:txBody>
      </p:sp>
      <p:pic>
        <p:nvPicPr>
          <p:cNvPr id="6" name="Picture 5" descr="Trois nuages construits : tendance croissante r+0,85 ; pas de tendance linéaire r0 ; tendance décroissante r−0,85."/>
          <p:cNvPicPr>
            <a:picLocks noChangeAspect="1"/>
          </p:cNvPicPr>
          <p:nvPr/>
        </p:nvPicPr>
        <p:blipFill>
          <a:blip r:embed="rId2"/>
          <a:stretch>
            <a:fillRect/>
          </a:stretch>
        </p:blipFill>
        <p:spPr>
          <a:xfrm>
            <a:off x="965568" y="2459736"/>
            <a:ext cx="10221238" cy="3108960"/>
          </a:xfrm>
          <a:prstGeom prst="rect">
            <a:avLst/>
          </a:prstGeom>
        </p:spPr>
      </p:pic>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r va de −1 à +1 : son signe donne le sens ; |r| mesure la force de la tendance linéaire. Une association ne prouve pas une cause.</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E02</a:t>
            </a:r>
          </a:p>
        </p:txBody>
      </p:sp>
      <p:sp>
        <p:nvSpPr>
          <p:cNvPr id="11"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33 / 73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CONTEXTES DE Q07 ET Q08 RÉSUMÉS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E02 · Deux situations au choix</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67512"/>
          </a:xfrm>
          <a:prstGeom prst="rect">
            <a:avLst/>
          </a:prstGeom>
          <a:noFill/>
        </p:spPr>
        <p:txBody>
          <a:bodyPr wrap="square" lIns="22860" rIns="22860" tIns="13716" bIns="13716">
            <a:spAutoFit/>
          </a:bodyPr>
          <a:lstStyle/>
          <a:p>
            <a:pPr>
              <a:spcAft>
                <a:spcPts val="300"/>
              </a:spcAft>
              <a:defRPr sz="2100" b="0">
                <a:solidFill>
                  <a:srgbClr val="22364C"/>
                </a:solidFill>
                <a:latin typeface="Aptos"/>
              </a:defRPr>
            </a:pPr>
            <a:r>
              <a:t>Q07 : une ligne par client. r mesure l’association linéaire entre distance et montant.</a:t>
            </a:r>
          </a:p>
        </p:txBody>
      </p:sp>
      <p:graphicFrame>
        <p:nvGraphicFramePr>
          <p:cNvPr id="6" name="Table 5"/>
          <p:cNvGraphicFramePr>
            <a:graphicFrameLocks noGrp="1"/>
          </p:cNvGraphicFramePr>
          <p:nvPr/>
        </p:nvGraphicFramePr>
        <p:xfrm>
          <a:off x="621792" y="2688336"/>
          <a:ext cx="10927080" cy="2734056"/>
        </p:xfrm>
        <a:graphic>
          <a:graphicData uri="http://schemas.openxmlformats.org/drawingml/2006/table">
            <a:tbl>
              <a:tblPr firstRow="1" bandRow="1">
                <a:tableStyleId>{5C22544A-7EE6-4342-B048-85BDC9FD1C3A}</a:tableStyleId>
              </a:tblPr>
              <a:tblGrid>
                <a:gridCol w="2057400"/>
                <a:gridCol w="5029200"/>
                <a:gridCol w="3840480"/>
              </a:tblGrid>
              <a:tr h="594360">
                <a:tc>
                  <a:txBody>
                    <a:bodyPr/>
                    <a:lstStyle/>
                    <a:p>
                      <a:pPr>
                        <a:defRPr sz="2200" b="1">
                          <a:solidFill>
                            <a:srgbClr val="FFFFFF"/>
                          </a:solidFill>
                          <a:latin typeface="Aptos"/>
                        </a:defRPr>
                      </a:pPr>
                      <a:r>
                        <a:t>Situation</a:t>
                      </a:r>
                    </a:p>
                  </a:txBody>
                  <a:tcPr marL="109728" marR="109728" marT="54864" marB="54864">
                    <a:solidFill>
                      <a:srgbClr val="142D4E"/>
                    </a:solidFill>
                  </a:tcPr>
                </a:tc>
                <a:tc>
                  <a:txBody>
                    <a:bodyPr/>
                    <a:lstStyle/>
                    <a:p>
                      <a:pPr>
                        <a:defRPr sz="2200" b="1">
                          <a:solidFill>
                            <a:srgbClr val="FFFFFF"/>
                          </a:solidFill>
                          <a:latin typeface="Aptos"/>
                        </a:defRPr>
                      </a:pPr>
                      <a:r>
                        <a:t>Observations</a:t>
                      </a:r>
                    </a:p>
                  </a:txBody>
                  <a:tcPr marL="109728" marR="109728" marT="54864" marB="54864">
                    <a:solidFill>
                      <a:srgbClr val="142D4E"/>
                    </a:solidFill>
                  </a:tcPr>
                </a:tc>
                <a:tc>
                  <a:txBody>
                    <a:bodyPr/>
                    <a:lstStyle/>
                    <a:p>
                      <a:pPr>
                        <a:defRPr sz="2200" b="1">
                          <a:solidFill>
                            <a:srgbClr val="FFFFFF"/>
                          </a:solidFill>
                          <a:latin typeface="Aptos"/>
                        </a:defRPr>
                      </a:pPr>
                      <a:r>
                        <a:t>Question</a:t>
                      </a:r>
                    </a:p>
                  </a:txBody>
                  <a:tcPr marL="109728" marR="109728" marT="54864" marB="54864">
                    <a:solidFill>
                      <a:srgbClr val="142D4E"/>
                    </a:solidFill>
                  </a:tcPr>
                </a:tc>
              </a:tr>
              <a:tr h="1069848">
                <a:tc>
                  <a:txBody>
                    <a:bodyPr/>
                    <a:lstStyle/>
                    <a:p>
                      <a:pPr>
                        <a:defRPr sz="2200" b="0">
                          <a:solidFill>
                            <a:srgbClr val="22364C"/>
                          </a:solidFill>
                          <a:latin typeface="Aptos"/>
                        </a:defRPr>
                      </a:pPr>
                      <a:r>
                        <a:t>Q07 · Magasins</a:t>
                      </a:r>
                    </a:p>
                  </a:txBody>
                  <a:tcPr marL="109728" marR="109728" marT="54864" marB="54864">
                    <a:solidFill>
                      <a:srgbClr val="EFF4F9"/>
                    </a:solidFill>
                  </a:tcPr>
                </a:tc>
                <a:tc>
                  <a:txBody>
                    <a:bodyPr/>
                    <a:lstStyle/>
                    <a:p>
                      <a:pPr>
                        <a:defRPr sz="1900" b="0">
                          <a:solidFill>
                            <a:srgbClr val="22364C"/>
                          </a:solidFill>
                          <a:latin typeface="Aptos"/>
                        </a:defRPr>
                      </a:pPr>
                      <a:r>
                        <a:t>A : 3 km, 90 €, r = +0,03</a:t>
                      </a:r>
                    </a:p>
                    <a:p>
                      <a:pPr>
                        <a:defRPr sz="1900" b="0">
                          <a:solidFill>
                            <a:srgbClr val="22364C"/>
                          </a:solidFill>
                          <a:latin typeface="Aptos"/>
                        </a:defRPr>
                      </a:pPr>
                      <a:r>
                        <a:t>B : 12 km, 120 €, r = −0,02</a:t>
                      </a:r>
                    </a:p>
                    <a:p>
                      <a:pPr>
                        <a:defRPr sz="1900" b="0">
                          <a:solidFill>
                            <a:srgbClr val="22364C"/>
                          </a:solidFill>
                          <a:latin typeface="Aptos"/>
                        </a:defRPr>
                      </a:pPr>
                      <a:r>
                        <a:t>A+B : r = +0,65</a:t>
                      </a:r>
                    </a:p>
                  </a:txBody>
                  <a:tcPr marL="109728" marR="109728" marT="54864" marB="54864">
                    <a:solidFill>
                      <a:srgbClr val="EFF4F9"/>
                    </a:solidFill>
                  </a:tcPr>
                </a:tc>
                <a:tc>
                  <a:txBody>
                    <a:bodyPr/>
                    <a:lstStyle/>
                    <a:p>
                      <a:pPr>
                        <a:defRPr sz="1900" b="0">
                          <a:solidFill>
                            <a:srgbClr val="22364C"/>
                          </a:solidFill>
                          <a:latin typeface="Aptos"/>
                        </a:defRPr>
                      </a:pPr>
                      <a:r>
                        <a:t>L’association regroupée vient-elle d’un effet de la distance ?</a:t>
                      </a:r>
                    </a:p>
                  </a:txBody>
                  <a:tcPr marL="109728" marR="109728" marT="54864" marB="54864">
                    <a:solidFill>
                      <a:srgbClr val="EFF4F9"/>
                    </a:solidFill>
                  </a:tcPr>
                </a:tc>
              </a:tr>
              <a:tr h="1069848">
                <a:tc>
                  <a:txBody>
                    <a:bodyPr/>
                    <a:lstStyle/>
                    <a:p>
                      <a:pPr>
                        <a:defRPr sz="2200" b="0">
                          <a:solidFill>
                            <a:srgbClr val="22364C"/>
                          </a:solidFill>
                          <a:latin typeface="Aptos"/>
                        </a:defRPr>
                      </a:pPr>
                      <a:r>
                        <a:t>Q08 · Promotion</a:t>
                      </a:r>
                    </a:p>
                  </a:txBody>
                  <a:tcPr marL="109728" marR="109728" marT="54864" marB="54864">
                    <a:solidFill>
                      <a:srgbClr val="FFFFFF"/>
                    </a:solidFill>
                  </a:tcPr>
                </a:tc>
                <a:tc>
                  <a:txBody>
                    <a:bodyPr/>
                    <a:lstStyle/>
                    <a:p>
                      <a:pPr>
                        <a:defRPr sz="1900" b="0">
                          <a:solidFill>
                            <a:srgbClr val="22364C"/>
                          </a:solidFill>
                          <a:latin typeface="Aptos"/>
                        </a:defRPr>
                      </a:pPr>
                      <a:r>
                        <a:t>Les utilisateurs de l’offre achètent davantage ; ils choisissent eux-mêmes de l’utiliser.</a:t>
                      </a:r>
                    </a:p>
                  </a:txBody>
                  <a:tcPr marL="109728" marR="109728" marT="54864" marB="54864">
                    <a:solidFill>
                      <a:srgbClr val="FFFFFF"/>
                    </a:solidFill>
                  </a:tcPr>
                </a:tc>
                <a:tc>
                  <a:txBody>
                    <a:bodyPr/>
                    <a:lstStyle/>
                    <a:p>
                      <a:pPr>
                        <a:defRPr sz="1900" b="0">
                          <a:solidFill>
                            <a:srgbClr val="22364C"/>
                          </a:solidFill>
                          <a:latin typeface="Aptos"/>
                        </a:defRPr>
                      </a:pPr>
                      <a:r>
                        <a:t>Quel serait l’effet de proposer cette offre ?</a:t>
                      </a:r>
                    </a:p>
                  </a:txBody>
                  <a:tcPr marL="109728" marR="109728" marT="54864" marB="54864">
                    <a:solidFill>
                      <a:srgbClr val="FFFFFF"/>
                    </a:solidFill>
                  </a:tcPr>
                </a:tc>
              </a:tr>
            </a:tbl>
          </a:graphicData>
        </a:graphic>
      </p:graphicFrame>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Pour Q07, les kilomètres et euros indiqués sont les moyennes dans chaque magasin.</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E02</a:t>
            </a:r>
          </a:p>
        </p:txBody>
      </p:sp>
      <p:sp>
        <p:nvSpPr>
          <p:cNvPr id="11"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34 / 73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E02 · VISUALISER LES MÊMES CLIENTS SÉPARÉS, PUIS RÉUNIS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A + B : le regroupement crée une tendance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37943"/>
            <a:ext cx="10927080" cy="603504"/>
          </a:xfrm>
          <a:prstGeom prst="rect">
            <a:avLst/>
          </a:prstGeom>
          <a:noFill/>
        </p:spPr>
        <p:txBody>
          <a:bodyPr wrap="square" lIns="22860" rIns="22860" tIns="13716" bIns="13716">
            <a:spAutoFit/>
          </a:bodyPr>
          <a:lstStyle/>
          <a:p>
            <a:pPr>
              <a:spcAft>
                <a:spcPts val="0"/>
              </a:spcAft>
              <a:defRPr sz="2000" b="0">
                <a:solidFill>
                  <a:srgbClr val="22364C"/>
                </a:solidFill>
                <a:latin typeface="Aptos"/>
              </a:defRPr>
            </a:pPr>
            <a:r>
              <a:t>Données construites avec les moyennes et les corrélations de Q07.</a:t>
            </a:r>
          </a:p>
          <a:p>
            <a:pPr>
              <a:spcAft>
                <a:spcPts val="0"/>
              </a:spcAft>
              <a:defRPr sz="2000" b="0">
                <a:solidFill>
                  <a:srgbClr val="22364C"/>
                </a:solidFill>
                <a:latin typeface="Aptos"/>
              </a:defRPr>
            </a:pPr>
            <a:r>
              <a:t>Points : clients ; losanges : moyennes des magasins ; traits : droites ajustées.</a:t>
            </a:r>
          </a:p>
        </p:txBody>
      </p:sp>
      <p:pic>
        <p:nvPicPr>
          <p:cNvPr id="6" name="Picture 5" descr="A : distance moyenne3km, panier90€, r+0,03 ; B :12km,120€, r−0,02 ; ensemble r+0,65. Les mêmes points et les mêmes échelles sont utilisés dans les trois panneaux."/>
          <p:cNvPicPr>
            <a:picLocks noChangeAspect="1"/>
          </p:cNvPicPr>
          <p:nvPr/>
        </p:nvPicPr>
        <p:blipFill>
          <a:blip r:embed="rId2"/>
          <a:stretch>
            <a:fillRect/>
          </a:stretch>
        </p:blipFill>
        <p:spPr>
          <a:xfrm>
            <a:off x="965568" y="2459736"/>
            <a:ext cx="10221238" cy="3108960"/>
          </a:xfrm>
          <a:prstGeom prst="rect">
            <a:avLst/>
          </a:prstGeom>
        </p:spPr>
      </p:pic>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Dans chaque magasin, la tendance est presque plate. Réunis, les deux groupes font apparaître une tendance positive.</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E02</a:t>
            </a:r>
          </a:p>
        </p:txBody>
      </p:sp>
      <p:sp>
        <p:nvSpPr>
          <p:cNvPr id="11"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35 / 73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E02 · QUESTION D’ORIGINE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Quelle autre différence pourrait expliquer le lien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3258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109728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Choisir Q07 (magasins et distance) ou Q08 (promotion).</a:t>
            </a:r>
          </a:p>
          <a:p>
            <a:pPr>
              <a:spcAft>
                <a:spcPts val="100"/>
              </a:spcAft>
              <a:defRPr sz="2200" b="0">
                <a:solidFill>
                  <a:srgbClr val="22364C"/>
                </a:solidFill>
                <a:latin typeface="Aptos"/>
              </a:defRPr>
            </a:pPr>
            <a:r>
              <a:t>Les deux situations sont décrites dans le tableau « E02 · Deux situations au choix ».</a:t>
            </a:r>
          </a:p>
        </p:txBody>
      </p:sp>
      <p:sp>
        <p:nvSpPr>
          <p:cNvPr id="7" name="TextBox 6"/>
          <p:cNvSpPr txBox="1"/>
          <p:nvPr/>
        </p:nvSpPr>
        <p:spPr>
          <a:xfrm>
            <a:off x="758952" y="3438144"/>
            <a:ext cx="10634472" cy="1965960"/>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Choisissez Q07 ou Q08 : donnez une différence entre clients qui pourrait expliquer une association observée. Expliquez comment une comparaison mieux conçue aiderait à l'examiner.</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Nommer une différence plausible, puis une comparaison qui aiderait à l’examiner.</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E02</a:t>
            </a:r>
          </a:p>
        </p:txBody>
      </p:sp>
      <p:sp>
        <p:nvSpPr>
          <p:cNvPr id="12"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36 / 73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E02 · THÉORIE : OBSERVATION ET INTERVENTION</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Observer un lien ne suffit pas à établir une cause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Observer</a:t>
            </a:r>
          </a:p>
        </p:txBody>
      </p:sp>
      <p:sp>
        <p:nvSpPr>
          <p:cNvPr id="7" name="TextBox 6"/>
          <p:cNvSpPr txBox="1"/>
          <p:nvPr/>
        </p:nvSpPr>
        <p:spPr>
          <a:xfrm>
            <a:off x="749808"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Deux groupes peuvent différer avant l’offre : besoins, budget, achats habituels…</a:t>
            </a:r>
          </a:p>
        </p:txBody>
      </p:sp>
      <p:sp>
        <p:nvSpPr>
          <p:cNvPr id="8" name="Rectangle 7"/>
          <p:cNvSpPr/>
          <p:nvPr/>
        </p:nvSpPr>
        <p:spPr>
          <a:xfrm>
            <a:off x="6176772"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2220"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Intervenir</a:t>
            </a:r>
          </a:p>
        </p:txBody>
      </p:sp>
      <p:sp>
        <p:nvSpPr>
          <p:cNvPr id="10" name="TextBox 9"/>
          <p:cNvSpPr txBox="1"/>
          <p:nvPr/>
        </p:nvSpPr>
        <p:spPr>
          <a:xfrm>
            <a:off x="6332220"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Attribuer l’offre au hasard permet de comparer des groupes constitués sans choisir selon leurs achats.</a:t>
            </a:r>
          </a:p>
        </p:txBody>
      </p:sp>
      <p:sp>
        <p:nvSpPr>
          <p:cNvPr id="11" name="Rectangle 10"/>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Une explication plausible est une hypothèse à examiner, pas un fait démontré.</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E02</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37 / 73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E02 · EXEMPLE GUIDÉ : PROPOSER UNE OFFRE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E02 · Exemple de réponse avec Q08</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Différence plausible</a:t>
            </a:r>
          </a:p>
        </p:txBody>
      </p:sp>
      <p:sp>
        <p:nvSpPr>
          <p:cNvPr id="7" name="TextBox 6"/>
          <p:cNvSpPr txBox="1"/>
          <p:nvPr/>
        </p:nvSpPr>
        <p:spPr>
          <a:xfrm>
            <a:off x="749808"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Les utilisateurs peuvent déjà acheter davantage avant l’offre.</a:t>
            </a:r>
          </a:p>
        </p:txBody>
      </p:sp>
      <p:sp>
        <p:nvSpPr>
          <p:cNvPr id="8" name="Rectangle 7"/>
          <p:cNvSpPr/>
          <p:nvPr/>
        </p:nvSpPr>
        <p:spPr>
          <a:xfrm>
            <a:off x="4315968"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Comparaison mieux conçue</a:t>
            </a:r>
          </a:p>
        </p:txBody>
      </p:sp>
      <p:sp>
        <p:nvSpPr>
          <p:cNvPr id="10" name="TextBox 9"/>
          <p:cNvSpPr txBox="1"/>
          <p:nvPr/>
        </p:nvSpPr>
        <p:spPr>
          <a:xfrm>
            <a:off x="4471416"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Attribuer au hasard « offre proposée » ou « pas d’offre », sur la même période.</a:t>
            </a:r>
          </a:p>
        </p:txBody>
      </p:sp>
      <p:sp>
        <p:nvSpPr>
          <p:cNvPr id="11" name="Rectangle 10"/>
          <p:cNvSpPr/>
          <p:nvPr/>
        </p:nvSpPr>
        <p:spPr>
          <a:xfrm>
            <a:off x="8037576"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Résultat à comparer</a:t>
            </a:r>
          </a:p>
        </p:txBody>
      </p:sp>
      <p:sp>
        <p:nvSpPr>
          <p:cNvPr id="13" name="TextBox 12"/>
          <p:cNvSpPr txBox="1"/>
          <p:nvPr/>
        </p:nvSpPr>
        <p:spPr>
          <a:xfrm>
            <a:off x="8193024"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Comparer les achats de tous les clients affectés à chaque groupe, même s’ils n’utilisent pas l’offre.</a:t>
            </a:r>
          </a:p>
        </p:txBody>
      </p:sp>
      <p:sp>
        <p:nvSpPr>
          <p:cNvPr id="14" name="Rectangle 13"/>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La comparaison porte sur l’effet de proposer l’offre ; sélectionner seulement ses utilisateurs recréerait un biais.</a:t>
            </a:r>
          </a:p>
        </p:txBody>
      </p:sp>
      <p:sp>
        <p:nvSpPr>
          <p:cNvPr id="16" name="TextBox 1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7" name="TextBox 1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E02</a:t>
            </a:r>
          </a:p>
        </p:txBody>
      </p:sp>
      <p:sp>
        <p:nvSpPr>
          <p:cNvPr id="1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9" name="TextBox 1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38 / 73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À VOUS · AUTRE SERVICE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Proposer une comparaison plus informative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170432"/>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91440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Les clients qui choisissent la livraison gratuite dépensent plus que les autres.</a:t>
            </a:r>
          </a:p>
          <a:p>
            <a:pPr>
              <a:spcAft>
                <a:spcPts val="100"/>
              </a:spcAft>
              <a:defRPr sz="2200" b="0">
                <a:solidFill>
                  <a:srgbClr val="22364C"/>
                </a:solidFill>
                <a:latin typeface="Aptos"/>
              </a:defRPr>
            </a:pPr>
            <a:r>
              <a:t>On veut savoir si proposer ce service augmente le montant du panier.</a:t>
            </a:r>
          </a:p>
        </p:txBody>
      </p:sp>
      <p:sp>
        <p:nvSpPr>
          <p:cNvPr id="7" name="TextBox 6"/>
          <p:cNvSpPr txBox="1"/>
          <p:nvPr/>
        </p:nvSpPr>
        <p:spPr>
          <a:xfrm>
            <a:off x="658368" y="33375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1</a:t>
            </a:r>
          </a:p>
        </p:txBody>
      </p:sp>
      <p:sp>
        <p:nvSpPr>
          <p:cNvPr id="8" name="TextBox 7"/>
          <p:cNvSpPr txBox="1"/>
          <p:nvPr/>
        </p:nvSpPr>
        <p:spPr>
          <a:xfrm>
            <a:off x="1207008" y="33284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Proposez une différence initiale entre clients qui pourrait expliquer le lien.</a:t>
            </a:r>
          </a:p>
        </p:txBody>
      </p:sp>
      <p:sp>
        <p:nvSpPr>
          <p:cNvPr id="9" name="TextBox 8"/>
          <p:cNvSpPr txBox="1"/>
          <p:nvPr/>
        </p:nvSpPr>
        <p:spPr>
          <a:xfrm>
            <a:off x="658368" y="40233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2</a:t>
            </a:r>
          </a:p>
        </p:txBody>
      </p:sp>
      <p:sp>
        <p:nvSpPr>
          <p:cNvPr id="10" name="TextBox 9"/>
          <p:cNvSpPr txBox="1"/>
          <p:nvPr/>
        </p:nvSpPr>
        <p:spPr>
          <a:xfrm>
            <a:off x="1207008" y="40142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Décrivez deux groupes à comparer, leur attribution et la période observée.</a:t>
            </a:r>
          </a:p>
        </p:txBody>
      </p:sp>
      <p:sp>
        <p:nvSpPr>
          <p:cNvPr id="11" name="TextBox 10"/>
          <p:cNvSpPr txBox="1"/>
          <p:nvPr/>
        </p:nvSpPr>
        <p:spPr>
          <a:xfrm>
            <a:off x="658368" y="47091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3</a:t>
            </a:r>
          </a:p>
        </p:txBody>
      </p:sp>
      <p:sp>
        <p:nvSpPr>
          <p:cNvPr id="12" name="TextBox 11"/>
          <p:cNvSpPr txBox="1"/>
          <p:nvPr/>
        </p:nvSpPr>
        <p:spPr>
          <a:xfrm>
            <a:off x="1207008" y="47000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Qui gardez-vous dans chaque groupe si certains clients n’utilisent pas le service ?</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E02</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39 / 73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À REPRENDRE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Q13 · Séparer les clients</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Q13 · rappel des rôles de Q12.</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Q13</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40 / 73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Q13 · CONTEXTE RÉSUMÉ</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Comment séparer plusieurs visites d’un client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3258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109728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Le fichier contient plusieurs visites par client. Le but est de prédire les montants d'achat de clients encore inconnus. On prévoit des ensembles d'apprentissage, de validation et de test.</a:t>
            </a:r>
          </a:p>
        </p:txBody>
      </p:sp>
      <p:sp>
        <p:nvSpPr>
          <p:cNvPr id="7" name="TextBox 6"/>
          <p:cNvSpPr txBox="1"/>
          <p:nvPr/>
        </p:nvSpPr>
        <p:spPr>
          <a:xfrm>
            <a:off x="758952" y="3246120"/>
            <a:ext cx="10634472" cy="274320"/>
          </a:xfrm>
          <a:prstGeom prst="rect">
            <a:avLst/>
          </a:prstGeom>
          <a:noFill/>
        </p:spPr>
        <p:txBody>
          <a:bodyPr wrap="square" lIns="22860" rIns="22860" tIns="13716" bIns="13716">
            <a:spAutoFit/>
          </a:bodyPr>
          <a:lstStyle/>
          <a:p>
            <a:pPr>
              <a:spcAft>
                <a:spcPts val="0"/>
              </a:spcAft>
              <a:defRPr sz="1500" b="0">
                <a:solidFill>
                  <a:srgbClr val="087F8C"/>
                </a:solidFill>
                <a:latin typeface="Aptos"/>
              </a:defRPr>
            </a:pPr>
            <a:r>
              <a:t>Question reprise en discussion · choix du QCM non reproduits</a:t>
            </a:r>
          </a:p>
        </p:txBody>
      </p:sp>
      <p:sp>
        <p:nvSpPr>
          <p:cNvPr id="8" name="TextBox 7"/>
          <p:cNvSpPr txBox="1"/>
          <p:nvPr/>
        </p:nvSpPr>
        <p:spPr>
          <a:xfrm>
            <a:off x="758952" y="3621024"/>
            <a:ext cx="10634472" cy="1783080"/>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Quelle séparation correspond à ce but ?</a:t>
            </a:r>
          </a:p>
        </p:txBody>
      </p:sp>
      <p:sp>
        <p:nvSpPr>
          <p:cNvPr id="9" name="Rectangle 8"/>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Démarche : décider de ce qui doit être nouveau au test — ici, le client.</a:t>
            </a:r>
          </a:p>
        </p:txBody>
      </p:sp>
      <p:sp>
        <p:nvSpPr>
          <p:cNvPr id="11" name="TextBox 10"/>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2" name="TextBox 11"/>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Q13</a:t>
            </a:r>
          </a:p>
        </p:txBody>
      </p:sp>
      <p:sp>
        <p:nvSpPr>
          <p:cNvPr id="13"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4" name="TextBox 13"/>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41 / 73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Q13 / E04 · PRÉREQUIS DE Q12 : UN RÔLE PAR ENSEMBLE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Trois ensembles, trois décisions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Apprentissage</a:t>
            </a:r>
          </a:p>
        </p:txBody>
      </p:sp>
      <p:sp>
        <p:nvSpPr>
          <p:cNvPr id="7" name="TextBox 6"/>
          <p:cNvSpPr txBox="1"/>
          <p:nvPr/>
        </p:nvSpPr>
        <p:spPr>
          <a:xfrm>
            <a:off x="749808"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Ajuster les coefficients et les transformations apprises.</a:t>
            </a:r>
          </a:p>
        </p:txBody>
      </p:sp>
      <p:sp>
        <p:nvSpPr>
          <p:cNvPr id="8" name="Rectangle 7"/>
          <p:cNvSpPr/>
          <p:nvPr/>
        </p:nvSpPr>
        <p:spPr>
          <a:xfrm>
            <a:off x="4315968"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Validation</a:t>
            </a:r>
          </a:p>
        </p:txBody>
      </p:sp>
      <p:sp>
        <p:nvSpPr>
          <p:cNvPr id="10" name="TextBox 9"/>
          <p:cNvSpPr txBox="1"/>
          <p:nvPr/>
        </p:nvSpPr>
        <p:spPr>
          <a:xfrm>
            <a:off x="4471416"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Comparer les candidats (degrés 1, 2, 8) et choisir.</a:t>
            </a:r>
          </a:p>
        </p:txBody>
      </p:sp>
      <p:sp>
        <p:nvSpPr>
          <p:cNvPr id="11" name="Rectangle 10"/>
          <p:cNvSpPr/>
          <p:nvPr/>
        </p:nvSpPr>
        <p:spPr>
          <a:xfrm>
            <a:off x="8037576"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Test final</a:t>
            </a:r>
          </a:p>
        </p:txBody>
      </p:sp>
      <p:sp>
        <p:nvSpPr>
          <p:cNvPr id="13" name="TextBox 12"/>
          <p:cNvSpPr txBox="1"/>
          <p:nvPr/>
        </p:nvSpPr>
        <p:spPr>
          <a:xfrm>
            <a:off x="8193024"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Évaluer le choix figé sur des observations qui n’ont servi ni à ajuster ni à choisir.</a:t>
            </a:r>
          </a:p>
        </p:txBody>
      </p:sp>
      <p:sp>
        <p:nvSpPr>
          <p:cNvPr id="14" name="TextBox 13"/>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5" name="TextBox 14"/>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Q13</a:t>
            </a:r>
          </a:p>
        </p:txBody>
      </p:sp>
      <p:sp>
        <p:nvSpPr>
          <p:cNvPr id="16"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7" name="TextBox 16"/>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42 / 73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Q13 · RÉPONSE PAR UN EXEMPLE MINIATURE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Garder les visites d’un client ensemble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67512"/>
          </a:xfrm>
          <a:prstGeom prst="rect">
            <a:avLst/>
          </a:prstGeom>
          <a:noFill/>
        </p:spPr>
        <p:txBody>
          <a:bodyPr wrap="square" lIns="22860" rIns="22860" tIns="13716" bIns="13716">
            <a:spAutoFit/>
          </a:bodyPr>
          <a:lstStyle/>
          <a:p>
            <a:pPr>
              <a:spcAft>
                <a:spcPts val="300"/>
              </a:spcAft>
              <a:defRPr sz="2100" b="0">
                <a:solidFill>
                  <a:srgbClr val="22364C"/>
                </a:solidFill>
                <a:latin typeface="Aptos"/>
              </a:defRPr>
            </a:pPr>
            <a:r>
              <a:t>Une ligne = une visite. Attribuer d’abord un ensemble à chaque client.</a:t>
            </a:r>
          </a:p>
        </p:txBody>
      </p:sp>
      <p:graphicFrame>
        <p:nvGraphicFramePr>
          <p:cNvPr id="6" name="Table 5"/>
          <p:cNvGraphicFramePr>
            <a:graphicFrameLocks noGrp="1"/>
          </p:cNvGraphicFramePr>
          <p:nvPr/>
        </p:nvGraphicFramePr>
        <p:xfrm>
          <a:off x="621792" y="2688336"/>
          <a:ext cx="10927077" cy="2734053"/>
        </p:xfrm>
        <a:graphic>
          <a:graphicData uri="http://schemas.openxmlformats.org/drawingml/2006/table">
            <a:tbl>
              <a:tblPr firstRow="1" bandRow="1">
                <a:tableStyleId>{5C22544A-7EE6-4342-B048-85BDC9FD1C3A}</a:tableStyleId>
              </a:tblPr>
              <a:tblGrid>
                <a:gridCol w="3642359"/>
                <a:gridCol w="3642359"/>
                <a:gridCol w="3642359"/>
              </a:tblGrid>
              <a:tr h="594360">
                <a:tc>
                  <a:txBody>
                    <a:bodyPr/>
                    <a:lstStyle/>
                    <a:p>
                      <a:pPr>
                        <a:defRPr sz="2200" b="1">
                          <a:solidFill>
                            <a:srgbClr val="FFFFFF"/>
                          </a:solidFill>
                          <a:latin typeface="Aptos"/>
                        </a:defRPr>
                      </a:pPr>
                      <a:r>
                        <a:t>Client</a:t>
                      </a:r>
                    </a:p>
                  </a:txBody>
                  <a:tcPr marL="109728" marR="109728" marT="54864" marB="54864">
                    <a:solidFill>
                      <a:srgbClr val="142D4E"/>
                    </a:solidFill>
                  </a:tcPr>
                </a:tc>
                <a:tc>
                  <a:txBody>
                    <a:bodyPr/>
                    <a:lstStyle/>
                    <a:p>
                      <a:pPr>
                        <a:defRPr sz="2200" b="1">
                          <a:solidFill>
                            <a:srgbClr val="FFFFFF"/>
                          </a:solidFill>
                          <a:latin typeface="Aptos"/>
                        </a:defRPr>
                      </a:pPr>
                      <a:r>
                        <a:t>Visites</a:t>
                      </a:r>
                    </a:p>
                  </a:txBody>
                  <a:tcPr marL="109728" marR="109728" marT="54864" marB="54864">
                    <a:solidFill>
                      <a:srgbClr val="142D4E"/>
                    </a:solidFill>
                  </a:tcPr>
                </a:tc>
                <a:tc>
                  <a:txBody>
                    <a:bodyPr/>
                    <a:lstStyle/>
                    <a:p>
                      <a:pPr>
                        <a:defRPr sz="2200" b="1">
                          <a:solidFill>
                            <a:srgbClr val="FFFFFF"/>
                          </a:solidFill>
                          <a:latin typeface="Aptos"/>
                        </a:defRPr>
                      </a:pPr>
                      <a:r>
                        <a:t>Ensemble attribué</a:t>
                      </a:r>
                    </a:p>
                  </a:txBody>
                  <a:tcPr marL="109728" marR="109728" marT="54864" marB="54864">
                    <a:solidFill>
                      <a:srgbClr val="142D4E"/>
                    </a:solidFill>
                  </a:tcPr>
                </a:tc>
              </a:tr>
              <a:tr h="713231">
                <a:tc>
                  <a:txBody>
                    <a:bodyPr/>
                    <a:lstStyle/>
                    <a:p>
                      <a:pPr>
                        <a:defRPr sz="2200" b="0">
                          <a:solidFill>
                            <a:srgbClr val="22364C"/>
                          </a:solidFill>
                          <a:latin typeface="Aptos"/>
                        </a:defRPr>
                      </a:pPr>
                      <a:r>
                        <a:t>C1</a:t>
                      </a:r>
                    </a:p>
                  </a:txBody>
                  <a:tcPr marL="109728" marR="109728" marT="54864" marB="54864">
                    <a:solidFill>
                      <a:srgbClr val="EFF4F9"/>
                    </a:solidFill>
                  </a:tcPr>
                </a:tc>
                <a:tc>
                  <a:txBody>
                    <a:bodyPr/>
                    <a:lstStyle/>
                    <a:p>
                      <a:pPr>
                        <a:defRPr sz="2200" b="0">
                          <a:solidFill>
                            <a:srgbClr val="22364C"/>
                          </a:solidFill>
                          <a:latin typeface="Aptos"/>
                        </a:defRPr>
                      </a:pPr>
                      <a:r>
                        <a:t>V1, V4</a:t>
                      </a:r>
                    </a:p>
                  </a:txBody>
                  <a:tcPr marL="109728" marR="109728" marT="54864" marB="54864">
                    <a:solidFill>
                      <a:srgbClr val="EFF4F9"/>
                    </a:solidFill>
                  </a:tcPr>
                </a:tc>
                <a:tc>
                  <a:txBody>
                    <a:bodyPr/>
                    <a:lstStyle/>
                    <a:p>
                      <a:pPr>
                        <a:defRPr sz="2200" b="0">
                          <a:solidFill>
                            <a:srgbClr val="22364C"/>
                          </a:solidFill>
                          <a:latin typeface="Aptos"/>
                        </a:defRPr>
                      </a:pPr>
                      <a:r>
                        <a:t>Apprentissage</a:t>
                      </a:r>
                    </a:p>
                  </a:txBody>
                  <a:tcPr marL="109728" marR="109728" marT="54864" marB="54864">
                    <a:solidFill>
                      <a:srgbClr val="EFF4F9"/>
                    </a:solidFill>
                  </a:tcPr>
                </a:tc>
              </a:tr>
              <a:tr h="713231">
                <a:tc>
                  <a:txBody>
                    <a:bodyPr/>
                    <a:lstStyle/>
                    <a:p>
                      <a:pPr>
                        <a:defRPr sz="2200" b="0">
                          <a:solidFill>
                            <a:srgbClr val="22364C"/>
                          </a:solidFill>
                          <a:latin typeface="Aptos"/>
                        </a:defRPr>
                      </a:pPr>
                      <a:r>
                        <a:t>C2</a:t>
                      </a:r>
                    </a:p>
                  </a:txBody>
                  <a:tcPr marL="109728" marR="109728" marT="54864" marB="54864">
                    <a:solidFill>
                      <a:srgbClr val="FFFFFF"/>
                    </a:solidFill>
                  </a:tcPr>
                </a:tc>
                <a:tc>
                  <a:txBody>
                    <a:bodyPr/>
                    <a:lstStyle/>
                    <a:p>
                      <a:pPr>
                        <a:defRPr sz="2200" b="0">
                          <a:solidFill>
                            <a:srgbClr val="22364C"/>
                          </a:solidFill>
                          <a:latin typeface="Aptos"/>
                        </a:defRPr>
                      </a:pPr>
                      <a:r>
                        <a:t>V2, V7, V9</a:t>
                      </a:r>
                    </a:p>
                  </a:txBody>
                  <a:tcPr marL="109728" marR="109728" marT="54864" marB="54864">
                    <a:solidFill>
                      <a:srgbClr val="FFFFFF"/>
                    </a:solidFill>
                  </a:tcPr>
                </a:tc>
                <a:tc>
                  <a:txBody>
                    <a:bodyPr/>
                    <a:lstStyle/>
                    <a:p>
                      <a:pPr>
                        <a:defRPr sz="2200" b="0">
                          <a:solidFill>
                            <a:srgbClr val="22364C"/>
                          </a:solidFill>
                          <a:latin typeface="Aptos"/>
                        </a:defRPr>
                      </a:pPr>
                      <a:r>
                        <a:t>Validation</a:t>
                      </a:r>
                    </a:p>
                  </a:txBody>
                  <a:tcPr marL="109728" marR="109728" marT="54864" marB="54864">
                    <a:solidFill>
                      <a:srgbClr val="FFFFFF"/>
                    </a:solidFill>
                  </a:tcPr>
                </a:tc>
              </a:tr>
              <a:tr h="713231">
                <a:tc>
                  <a:txBody>
                    <a:bodyPr/>
                    <a:lstStyle/>
                    <a:p>
                      <a:pPr>
                        <a:defRPr sz="2200" b="0">
                          <a:solidFill>
                            <a:srgbClr val="22364C"/>
                          </a:solidFill>
                          <a:latin typeface="Aptos"/>
                        </a:defRPr>
                      </a:pPr>
                      <a:r>
                        <a:t>C3</a:t>
                      </a:r>
                    </a:p>
                  </a:txBody>
                  <a:tcPr marL="109728" marR="109728" marT="54864" marB="54864">
                    <a:solidFill>
                      <a:srgbClr val="EFF4F9"/>
                    </a:solidFill>
                  </a:tcPr>
                </a:tc>
                <a:tc>
                  <a:txBody>
                    <a:bodyPr/>
                    <a:lstStyle/>
                    <a:p>
                      <a:pPr>
                        <a:defRPr sz="2200" b="0">
                          <a:solidFill>
                            <a:srgbClr val="22364C"/>
                          </a:solidFill>
                          <a:latin typeface="Aptos"/>
                        </a:defRPr>
                      </a:pPr>
                      <a:r>
                        <a:t>V3, V5, V8</a:t>
                      </a:r>
                    </a:p>
                  </a:txBody>
                  <a:tcPr marL="109728" marR="109728" marT="54864" marB="54864">
                    <a:solidFill>
                      <a:srgbClr val="EFF4F9"/>
                    </a:solidFill>
                  </a:tcPr>
                </a:tc>
                <a:tc>
                  <a:txBody>
                    <a:bodyPr/>
                    <a:lstStyle/>
                    <a:p>
                      <a:pPr>
                        <a:defRPr sz="2200" b="0">
                          <a:solidFill>
                            <a:srgbClr val="22364C"/>
                          </a:solidFill>
                          <a:latin typeface="Aptos"/>
                        </a:defRPr>
                      </a:pPr>
                      <a:r>
                        <a:t>Test final</a:t>
                      </a:r>
                    </a:p>
                  </a:txBody>
                  <a:tcPr marL="109728" marR="109728" marT="54864" marB="54864">
                    <a:solidFill>
                      <a:srgbClr val="EFF4F9"/>
                    </a:solidFill>
                  </a:tcPr>
                </a:tc>
              </a:tr>
            </a:tbl>
          </a:graphicData>
        </a:graphic>
      </p:graphicFrame>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Réponse à Q13 : répartir les clients, puis toutes leurs visites. Aucun client dans deux ensembles.</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Q13</a:t>
            </a:r>
          </a:p>
        </p:txBody>
      </p:sp>
      <p:sp>
        <p:nvSpPr>
          <p:cNvPr id="11"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43 / 73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À VOUS · APPLIQUER LA SÉPARATION À QUATRE CLIENTS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Répartir quatre clients avec toutes leurs visites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40080"/>
          </a:xfrm>
          <a:prstGeom prst="rect">
            <a:avLst/>
          </a:prstGeom>
          <a:noFill/>
        </p:spPr>
        <p:txBody>
          <a:bodyPr wrap="square" lIns="22860" rIns="22860" tIns="13716" bIns="13716">
            <a:spAutoFit/>
          </a:bodyPr>
          <a:lstStyle/>
          <a:p>
            <a:pPr>
              <a:spcAft>
                <a:spcPts val="0"/>
              </a:spcAft>
              <a:defRPr sz="2100" b="0">
                <a:solidFill>
                  <a:srgbClr val="22364C"/>
                </a:solidFill>
                <a:latin typeface="Aptos"/>
              </a:defRPr>
            </a:pPr>
            <a:r>
              <a:t>But : prédire pour de nouveaux clients. Répartissez les quatre cartes.</a:t>
            </a:r>
          </a:p>
          <a:p>
            <a:pPr>
              <a:spcAft>
                <a:spcPts val="0"/>
              </a:spcAft>
              <a:defRPr sz="2100" b="0">
                <a:solidFill>
                  <a:srgbClr val="22364C"/>
                </a:solidFill>
                <a:latin typeface="Aptos"/>
              </a:defRPr>
            </a:pPr>
            <a:r>
              <a:t>Chaque carte reste entière. Listez les visites dans l’ensemble choisi.</a:t>
            </a:r>
          </a:p>
        </p:txBody>
      </p:sp>
      <p:sp>
        <p:nvSpPr>
          <p:cNvPr id="6" name="Rectangle 5"/>
          <p:cNvSpPr/>
          <p:nvPr/>
        </p:nvSpPr>
        <p:spPr>
          <a:xfrm>
            <a:off x="594360" y="2688336"/>
            <a:ext cx="2606040" cy="75895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862072"/>
            <a:ext cx="2377440" cy="457200"/>
          </a:xfrm>
          <a:prstGeom prst="rect">
            <a:avLst/>
          </a:prstGeom>
          <a:noFill/>
        </p:spPr>
        <p:txBody>
          <a:bodyPr wrap="square" lIns="22860" rIns="22860" tIns="13716" bIns="13716">
            <a:spAutoFit/>
          </a:bodyPr>
          <a:lstStyle/>
          <a:p>
            <a:pPr>
              <a:spcAft>
                <a:spcPts val="0"/>
              </a:spcAft>
              <a:defRPr sz="2100" b="1">
                <a:solidFill>
                  <a:srgbClr val="FFFFFF"/>
                </a:solidFill>
                <a:latin typeface="Aptos"/>
              </a:defRPr>
            </a:pPr>
            <a:r>
              <a:t>C1 : V1, V5</a:t>
            </a:r>
          </a:p>
        </p:txBody>
      </p:sp>
      <p:sp>
        <p:nvSpPr>
          <p:cNvPr id="8" name="Rectangle 7"/>
          <p:cNvSpPr/>
          <p:nvPr/>
        </p:nvSpPr>
        <p:spPr>
          <a:xfrm>
            <a:off x="3401568" y="2688336"/>
            <a:ext cx="2606040" cy="758952"/>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11296" y="2862072"/>
            <a:ext cx="2377440" cy="457200"/>
          </a:xfrm>
          <a:prstGeom prst="rect">
            <a:avLst/>
          </a:prstGeom>
          <a:noFill/>
        </p:spPr>
        <p:txBody>
          <a:bodyPr wrap="square" lIns="22860" rIns="22860" tIns="13716" bIns="13716">
            <a:spAutoFit/>
          </a:bodyPr>
          <a:lstStyle/>
          <a:p>
            <a:pPr>
              <a:spcAft>
                <a:spcPts val="0"/>
              </a:spcAft>
              <a:defRPr sz="2100" b="1">
                <a:solidFill>
                  <a:srgbClr val="FFFFFF"/>
                </a:solidFill>
                <a:latin typeface="Aptos"/>
              </a:defRPr>
            </a:pPr>
            <a:r>
              <a:t>C2 : V2</a:t>
            </a:r>
          </a:p>
        </p:txBody>
      </p:sp>
      <p:sp>
        <p:nvSpPr>
          <p:cNvPr id="10" name="Rectangle 9"/>
          <p:cNvSpPr/>
          <p:nvPr/>
        </p:nvSpPr>
        <p:spPr>
          <a:xfrm>
            <a:off x="6208776" y="2688336"/>
            <a:ext cx="2606040" cy="758952"/>
          </a:xfrm>
          <a:prstGeom prst="rect">
            <a:avLst/>
          </a:prstGeom>
          <a:solidFill>
            <a:srgbClr val="566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2862072"/>
            <a:ext cx="2377440" cy="457200"/>
          </a:xfrm>
          <a:prstGeom prst="rect">
            <a:avLst/>
          </a:prstGeom>
          <a:noFill/>
        </p:spPr>
        <p:txBody>
          <a:bodyPr wrap="square" lIns="22860" rIns="22860" tIns="13716" bIns="13716">
            <a:spAutoFit/>
          </a:bodyPr>
          <a:lstStyle/>
          <a:p>
            <a:pPr>
              <a:spcAft>
                <a:spcPts val="0"/>
              </a:spcAft>
              <a:defRPr sz="2100" b="1">
                <a:solidFill>
                  <a:srgbClr val="FFFFFF"/>
                </a:solidFill>
                <a:latin typeface="Aptos"/>
              </a:defRPr>
            </a:pPr>
            <a:r>
              <a:t>C3 : V3, V6</a:t>
            </a:r>
          </a:p>
        </p:txBody>
      </p:sp>
      <p:sp>
        <p:nvSpPr>
          <p:cNvPr id="12" name="Rectangle 11"/>
          <p:cNvSpPr/>
          <p:nvPr/>
        </p:nvSpPr>
        <p:spPr>
          <a:xfrm>
            <a:off x="9015984" y="2688336"/>
            <a:ext cx="2606040" cy="758952"/>
          </a:xfrm>
          <a:prstGeom prst="rect">
            <a:avLst/>
          </a:prstGeom>
          <a:solidFill>
            <a:srgbClr val="6D6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25711" y="2862072"/>
            <a:ext cx="2377440" cy="457200"/>
          </a:xfrm>
          <a:prstGeom prst="rect">
            <a:avLst/>
          </a:prstGeom>
          <a:noFill/>
        </p:spPr>
        <p:txBody>
          <a:bodyPr wrap="square" lIns="22860" rIns="22860" tIns="13716" bIns="13716">
            <a:spAutoFit/>
          </a:bodyPr>
          <a:lstStyle/>
          <a:p>
            <a:pPr>
              <a:spcAft>
                <a:spcPts val="0"/>
              </a:spcAft>
              <a:defRPr sz="2100" b="1">
                <a:solidFill>
                  <a:srgbClr val="FFFFFF"/>
                </a:solidFill>
                <a:latin typeface="Aptos"/>
              </a:defRPr>
            </a:pPr>
            <a:r>
              <a:t>C4 : V4, V7</a:t>
            </a:r>
          </a:p>
        </p:txBody>
      </p:sp>
      <p:sp>
        <p:nvSpPr>
          <p:cNvPr id="14" name="Rectangle 13"/>
          <p:cNvSpPr/>
          <p:nvPr/>
        </p:nvSpPr>
        <p:spPr>
          <a:xfrm>
            <a:off x="594360" y="3785615"/>
            <a:ext cx="3511296" cy="1143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877056"/>
            <a:ext cx="3291840" cy="329184"/>
          </a:xfrm>
          <a:prstGeom prst="rect">
            <a:avLst/>
          </a:prstGeom>
          <a:noFill/>
        </p:spPr>
        <p:txBody>
          <a:bodyPr wrap="square" lIns="22860" rIns="22860" tIns="13716" bIns="13716">
            <a:spAutoFit/>
          </a:bodyPr>
          <a:lstStyle/>
          <a:p>
            <a:pPr>
              <a:spcAft>
                <a:spcPts val="0"/>
              </a:spcAft>
              <a:defRPr sz="2100" b="1">
                <a:solidFill>
                  <a:srgbClr val="142D4E"/>
                </a:solidFill>
                <a:latin typeface="Aptos"/>
              </a:defRPr>
            </a:pPr>
            <a:r>
              <a:t>Apprentissage</a:t>
            </a:r>
          </a:p>
        </p:txBody>
      </p:sp>
      <p:sp>
        <p:nvSpPr>
          <p:cNvPr id="16" name="TextBox 15"/>
          <p:cNvSpPr txBox="1"/>
          <p:nvPr/>
        </p:nvSpPr>
        <p:spPr>
          <a:xfrm>
            <a:off x="704088" y="4334256"/>
            <a:ext cx="3291840" cy="347472"/>
          </a:xfrm>
          <a:prstGeom prst="rect">
            <a:avLst/>
          </a:prstGeom>
          <a:noFill/>
        </p:spPr>
        <p:txBody>
          <a:bodyPr wrap="square" lIns="22860" rIns="22860" tIns="13716" bIns="13716">
            <a:spAutoFit/>
          </a:bodyPr>
          <a:lstStyle/>
          <a:p>
            <a:pPr>
              <a:spcAft>
                <a:spcPts val="0"/>
              </a:spcAft>
              <a:defRPr sz="1900" b="0">
                <a:solidFill>
                  <a:srgbClr val="142D4E"/>
                </a:solidFill>
                <a:latin typeface="Aptos"/>
              </a:defRPr>
            </a:pPr>
            <a:r>
              <a:t>2 clients : __________</a:t>
            </a:r>
          </a:p>
        </p:txBody>
      </p:sp>
      <p:sp>
        <p:nvSpPr>
          <p:cNvPr id="17" name="Rectangle 16"/>
          <p:cNvSpPr/>
          <p:nvPr/>
        </p:nvSpPr>
        <p:spPr>
          <a:xfrm>
            <a:off x="4315968" y="3785615"/>
            <a:ext cx="3511296" cy="1143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25696" y="3877056"/>
            <a:ext cx="3291840" cy="329184"/>
          </a:xfrm>
          <a:prstGeom prst="rect">
            <a:avLst/>
          </a:prstGeom>
          <a:noFill/>
        </p:spPr>
        <p:txBody>
          <a:bodyPr wrap="square" lIns="22860" rIns="22860" tIns="13716" bIns="13716">
            <a:spAutoFit/>
          </a:bodyPr>
          <a:lstStyle/>
          <a:p>
            <a:pPr>
              <a:spcAft>
                <a:spcPts val="0"/>
              </a:spcAft>
              <a:defRPr sz="2100" b="1">
                <a:solidFill>
                  <a:srgbClr val="142D4E"/>
                </a:solidFill>
                <a:latin typeface="Aptos"/>
              </a:defRPr>
            </a:pPr>
            <a:r>
              <a:t>Validation</a:t>
            </a:r>
          </a:p>
        </p:txBody>
      </p:sp>
      <p:sp>
        <p:nvSpPr>
          <p:cNvPr id="19" name="TextBox 18"/>
          <p:cNvSpPr txBox="1"/>
          <p:nvPr/>
        </p:nvSpPr>
        <p:spPr>
          <a:xfrm>
            <a:off x="4425696" y="4334256"/>
            <a:ext cx="3291840" cy="347472"/>
          </a:xfrm>
          <a:prstGeom prst="rect">
            <a:avLst/>
          </a:prstGeom>
          <a:noFill/>
        </p:spPr>
        <p:txBody>
          <a:bodyPr wrap="square" lIns="22860" rIns="22860" tIns="13716" bIns="13716">
            <a:spAutoFit/>
          </a:bodyPr>
          <a:lstStyle/>
          <a:p>
            <a:pPr>
              <a:spcAft>
                <a:spcPts val="0"/>
              </a:spcAft>
              <a:defRPr sz="1900" b="0">
                <a:solidFill>
                  <a:srgbClr val="142D4E"/>
                </a:solidFill>
                <a:latin typeface="Aptos"/>
              </a:defRPr>
            </a:pPr>
            <a:r>
              <a:t>1 client : __________</a:t>
            </a:r>
          </a:p>
        </p:txBody>
      </p:sp>
      <p:sp>
        <p:nvSpPr>
          <p:cNvPr id="20" name="Rectangle 19"/>
          <p:cNvSpPr/>
          <p:nvPr/>
        </p:nvSpPr>
        <p:spPr>
          <a:xfrm>
            <a:off x="8037576" y="3785615"/>
            <a:ext cx="3511296" cy="1143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47304" y="3877056"/>
            <a:ext cx="3291840" cy="329184"/>
          </a:xfrm>
          <a:prstGeom prst="rect">
            <a:avLst/>
          </a:prstGeom>
          <a:noFill/>
        </p:spPr>
        <p:txBody>
          <a:bodyPr wrap="square" lIns="22860" rIns="22860" tIns="13716" bIns="13716">
            <a:spAutoFit/>
          </a:bodyPr>
          <a:lstStyle/>
          <a:p>
            <a:pPr>
              <a:spcAft>
                <a:spcPts val="0"/>
              </a:spcAft>
              <a:defRPr sz="2100" b="1">
                <a:solidFill>
                  <a:srgbClr val="142D4E"/>
                </a:solidFill>
                <a:latin typeface="Aptos"/>
              </a:defRPr>
            </a:pPr>
            <a:r>
              <a:t>Test final</a:t>
            </a:r>
          </a:p>
        </p:txBody>
      </p:sp>
      <p:sp>
        <p:nvSpPr>
          <p:cNvPr id="22" name="TextBox 21"/>
          <p:cNvSpPr txBox="1"/>
          <p:nvPr/>
        </p:nvSpPr>
        <p:spPr>
          <a:xfrm>
            <a:off x="8147304" y="4334256"/>
            <a:ext cx="3291840" cy="347472"/>
          </a:xfrm>
          <a:prstGeom prst="rect">
            <a:avLst/>
          </a:prstGeom>
          <a:noFill/>
        </p:spPr>
        <p:txBody>
          <a:bodyPr wrap="square" lIns="22860" rIns="22860" tIns="13716" bIns="13716">
            <a:spAutoFit/>
          </a:bodyPr>
          <a:lstStyle/>
          <a:p>
            <a:pPr>
              <a:spcAft>
                <a:spcPts val="0"/>
              </a:spcAft>
              <a:defRPr sz="1900" b="0">
                <a:solidFill>
                  <a:srgbClr val="142D4E"/>
                </a:solidFill>
                <a:latin typeface="Aptos"/>
              </a:defRPr>
            </a:pPr>
            <a:r>
              <a:t>1 client : __________</a:t>
            </a:r>
          </a:p>
        </p:txBody>
      </p:sp>
      <p:sp>
        <p:nvSpPr>
          <p:cNvPr id="23" name="TextBox 22"/>
          <p:cNvSpPr txBox="1"/>
          <p:nvPr/>
        </p:nvSpPr>
        <p:spPr>
          <a:xfrm>
            <a:off x="658368" y="5148072"/>
            <a:ext cx="10881360" cy="347472"/>
          </a:xfrm>
          <a:prstGeom prst="rect">
            <a:avLst/>
          </a:prstGeom>
          <a:noFill/>
        </p:spPr>
        <p:txBody>
          <a:bodyPr wrap="square" lIns="22860" rIns="22860" tIns="13716" bIns="13716">
            <a:spAutoFit/>
          </a:bodyPr>
          <a:lstStyle/>
          <a:p>
            <a:pPr>
              <a:spcAft>
                <a:spcPts val="0"/>
              </a:spcAft>
              <a:defRPr sz="2000" b="0">
                <a:solidFill>
                  <a:srgbClr val="142D4E"/>
                </a:solidFill>
                <a:latin typeface="Aptos"/>
              </a:defRPr>
            </a:pPr>
            <a:r>
              <a:t>Contrôlez : chaque visite une fois ; aucun client dans deux ensembles.</a:t>
            </a:r>
          </a:p>
        </p:txBody>
      </p:sp>
      <p:sp>
        <p:nvSpPr>
          <p:cNvPr id="24" name="Rectangle 23"/>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Plusieurs répartitions sont possibles. Ce petit exemple vérifie la règle, pas la qualité d’un modèle.</a:t>
            </a:r>
          </a:p>
        </p:txBody>
      </p:sp>
      <p:sp>
        <p:nvSpPr>
          <p:cNvPr id="26" name="TextBox 2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27" name="TextBox 2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Q13</a:t>
            </a:r>
          </a:p>
        </p:txBody>
      </p:sp>
      <p:sp>
        <p:nvSpPr>
          <p:cNvPr id="2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29" name="TextBox 2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44 / 73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D’APPUI</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Q14 · Comparer les erreurs des modèles</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Q14 · question d’appui pour E04.</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Q14</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45 / 73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Q14 · MÊMES DONNÉES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Quel choix ces résultats appuient-ils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12648"/>
          </a:xfrm>
          <a:prstGeom prst="rect">
            <a:avLst/>
          </a:prstGeom>
          <a:noFill/>
        </p:spPr>
        <p:txBody>
          <a:bodyPr wrap="square" lIns="22860" rIns="22860" tIns="13716" bIns="13716">
            <a:spAutoFit/>
          </a:bodyPr>
          <a:lstStyle/>
          <a:p>
            <a:pPr>
              <a:spcAft>
                <a:spcPts val="100"/>
              </a:spcAft>
              <a:defRPr sz="2000" b="0">
                <a:solidFill>
                  <a:srgbClr val="22364C"/>
                </a:solidFill>
                <a:latin typeface="Aptos"/>
              </a:defRPr>
            </a:pPr>
            <a:r>
              <a:t>Même cible et mêmes ensembles. MAE = moyenne des erreurs absolues (€) ; plus petite = meilleure. Test final non consulté.</a:t>
            </a:r>
          </a:p>
        </p:txBody>
      </p:sp>
      <p:pic>
        <p:nvPicPr>
          <p:cNvPr id="6" name="Picture 5" descr="overfit q14.png"/>
          <p:cNvPicPr>
            <a:picLocks noChangeAspect="1"/>
          </p:cNvPicPr>
          <p:nvPr/>
        </p:nvPicPr>
        <p:blipFill>
          <a:blip r:embed="rId2"/>
          <a:stretch>
            <a:fillRect/>
          </a:stretch>
        </p:blipFill>
        <p:spPr>
          <a:xfrm>
            <a:off x="884582" y="2532888"/>
            <a:ext cx="6460434" cy="2971800"/>
          </a:xfrm>
          <a:prstGeom prst="rect">
            <a:avLst/>
          </a:prstGeom>
        </p:spPr>
      </p:pic>
      <p:sp>
        <p:nvSpPr>
          <p:cNvPr id="7" name="TextBox 6"/>
          <p:cNvSpPr txBox="1"/>
          <p:nvPr/>
        </p:nvSpPr>
        <p:spPr>
          <a:xfrm>
            <a:off x="7863840" y="2578608"/>
            <a:ext cx="3675887" cy="2926080"/>
          </a:xfrm>
          <a:prstGeom prst="rect">
            <a:avLst/>
          </a:prstGeom>
          <a:noFill/>
        </p:spPr>
        <p:txBody>
          <a:bodyPr wrap="square" lIns="22860" rIns="22860" tIns="13716" bIns="13716">
            <a:spAutoFit/>
          </a:bodyPr>
          <a:lstStyle/>
          <a:p>
            <a:pPr>
              <a:spcAft>
                <a:spcPts val="1200"/>
              </a:spcAft>
              <a:defRPr sz="2300" b="0">
                <a:solidFill>
                  <a:srgbClr val="22364C"/>
                </a:solidFill>
                <a:latin typeface="Aptos"/>
              </a:defRPr>
            </a:pPr>
            <a:r>
              <a:t>1. Comparez la validation.</a:t>
            </a:r>
          </a:p>
          <a:p>
            <a:pPr>
              <a:spcAft>
                <a:spcPts val="1200"/>
              </a:spcAft>
              <a:defRPr sz="2300" b="0">
                <a:solidFill>
                  <a:srgbClr val="22364C"/>
                </a:solidFill>
                <a:latin typeface="Aptos"/>
              </a:defRPr>
            </a:pPr>
            <a:r>
              <a:t>2. Expliquez le cas du degré 8.</a:t>
            </a:r>
          </a:p>
          <a:p>
            <a:pPr>
              <a:spcAft>
                <a:spcPts val="1200"/>
              </a:spcAft>
              <a:defRPr sz="2300" b="0">
                <a:solidFill>
                  <a:srgbClr val="22364C"/>
                </a:solidFill>
                <a:latin typeface="Aptos"/>
              </a:defRPr>
            </a:pPr>
            <a:r>
              <a:t>3. Gardez le test final à part.</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Avant de poursuivre : la plus petite erreur d’apprentissage suffit-elle pour choisir ?</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Q14</a:t>
            </a:r>
          </a:p>
        </p:txBody>
      </p:sp>
      <p:sp>
        <p:nvSpPr>
          <p:cNvPr id="12"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46 / 73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Q14 · EXEMPLE REPRIS DU COURS DES 8–9 OCTOBRE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Surapprentissage : suivre les points, perdre ailleurs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37943"/>
            <a:ext cx="10927080" cy="603504"/>
          </a:xfrm>
          <a:prstGeom prst="rect">
            <a:avLst/>
          </a:prstGeom>
          <a:noFill/>
        </p:spPr>
        <p:txBody>
          <a:bodyPr wrap="square" lIns="22860" rIns="22860" tIns="13716" bIns="13716">
            <a:spAutoFit/>
          </a:bodyPr>
          <a:lstStyle/>
          <a:p>
            <a:pPr>
              <a:spcAft>
                <a:spcPts val="0"/>
              </a:spcAft>
              <a:defRPr sz="2000" b="0">
                <a:solidFill>
                  <a:srgbClr val="22364C"/>
                </a:solidFill>
                <a:latin typeface="Aptos"/>
              </a:defRPr>
            </a:pPr>
            <a:r>
              <a:t>Exemple des 8–9 octobre, distinct de Q14 : mêmes commandes, en minutes.</a:t>
            </a:r>
          </a:p>
          <a:p>
            <a:pPr>
              <a:spcAft>
                <a:spcPts val="0"/>
              </a:spcAft>
              <a:defRPr sz="2000" b="0">
                <a:solidFill>
                  <a:srgbClr val="22364C"/>
                </a:solidFill>
                <a:latin typeface="Aptos"/>
              </a:defRPr>
            </a:pPr>
            <a:r>
              <a:t>Ajuster sur l’apprentissage ; comparer les erreurs sur la validation.</a:t>
            </a:r>
          </a:p>
        </p:txBody>
      </p:sp>
      <p:pic>
        <p:nvPicPr>
          <p:cNvPr id="6" name="Picture 5" descr="Ancien exemple en minutes, distinct de Q14 : polynômes2et12. Même apprentissage24commandes, validation160commandes. MAE2=1,74/2,06min ; MAE12=0,88/3,28min."/>
          <p:cNvPicPr>
            <a:picLocks noChangeAspect="1"/>
          </p:cNvPicPr>
          <p:nvPr/>
        </p:nvPicPr>
        <p:blipFill>
          <a:blip r:embed="rId2"/>
          <a:stretch>
            <a:fillRect/>
          </a:stretch>
        </p:blipFill>
        <p:spPr>
          <a:xfrm>
            <a:off x="965568" y="2459736"/>
            <a:ext cx="10221238" cy="3108960"/>
          </a:xfrm>
          <a:prstGeom prst="rect">
            <a:avLst/>
          </a:prstGeom>
        </p:spPr>
      </p:pic>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Le degré 12 réduit l’erreur d’apprentissage, mais augmente ici l’erreur de validation.</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Q14</a:t>
            </a:r>
          </a:p>
        </p:txBody>
      </p:sp>
      <p:sp>
        <p:nvSpPr>
          <p:cNvPr id="11"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47 / 73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À REPRENDRE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E04 · Garder une évaluation indépendante</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E04 · contextes Q12 et Q14.</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E04</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48 / 73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E04 · CONTEXTE RÉSUMÉ</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Peut-on encore parler de test indépendant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3258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109728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Réponse à Q14 : retenir la droite (validation : 6 €, minimum). Puis évaluer sur le test réservé.</a:t>
            </a:r>
          </a:p>
          <a:p>
            <a:pPr>
              <a:spcAft>
                <a:spcPts val="100"/>
              </a:spcAft>
              <a:defRPr sz="2200" b="0">
                <a:solidFill>
                  <a:srgbClr val="22364C"/>
                </a:solidFill>
                <a:latin typeface="Aptos"/>
              </a:defRPr>
            </a:pPr>
            <a:r>
              <a:t>Degré 8 : 0,2 € en apprentissage, 12 € en validation.</a:t>
            </a:r>
          </a:p>
        </p:txBody>
      </p:sp>
      <p:sp>
        <p:nvSpPr>
          <p:cNvPr id="7" name="TextBox 6"/>
          <p:cNvSpPr txBox="1"/>
          <p:nvPr/>
        </p:nvSpPr>
        <p:spPr>
          <a:xfrm>
            <a:off x="758952" y="3438144"/>
            <a:ext cx="10634472" cy="1965960"/>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À propos de Q12 et Q14 : expliquez pourquoi le degré 8 peut être moins utile malgré sa très faible erreur d'apprentissage. Un collègue consulte ensuite le test final pour essayer vingt autres degrés : peut-il encore présenter le meilleur score obtenu comme une évaluation indépendante ? Pourquoi ?</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Démarche : expliquer l’écart apprentissage–validation, puis repérer quand le test sert à choisir.</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E04</a:t>
            </a:r>
          </a:p>
        </p:txBody>
      </p:sp>
      <p:sp>
        <p:nvSpPr>
          <p:cNvPr id="12"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49 / 73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E04 · THÉORIE : LE SURAPPRENTISSAGE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Pourquoi le degré 8 peut-il moins bien prédire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Apprentissage : 0,2 €</a:t>
            </a:r>
          </a:p>
        </p:txBody>
      </p:sp>
      <p:sp>
        <p:nvSpPr>
          <p:cNvPr id="7" name="TextBox 6"/>
          <p:cNvSpPr txBox="1"/>
          <p:nvPr/>
        </p:nvSpPr>
        <p:spPr>
          <a:xfrm>
            <a:off x="749808"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Un modèle souple peut suivre le bruit présent dans les données utilisées pour l’ajuster.</a:t>
            </a:r>
          </a:p>
        </p:txBody>
      </p:sp>
      <p:sp>
        <p:nvSpPr>
          <p:cNvPr id="8" name="Rectangle 7"/>
          <p:cNvSpPr/>
          <p:nvPr/>
        </p:nvSpPr>
        <p:spPr>
          <a:xfrm>
            <a:off x="6176772"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2220"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Validation : 12 €</a:t>
            </a:r>
          </a:p>
        </p:txBody>
      </p:sp>
      <p:sp>
        <p:nvSpPr>
          <p:cNvPr id="10" name="TextBox 9"/>
          <p:cNvSpPr txBox="1"/>
          <p:nvPr/>
        </p:nvSpPr>
        <p:spPr>
          <a:xfrm>
            <a:off x="6332220"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La droite fait mieux : 6 €. La faible erreur d’apprentissage ne suffit donc pas à choisir.</a:t>
            </a:r>
          </a:p>
        </p:txBody>
      </p:sp>
      <p:sp>
        <p:nvSpPr>
          <p:cNvPr id="11" name="Rectangle 10"/>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Surapprentissage : très bien suivre l’apprentissage sans conserver cette qualité sur des observations nouvelles.</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E04</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50 / 73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E04 · SUIVRE L’USAGE DU TEST</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Choisir avec le test lui retire son rôle final</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Départ</a:t>
            </a:r>
          </a:p>
        </p:txBody>
      </p:sp>
      <p:sp>
        <p:nvSpPr>
          <p:cNvPr id="7" name="TextBox 6"/>
          <p:cNvSpPr txBox="1"/>
          <p:nvPr/>
        </p:nvSpPr>
        <p:spPr>
          <a:xfrm>
            <a:off x="749808"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Candidat choisi avec la validation ; test réservé.</a:t>
            </a:r>
          </a:p>
        </p:txBody>
      </p:sp>
      <p:sp>
        <p:nvSpPr>
          <p:cNvPr id="8" name="Rectangle 7"/>
          <p:cNvSpPr/>
          <p:nvPr/>
        </p:nvSpPr>
        <p:spPr>
          <a:xfrm>
            <a:off x="4315968"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Vingt essais plus tard</a:t>
            </a:r>
          </a:p>
        </p:txBody>
      </p:sp>
      <p:sp>
        <p:nvSpPr>
          <p:cNvPr id="10" name="TextBox 9"/>
          <p:cNvSpPr txBox="1"/>
          <p:nvPr/>
        </p:nvSpPr>
        <p:spPr>
          <a:xfrm>
            <a:off x="4471416"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Les scores de test servent à choisir un autre degré.</a:t>
            </a:r>
          </a:p>
        </p:txBody>
      </p:sp>
      <p:sp>
        <p:nvSpPr>
          <p:cNvPr id="11" name="Rectangle 10"/>
          <p:cNvSpPr/>
          <p:nvPr/>
        </p:nvSpPr>
        <p:spPr>
          <a:xfrm>
            <a:off x="8037576"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Conséquence</a:t>
            </a:r>
          </a:p>
        </p:txBody>
      </p:sp>
      <p:sp>
        <p:nvSpPr>
          <p:cNvPr id="13" name="TextBox 12"/>
          <p:cNvSpPr txBox="1"/>
          <p:nvPr/>
        </p:nvSpPr>
        <p:spPr>
          <a:xfrm>
            <a:off x="8193024"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L’évaluation n’est plus indépendante. Réserver de nouvelles données.</a:t>
            </a:r>
          </a:p>
        </p:txBody>
      </p:sp>
      <p:sp>
        <p:nvSpPr>
          <p:cNvPr id="14" name="Rectangle 13"/>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Réponse à E04 : le degré 8 peut suivre le bruit ; choisir vingt degrés avec le test enlève l’indépendance du meilleur score.</a:t>
            </a:r>
          </a:p>
        </p:txBody>
      </p:sp>
      <p:sp>
        <p:nvSpPr>
          <p:cNvPr id="16" name="TextBox 1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7" name="TextBox 1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E04</a:t>
            </a:r>
          </a:p>
        </p:txBody>
      </p:sp>
      <p:sp>
        <p:nvSpPr>
          <p:cNvPr id="1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9" name="TextBox 1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51 / 73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À VOUS · AUTRE ÉQUIPE : RECONSTRUIRE UNE ÉVALUATION</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Retrouver une évaluation indépendante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170432"/>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91440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MAE (apprentissage / validation) : degré 2 = 3 / 4 € ; degré 9 = 0,1 / 10 €.</a:t>
            </a:r>
          </a:p>
          <a:p>
            <a:pPr>
              <a:spcAft>
                <a:spcPts val="100"/>
              </a:spcAft>
              <a:defRPr sz="2200" b="0">
                <a:solidFill>
                  <a:srgbClr val="22364C"/>
                </a:solidFill>
                <a:latin typeface="Aptos"/>
              </a:defRPr>
            </a:pPr>
            <a:r>
              <a:t>Après ce choix, l’équipe compare dix autres modèles sur le test et retient le meilleur score.</a:t>
            </a:r>
          </a:p>
        </p:txBody>
      </p:sp>
      <p:sp>
        <p:nvSpPr>
          <p:cNvPr id="7" name="TextBox 6"/>
          <p:cNvSpPr txBox="1"/>
          <p:nvPr/>
        </p:nvSpPr>
        <p:spPr>
          <a:xfrm>
            <a:off x="658368" y="33375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1</a:t>
            </a:r>
          </a:p>
        </p:txBody>
      </p:sp>
      <p:sp>
        <p:nvSpPr>
          <p:cNvPr id="8" name="TextBox 7"/>
          <p:cNvSpPr txBox="1"/>
          <p:nvPr/>
        </p:nvSpPr>
        <p:spPr>
          <a:xfrm>
            <a:off x="1207008" y="33284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Quel degré retenir ? Pourquoi la faible erreur d’apprentissage ne suffit-elle pas ?</a:t>
            </a:r>
          </a:p>
        </p:txBody>
      </p:sp>
      <p:sp>
        <p:nvSpPr>
          <p:cNvPr id="9" name="TextBox 8"/>
          <p:cNvSpPr txBox="1"/>
          <p:nvPr/>
        </p:nvSpPr>
        <p:spPr>
          <a:xfrm>
            <a:off x="658368" y="40233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2</a:t>
            </a:r>
          </a:p>
        </p:txBody>
      </p:sp>
      <p:sp>
        <p:nvSpPr>
          <p:cNvPr id="10" name="TextBox 9"/>
          <p:cNvSpPr txBox="1"/>
          <p:nvPr/>
        </p:nvSpPr>
        <p:spPr>
          <a:xfrm>
            <a:off x="1207008" y="40142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À quel moment le test perd-il son rôle d’évaluation indépendante ?</a:t>
            </a:r>
          </a:p>
        </p:txBody>
      </p:sp>
      <p:sp>
        <p:nvSpPr>
          <p:cNvPr id="11" name="TextBox 10"/>
          <p:cNvSpPr txBox="1"/>
          <p:nvPr/>
        </p:nvSpPr>
        <p:spPr>
          <a:xfrm>
            <a:off x="658368" y="47091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3</a:t>
            </a:r>
          </a:p>
        </p:txBody>
      </p:sp>
      <p:sp>
        <p:nvSpPr>
          <p:cNvPr id="12" name="TextBox 11"/>
          <p:cNvSpPr txBox="1"/>
          <p:nvPr/>
        </p:nvSpPr>
        <p:spPr>
          <a:xfrm>
            <a:off x="1207008" y="47000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Comment obtenir un score indépendant ? Précisez ce qui doit rester figé.</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E04</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52 / 73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À REPRENDRE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G03 · Distinguer divergence et conflit</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G03.</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G03</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53 / 73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G03 · CONTEXTE RÉSUMÉ</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Deux chemins dans le graphe : conflit ou divergence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3258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109728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Deux personnes partent du même commit, modifient des fichiers distincts et committent chacune. A publie. Après Fetch, B voit son commit local et celui de A sur deux chemins.</a:t>
            </a:r>
          </a:p>
        </p:txBody>
      </p:sp>
      <p:sp>
        <p:nvSpPr>
          <p:cNvPr id="7" name="TextBox 6"/>
          <p:cNvSpPr txBox="1"/>
          <p:nvPr/>
        </p:nvSpPr>
        <p:spPr>
          <a:xfrm>
            <a:off x="758952" y="3246120"/>
            <a:ext cx="10634472" cy="274320"/>
          </a:xfrm>
          <a:prstGeom prst="rect">
            <a:avLst/>
          </a:prstGeom>
          <a:noFill/>
        </p:spPr>
        <p:txBody>
          <a:bodyPr wrap="square" lIns="22860" rIns="22860" tIns="13716" bIns="13716">
            <a:spAutoFit/>
          </a:bodyPr>
          <a:lstStyle/>
          <a:p>
            <a:pPr>
              <a:spcAft>
                <a:spcPts val="0"/>
              </a:spcAft>
              <a:defRPr sz="1500" b="0">
                <a:solidFill>
                  <a:srgbClr val="087F8C"/>
                </a:solidFill>
                <a:latin typeface="Aptos"/>
              </a:defRPr>
            </a:pPr>
            <a:r>
              <a:t>Question reprise en discussion · choix du QCM non reproduits</a:t>
            </a:r>
          </a:p>
        </p:txBody>
      </p:sp>
      <p:sp>
        <p:nvSpPr>
          <p:cNvPr id="8" name="TextBox 7"/>
          <p:cNvSpPr txBox="1"/>
          <p:nvPr/>
        </p:nvSpPr>
        <p:spPr>
          <a:xfrm>
            <a:off x="758952" y="3621024"/>
            <a:ext cx="10634472" cy="1783080"/>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Quelle interprétation est correcte ?</a:t>
            </a:r>
          </a:p>
        </p:txBody>
      </p:sp>
      <p:sp>
        <p:nvSpPr>
          <p:cNvPr id="9" name="Rectangle 8"/>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Démarche : distinguer l’histoire des commits et la compatibilité des fichiers.</a:t>
            </a:r>
          </a:p>
        </p:txBody>
      </p:sp>
      <p:sp>
        <p:nvSpPr>
          <p:cNvPr id="11" name="TextBox 10"/>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2" name="TextBox 11"/>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G03</a:t>
            </a:r>
          </a:p>
        </p:txBody>
      </p:sp>
      <p:sp>
        <p:nvSpPr>
          <p:cNvPr id="13"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4" name="TextBox 13"/>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54 / 73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G03 · HISTOIRE VUE DEPUIS LE CLONE DE B</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Une divergence peut se fusionner sans conflit</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585216"/>
          </a:xfrm>
          <a:prstGeom prst="rect">
            <a:avLst/>
          </a:prstGeom>
          <a:noFill/>
        </p:spPr>
        <p:txBody>
          <a:bodyPr wrap="square" lIns="22860" rIns="22860" tIns="13716" bIns="13716">
            <a:spAutoFit/>
          </a:bodyPr>
          <a:lstStyle/>
          <a:p>
            <a:pPr>
              <a:spcAft>
                <a:spcPts val="0"/>
              </a:spcAft>
              <a:defRPr sz="2100" b="0">
                <a:solidFill>
                  <a:srgbClr val="22364C"/>
                </a:solidFill>
                <a:latin typeface="Aptos"/>
              </a:defRPr>
            </a:pPr>
            <a:r>
              <a:t>Chaque cercle est un commit. Après Fetch, B voit A1 (A) et B1 (B), issus de C0.</a:t>
            </a:r>
          </a:p>
          <a:p>
            <a:pPr>
              <a:spcAft>
                <a:spcPts val="0"/>
              </a:spcAft>
              <a:defRPr sz="2100" b="0">
                <a:solidFill>
                  <a:srgbClr val="22364C"/>
                </a:solidFill>
                <a:latin typeface="Aptos"/>
              </a:defRPr>
            </a:pPr>
            <a:r>
              <a:t>Ici, les changements portent sur des fichiers distincts.</a:t>
            </a:r>
          </a:p>
        </p:txBody>
      </p:sp>
      <p:sp>
        <p:nvSpPr>
          <p:cNvPr id="6" name="Rectangle 5"/>
          <p:cNvSpPr/>
          <p:nvPr/>
        </p:nvSpPr>
        <p:spPr>
          <a:xfrm>
            <a:off x="594360" y="2606040"/>
            <a:ext cx="5349240" cy="2852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724912"/>
            <a:ext cx="5093208" cy="438912"/>
          </a:xfrm>
          <a:prstGeom prst="rect">
            <a:avLst/>
          </a:prstGeom>
          <a:noFill/>
        </p:spPr>
        <p:txBody>
          <a:bodyPr wrap="square" lIns="22860" rIns="22860" tIns="13716" bIns="13716">
            <a:spAutoFit/>
          </a:bodyPr>
          <a:lstStyle/>
          <a:p>
            <a:pPr>
              <a:spcAft>
                <a:spcPts val="0"/>
              </a:spcAft>
              <a:defRPr sz="2000" b="1">
                <a:solidFill>
                  <a:srgbClr val="142D4E"/>
                </a:solidFill>
                <a:latin typeface="Aptos"/>
              </a:defRPr>
            </a:pPr>
            <a:r>
              <a:t>1 · Deux chemins après C0</a:t>
            </a:r>
          </a:p>
        </p:txBody>
      </p:sp>
      <p:cxnSp>
        <p:nvCxnSpPr>
          <p:cNvPr id="8" name="Connector 7"/>
          <p:cNvCxnSpPr/>
          <p:nvPr/>
        </p:nvCxnSpPr>
        <p:spPr>
          <a:xfrm flipV="1">
            <a:off x="1188720" y="3630168"/>
            <a:ext cx="1234440" cy="621792"/>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88720" y="4251960"/>
            <a:ext cx="1234440" cy="576072"/>
          </a:xfrm>
          <a:prstGeom prst="line">
            <a:avLst/>
          </a:prstGeom>
          <a:ln w="31750">
            <a:solidFill>
              <a:srgbClr val="BD561E"/>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60120" y="4023360"/>
            <a:ext cx="457200" cy="457200"/>
          </a:xfrm>
          <a:prstGeom prst="ellipse">
            <a:avLst/>
          </a:prstGeom>
          <a:solidFill>
            <a:srgbClr val="14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4123944"/>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C0</a:t>
            </a:r>
          </a:p>
        </p:txBody>
      </p:sp>
      <p:sp>
        <p:nvSpPr>
          <p:cNvPr id="12" name="Oval 11"/>
          <p:cNvSpPr/>
          <p:nvPr/>
        </p:nvSpPr>
        <p:spPr>
          <a:xfrm>
            <a:off x="2194560" y="3401568"/>
            <a:ext cx="457200" cy="45720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12848" y="3502152"/>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A1</a:t>
            </a:r>
          </a:p>
        </p:txBody>
      </p:sp>
      <p:sp>
        <p:nvSpPr>
          <p:cNvPr id="14" name="Oval 13"/>
          <p:cNvSpPr/>
          <p:nvPr/>
        </p:nvSpPr>
        <p:spPr>
          <a:xfrm>
            <a:off x="2194560" y="4599432"/>
            <a:ext cx="457200" cy="457200"/>
          </a:xfrm>
          <a:prstGeom prst="ellipse">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12848" y="4700016"/>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B1</a:t>
            </a:r>
          </a:p>
        </p:txBody>
      </p:sp>
      <p:sp>
        <p:nvSpPr>
          <p:cNvPr id="16" name="TextBox 15"/>
          <p:cNvSpPr txBox="1"/>
          <p:nvPr/>
        </p:nvSpPr>
        <p:spPr>
          <a:xfrm>
            <a:off x="795528" y="4572000"/>
            <a:ext cx="868680" cy="274320"/>
          </a:xfrm>
          <a:prstGeom prst="rect">
            <a:avLst/>
          </a:prstGeom>
          <a:noFill/>
        </p:spPr>
        <p:txBody>
          <a:bodyPr wrap="square" lIns="22860" rIns="22860" tIns="13716" bIns="13716">
            <a:spAutoFit/>
          </a:bodyPr>
          <a:lstStyle/>
          <a:p>
            <a:pPr>
              <a:spcAft>
                <a:spcPts val="0"/>
              </a:spcAft>
              <a:defRPr sz="1400" b="0">
                <a:solidFill>
                  <a:srgbClr val="142D4E"/>
                </a:solidFill>
                <a:latin typeface="Aptos"/>
              </a:defRPr>
            </a:pPr>
            <a:r>
              <a:t>départ</a:t>
            </a:r>
          </a:p>
        </p:txBody>
      </p:sp>
      <p:sp>
        <p:nvSpPr>
          <p:cNvPr id="17" name="TextBox 16"/>
          <p:cNvSpPr txBox="1"/>
          <p:nvPr/>
        </p:nvSpPr>
        <p:spPr>
          <a:xfrm>
            <a:off x="2880360" y="3502152"/>
            <a:ext cx="2880360" cy="347472"/>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origin/main</a:t>
            </a:r>
          </a:p>
        </p:txBody>
      </p:sp>
      <p:sp>
        <p:nvSpPr>
          <p:cNvPr id="18" name="TextBox 17"/>
          <p:cNvSpPr txBox="1"/>
          <p:nvPr/>
        </p:nvSpPr>
        <p:spPr>
          <a:xfrm>
            <a:off x="2880360" y="4709160"/>
            <a:ext cx="2880360" cy="347472"/>
          </a:xfrm>
          <a:prstGeom prst="rect">
            <a:avLst/>
          </a:prstGeom>
          <a:noFill/>
        </p:spPr>
        <p:txBody>
          <a:bodyPr wrap="square" lIns="22860" rIns="22860" tIns="13716" bIns="13716">
            <a:spAutoFit/>
          </a:bodyPr>
          <a:lstStyle/>
          <a:p>
            <a:pPr>
              <a:spcAft>
                <a:spcPts val="0"/>
              </a:spcAft>
              <a:defRPr sz="1800" b="1">
                <a:solidFill>
                  <a:srgbClr val="BD561E"/>
                </a:solidFill>
                <a:latin typeface="Aptos"/>
              </a:defRPr>
            </a:pPr>
            <a:r>
              <a:t>main de B</a:t>
            </a:r>
          </a:p>
        </p:txBody>
      </p:sp>
      <p:sp>
        <p:nvSpPr>
          <p:cNvPr id="19" name="Rectangle 18"/>
          <p:cNvSpPr/>
          <p:nvPr/>
        </p:nvSpPr>
        <p:spPr>
          <a:xfrm>
            <a:off x="6208776" y="2606040"/>
            <a:ext cx="5349240" cy="2852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6792" y="2724912"/>
            <a:ext cx="5093208" cy="438912"/>
          </a:xfrm>
          <a:prstGeom prst="rect">
            <a:avLst/>
          </a:prstGeom>
          <a:noFill/>
        </p:spPr>
        <p:txBody>
          <a:bodyPr wrap="square" lIns="22860" rIns="22860" tIns="13716" bIns="13716">
            <a:spAutoFit/>
          </a:bodyPr>
          <a:lstStyle/>
          <a:p>
            <a:pPr>
              <a:spcAft>
                <a:spcPts val="0"/>
              </a:spcAft>
              <a:defRPr sz="2000" b="1">
                <a:solidFill>
                  <a:srgbClr val="142D4E"/>
                </a:solidFill>
                <a:latin typeface="Aptos"/>
              </a:defRPr>
            </a:pPr>
            <a:r>
              <a:t>2 · Fusion locale terminée</a:t>
            </a:r>
          </a:p>
        </p:txBody>
      </p:sp>
      <p:cxnSp>
        <p:nvCxnSpPr>
          <p:cNvPr id="21" name="Connector 20"/>
          <p:cNvCxnSpPr/>
          <p:nvPr/>
        </p:nvCxnSpPr>
        <p:spPr>
          <a:xfrm flipV="1">
            <a:off x="6803136" y="3630168"/>
            <a:ext cx="1234439" cy="621792"/>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803136" y="4251960"/>
            <a:ext cx="1234439" cy="576072"/>
          </a:xfrm>
          <a:prstGeom prst="line">
            <a:avLst/>
          </a:prstGeom>
          <a:ln w="31750">
            <a:solidFill>
              <a:srgbClr val="BD561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037575" y="3630168"/>
            <a:ext cx="2057401" cy="621792"/>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037575" y="4251960"/>
            <a:ext cx="2057401" cy="576072"/>
          </a:xfrm>
          <a:prstGeom prst="line">
            <a:avLst/>
          </a:prstGeom>
          <a:ln w="31750">
            <a:solidFill>
              <a:srgbClr val="BD561E"/>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574536" y="4023360"/>
            <a:ext cx="457200" cy="457200"/>
          </a:xfrm>
          <a:prstGeom prst="ellipse">
            <a:avLst/>
          </a:prstGeom>
          <a:solidFill>
            <a:srgbClr val="14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2824" y="4123944"/>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C0</a:t>
            </a:r>
          </a:p>
        </p:txBody>
      </p:sp>
      <p:sp>
        <p:nvSpPr>
          <p:cNvPr id="27" name="Oval 26"/>
          <p:cNvSpPr/>
          <p:nvPr/>
        </p:nvSpPr>
        <p:spPr>
          <a:xfrm>
            <a:off x="7808975" y="3401568"/>
            <a:ext cx="457200" cy="45720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7263" y="3502152"/>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A1</a:t>
            </a:r>
          </a:p>
        </p:txBody>
      </p:sp>
      <p:sp>
        <p:nvSpPr>
          <p:cNvPr id="29" name="Oval 28"/>
          <p:cNvSpPr/>
          <p:nvPr/>
        </p:nvSpPr>
        <p:spPr>
          <a:xfrm>
            <a:off x="7808975" y="4599432"/>
            <a:ext cx="457200" cy="457200"/>
          </a:xfrm>
          <a:prstGeom prst="ellipse">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7263" y="4700016"/>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B1</a:t>
            </a:r>
          </a:p>
        </p:txBody>
      </p:sp>
      <p:sp>
        <p:nvSpPr>
          <p:cNvPr id="31" name="TextBox 30"/>
          <p:cNvSpPr txBox="1"/>
          <p:nvPr/>
        </p:nvSpPr>
        <p:spPr>
          <a:xfrm>
            <a:off x="6409944" y="4572000"/>
            <a:ext cx="868680" cy="274320"/>
          </a:xfrm>
          <a:prstGeom prst="rect">
            <a:avLst/>
          </a:prstGeom>
          <a:noFill/>
        </p:spPr>
        <p:txBody>
          <a:bodyPr wrap="square" lIns="22860" rIns="22860" tIns="13716" bIns="13716">
            <a:spAutoFit/>
          </a:bodyPr>
          <a:lstStyle/>
          <a:p>
            <a:pPr>
              <a:spcAft>
                <a:spcPts val="0"/>
              </a:spcAft>
              <a:defRPr sz="1400" b="0">
                <a:solidFill>
                  <a:srgbClr val="142D4E"/>
                </a:solidFill>
                <a:latin typeface="Aptos"/>
              </a:defRPr>
            </a:pPr>
            <a:r>
              <a:t>départ</a:t>
            </a:r>
          </a:p>
        </p:txBody>
      </p:sp>
      <p:sp>
        <p:nvSpPr>
          <p:cNvPr id="32" name="Oval 31"/>
          <p:cNvSpPr/>
          <p:nvPr/>
        </p:nvSpPr>
        <p:spPr>
          <a:xfrm>
            <a:off x="9866376" y="4023360"/>
            <a:ext cx="457200" cy="457200"/>
          </a:xfrm>
          <a:prstGeom prst="ellipse">
            <a:avLst/>
          </a:prstGeom>
          <a:solidFill>
            <a:srgbClr val="14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84663" y="4123944"/>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M</a:t>
            </a:r>
          </a:p>
        </p:txBody>
      </p:sp>
      <p:sp>
        <p:nvSpPr>
          <p:cNvPr id="34" name="TextBox 33"/>
          <p:cNvSpPr txBox="1"/>
          <p:nvPr/>
        </p:nvSpPr>
        <p:spPr>
          <a:xfrm>
            <a:off x="7397496" y="3099816"/>
            <a:ext cx="2011680" cy="301752"/>
          </a:xfrm>
          <a:prstGeom prst="rect">
            <a:avLst/>
          </a:prstGeom>
          <a:noFill/>
        </p:spPr>
        <p:txBody>
          <a:bodyPr wrap="square" lIns="22860" rIns="22860" tIns="13716" bIns="13716">
            <a:spAutoFit/>
          </a:bodyPr>
          <a:lstStyle/>
          <a:p>
            <a:pPr>
              <a:spcAft>
                <a:spcPts val="0"/>
              </a:spcAft>
              <a:defRPr sz="1600" b="1">
                <a:solidFill>
                  <a:srgbClr val="087F8C"/>
                </a:solidFill>
                <a:latin typeface="Aptos"/>
              </a:defRPr>
            </a:pPr>
            <a:r>
              <a:t>origin/main</a:t>
            </a:r>
          </a:p>
        </p:txBody>
      </p:sp>
      <p:sp>
        <p:nvSpPr>
          <p:cNvPr id="35" name="TextBox 34"/>
          <p:cNvSpPr txBox="1"/>
          <p:nvPr/>
        </p:nvSpPr>
        <p:spPr>
          <a:xfrm>
            <a:off x="9500616" y="4709160"/>
            <a:ext cx="1874519" cy="320040"/>
          </a:xfrm>
          <a:prstGeom prst="rect">
            <a:avLst/>
          </a:prstGeom>
          <a:noFill/>
        </p:spPr>
        <p:txBody>
          <a:bodyPr wrap="square" lIns="22860" rIns="22860" tIns="13716" bIns="13716">
            <a:spAutoFit/>
          </a:bodyPr>
          <a:lstStyle/>
          <a:p>
            <a:pPr>
              <a:spcAft>
                <a:spcPts val="0"/>
              </a:spcAft>
              <a:defRPr sz="1700" b="1">
                <a:solidFill>
                  <a:srgbClr val="BD561E"/>
                </a:solidFill>
                <a:latin typeface="Aptos"/>
              </a:defRPr>
            </a:pPr>
            <a:r>
              <a:t>main de B</a:t>
            </a:r>
          </a:p>
        </p:txBody>
      </p:sp>
      <p:sp>
        <p:nvSpPr>
          <p:cNvPr id="36" name="TextBox 35"/>
          <p:cNvSpPr txBox="1"/>
          <p:nvPr/>
        </p:nvSpPr>
        <p:spPr>
          <a:xfrm>
            <a:off x="9555480" y="5056632"/>
            <a:ext cx="1783080" cy="292608"/>
          </a:xfrm>
          <a:prstGeom prst="rect">
            <a:avLst/>
          </a:prstGeom>
          <a:noFill/>
        </p:spPr>
        <p:txBody>
          <a:bodyPr wrap="square" lIns="22860" rIns="22860" tIns="13716" bIns="13716">
            <a:spAutoFit/>
          </a:bodyPr>
          <a:lstStyle/>
          <a:p>
            <a:pPr>
              <a:spcAft>
                <a:spcPts val="0"/>
              </a:spcAft>
              <a:defRPr sz="1600" b="0">
                <a:solidFill>
                  <a:srgbClr val="142D4E"/>
                </a:solidFill>
                <a:latin typeface="Aptos"/>
              </a:defRPr>
            </a:pPr>
            <a:r>
              <a:t>2 parents</a:t>
            </a:r>
          </a:p>
        </p:txBody>
      </p:sp>
      <p:sp>
        <p:nvSpPr>
          <p:cNvPr id="37" name="Rectangle 3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M a deux parents. origin/main reste sur A1 jusqu’au Push réussi de B, qui publie M.</a:t>
            </a:r>
          </a:p>
        </p:txBody>
      </p:sp>
      <p:sp>
        <p:nvSpPr>
          <p:cNvPr id="39" name="TextBox 3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40" name="TextBox 3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G03</a:t>
            </a:r>
          </a:p>
        </p:txBody>
      </p:sp>
      <p:sp>
        <p:nvSpPr>
          <p:cNvPr id="41"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42" name="TextBox 4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55 / 73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G03 · RÉPONSE : DES COMMITS DIVERGENTS PEUVENT ÊTRE COMPATIBLES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Divergence ne signifie pas conflit</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Divergence</a:t>
            </a:r>
          </a:p>
        </p:txBody>
      </p:sp>
      <p:sp>
        <p:nvSpPr>
          <p:cNvPr id="7" name="TextBox 6"/>
          <p:cNvSpPr txBox="1"/>
          <p:nvPr/>
        </p:nvSpPr>
        <p:spPr>
          <a:xfrm>
            <a:off x="749808"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Des commits différents après un départ commun.</a:t>
            </a:r>
          </a:p>
        </p:txBody>
      </p:sp>
      <p:sp>
        <p:nvSpPr>
          <p:cNvPr id="8" name="Rectangle 7"/>
          <p:cNvSpPr/>
          <p:nvPr/>
        </p:nvSpPr>
        <p:spPr>
          <a:xfrm>
            <a:off x="4315968"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Fusion sans conflit</a:t>
            </a:r>
          </a:p>
        </p:txBody>
      </p:sp>
      <p:sp>
        <p:nvSpPr>
          <p:cNvPr id="10" name="TextBox 9"/>
          <p:cNvSpPr txBox="1"/>
          <p:nvPr/>
        </p:nvSpPr>
        <p:spPr>
          <a:xfrm>
            <a:off x="4471416"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Changements compatibles : par exemple, ajouts dans des fichiers distincts.</a:t>
            </a:r>
          </a:p>
        </p:txBody>
      </p:sp>
      <p:sp>
        <p:nvSpPr>
          <p:cNvPr id="11" name="Rectangle 10"/>
          <p:cNvSpPr/>
          <p:nvPr/>
        </p:nvSpPr>
        <p:spPr>
          <a:xfrm>
            <a:off x="8037576"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Conflit de contenu</a:t>
            </a:r>
          </a:p>
        </p:txBody>
      </p:sp>
      <p:sp>
        <p:nvSpPr>
          <p:cNvPr id="13" name="TextBox 12"/>
          <p:cNvSpPr txBox="1"/>
          <p:nvPr/>
        </p:nvSpPr>
        <p:spPr>
          <a:xfrm>
            <a:off x="8193024"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Modifications incompatibles : Git demande une décision.</a:t>
            </a:r>
          </a:p>
        </p:txBody>
      </p:sp>
      <p:sp>
        <p:nvSpPr>
          <p:cNvPr id="14" name="Rectangle 13"/>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Même fichier ≠ conflit automatique. Vérifier le résultat, même sans conflit.</a:t>
            </a:r>
          </a:p>
        </p:txBody>
      </p:sp>
      <p:sp>
        <p:nvSpPr>
          <p:cNvPr id="16" name="TextBox 1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7" name="TextBox 1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G03</a:t>
            </a:r>
          </a:p>
        </p:txBody>
      </p:sp>
      <p:sp>
        <p:nvSpPr>
          <p:cNvPr id="1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9" name="TextBox 1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56 / 73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QUESTION À REPRENDRE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EG01 · Terminer une fusion</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EG01.</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EG01</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57 / 73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BILAN DU 9 OCTOBRE · EG01 · QUESTION D’ORIGINE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Comment terminer une fusion de texte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8952" y="2029968"/>
            <a:ext cx="10634472" cy="3355848"/>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Dans un autre cas, la fusion s'arrête dans conclusion.txt. Une personne a remplacé la phrase initiale par « Vérifier les unités. » ; l'autre, par « Indiquer la période étudiée. ». L'équipe souhaite conserver les deux demandes. Proposez une phrase finale cohérente. Expliquez ensuite ce que vous vérifiez et faites avant de publier la fusion. Vous pouvez décrire les actions en français, sans mémoriser les commandes.</a:t>
            </a:r>
          </a:p>
        </p:txBody>
      </p:sp>
      <p:sp>
        <p:nvSpPr>
          <p:cNvPr id="6" name="Rectangle 5"/>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Démarche : conserver le sens, préparer et vérifier le fichier, terminer la fusion, puis publier.</a:t>
            </a:r>
          </a:p>
        </p:txBody>
      </p:sp>
      <p:sp>
        <p:nvSpPr>
          <p:cNvPr id="8" name="TextBox 7"/>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9" name="TextBox 8"/>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EG01</a:t>
            </a:r>
          </a:p>
        </p:txBody>
      </p:sp>
      <p:sp>
        <p:nvSpPr>
          <p:cNvPr id="10"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1" name="TextBox 10"/>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58 / 73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EG01 · CONSERVER LES DEUX DEMANDES DANS conclusion.txt</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Conserver les deux demandes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Demande 1</a:t>
            </a:r>
          </a:p>
        </p:txBody>
      </p:sp>
      <p:sp>
        <p:nvSpPr>
          <p:cNvPr id="7" name="TextBox 6"/>
          <p:cNvSpPr txBox="1"/>
          <p:nvPr/>
        </p:nvSpPr>
        <p:spPr>
          <a:xfrm>
            <a:off x="749808"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 Vérifier les unités. »</a:t>
            </a:r>
          </a:p>
        </p:txBody>
      </p:sp>
      <p:sp>
        <p:nvSpPr>
          <p:cNvPr id="8" name="Rectangle 7"/>
          <p:cNvSpPr/>
          <p:nvPr/>
        </p:nvSpPr>
        <p:spPr>
          <a:xfrm>
            <a:off x="4315968"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Demande 2</a:t>
            </a:r>
          </a:p>
        </p:txBody>
      </p:sp>
      <p:sp>
        <p:nvSpPr>
          <p:cNvPr id="10" name="TextBox 9"/>
          <p:cNvSpPr txBox="1"/>
          <p:nvPr/>
        </p:nvSpPr>
        <p:spPr>
          <a:xfrm>
            <a:off x="4471416"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 Indiquer la période étudiée. »</a:t>
            </a:r>
          </a:p>
        </p:txBody>
      </p:sp>
      <p:sp>
        <p:nvSpPr>
          <p:cNvPr id="11" name="Rectangle 10"/>
          <p:cNvSpPr/>
          <p:nvPr/>
        </p:nvSpPr>
        <p:spPr>
          <a:xfrm>
            <a:off x="8037576" y="1993392"/>
            <a:ext cx="3511296"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2121408"/>
            <a:ext cx="3200400"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Texte retenu</a:t>
            </a:r>
          </a:p>
        </p:txBody>
      </p:sp>
      <p:sp>
        <p:nvSpPr>
          <p:cNvPr id="13" name="TextBox 12"/>
          <p:cNvSpPr txBox="1"/>
          <p:nvPr/>
        </p:nvSpPr>
        <p:spPr>
          <a:xfrm>
            <a:off x="8193024" y="3118104"/>
            <a:ext cx="3200400"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 Vérifier les unités et indiquer la période étudiée. »</a:t>
            </a:r>
          </a:p>
        </p:txBody>
      </p:sp>
      <p:sp>
        <p:nvSpPr>
          <p:cNvPr id="14" name="Rectangle 13"/>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Relire, retirer les marqueurs, enregistrer. La fusion reste à terminer.</a:t>
            </a:r>
          </a:p>
        </p:txBody>
      </p:sp>
      <p:sp>
        <p:nvSpPr>
          <p:cNvPr id="16" name="TextBox 1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7" name="TextBox 1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EG01</a:t>
            </a:r>
          </a:p>
        </p:txBody>
      </p:sp>
      <p:sp>
        <p:nvSpPr>
          <p:cNvPr id="1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9" name="TextBox 1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59 / 73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EG01 · HISTOIRE VUE DEPUIS LE CLONE DE B</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Résoudre le fichier, puis créer le commit de fusion</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585216"/>
          </a:xfrm>
          <a:prstGeom prst="rect">
            <a:avLst/>
          </a:prstGeom>
          <a:noFill/>
        </p:spPr>
        <p:txBody>
          <a:bodyPr wrap="square" lIns="22860" rIns="22860" tIns="13716" bIns="13716">
            <a:spAutoFit/>
          </a:bodyPr>
          <a:lstStyle/>
          <a:p>
            <a:pPr>
              <a:spcAft>
                <a:spcPts val="0"/>
              </a:spcAft>
              <a:defRPr sz="2100" b="0">
                <a:solidFill>
                  <a:srgbClr val="22364C"/>
                </a:solidFill>
                <a:latin typeface="Aptos"/>
              </a:defRPr>
            </a:pPr>
            <a:r>
              <a:t>Chaque cercle est un commit. A1 et B1 changent la même phrase de conclusion.txt.</a:t>
            </a:r>
          </a:p>
          <a:p>
            <a:pPr>
              <a:spcAft>
                <a:spcPts val="0"/>
              </a:spcAft>
              <a:defRPr sz="2100" b="0">
                <a:solidFill>
                  <a:srgbClr val="22364C"/>
                </a:solidFill>
                <a:latin typeface="Aptos"/>
              </a:defRPr>
            </a:pPr>
            <a:r>
              <a:t>La fusion s’arrête : il faut résoudre le fichier avant de créer M.</a:t>
            </a:r>
          </a:p>
        </p:txBody>
      </p:sp>
      <p:sp>
        <p:nvSpPr>
          <p:cNvPr id="6" name="Rectangle 5"/>
          <p:cNvSpPr/>
          <p:nvPr/>
        </p:nvSpPr>
        <p:spPr>
          <a:xfrm>
            <a:off x="594360" y="2606040"/>
            <a:ext cx="5349240" cy="2852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724912"/>
            <a:ext cx="5093208" cy="438912"/>
          </a:xfrm>
          <a:prstGeom prst="rect">
            <a:avLst/>
          </a:prstGeom>
          <a:noFill/>
        </p:spPr>
        <p:txBody>
          <a:bodyPr wrap="square" lIns="22860" rIns="22860" tIns="13716" bIns="13716">
            <a:spAutoFit/>
          </a:bodyPr>
          <a:lstStyle/>
          <a:p>
            <a:pPr>
              <a:spcAft>
                <a:spcPts val="0"/>
              </a:spcAft>
              <a:defRPr sz="2000" b="1">
                <a:solidFill>
                  <a:srgbClr val="142D4E"/>
                </a:solidFill>
                <a:latin typeface="Aptos"/>
              </a:defRPr>
            </a:pPr>
            <a:r>
              <a:t>1 · Fusion arrêtée : M n’existe pas</a:t>
            </a:r>
          </a:p>
        </p:txBody>
      </p:sp>
      <p:cxnSp>
        <p:nvCxnSpPr>
          <p:cNvPr id="8" name="Connector 7"/>
          <p:cNvCxnSpPr/>
          <p:nvPr/>
        </p:nvCxnSpPr>
        <p:spPr>
          <a:xfrm flipV="1">
            <a:off x="1188720" y="3630168"/>
            <a:ext cx="1234440" cy="621792"/>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88720" y="4251960"/>
            <a:ext cx="1234440" cy="576072"/>
          </a:xfrm>
          <a:prstGeom prst="line">
            <a:avLst/>
          </a:prstGeom>
          <a:ln w="31750">
            <a:solidFill>
              <a:srgbClr val="BD561E"/>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60120" y="4023360"/>
            <a:ext cx="457200" cy="457200"/>
          </a:xfrm>
          <a:prstGeom prst="ellipse">
            <a:avLst/>
          </a:prstGeom>
          <a:solidFill>
            <a:srgbClr val="14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4123944"/>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C0</a:t>
            </a:r>
          </a:p>
        </p:txBody>
      </p:sp>
      <p:sp>
        <p:nvSpPr>
          <p:cNvPr id="12" name="Oval 11"/>
          <p:cNvSpPr/>
          <p:nvPr/>
        </p:nvSpPr>
        <p:spPr>
          <a:xfrm>
            <a:off x="2194560" y="3401568"/>
            <a:ext cx="457200" cy="45720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12848" y="3502152"/>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A1</a:t>
            </a:r>
          </a:p>
        </p:txBody>
      </p:sp>
      <p:sp>
        <p:nvSpPr>
          <p:cNvPr id="14" name="Oval 13"/>
          <p:cNvSpPr/>
          <p:nvPr/>
        </p:nvSpPr>
        <p:spPr>
          <a:xfrm>
            <a:off x="2194560" y="4599432"/>
            <a:ext cx="457200" cy="457200"/>
          </a:xfrm>
          <a:prstGeom prst="ellipse">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12848" y="4700016"/>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B1</a:t>
            </a:r>
          </a:p>
        </p:txBody>
      </p:sp>
      <p:sp>
        <p:nvSpPr>
          <p:cNvPr id="16" name="TextBox 15"/>
          <p:cNvSpPr txBox="1"/>
          <p:nvPr/>
        </p:nvSpPr>
        <p:spPr>
          <a:xfrm>
            <a:off x="795528" y="4572000"/>
            <a:ext cx="868680" cy="274320"/>
          </a:xfrm>
          <a:prstGeom prst="rect">
            <a:avLst/>
          </a:prstGeom>
          <a:noFill/>
        </p:spPr>
        <p:txBody>
          <a:bodyPr wrap="square" lIns="22860" rIns="22860" tIns="13716" bIns="13716">
            <a:spAutoFit/>
          </a:bodyPr>
          <a:lstStyle/>
          <a:p>
            <a:pPr>
              <a:spcAft>
                <a:spcPts val="0"/>
              </a:spcAft>
              <a:defRPr sz="1400" b="0">
                <a:solidFill>
                  <a:srgbClr val="142D4E"/>
                </a:solidFill>
                <a:latin typeface="Aptos"/>
              </a:defRPr>
            </a:pPr>
            <a:r>
              <a:t>départ</a:t>
            </a:r>
          </a:p>
        </p:txBody>
      </p:sp>
      <p:sp>
        <p:nvSpPr>
          <p:cNvPr id="17" name="TextBox 16"/>
          <p:cNvSpPr txBox="1"/>
          <p:nvPr/>
        </p:nvSpPr>
        <p:spPr>
          <a:xfrm>
            <a:off x="2880360" y="3502152"/>
            <a:ext cx="2880360" cy="347472"/>
          </a:xfrm>
          <a:prstGeom prst="rect">
            <a:avLst/>
          </a:prstGeom>
          <a:noFill/>
        </p:spPr>
        <p:txBody>
          <a:bodyPr wrap="square" lIns="22860" rIns="22860" tIns="13716" bIns="13716">
            <a:spAutoFit/>
          </a:bodyPr>
          <a:lstStyle/>
          <a:p>
            <a:pPr>
              <a:spcAft>
                <a:spcPts val="0"/>
              </a:spcAft>
              <a:defRPr sz="1800" b="1">
                <a:solidFill>
                  <a:srgbClr val="087F8C"/>
                </a:solidFill>
                <a:latin typeface="Aptos"/>
              </a:defRPr>
            </a:pPr>
            <a:r>
              <a:t>origin/main</a:t>
            </a:r>
          </a:p>
        </p:txBody>
      </p:sp>
      <p:sp>
        <p:nvSpPr>
          <p:cNvPr id="18" name="TextBox 17"/>
          <p:cNvSpPr txBox="1"/>
          <p:nvPr/>
        </p:nvSpPr>
        <p:spPr>
          <a:xfrm>
            <a:off x="2880360" y="4709160"/>
            <a:ext cx="2880360" cy="347472"/>
          </a:xfrm>
          <a:prstGeom prst="rect">
            <a:avLst/>
          </a:prstGeom>
          <a:noFill/>
        </p:spPr>
        <p:txBody>
          <a:bodyPr wrap="square" lIns="22860" rIns="22860" tIns="13716" bIns="13716">
            <a:spAutoFit/>
          </a:bodyPr>
          <a:lstStyle/>
          <a:p>
            <a:pPr>
              <a:spcAft>
                <a:spcPts val="0"/>
              </a:spcAft>
              <a:defRPr sz="1800" b="1">
                <a:solidFill>
                  <a:srgbClr val="BD561E"/>
                </a:solidFill>
                <a:latin typeface="Aptos"/>
              </a:defRPr>
            </a:pPr>
            <a:r>
              <a:t>main de B</a:t>
            </a:r>
          </a:p>
        </p:txBody>
      </p:sp>
      <p:sp>
        <p:nvSpPr>
          <p:cNvPr id="19" name="TextBox 18"/>
          <p:cNvSpPr txBox="1"/>
          <p:nvPr/>
        </p:nvSpPr>
        <p:spPr>
          <a:xfrm>
            <a:off x="3108960" y="3977639"/>
            <a:ext cx="2560320" cy="612648"/>
          </a:xfrm>
          <a:prstGeom prst="rect">
            <a:avLst/>
          </a:prstGeom>
          <a:noFill/>
        </p:spPr>
        <p:txBody>
          <a:bodyPr wrap="square" lIns="22860" rIns="22860" tIns="13716" bIns="13716">
            <a:spAutoFit/>
          </a:bodyPr>
          <a:lstStyle/>
          <a:p>
            <a:pPr>
              <a:spcAft>
                <a:spcPts val="0"/>
              </a:spcAft>
              <a:defRPr sz="1700" b="1">
                <a:solidFill>
                  <a:srgbClr val="BD561E"/>
                </a:solidFill>
                <a:latin typeface="Aptos"/>
              </a:defRPr>
            </a:pPr>
            <a:r>
              <a:t>conclusion.txt</a:t>
            </a:r>
          </a:p>
          <a:p>
            <a:pPr>
              <a:spcAft>
                <a:spcPts val="0"/>
              </a:spcAft>
              <a:defRPr sz="1700" b="1">
                <a:solidFill>
                  <a:srgbClr val="BD561E"/>
                </a:solidFill>
                <a:latin typeface="Aptos"/>
              </a:defRPr>
            </a:pPr>
            <a:r>
              <a:t>à résoudre</a:t>
            </a:r>
          </a:p>
        </p:txBody>
      </p:sp>
      <p:sp>
        <p:nvSpPr>
          <p:cNvPr id="20" name="Rectangle 19"/>
          <p:cNvSpPr/>
          <p:nvPr/>
        </p:nvSpPr>
        <p:spPr>
          <a:xfrm>
            <a:off x="6208776" y="2606040"/>
            <a:ext cx="5349240" cy="2852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792" y="2724912"/>
            <a:ext cx="5093208" cy="438912"/>
          </a:xfrm>
          <a:prstGeom prst="rect">
            <a:avLst/>
          </a:prstGeom>
          <a:noFill/>
        </p:spPr>
        <p:txBody>
          <a:bodyPr wrap="square" lIns="22860" rIns="22860" tIns="13716" bIns="13716">
            <a:spAutoFit/>
          </a:bodyPr>
          <a:lstStyle/>
          <a:p>
            <a:pPr>
              <a:spcAft>
                <a:spcPts val="0"/>
              </a:spcAft>
              <a:defRPr sz="2000" b="1">
                <a:solidFill>
                  <a:srgbClr val="142D4E"/>
                </a:solidFill>
                <a:latin typeface="Aptos"/>
              </a:defRPr>
            </a:pPr>
            <a:r>
              <a:t>2 · Résoudre → add → commit</a:t>
            </a:r>
          </a:p>
        </p:txBody>
      </p:sp>
      <p:cxnSp>
        <p:nvCxnSpPr>
          <p:cNvPr id="22" name="Connector 21"/>
          <p:cNvCxnSpPr/>
          <p:nvPr/>
        </p:nvCxnSpPr>
        <p:spPr>
          <a:xfrm flipV="1">
            <a:off x="6803136" y="3630168"/>
            <a:ext cx="1234439" cy="621792"/>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03136" y="4251960"/>
            <a:ext cx="1234439" cy="576072"/>
          </a:xfrm>
          <a:prstGeom prst="line">
            <a:avLst/>
          </a:prstGeom>
          <a:ln w="31750">
            <a:solidFill>
              <a:srgbClr val="BD561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037575" y="3630168"/>
            <a:ext cx="2057401" cy="621792"/>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037575" y="4251960"/>
            <a:ext cx="2057401" cy="576072"/>
          </a:xfrm>
          <a:prstGeom prst="line">
            <a:avLst/>
          </a:prstGeom>
          <a:ln w="31750">
            <a:solidFill>
              <a:srgbClr val="BD561E"/>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6574536" y="4023360"/>
            <a:ext cx="457200" cy="457200"/>
          </a:xfrm>
          <a:prstGeom prst="ellipse">
            <a:avLst/>
          </a:prstGeom>
          <a:solidFill>
            <a:srgbClr val="14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92824" y="4123944"/>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C0</a:t>
            </a:r>
          </a:p>
        </p:txBody>
      </p:sp>
      <p:sp>
        <p:nvSpPr>
          <p:cNvPr id="28" name="Oval 27"/>
          <p:cNvSpPr/>
          <p:nvPr/>
        </p:nvSpPr>
        <p:spPr>
          <a:xfrm>
            <a:off x="7808975" y="3401568"/>
            <a:ext cx="457200" cy="45720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7263" y="3502152"/>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A1</a:t>
            </a:r>
          </a:p>
        </p:txBody>
      </p:sp>
      <p:sp>
        <p:nvSpPr>
          <p:cNvPr id="30" name="Oval 29"/>
          <p:cNvSpPr/>
          <p:nvPr/>
        </p:nvSpPr>
        <p:spPr>
          <a:xfrm>
            <a:off x="7808975" y="4599432"/>
            <a:ext cx="457200" cy="457200"/>
          </a:xfrm>
          <a:prstGeom prst="ellipse">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7263" y="4700016"/>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B1</a:t>
            </a:r>
          </a:p>
        </p:txBody>
      </p:sp>
      <p:sp>
        <p:nvSpPr>
          <p:cNvPr id="32" name="TextBox 31"/>
          <p:cNvSpPr txBox="1"/>
          <p:nvPr/>
        </p:nvSpPr>
        <p:spPr>
          <a:xfrm>
            <a:off x="6409944" y="4572000"/>
            <a:ext cx="868680" cy="274320"/>
          </a:xfrm>
          <a:prstGeom prst="rect">
            <a:avLst/>
          </a:prstGeom>
          <a:noFill/>
        </p:spPr>
        <p:txBody>
          <a:bodyPr wrap="square" lIns="22860" rIns="22860" tIns="13716" bIns="13716">
            <a:spAutoFit/>
          </a:bodyPr>
          <a:lstStyle/>
          <a:p>
            <a:pPr>
              <a:spcAft>
                <a:spcPts val="0"/>
              </a:spcAft>
              <a:defRPr sz="1400" b="0">
                <a:solidFill>
                  <a:srgbClr val="142D4E"/>
                </a:solidFill>
                <a:latin typeface="Aptos"/>
              </a:defRPr>
            </a:pPr>
            <a:r>
              <a:t>départ</a:t>
            </a:r>
          </a:p>
        </p:txBody>
      </p:sp>
      <p:sp>
        <p:nvSpPr>
          <p:cNvPr id="33" name="Oval 32"/>
          <p:cNvSpPr/>
          <p:nvPr/>
        </p:nvSpPr>
        <p:spPr>
          <a:xfrm>
            <a:off x="9866376" y="4023360"/>
            <a:ext cx="457200" cy="457200"/>
          </a:xfrm>
          <a:prstGeom prst="ellipse">
            <a:avLst/>
          </a:prstGeom>
          <a:solidFill>
            <a:srgbClr val="14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84663" y="4123944"/>
            <a:ext cx="420624" cy="292608"/>
          </a:xfrm>
          <a:prstGeom prst="rect">
            <a:avLst/>
          </a:prstGeom>
          <a:noFill/>
        </p:spPr>
        <p:txBody>
          <a:bodyPr wrap="square" lIns="22860" rIns="22860" tIns="13716" bIns="13716">
            <a:spAutoFit/>
          </a:bodyPr>
          <a:lstStyle/>
          <a:p>
            <a:pPr>
              <a:spcAft>
                <a:spcPts val="0"/>
              </a:spcAft>
              <a:defRPr sz="1600" b="1">
                <a:solidFill>
                  <a:srgbClr val="FFFFFF"/>
                </a:solidFill>
                <a:latin typeface="Aptos"/>
              </a:defRPr>
            </a:pPr>
            <a:r>
              <a:t>M</a:t>
            </a:r>
          </a:p>
        </p:txBody>
      </p:sp>
      <p:sp>
        <p:nvSpPr>
          <p:cNvPr id="35" name="TextBox 34"/>
          <p:cNvSpPr txBox="1"/>
          <p:nvPr/>
        </p:nvSpPr>
        <p:spPr>
          <a:xfrm>
            <a:off x="7397496" y="3099816"/>
            <a:ext cx="2011680" cy="301752"/>
          </a:xfrm>
          <a:prstGeom prst="rect">
            <a:avLst/>
          </a:prstGeom>
          <a:noFill/>
        </p:spPr>
        <p:txBody>
          <a:bodyPr wrap="square" lIns="22860" rIns="22860" tIns="13716" bIns="13716">
            <a:spAutoFit/>
          </a:bodyPr>
          <a:lstStyle/>
          <a:p>
            <a:pPr>
              <a:spcAft>
                <a:spcPts val="0"/>
              </a:spcAft>
              <a:defRPr sz="1600" b="1">
                <a:solidFill>
                  <a:srgbClr val="087F8C"/>
                </a:solidFill>
                <a:latin typeface="Aptos"/>
              </a:defRPr>
            </a:pPr>
            <a:r>
              <a:t>origin/main</a:t>
            </a:r>
          </a:p>
        </p:txBody>
      </p:sp>
      <p:sp>
        <p:nvSpPr>
          <p:cNvPr id="36" name="TextBox 35"/>
          <p:cNvSpPr txBox="1"/>
          <p:nvPr/>
        </p:nvSpPr>
        <p:spPr>
          <a:xfrm>
            <a:off x="9500616" y="4709160"/>
            <a:ext cx="1874519" cy="320040"/>
          </a:xfrm>
          <a:prstGeom prst="rect">
            <a:avLst/>
          </a:prstGeom>
          <a:noFill/>
        </p:spPr>
        <p:txBody>
          <a:bodyPr wrap="square" lIns="22860" rIns="22860" tIns="13716" bIns="13716">
            <a:spAutoFit/>
          </a:bodyPr>
          <a:lstStyle/>
          <a:p>
            <a:pPr>
              <a:spcAft>
                <a:spcPts val="0"/>
              </a:spcAft>
              <a:defRPr sz="1700" b="1">
                <a:solidFill>
                  <a:srgbClr val="BD561E"/>
                </a:solidFill>
                <a:latin typeface="Aptos"/>
              </a:defRPr>
            </a:pPr>
            <a:r>
              <a:t>main de B</a:t>
            </a:r>
          </a:p>
        </p:txBody>
      </p:sp>
      <p:sp>
        <p:nvSpPr>
          <p:cNvPr id="37" name="TextBox 36"/>
          <p:cNvSpPr txBox="1"/>
          <p:nvPr/>
        </p:nvSpPr>
        <p:spPr>
          <a:xfrm>
            <a:off x="9555480" y="5056632"/>
            <a:ext cx="1783080" cy="292608"/>
          </a:xfrm>
          <a:prstGeom prst="rect">
            <a:avLst/>
          </a:prstGeom>
          <a:noFill/>
        </p:spPr>
        <p:txBody>
          <a:bodyPr wrap="square" lIns="22860" rIns="22860" tIns="13716" bIns="13716">
            <a:spAutoFit/>
          </a:bodyPr>
          <a:lstStyle/>
          <a:p>
            <a:pPr>
              <a:spcAft>
                <a:spcPts val="0"/>
              </a:spcAft>
              <a:defRPr sz="1600" b="0">
                <a:solidFill>
                  <a:srgbClr val="142D4E"/>
                </a:solidFill>
                <a:latin typeface="Aptos"/>
              </a:defRPr>
            </a:pPr>
            <a:r>
              <a:t>2 parents</a:t>
            </a:r>
          </a:p>
        </p:txBody>
      </p:sp>
      <p:sp>
        <p:nvSpPr>
          <p:cNvPr id="38" name="Rectangle 3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M a deux parents. origin/main reste sur A1 jusqu’au Push réussi de B, qui publie M.</a:t>
            </a:r>
          </a:p>
        </p:txBody>
      </p:sp>
      <p:sp>
        <p:nvSpPr>
          <p:cNvPr id="40" name="TextBox 3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41" name="TextBox 4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EG01</a:t>
            </a:r>
          </a:p>
        </p:txBody>
      </p:sp>
      <p:sp>
        <p:nvSpPr>
          <p:cNvPr id="42"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43" name="TextBox 4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60 / 73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EG01 · EXEMPLE À LIRE · FUSION EN COURS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Vérifier la fusion avant de publier</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20240"/>
            <a:ext cx="7287768" cy="358444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03120"/>
            <a:ext cx="6976872" cy="3291840"/>
          </a:xfrm>
          <a:prstGeom prst="rect">
            <a:avLst/>
          </a:prstGeom>
          <a:noFill/>
        </p:spPr>
        <p:txBody>
          <a:bodyPr wrap="square" lIns="22860" rIns="22860" tIns="13716" bIns="13716">
            <a:spAutoFit/>
          </a:bodyPr>
          <a:lstStyle/>
          <a:p>
            <a:pPr>
              <a:spcAft>
                <a:spcPts val="400"/>
              </a:spcAft>
              <a:defRPr sz="1900" b="0">
                <a:solidFill>
                  <a:srgbClr val="22364C"/>
                </a:solidFill>
                <a:latin typeface="DejaVu Sans Mono"/>
              </a:defRPr>
            </a:pPr>
            <a:r>
              <a:t>git status</a:t>
            </a:r>
          </a:p>
          <a:p>
            <a:pPr>
              <a:spcAft>
                <a:spcPts val="400"/>
              </a:spcAft>
              <a:defRPr sz="1900" b="0">
                <a:solidFill>
                  <a:srgbClr val="22364C"/>
                </a:solidFill>
                <a:latin typeface="DejaVu Sans Mono"/>
              </a:defRPr>
            </a:pPr>
            <a:r>
              <a:t>git diff --check</a:t>
            </a:r>
          </a:p>
          <a:p>
            <a:pPr>
              <a:spcAft>
                <a:spcPts val="400"/>
              </a:spcAft>
              <a:defRPr sz="1900" b="0">
                <a:solidFill>
                  <a:srgbClr val="22364C"/>
                </a:solidFill>
                <a:latin typeface="DejaVu Sans Mono"/>
              </a:defRPr>
            </a:pPr>
            <a:r>
              <a:t>git add conclusion.txt</a:t>
            </a:r>
          </a:p>
          <a:p>
            <a:pPr>
              <a:spcAft>
                <a:spcPts val="400"/>
              </a:spcAft>
              <a:defRPr sz="1900" b="0">
                <a:solidFill>
                  <a:srgbClr val="22364C"/>
                </a:solidFill>
                <a:latin typeface="DejaVu Sans Mono"/>
              </a:defRPr>
            </a:pPr>
            <a:r>
              <a:t>git diff --staged</a:t>
            </a:r>
          </a:p>
          <a:p>
            <a:pPr>
              <a:spcAft>
                <a:spcPts val="400"/>
              </a:spcAft>
              <a:defRPr sz="1900" b="0">
                <a:solidFill>
                  <a:srgbClr val="22364C"/>
                </a:solidFill>
                <a:latin typeface="DejaVu Sans Mono"/>
              </a:defRPr>
            </a:pPr>
            <a:r>
              <a:t>git commit -m "Resolve documentation conflict"</a:t>
            </a:r>
          </a:p>
          <a:p>
            <a:pPr>
              <a:spcAft>
                <a:spcPts val="400"/>
              </a:spcAft>
              <a:defRPr sz="1900" b="0">
                <a:solidFill>
                  <a:srgbClr val="22364C"/>
                </a:solidFill>
                <a:latin typeface="DejaVu Sans Mono"/>
              </a:defRPr>
            </a:pPr>
            <a:r>
              <a:t>git status</a:t>
            </a:r>
          </a:p>
          <a:p>
            <a:pPr>
              <a:spcAft>
                <a:spcPts val="400"/>
              </a:spcAft>
              <a:defRPr sz="1900" b="0">
                <a:solidFill>
                  <a:srgbClr val="22364C"/>
                </a:solidFill>
                <a:latin typeface="DejaVu Sans Mono"/>
              </a:defRPr>
            </a:pPr>
            <a:r>
              <a:t>git log -1 --oneline</a:t>
            </a:r>
          </a:p>
          <a:p>
            <a:pPr>
              <a:spcAft>
                <a:spcPts val="400"/>
              </a:spcAft>
              <a:defRPr sz="1900" b="0">
                <a:solidFill>
                  <a:srgbClr val="22364C"/>
                </a:solidFill>
                <a:latin typeface="DejaVu Sans Mono"/>
              </a:defRPr>
            </a:pPr>
            <a:r>
              <a:t># After content review and local checks</a:t>
            </a:r>
          </a:p>
          <a:p>
            <a:pPr>
              <a:spcAft>
                <a:spcPts val="400"/>
              </a:spcAft>
              <a:defRPr sz="1900" b="0">
                <a:solidFill>
                  <a:srgbClr val="22364C"/>
                </a:solidFill>
                <a:latin typeface="DejaVu Sans Mono"/>
              </a:defRPr>
            </a:pPr>
            <a:r>
              <a:t>git push</a:t>
            </a:r>
          </a:p>
        </p:txBody>
      </p:sp>
      <p:sp>
        <p:nvSpPr>
          <p:cNvPr id="7" name="TextBox 6"/>
          <p:cNvSpPr txBox="1"/>
          <p:nvPr/>
        </p:nvSpPr>
        <p:spPr>
          <a:xfrm>
            <a:off x="8110727" y="2029968"/>
            <a:ext cx="3447288" cy="3401568"/>
          </a:xfrm>
          <a:prstGeom prst="rect">
            <a:avLst/>
          </a:prstGeom>
          <a:noFill/>
        </p:spPr>
        <p:txBody>
          <a:bodyPr wrap="square" lIns="22860" rIns="22860" tIns="13716" bIns="13716">
            <a:spAutoFit/>
          </a:bodyPr>
          <a:lstStyle/>
          <a:p>
            <a:pPr>
              <a:spcAft>
                <a:spcPts val="1300"/>
              </a:spcAft>
              <a:defRPr sz="2200" b="0">
                <a:solidFill>
                  <a:srgbClr val="22364C"/>
                </a:solidFill>
                <a:latin typeface="Aptos"/>
              </a:defRPr>
            </a:pPr>
            <a:r>
              <a:t>Avant commit : relire les changements préparés.</a:t>
            </a:r>
          </a:p>
          <a:p>
            <a:pPr>
              <a:spcAft>
                <a:spcPts val="1300"/>
              </a:spcAft>
              <a:defRPr sz="2200" b="0">
                <a:solidFill>
                  <a:srgbClr val="22364C"/>
                </a:solidFill>
                <a:latin typeface="Aptos"/>
              </a:defRPr>
            </a:pPr>
            <a:r>
              <a:t>Après commit : vérifier la fin de fusion et l’absence de conflits.</a:t>
            </a:r>
          </a:p>
          <a:p>
            <a:pPr>
              <a:spcAft>
                <a:spcPts val="1300"/>
              </a:spcAft>
              <a:defRPr sz="2200" b="0">
                <a:solidFill>
                  <a:srgbClr val="22364C"/>
                </a:solidFill>
                <a:latin typeface="Aptos"/>
              </a:defRPr>
            </a:pPr>
            <a:r>
              <a:t>Puis publier.</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Préconditions : conclusion.txt résolu et enregistré ; dépôt configuré, branche suivie sur le distant.</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EG01</a:t>
            </a:r>
          </a:p>
        </p:txBody>
      </p:sp>
      <p:sp>
        <p:nvSpPr>
          <p:cNvPr id="12"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61 / 73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À VOUS · AUTRE CONFLIT DANS analyse.txt</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Terminer la fusion, puis publier</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170432"/>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91440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Fusion arrêtée dans analyse.txt : conserver « préciser la période » et « citer la source ».</a:t>
            </a:r>
          </a:p>
          <a:p>
            <a:pPr>
              <a:spcAft>
                <a:spcPts val="100"/>
              </a:spcAft>
              <a:defRPr sz="2200" b="0">
                <a:solidFill>
                  <a:srgbClr val="22364C"/>
                </a:solidFill>
                <a:latin typeface="Aptos"/>
              </a:defRPr>
            </a:pPr>
            <a:r>
              <a:t>Le fichier est modifié et enregistré.</a:t>
            </a:r>
          </a:p>
        </p:txBody>
      </p:sp>
      <p:sp>
        <p:nvSpPr>
          <p:cNvPr id="7" name="TextBox 6"/>
          <p:cNvSpPr txBox="1"/>
          <p:nvPr/>
        </p:nvSpPr>
        <p:spPr>
          <a:xfrm>
            <a:off x="658368" y="33375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1</a:t>
            </a:r>
          </a:p>
        </p:txBody>
      </p:sp>
      <p:sp>
        <p:nvSpPr>
          <p:cNvPr id="8" name="TextBox 7"/>
          <p:cNvSpPr txBox="1"/>
          <p:nvPr/>
        </p:nvSpPr>
        <p:spPr>
          <a:xfrm>
            <a:off x="1207008" y="33284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Rédigez la phrase finale.</a:t>
            </a:r>
          </a:p>
        </p:txBody>
      </p:sp>
      <p:sp>
        <p:nvSpPr>
          <p:cNvPr id="9" name="TextBox 8"/>
          <p:cNvSpPr txBox="1"/>
          <p:nvPr/>
        </p:nvSpPr>
        <p:spPr>
          <a:xfrm>
            <a:off x="658368" y="40233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2</a:t>
            </a:r>
          </a:p>
        </p:txBody>
      </p:sp>
      <p:sp>
        <p:nvSpPr>
          <p:cNvPr id="10" name="TextBox 9"/>
          <p:cNvSpPr txBox="1"/>
          <p:nvPr/>
        </p:nvSpPr>
        <p:spPr>
          <a:xfrm>
            <a:off x="1207008" y="40142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Quelles vérifications et étapes restent avant publication ?</a:t>
            </a:r>
          </a:p>
        </p:txBody>
      </p:sp>
      <p:sp>
        <p:nvSpPr>
          <p:cNvPr id="11" name="TextBox 10"/>
          <p:cNvSpPr txBox="1"/>
          <p:nvPr/>
        </p:nvSpPr>
        <p:spPr>
          <a:xfrm>
            <a:off x="658368" y="47091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3</a:t>
            </a:r>
          </a:p>
        </p:txBody>
      </p:sp>
      <p:sp>
        <p:nvSpPr>
          <p:cNvPr id="12" name="TextBox 11"/>
          <p:cNvSpPr txBox="1"/>
          <p:nvPr/>
        </p:nvSpPr>
        <p:spPr>
          <a:xfrm>
            <a:off x="1207008" y="47000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Deux chemins divergents dans le graphe prouvent-ils un conflit de contenu ?</a:t>
            </a:r>
          </a:p>
        </p:txBody>
      </p:sp>
      <p:sp>
        <p:nvSpPr>
          <p:cNvPr id="13" name="Rectangle 12"/>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Vous pouvez répondre en français, sans exécuter de commandes.</a:t>
            </a:r>
          </a:p>
        </p:txBody>
      </p:sp>
      <p:sp>
        <p:nvSpPr>
          <p:cNvPr id="15" name="TextBox 14"/>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6" name="TextBox 15"/>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EG01</a:t>
            </a:r>
          </a:p>
        </p:txBody>
      </p:sp>
      <p:sp>
        <p:nvSpPr>
          <p:cNvPr id="17"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8" name="TextBox 17"/>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62 / 73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42D4E"/>
        </a:solidFill>
        <a:effectLst/>
      </p:bgPr>
    </p:bg>
    <p:spTree>
      <p:nvGrpSpPr>
        <p:cNvPr id="1" name=""/>
        <p:cNvGrpSpPr/>
        <p:nvPr/>
      </p:nvGrpSpPr>
      <p:grpSpPr/>
      <p:sp>
        <p:nvSpPr>
          <p:cNvPr id="2" name="TextBox 1"/>
          <p:cNvSpPr txBox="1"/>
          <p:nvPr/>
        </p:nvSpPr>
        <p:spPr>
          <a:xfrm>
            <a:off x="777240" y="777240"/>
            <a:ext cx="10698480" cy="457200"/>
          </a:xfrm>
          <a:prstGeom prst="rect">
            <a:avLst/>
          </a:prstGeom>
          <a:noFill/>
        </p:spPr>
        <p:txBody>
          <a:bodyPr wrap="square" lIns="22860" rIns="22860" tIns="13716" bIns="13716">
            <a:spAutoFit/>
          </a:bodyPr>
          <a:lstStyle/>
          <a:p>
            <a:pPr>
              <a:spcAft>
                <a:spcPts val="800"/>
              </a:spcAft>
              <a:defRPr sz="1700" b="1">
                <a:solidFill>
                  <a:srgbClr val="B8DCE8"/>
                </a:solidFill>
                <a:latin typeface="Aptos"/>
              </a:defRPr>
            </a:pPr>
            <a:r>
              <a:t>REPÈRE DU BILAN · NOTION NOUVELLE</a:t>
            </a:r>
          </a:p>
        </p:txBody>
      </p:sp>
      <p:sp>
        <p:nvSpPr>
          <p:cNvPr id="3" name="Rectangle 2"/>
          <p:cNvSpPr/>
          <p:nvPr/>
        </p:nvSpPr>
        <p:spPr>
          <a:xfrm>
            <a:off x="804672" y="1481328"/>
            <a:ext cx="960120" cy="54864"/>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38528"/>
            <a:ext cx="10607040" cy="1783080"/>
          </a:xfrm>
          <a:prstGeom prst="rect">
            <a:avLst/>
          </a:prstGeom>
          <a:noFill/>
        </p:spPr>
        <p:txBody>
          <a:bodyPr wrap="square" lIns="22860" rIns="22860" tIns="13716" bIns="13716">
            <a:spAutoFit/>
          </a:bodyPr>
          <a:lstStyle/>
          <a:p>
            <a:pPr>
              <a:spcAft>
                <a:spcPts val="800"/>
              </a:spcAft>
              <a:defRPr sz="4300" b="1">
                <a:solidFill>
                  <a:srgbClr val="FFFFFF"/>
                </a:solidFill>
                <a:latin typeface="Aptos"/>
              </a:defRPr>
            </a:pPr>
            <a:r>
              <a:t>Q10 / E03 · Découvrir R²</a:t>
            </a:r>
          </a:p>
        </p:txBody>
      </p:sp>
      <p:sp>
        <p:nvSpPr>
          <p:cNvPr id="5" name="TextBox 4"/>
          <p:cNvSpPr txBox="1"/>
          <p:nvPr/>
        </p:nvSpPr>
        <p:spPr>
          <a:xfrm>
            <a:off x="804672" y="4251960"/>
            <a:ext cx="9966960" cy="1188720"/>
          </a:xfrm>
          <a:prstGeom prst="rect">
            <a:avLst/>
          </a:prstGeom>
          <a:noFill/>
        </p:spPr>
        <p:txBody>
          <a:bodyPr wrap="square" lIns="22860" rIns="22860" tIns="13716" bIns="13716">
            <a:spAutoFit/>
          </a:bodyPr>
          <a:lstStyle/>
          <a:p>
            <a:pPr>
              <a:spcAft>
                <a:spcPts val="800"/>
              </a:spcAft>
              <a:defRPr sz="2500" b="0">
                <a:solidFill>
                  <a:srgbClr val="D7E7EF"/>
                </a:solidFill>
                <a:latin typeface="Aptos"/>
              </a:defRPr>
            </a:pPr>
            <a:r>
              <a:t>Dans le corrigé : Q10 / E03 · partie R² uniquement : découverte.</a:t>
            </a:r>
          </a:p>
          <a:p>
            <a:pPr>
              <a:spcAft>
                <a:spcPts val="800"/>
              </a:spcAft>
              <a:defRPr sz="2500" b="0">
                <a:solidFill>
                  <a:srgbClr val="D7E7EF"/>
                </a:solidFill>
                <a:latin typeface="Aptos"/>
              </a:defRPr>
            </a:pPr>
            <a:r>
              <a:t>Théorie, exemples et questions.</a:t>
            </a:r>
          </a:p>
        </p:txBody>
      </p:sp>
      <p:sp>
        <p:nvSpPr>
          <p:cNvPr id="6" name="TextBox 5"/>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B8DCE8"/>
                </a:solidFill>
                <a:latin typeface="Aptos"/>
              </a:defRPr>
            </a:pPr>
            <a:r>
              <a:t>OLIVIER DELRIEU  /  13.10.2026  /  BROUILLON</a:t>
            </a:r>
          </a:p>
        </p:txBody>
      </p:sp>
      <p:sp>
        <p:nvSpPr>
          <p:cNvPr id="7" name="TextBox 6"/>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B8DCE8"/>
                </a:solidFill>
                <a:latin typeface="Aptos"/>
              </a:defRPr>
            </a:pPr>
            <a:r>
              <a:t>Q10 / E03 · R²</a:t>
            </a:r>
          </a:p>
        </p:txBody>
      </p:sp>
      <p:sp>
        <p:nvSpPr>
          <p:cNvPr id="8"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B8DCE8"/>
                </a:solidFill>
                <a:latin typeface="Aptos"/>
              </a:defRPr>
            </a:pPr>
            <a:r>
              <a:t>Sommaire</a:t>
            </a:r>
          </a:p>
        </p:txBody>
      </p:sp>
      <p:sp>
        <p:nvSpPr>
          <p:cNvPr id="9" name="TextBox 8"/>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B8DCE8"/>
                </a:solidFill>
                <a:latin typeface="Aptos"/>
              </a:defRPr>
            </a:pPr>
            <a:r>
              <a:t>63 / 73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NOTION NOUVELLE · THÉORIE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R² · Comparer le modèle à une référence simple</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Référence</a:t>
            </a:r>
          </a:p>
        </p:txBody>
      </p:sp>
      <p:sp>
        <p:nvSpPr>
          <p:cNvPr id="7" name="TextBox 6"/>
          <p:cNvSpPr txBox="1"/>
          <p:nvPr/>
        </p:nvSpPr>
        <p:spPr>
          <a:xfrm>
            <a:off x="749808"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Prédire la même valeur pour tous : la moyenne des valeurs observées dans l’ensemble évalué.</a:t>
            </a:r>
          </a:p>
        </p:txBody>
      </p:sp>
      <p:sp>
        <p:nvSpPr>
          <p:cNvPr id="8" name="Rectangle 7"/>
          <p:cNvSpPr/>
          <p:nvPr/>
        </p:nvSpPr>
        <p:spPr>
          <a:xfrm>
            <a:off x="6176772"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2220"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Mesure</a:t>
            </a:r>
          </a:p>
        </p:txBody>
      </p:sp>
      <p:sp>
        <p:nvSpPr>
          <p:cNvPr id="10" name="TextBox 9"/>
          <p:cNvSpPr txBox="1"/>
          <p:nvPr/>
        </p:nvSpPr>
        <p:spPr>
          <a:xfrm>
            <a:off x="6332220"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Comparer les sommes d’erreurs au carré. R² = 1 − erreur du modèle / erreur de la référence.</a:t>
            </a:r>
          </a:p>
        </p:txBody>
      </p:sp>
      <p:sp>
        <p:nvSpPr>
          <p:cNvPr id="11" name="Rectangle 10"/>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Calculer sur les mêmes observations et la même cible. R² est sans unité.</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Q10 / E03 · R²</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64 / 73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R² · EXEMPLE GUIDÉ · 1. CALCULER LES RÉSIDUS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Résidu = observé − prédit</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67512"/>
          </a:xfrm>
          <a:prstGeom prst="rect">
            <a:avLst/>
          </a:prstGeom>
          <a:noFill/>
        </p:spPr>
        <p:txBody>
          <a:bodyPr wrap="square" lIns="22860" rIns="22860" tIns="13716" bIns="13716">
            <a:spAutoFit/>
          </a:bodyPr>
          <a:lstStyle/>
          <a:p>
            <a:pPr>
              <a:spcAft>
                <a:spcPts val="300"/>
              </a:spcAft>
              <a:defRPr sz="2100" b="0">
                <a:solidFill>
                  <a:srgbClr val="22364C"/>
                </a:solidFill>
                <a:latin typeface="Aptos"/>
              </a:defRPr>
            </a:pPr>
            <a:r>
              <a:t>Nouvel exemple : quatre achats de quatre clients. Droite ajustée : montant prédit = 7 + 0,8 × âge.</a:t>
            </a:r>
          </a:p>
        </p:txBody>
      </p:sp>
      <p:graphicFrame>
        <p:nvGraphicFramePr>
          <p:cNvPr id="6" name="Table 5"/>
          <p:cNvGraphicFramePr>
            <a:graphicFrameLocks noGrp="1"/>
          </p:cNvGraphicFramePr>
          <p:nvPr/>
        </p:nvGraphicFramePr>
        <p:xfrm>
          <a:off x="621792" y="2688336"/>
          <a:ext cx="10927080" cy="2734056"/>
        </p:xfrm>
        <a:graphic>
          <a:graphicData uri="http://schemas.openxmlformats.org/drawingml/2006/table">
            <a:tbl>
              <a:tblPr firstRow="1" bandRow="1">
                <a:tableStyleId>{5C22544A-7EE6-4342-B048-85BDC9FD1C3A}</a:tableStyleId>
              </a:tblPr>
              <a:tblGrid>
                <a:gridCol w="2731770"/>
                <a:gridCol w="2731770"/>
                <a:gridCol w="2731770"/>
                <a:gridCol w="2731770"/>
              </a:tblGrid>
              <a:tr h="594360">
                <a:tc>
                  <a:txBody>
                    <a:bodyPr/>
                    <a:lstStyle/>
                    <a:p>
                      <a:pPr>
                        <a:defRPr sz="2200" b="1">
                          <a:solidFill>
                            <a:srgbClr val="FFFFFF"/>
                          </a:solidFill>
                          <a:latin typeface="Aptos"/>
                        </a:defRPr>
                      </a:pPr>
                      <a:r>
                        <a:t>Âge</a:t>
                      </a:r>
                    </a:p>
                  </a:txBody>
                  <a:tcPr marL="109728" marR="109728" marT="54864" marB="54864">
                    <a:solidFill>
                      <a:srgbClr val="142D4E"/>
                    </a:solidFill>
                  </a:tcPr>
                </a:tc>
                <a:tc>
                  <a:txBody>
                    <a:bodyPr/>
                    <a:lstStyle/>
                    <a:p>
                      <a:pPr>
                        <a:defRPr sz="2200" b="1">
                          <a:solidFill>
                            <a:srgbClr val="FFFFFF"/>
                          </a:solidFill>
                          <a:latin typeface="Aptos"/>
                        </a:defRPr>
                      </a:pPr>
                      <a:r>
                        <a:t>Observé</a:t>
                      </a:r>
                    </a:p>
                  </a:txBody>
                  <a:tcPr marL="109728" marR="109728" marT="54864" marB="54864">
                    <a:solidFill>
                      <a:srgbClr val="142D4E"/>
                    </a:solidFill>
                  </a:tcPr>
                </a:tc>
                <a:tc>
                  <a:txBody>
                    <a:bodyPr/>
                    <a:lstStyle/>
                    <a:p>
                      <a:pPr>
                        <a:defRPr sz="2200" b="1">
                          <a:solidFill>
                            <a:srgbClr val="FFFFFF"/>
                          </a:solidFill>
                          <a:latin typeface="Aptos"/>
                        </a:defRPr>
                      </a:pPr>
                      <a:r>
                        <a:t>Prédit</a:t>
                      </a:r>
                    </a:p>
                  </a:txBody>
                  <a:tcPr marL="109728" marR="109728" marT="54864" marB="54864">
                    <a:solidFill>
                      <a:srgbClr val="142D4E"/>
                    </a:solidFill>
                  </a:tcPr>
                </a:tc>
                <a:tc>
                  <a:txBody>
                    <a:bodyPr/>
                    <a:lstStyle/>
                    <a:p>
                      <a:pPr>
                        <a:defRPr sz="2200" b="1">
                          <a:solidFill>
                            <a:srgbClr val="FFFFFF"/>
                          </a:solidFill>
                          <a:latin typeface="Aptos"/>
                        </a:defRPr>
                      </a:pPr>
                      <a:r>
                        <a:t>Résidu</a:t>
                      </a:r>
                    </a:p>
                  </a:txBody>
                  <a:tcPr marL="109728" marR="109728" marT="54864" marB="54864">
                    <a:solidFill>
                      <a:srgbClr val="142D4E"/>
                    </a:solidFill>
                  </a:tcPr>
                </a:tc>
              </a:tr>
              <a:tr h="534924">
                <a:tc>
                  <a:txBody>
                    <a:bodyPr/>
                    <a:lstStyle/>
                    <a:p>
                      <a:pPr>
                        <a:defRPr sz="2200" b="0">
                          <a:solidFill>
                            <a:srgbClr val="22364C"/>
                          </a:solidFill>
                          <a:latin typeface="Aptos"/>
                        </a:defRPr>
                      </a:pPr>
                      <a:r>
                        <a:t>20 ans</a:t>
                      </a:r>
                    </a:p>
                  </a:txBody>
                  <a:tcPr marL="109728" marR="109728" marT="54864" marB="54864">
                    <a:solidFill>
                      <a:srgbClr val="EFF4F9"/>
                    </a:solidFill>
                  </a:tcPr>
                </a:tc>
                <a:tc>
                  <a:txBody>
                    <a:bodyPr/>
                    <a:lstStyle/>
                    <a:p>
                      <a:pPr>
                        <a:defRPr sz="2200" b="0">
                          <a:solidFill>
                            <a:srgbClr val="22364C"/>
                          </a:solidFill>
                          <a:latin typeface="Aptos"/>
                        </a:defRPr>
                      </a:pPr>
                      <a:r>
                        <a:t>20 €</a:t>
                      </a:r>
                    </a:p>
                  </a:txBody>
                  <a:tcPr marL="109728" marR="109728" marT="54864" marB="54864">
                    <a:solidFill>
                      <a:srgbClr val="EFF4F9"/>
                    </a:solidFill>
                  </a:tcPr>
                </a:tc>
                <a:tc>
                  <a:txBody>
                    <a:bodyPr/>
                    <a:lstStyle/>
                    <a:p>
                      <a:pPr>
                        <a:defRPr sz="2200" b="0">
                          <a:solidFill>
                            <a:srgbClr val="22364C"/>
                          </a:solidFill>
                          <a:latin typeface="Aptos"/>
                        </a:defRPr>
                      </a:pPr>
                      <a:r>
                        <a:t>23 €</a:t>
                      </a:r>
                    </a:p>
                  </a:txBody>
                  <a:tcPr marL="109728" marR="109728" marT="54864" marB="54864">
                    <a:solidFill>
                      <a:srgbClr val="EFF4F9"/>
                    </a:solidFill>
                  </a:tcPr>
                </a:tc>
                <a:tc>
                  <a:txBody>
                    <a:bodyPr/>
                    <a:lstStyle/>
                    <a:p>
                      <a:pPr>
                        <a:defRPr sz="2200" b="0">
                          <a:solidFill>
                            <a:srgbClr val="22364C"/>
                          </a:solidFill>
                          <a:latin typeface="Aptos"/>
                        </a:defRPr>
                      </a:pPr>
                      <a:r>
                        <a:t>−3 €</a:t>
                      </a:r>
                    </a:p>
                  </a:txBody>
                  <a:tcPr marL="109728" marR="109728" marT="54864" marB="54864">
                    <a:solidFill>
                      <a:srgbClr val="EFF4F9"/>
                    </a:solidFill>
                  </a:tcPr>
                </a:tc>
              </a:tr>
              <a:tr h="534924">
                <a:tc>
                  <a:txBody>
                    <a:bodyPr/>
                    <a:lstStyle/>
                    <a:p>
                      <a:pPr>
                        <a:defRPr sz="2200" b="0">
                          <a:solidFill>
                            <a:srgbClr val="22364C"/>
                          </a:solidFill>
                          <a:latin typeface="Aptos"/>
                        </a:defRPr>
                      </a:pPr>
                      <a:r>
                        <a:t>30 ans</a:t>
                      </a:r>
                    </a:p>
                  </a:txBody>
                  <a:tcPr marL="109728" marR="109728" marT="54864" marB="54864">
                    <a:solidFill>
                      <a:srgbClr val="FFFFFF"/>
                    </a:solidFill>
                  </a:tcPr>
                </a:tc>
                <a:tc>
                  <a:txBody>
                    <a:bodyPr/>
                    <a:lstStyle/>
                    <a:p>
                      <a:pPr>
                        <a:defRPr sz="2200" b="0">
                          <a:solidFill>
                            <a:srgbClr val="22364C"/>
                          </a:solidFill>
                          <a:latin typeface="Aptos"/>
                        </a:defRPr>
                      </a:pPr>
                      <a:r>
                        <a:t>40 €</a:t>
                      </a:r>
                    </a:p>
                  </a:txBody>
                  <a:tcPr marL="109728" marR="109728" marT="54864" marB="54864">
                    <a:solidFill>
                      <a:srgbClr val="FFFFFF"/>
                    </a:solidFill>
                  </a:tcPr>
                </a:tc>
                <a:tc>
                  <a:txBody>
                    <a:bodyPr/>
                    <a:lstStyle/>
                    <a:p>
                      <a:pPr>
                        <a:defRPr sz="2200" b="0">
                          <a:solidFill>
                            <a:srgbClr val="22364C"/>
                          </a:solidFill>
                          <a:latin typeface="Aptos"/>
                        </a:defRPr>
                      </a:pPr>
                      <a:r>
                        <a:t>31 €</a:t>
                      </a:r>
                    </a:p>
                  </a:txBody>
                  <a:tcPr marL="109728" marR="109728" marT="54864" marB="54864">
                    <a:solidFill>
                      <a:srgbClr val="FFFFFF"/>
                    </a:solidFill>
                  </a:tcPr>
                </a:tc>
                <a:tc>
                  <a:txBody>
                    <a:bodyPr/>
                    <a:lstStyle/>
                    <a:p>
                      <a:pPr>
                        <a:defRPr sz="2200" b="0">
                          <a:solidFill>
                            <a:srgbClr val="22364C"/>
                          </a:solidFill>
                          <a:latin typeface="Aptos"/>
                        </a:defRPr>
                      </a:pPr>
                      <a:r>
                        <a:t>+9 €</a:t>
                      </a:r>
                    </a:p>
                  </a:txBody>
                  <a:tcPr marL="109728" marR="109728" marT="54864" marB="54864">
                    <a:solidFill>
                      <a:srgbClr val="FFFFFF"/>
                    </a:solidFill>
                  </a:tcPr>
                </a:tc>
              </a:tr>
              <a:tr h="534924">
                <a:tc>
                  <a:txBody>
                    <a:bodyPr/>
                    <a:lstStyle/>
                    <a:p>
                      <a:pPr>
                        <a:defRPr sz="2200" b="0">
                          <a:solidFill>
                            <a:srgbClr val="22364C"/>
                          </a:solidFill>
                          <a:latin typeface="Aptos"/>
                        </a:defRPr>
                      </a:pPr>
                      <a:r>
                        <a:t>40 ans</a:t>
                      </a:r>
                    </a:p>
                  </a:txBody>
                  <a:tcPr marL="109728" marR="109728" marT="54864" marB="54864">
                    <a:solidFill>
                      <a:srgbClr val="EFF4F9"/>
                    </a:solidFill>
                  </a:tcPr>
                </a:tc>
                <a:tc>
                  <a:txBody>
                    <a:bodyPr/>
                    <a:lstStyle/>
                    <a:p>
                      <a:pPr>
                        <a:defRPr sz="2200" b="0">
                          <a:solidFill>
                            <a:srgbClr val="22364C"/>
                          </a:solidFill>
                          <a:latin typeface="Aptos"/>
                        </a:defRPr>
                      </a:pPr>
                      <a:r>
                        <a:t>30 €</a:t>
                      </a:r>
                    </a:p>
                  </a:txBody>
                  <a:tcPr marL="109728" marR="109728" marT="54864" marB="54864">
                    <a:solidFill>
                      <a:srgbClr val="EFF4F9"/>
                    </a:solidFill>
                  </a:tcPr>
                </a:tc>
                <a:tc>
                  <a:txBody>
                    <a:bodyPr/>
                    <a:lstStyle/>
                    <a:p>
                      <a:pPr>
                        <a:defRPr sz="2200" b="0">
                          <a:solidFill>
                            <a:srgbClr val="22364C"/>
                          </a:solidFill>
                          <a:latin typeface="Aptos"/>
                        </a:defRPr>
                      </a:pPr>
                      <a:r>
                        <a:t>39 €</a:t>
                      </a:r>
                    </a:p>
                  </a:txBody>
                  <a:tcPr marL="109728" marR="109728" marT="54864" marB="54864">
                    <a:solidFill>
                      <a:srgbClr val="EFF4F9"/>
                    </a:solidFill>
                  </a:tcPr>
                </a:tc>
                <a:tc>
                  <a:txBody>
                    <a:bodyPr/>
                    <a:lstStyle/>
                    <a:p>
                      <a:pPr>
                        <a:defRPr sz="2200" b="0">
                          <a:solidFill>
                            <a:srgbClr val="22364C"/>
                          </a:solidFill>
                          <a:latin typeface="Aptos"/>
                        </a:defRPr>
                      </a:pPr>
                      <a:r>
                        <a:t>−9 €</a:t>
                      </a:r>
                    </a:p>
                  </a:txBody>
                  <a:tcPr marL="109728" marR="109728" marT="54864" marB="54864">
                    <a:solidFill>
                      <a:srgbClr val="EFF4F9"/>
                    </a:solidFill>
                  </a:tcPr>
                </a:tc>
              </a:tr>
              <a:tr h="534924">
                <a:tc>
                  <a:txBody>
                    <a:bodyPr/>
                    <a:lstStyle/>
                    <a:p>
                      <a:pPr>
                        <a:defRPr sz="2200" b="0">
                          <a:solidFill>
                            <a:srgbClr val="22364C"/>
                          </a:solidFill>
                          <a:latin typeface="Aptos"/>
                        </a:defRPr>
                      </a:pPr>
                      <a:r>
                        <a:t>50 ans</a:t>
                      </a:r>
                    </a:p>
                  </a:txBody>
                  <a:tcPr marL="109728" marR="109728" marT="54864" marB="54864">
                    <a:solidFill>
                      <a:srgbClr val="FFFFFF"/>
                    </a:solidFill>
                  </a:tcPr>
                </a:tc>
                <a:tc>
                  <a:txBody>
                    <a:bodyPr/>
                    <a:lstStyle/>
                    <a:p>
                      <a:pPr>
                        <a:defRPr sz="2200" b="0">
                          <a:solidFill>
                            <a:srgbClr val="22364C"/>
                          </a:solidFill>
                          <a:latin typeface="Aptos"/>
                        </a:defRPr>
                      </a:pPr>
                      <a:r>
                        <a:t>50 €</a:t>
                      </a:r>
                    </a:p>
                  </a:txBody>
                  <a:tcPr marL="109728" marR="109728" marT="54864" marB="54864">
                    <a:solidFill>
                      <a:srgbClr val="FFFFFF"/>
                    </a:solidFill>
                  </a:tcPr>
                </a:tc>
                <a:tc>
                  <a:txBody>
                    <a:bodyPr/>
                    <a:lstStyle/>
                    <a:p>
                      <a:pPr>
                        <a:defRPr sz="2200" b="0">
                          <a:solidFill>
                            <a:srgbClr val="22364C"/>
                          </a:solidFill>
                          <a:latin typeface="Aptos"/>
                        </a:defRPr>
                      </a:pPr>
                      <a:r>
                        <a:t>47 €</a:t>
                      </a:r>
                    </a:p>
                  </a:txBody>
                  <a:tcPr marL="109728" marR="109728" marT="54864" marB="54864">
                    <a:solidFill>
                      <a:srgbClr val="FFFFFF"/>
                    </a:solidFill>
                  </a:tcPr>
                </a:tc>
                <a:tc>
                  <a:txBody>
                    <a:bodyPr/>
                    <a:lstStyle/>
                    <a:p>
                      <a:pPr>
                        <a:defRPr sz="2200" b="0">
                          <a:solidFill>
                            <a:srgbClr val="22364C"/>
                          </a:solidFill>
                          <a:latin typeface="Aptos"/>
                        </a:defRPr>
                      </a:pPr>
                      <a:r>
                        <a:t>+3 €</a:t>
                      </a:r>
                    </a:p>
                  </a:txBody>
                  <a:tcPr marL="109728" marR="109728" marT="54864" marB="54864">
                    <a:solidFill>
                      <a:srgbClr val="FFFFFF"/>
                    </a:solidFill>
                  </a:tcPr>
                </a:tc>
              </a:tr>
            </a:tbl>
          </a:graphicData>
        </a:graphic>
      </p:graphicFrame>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Positif : observé &gt; prédit. Taille de l’erreur : valeur absolue du résidu.</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Q10 / E03 · R²</a:t>
            </a:r>
          </a:p>
        </p:txBody>
      </p:sp>
      <p:sp>
        <p:nvSpPr>
          <p:cNvPr id="11"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65 / 73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R² · EXEMPLE GUIDÉ · 2. ADDITIONNER LEURS CARRÉS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Additionner les carrés des résidus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67512"/>
          </a:xfrm>
          <a:prstGeom prst="rect">
            <a:avLst/>
          </a:prstGeom>
          <a:noFill/>
        </p:spPr>
        <p:txBody>
          <a:bodyPr wrap="square" lIns="22860" rIns="22860" tIns="13716" bIns="13716">
            <a:spAutoFit/>
          </a:bodyPr>
          <a:lstStyle/>
          <a:p>
            <a:pPr>
              <a:spcAft>
                <a:spcPts val="300"/>
              </a:spcAft>
              <a:defRPr sz="2100" b="0">
                <a:solidFill>
                  <a:srgbClr val="22364C"/>
                </a:solidFill>
                <a:latin typeface="Aptos"/>
              </a:defRPr>
            </a:pPr>
            <a:r>
              <a:t>Additionner les résidus directement donnerait zéro : −3 + 9 − 9 + 3 = 0 €.</a:t>
            </a:r>
          </a:p>
        </p:txBody>
      </p:sp>
      <p:graphicFrame>
        <p:nvGraphicFramePr>
          <p:cNvPr id="6" name="Table 5"/>
          <p:cNvGraphicFramePr>
            <a:graphicFrameLocks noGrp="1"/>
          </p:cNvGraphicFramePr>
          <p:nvPr/>
        </p:nvGraphicFramePr>
        <p:xfrm>
          <a:off x="621792" y="2688336"/>
          <a:ext cx="10927080" cy="2734056"/>
        </p:xfrm>
        <a:graphic>
          <a:graphicData uri="http://schemas.openxmlformats.org/drawingml/2006/table">
            <a:tbl>
              <a:tblPr firstRow="1" bandRow="1">
                <a:tableStyleId>{5C22544A-7EE6-4342-B048-85BDC9FD1C3A}</a:tableStyleId>
              </a:tblPr>
              <a:tblGrid>
                <a:gridCol w="5463540"/>
                <a:gridCol w="5463540"/>
              </a:tblGrid>
              <a:tr h="594360">
                <a:tc>
                  <a:txBody>
                    <a:bodyPr/>
                    <a:lstStyle/>
                    <a:p>
                      <a:pPr>
                        <a:defRPr sz="2200" b="1">
                          <a:solidFill>
                            <a:srgbClr val="FFFFFF"/>
                          </a:solidFill>
                          <a:latin typeface="Aptos"/>
                        </a:defRPr>
                      </a:pPr>
                      <a:r>
                        <a:t>Résidu (€)</a:t>
                      </a:r>
                    </a:p>
                  </a:txBody>
                  <a:tcPr marL="109728" marR="109728" marT="54864" marB="54864">
                    <a:solidFill>
                      <a:srgbClr val="142D4E"/>
                    </a:solidFill>
                  </a:tcPr>
                </a:tc>
                <a:tc>
                  <a:txBody>
                    <a:bodyPr/>
                    <a:lstStyle/>
                    <a:p>
                      <a:pPr>
                        <a:defRPr sz="2200" b="1">
                          <a:solidFill>
                            <a:srgbClr val="FFFFFF"/>
                          </a:solidFill>
                          <a:latin typeface="Aptos"/>
                        </a:defRPr>
                      </a:pPr>
                      <a:r>
                        <a:t>Carré du résidu (€²)</a:t>
                      </a:r>
                    </a:p>
                  </a:txBody>
                  <a:tcPr marL="109728" marR="109728" marT="54864" marB="54864">
                    <a:solidFill>
                      <a:srgbClr val="142D4E"/>
                    </a:solidFill>
                  </a:tcPr>
                </a:tc>
              </a:tr>
              <a:tr h="534924">
                <a:tc>
                  <a:txBody>
                    <a:bodyPr/>
                    <a:lstStyle/>
                    <a:p>
                      <a:pPr>
                        <a:defRPr sz="2200" b="0">
                          <a:solidFill>
                            <a:srgbClr val="22364C"/>
                          </a:solidFill>
                          <a:latin typeface="Aptos"/>
                        </a:defRPr>
                      </a:pPr>
                      <a:r>
                        <a:t>−3</a:t>
                      </a:r>
                    </a:p>
                  </a:txBody>
                  <a:tcPr marL="109728" marR="109728" marT="54864" marB="54864">
                    <a:solidFill>
                      <a:srgbClr val="EFF4F9"/>
                    </a:solidFill>
                  </a:tcPr>
                </a:tc>
                <a:tc>
                  <a:txBody>
                    <a:bodyPr/>
                    <a:lstStyle/>
                    <a:p>
                      <a:pPr>
                        <a:defRPr sz="2200" b="0">
                          <a:solidFill>
                            <a:srgbClr val="22364C"/>
                          </a:solidFill>
                          <a:latin typeface="Aptos"/>
                        </a:defRPr>
                      </a:pPr>
                      <a:r>
                        <a:t>9</a:t>
                      </a:r>
                    </a:p>
                  </a:txBody>
                  <a:tcPr marL="109728" marR="109728" marT="54864" marB="54864">
                    <a:solidFill>
                      <a:srgbClr val="EFF4F9"/>
                    </a:solidFill>
                  </a:tcPr>
                </a:tc>
              </a:tr>
              <a:tr h="534924">
                <a:tc>
                  <a:txBody>
                    <a:bodyPr/>
                    <a:lstStyle/>
                    <a:p>
                      <a:pPr>
                        <a:defRPr sz="2200" b="0">
                          <a:solidFill>
                            <a:srgbClr val="22364C"/>
                          </a:solidFill>
                          <a:latin typeface="Aptos"/>
                        </a:defRPr>
                      </a:pPr>
                      <a:r>
                        <a:t>+9</a:t>
                      </a:r>
                    </a:p>
                  </a:txBody>
                  <a:tcPr marL="109728" marR="109728" marT="54864" marB="54864">
                    <a:solidFill>
                      <a:srgbClr val="FFFFFF"/>
                    </a:solidFill>
                  </a:tcPr>
                </a:tc>
                <a:tc>
                  <a:txBody>
                    <a:bodyPr/>
                    <a:lstStyle/>
                    <a:p>
                      <a:pPr>
                        <a:defRPr sz="2200" b="0">
                          <a:solidFill>
                            <a:srgbClr val="22364C"/>
                          </a:solidFill>
                          <a:latin typeface="Aptos"/>
                        </a:defRPr>
                      </a:pPr>
                      <a:r>
                        <a:t>81</a:t>
                      </a:r>
                    </a:p>
                  </a:txBody>
                  <a:tcPr marL="109728" marR="109728" marT="54864" marB="54864">
                    <a:solidFill>
                      <a:srgbClr val="FFFFFF"/>
                    </a:solidFill>
                  </a:tcPr>
                </a:tc>
              </a:tr>
              <a:tr h="534924">
                <a:tc>
                  <a:txBody>
                    <a:bodyPr/>
                    <a:lstStyle/>
                    <a:p>
                      <a:pPr>
                        <a:defRPr sz="2200" b="0">
                          <a:solidFill>
                            <a:srgbClr val="22364C"/>
                          </a:solidFill>
                          <a:latin typeface="Aptos"/>
                        </a:defRPr>
                      </a:pPr>
                      <a:r>
                        <a:t>−9</a:t>
                      </a:r>
                    </a:p>
                  </a:txBody>
                  <a:tcPr marL="109728" marR="109728" marT="54864" marB="54864">
                    <a:solidFill>
                      <a:srgbClr val="EFF4F9"/>
                    </a:solidFill>
                  </a:tcPr>
                </a:tc>
                <a:tc>
                  <a:txBody>
                    <a:bodyPr/>
                    <a:lstStyle/>
                    <a:p>
                      <a:pPr>
                        <a:defRPr sz="2200" b="0">
                          <a:solidFill>
                            <a:srgbClr val="22364C"/>
                          </a:solidFill>
                          <a:latin typeface="Aptos"/>
                        </a:defRPr>
                      </a:pPr>
                      <a:r>
                        <a:t>81</a:t>
                      </a:r>
                    </a:p>
                  </a:txBody>
                  <a:tcPr marL="109728" marR="109728" marT="54864" marB="54864">
                    <a:solidFill>
                      <a:srgbClr val="EFF4F9"/>
                    </a:solidFill>
                  </a:tcPr>
                </a:tc>
              </a:tr>
              <a:tr h="534924">
                <a:tc>
                  <a:txBody>
                    <a:bodyPr/>
                    <a:lstStyle/>
                    <a:p>
                      <a:pPr>
                        <a:defRPr sz="2200" b="0">
                          <a:solidFill>
                            <a:srgbClr val="22364C"/>
                          </a:solidFill>
                          <a:latin typeface="Aptos"/>
                        </a:defRPr>
                      </a:pPr>
                      <a:r>
                        <a:t>+3</a:t>
                      </a:r>
                    </a:p>
                  </a:txBody>
                  <a:tcPr marL="109728" marR="109728" marT="54864" marB="54864">
                    <a:solidFill>
                      <a:srgbClr val="FFFFFF"/>
                    </a:solidFill>
                  </a:tcPr>
                </a:tc>
                <a:tc>
                  <a:txBody>
                    <a:bodyPr/>
                    <a:lstStyle/>
                    <a:p>
                      <a:pPr>
                        <a:defRPr sz="2200" b="0">
                          <a:solidFill>
                            <a:srgbClr val="22364C"/>
                          </a:solidFill>
                          <a:latin typeface="Aptos"/>
                        </a:defRPr>
                      </a:pPr>
                      <a:r>
                        <a:t>9</a:t>
                      </a:r>
                    </a:p>
                  </a:txBody>
                  <a:tcPr marL="109728" marR="109728" marT="54864" marB="54864">
                    <a:solidFill>
                      <a:srgbClr val="FFFFFF"/>
                    </a:solidFill>
                  </a:tcPr>
                </a:tc>
              </a:tr>
            </a:tbl>
          </a:graphicData>
        </a:graphic>
      </p:graphicFrame>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SSE = somme des erreurs au carré = 180 €². MAE = moyenne des erreurs absolues = 6 €.</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Q10 / E03 · R²</a:t>
            </a:r>
          </a:p>
        </p:txBody>
      </p:sp>
      <p:sp>
        <p:nvSpPr>
          <p:cNvPr id="11"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66 / 73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R² · EXEMPLE GUIDÉ · 3. CONSTRUIRE LA RÉFÉRENCE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Référence : toujours prédire 35 €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67512"/>
          </a:xfrm>
          <a:prstGeom prst="rect">
            <a:avLst/>
          </a:prstGeom>
          <a:noFill/>
        </p:spPr>
        <p:txBody>
          <a:bodyPr wrap="square" lIns="22860" rIns="22860" tIns="13716" bIns="13716">
            <a:spAutoFit/>
          </a:bodyPr>
          <a:lstStyle/>
          <a:p>
            <a:pPr>
              <a:spcAft>
                <a:spcPts val="300"/>
              </a:spcAft>
              <a:defRPr sz="2100" b="0">
                <a:solidFill>
                  <a:srgbClr val="22364C"/>
                </a:solidFill>
                <a:latin typeface="Aptos"/>
              </a:defRPr>
            </a:pPr>
            <a:r>
              <a:t>Moyenne observée : (20 + 40 + 30 + 50) / 4 = 35 €.</a:t>
            </a:r>
          </a:p>
        </p:txBody>
      </p:sp>
      <p:graphicFrame>
        <p:nvGraphicFramePr>
          <p:cNvPr id="6" name="Table 5"/>
          <p:cNvGraphicFramePr>
            <a:graphicFrameLocks noGrp="1"/>
          </p:cNvGraphicFramePr>
          <p:nvPr/>
        </p:nvGraphicFramePr>
        <p:xfrm>
          <a:off x="621792" y="2688336"/>
          <a:ext cx="10927080" cy="2734056"/>
        </p:xfrm>
        <a:graphic>
          <a:graphicData uri="http://schemas.openxmlformats.org/drawingml/2006/table">
            <a:tbl>
              <a:tblPr firstRow="1" bandRow="1">
                <a:tableStyleId>{5C22544A-7EE6-4342-B048-85BDC9FD1C3A}</a:tableStyleId>
              </a:tblPr>
              <a:tblGrid>
                <a:gridCol w="2731770"/>
                <a:gridCol w="2731770"/>
                <a:gridCol w="2731770"/>
                <a:gridCol w="2731770"/>
              </a:tblGrid>
              <a:tr h="594360">
                <a:tc>
                  <a:txBody>
                    <a:bodyPr/>
                    <a:lstStyle/>
                    <a:p>
                      <a:pPr>
                        <a:defRPr sz="2200" b="1">
                          <a:solidFill>
                            <a:srgbClr val="FFFFFF"/>
                          </a:solidFill>
                          <a:latin typeface="Aptos"/>
                        </a:defRPr>
                      </a:pPr>
                      <a:r>
                        <a:t>Observé</a:t>
                      </a:r>
                    </a:p>
                  </a:txBody>
                  <a:tcPr marL="109728" marR="109728" marT="54864" marB="54864">
                    <a:solidFill>
                      <a:srgbClr val="142D4E"/>
                    </a:solidFill>
                  </a:tcPr>
                </a:tc>
                <a:tc>
                  <a:txBody>
                    <a:bodyPr/>
                    <a:lstStyle/>
                    <a:p>
                      <a:pPr>
                        <a:defRPr sz="2200" b="1">
                          <a:solidFill>
                            <a:srgbClr val="FFFFFF"/>
                          </a:solidFill>
                          <a:latin typeface="Aptos"/>
                        </a:defRPr>
                      </a:pPr>
                      <a:r>
                        <a:t>Prédiction moyenne</a:t>
                      </a:r>
                    </a:p>
                  </a:txBody>
                  <a:tcPr marL="109728" marR="109728" marT="54864" marB="54864">
                    <a:solidFill>
                      <a:srgbClr val="142D4E"/>
                    </a:solidFill>
                  </a:tcPr>
                </a:tc>
                <a:tc>
                  <a:txBody>
                    <a:bodyPr/>
                    <a:lstStyle/>
                    <a:p>
                      <a:pPr>
                        <a:defRPr sz="2200" b="1">
                          <a:solidFill>
                            <a:srgbClr val="FFFFFF"/>
                          </a:solidFill>
                          <a:latin typeface="Aptos"/>
                        </a:defRPr>
                      </a:pPr>
                      <a:r>
                        <a:t>Écart</a:t>
                      </a:r>
                    </a:p>
                  </a:txBody>
                  <a:tcPr marL="109728" marR="109728" marT="54864" marB="54864">
                    <a:solidFill>
                      <a:srgbClr val="142D4E"/>
                    </a:solidFill>
                  </a:tcPr>
                </a:tc>
                <a:tc>
                  <a:txBody>
                    <a:bodyPr/>
                    <a:lstStyle/>
                    <a:p>
                      <a:pPr>
                        <a:defRPr sz="2200" b="1">
                          <a:solidFill>
                            <a:srgbClr val="FFFFFF"/>
                          </a:solidFill>
                          <a:latin typeface="Aptos"/>
                        </a:defRPr>
                      </a:pPr>
                      <a:r>
                        <a:t>Carré (€²)</a:t>
                      </a:r>
                    </a:p>
                  </a:txBody>
                  <a:tcPr marL="109728" marR="109728" marT="54864" marB="54864">
                    <a:solidFill>
                      <a:srgbClr val="142D4E"/>
                    </a:solidFill>
                  </a:tcPr>
                </a:tc>
              </a:tr>
              <a:tr h="534924">
                <a:tc>
                  <a:txBody>
                    <a:bodyPr/>
                    <a:lstStyle/>
                    <a:p>
                      <a:pPr>
                        <a:defRPr sz="2200" b="0">
                          <a:solidFill>
                            <a:srgbClr val="22364C"/>
                          </a:solidFill>
                          <a:latin typeface="Aptos"/>
                        </a:defRPr>
                      </a:pPr>
                      <a:r>
                        <a:t>20 €</a:t>
                      </a:r>
                    </a:p>
                  </a:txBody>
                  <a:tcPr marL="109728" marR="109728" marT="54864" marB="54864">
                    <a:solidFill>
                      <a:srgbClr val="EFF4F9"/>
                    </a:solidFill>
                  </a:tcPr>
                </a:tc>
                <a:tc>
                  <a:txBody>
                    <a:bodyPr/>
                    <a:lstStyle/>
                    <a:p>
                      <a:pPr>
                        <a:defRPr sz="2200" b="0">
                          <a:solidFill>
                            <a:srgbClr val="22364C"/>
                          </a:solidFill>
                          <a:latin typeface="Aptos"/>
                        </a:defRPr>
                      </a:pPr>
                      <a:r>
                        <a:t>35 €</a:t>
                      </a:r>
                    </a:p>
                  </a:txBody>
                  <a:tcPr marL="109728" marR="109728" marT="54864" marB="54864">
                    <a:solidFill>
                      <a:srgbClr val="EFF4F9"/>
                    </a:solidFill>
                  </a:tcPr>
                </a:tc>
                <a:tc>
                  <a:txBody>
                    <a:bodyPr/>
                    <a:lstStyle/>
                    <a:p>
                      <a:pPr>
                        <a:defRPr sz="2200" b="0">
                          <a:solidFill>
                            <a:srgbClr val="22364C"/>
                          </a:solidFill>
                          <a:latin typeface="Aptos"/>
                        </a:defRPr>
                      </a:pPr>
                      <a:r>
                        <a:t>−15 €</a:t>
                      </a:r>
                    </a:p>
                  </a:txBody>
                  <a:tcPr marL="109728" marR="109728" marT="54864" marB="54864">
                    <a:solidFill>
                      <a:srgbClr val="EFF4F9"/>
                    </a:solidFill>
                  </a:tcPr>
                </a:tc>
                <a:tc>
                  <a:txBody>
                    <a:bodyPr/>
                    <a:lstStyle/>
                    <a:p>
                      <a:pPr>
                        <a:defRPr sz="2200" b="0">
                          <a:solidFill>
                            <a:srgbClr val="22364C"/>
                          </a:solidFill>
                          <a:latin typeface="Aptos"/>
                        </a:defRPr>
                      </a:pPr>
                      <a:r>
                        <a:t>225</a:t>
                      </a:r>
                    </a:p>
                  </a:txBody>
                  <a:tcPr marL="109728" marR="109728" marT="54864" marB="54864">
                    <a:solidFill>
                      <a:srgbClr val="EFF4F9"/>
                    </a:solidFill>
                  </a:tcPr>
                </a:tc>
              </a:tr>
              <a:tr h="534924">
                <a:tc>
                  <a:txBody>
                    <a:bodyPr/>
                    <a:lstStyle/>
                    <a:p>
                      <a:pPr>
                        <a:defRPr sz="2200" b="0">
                          <a:solidFill>
                            <a:srgbClr val="22364C"/>
                          </a:solidFill>
                          <a:latin typeface="Aptos"/>
                        </a:defRPr>
                      </a:pPr>
                      <a:r>
                        <a:t>40 €</a:t>
                      </a:r>
                    </a:p>
                  </a:txBody>
                  <a:tcPr marL="109728" marR="109728" marT="54864" marB="54864">
                    <a:solidFill>
                      <a:srgbClr val="FFFFFF"/>
                    </a:solidFill>
                  </a:tcPr>
                </a:tc>
                <a:tc>
                  <a:txBody>
                    <a:bodyPr/>
                    <a:lstStyle/>
                    <a:p>
                      <a:pPr>
                        <a:defRPr sz="2200" b="0">
                          <a:solidFill>
                            <a:srgbClr val="22364C"/>
                          </a:solidFill>
                          <a:latin typeface="Aptos"/>
                        </a:defRPr>
                      </a:pPr>
                      <a:r>
                        <a:t>35 €</a:t>
                      </a:r>
                    </a:p>
                  </a:txBody>
                  <a:tcPr marL="109728" marR="109728" marT="54864" marB="54864">
                    <a:solidFill>
                      <a:srgbClr val="FFFFFF"/>
                    </a:solidFill>
                  </a:tcPr>
                </a:tc>
                <a:tc>
                  <a:txBody>
                    <a:bodyPr/>
                    <a:lstStyle/>
                    <a:p>
                      <a:pPr>
                        <a:defRPr sz="2200" b="0">
                          <a:solidFill>
                            <a:srgbClr val="22364C"/>
                          </a:solidFill>
                          <a:latin typeface="Aptos"/>
                        </a:defRPr>
                      </a:pPr>
                      <a:r>
                        <a:t>+5 €</a:t>
                      </a:r>
                    </a:p>
                  </a:txBody>
                  <a:tcPr marL="109728" marR="109728" marT="54864" marB="54864">
                    <a:solidFill>
                      <a:srgbClr val="FFFFFF"/>
                    </a:solidFill>
                  </a:tcPr>
                </a:tc>
                <a:tc>
                  <a:txBody>
                    <a:bodyPr/>
                    <a:lstStyle/>
                    <a:p>
                      <a:pPr>
                        <a:defRPr sz="2200" b="0">
                          <a:solidFill>
                            <a:srgbClr val="22364C"/>
                          </a:solidFill>
                          <a:latin typeface="Aptos"/>
                        </a:defRPr>
                      </a:pPr>
                      <a:r>
                        <a:t>25</a:t>
                      </a:r>
                    </a:p>
                  </a:txBody>
                  <a:tcPr marL="109728" marR="109728" marT="54864" marB="54864">
                    <a:solidFill>
                      <a:srgbClr val="FFFFFF"/>
                    </a:solidFill>
                  </a:tcPr>
                </a:tc>
              </a:tr>
              <a:tr h="534924">
                <a:tc>
                  <a:txBody>
                    <a:bodyPr/>
                    <a:lstStyle/>
                    <a:p>
                      <a:pPr>
                        <a:defRPr sz="2200" b="0">
                          <a:solidFill>
                            <a:srgbClr val="22364C"/>
                          </a:solidFill>
                          <a:latin typeface="Aptos"/>
                        </a:defRPr>
                      </a:pPr>
                      <a:r>
                        <a:t>30 €</a:t>
                      </a:r>
                    </a:p>
                  </a:txBody>
                  <a:tcPr marL="109728" marR="109728" marT="54864" marB="54864">
                    <a:solidFill>
                      <a:srgbClr val="EFF4F9"/>
                    </a:solidFill>
                  </a:tcPr>
                </a:tc>
                <a:tc>
                  <a:txBody>
                    <a:bodyPr/>
                    <a:lstStyle/>
                    <a:p>
                      <a:pPr>
                        <a:defRPr sz="2200" b="0">
                          <a:solidFill>
                            <a:srgbClr val="22364C"/>
                          </a:solidFill>
                          <a:latin typeface="Aptos"/>
                        </a:defRPr>
                      </a:pPr>
                      <a:r>
                        <a:t>35 €</a:t>
                      </a:r>
                    </a:p>
                  </a:txBody>
                  <a:tcPr marL="109728" marR="109728" marT="54864" marB="54864">
                    <a:solidFill>
                      <a:srgbClr val="EFF4F9"/>
                    </a:solidFill>
                  </a:tcPr>
                </a:tc>
                <a:tc>
                  <a:txBody>
                    <a:bodyPr/>
                    <a:lstStyle/>
                    <a:p>
                      <a:pPr>
                        <a:defRPr sz="2200" b="0">
                          <a:solidFill>
                            <a:srgbClr val="22364C"/>
                          </a:solidFill>
                          <a:latin typeface="Aptos"/>
                        </a:defRPr>
                      </a:pPr>
                      <a:r>
                        <a:t>−5 €</a:t>
                      </a:r>
                    </a:p>
                  </a:txBody>
                  <a:tcPr marL="109728" marR="109728" marT="54864" marB="54864">
                    <a:solidFill>
                      <a:srgbClr val="EFF4F9"/>
                    </a:solidFill>
                  </a:tcPr>
                </a:tc>
                <a:tc>
                  <a:txBody>
                    <a:bodyPr/>
                    <a:lstStyle/>
                    <a:p>
                      <a:pPr>
                        <a:defRPr sz="2200" b="0">
                          <a:solidFill>
                            <a:srgbClr val="22364C"/>
                          </a:solidFill>
                          <a:latin typeface="Aptos"/>
                        </a:defRPr>
                      </a:pPr>
                      <a:r>
                        <a:t>25</a:t>
                      </a:r>
                    </a:p>
                  </a:txBody>
                  <a:tcPr marL="109728" marR="109728" marT="54864" marB="54864">
                    <a:solidFill>
                      <a:srgbClr val="EFF4F9"/>
                    </a:solidFill>
                  </a:tcPr>
                </a:tc>
              </a:tr>
              <a:tr h="534924">
                <a:tc>
                  <a:txBody>
                    <a:bodyPr/>
                    <a:lstStyle/>
                    <a:p>
                      <a:pPr>
                        <a:defRPr sz="2200" b="0">
                          <a:solidFill>
                            <a:srgbClr val="22364C"/>
                          </a:solidFill>
                          <a:latin typeface="Aptos"/>
                        </a:defRPr>
                      </a:pPr>
                      <a:r>
                        <a:t>50 €</a:t>
                      </a:r>
                    </a:p>
                  </a:txBody>
                  <a:tcPr marL="109728" marR="109728" marT="54864" marB="54864">
                    <a:solidFill>
                      <a:srgbClr val="FFFFFF"/>
                    </a:solidFill>
                  </a:tcPr>
                </a:tc>
                <a:tc>
                  <a:txBody>
                    <a:bodyPr/>
                    <a:lstStyle/>
                    <a:p>
                      <a:pPr>
                        <a:defRPr sz="2200" b="0">
                          <a:solidFill>
                            <a:srgbClr val="22364C"/>
                          </a:solidFill>
                          <a:latin typeface="Aptos"/>
                        </a:defRPr>
                      </a:pPr>
                      <a:r>
                        <a:t>35 €</a:t>
                      </a:r>
                    </a:p>
                  </a:txBody>
                  <a:tcPr marL="109728" marR="109728" marT="54864" marB="54864">
                    <a:solidFill>
                      <a:srgbClr val="FFFFFF"/>
                    </a:solidFill>
                  </a:tcPr>
                </a:tc>
                <a:tc>
                  <a:txBody>
                    <a:bodyPr/>
                    <a:lstStyle/>
                    <a:p>
                      <a:pPr>
                        <a:defRPr sz="2200" b="0">
                          <a:solidFill>
                            <a:srgbClr val="22364C"/>
                          </a:solidFill>
                          <a:latin typeface="Aptos"/>
                        </a:defRPr>
                      </a:pPr>
                      <a:r>
                        <a:t>+15 €</a:t>
                      </a:r>
                    </a:p>
                  </a:txBody>
                  <a:tcPr marL="109728" marR="109728" marT="54864" marB="54864">
                    <a:solidFill>
                      <a:srgbClr val="FFFFFF"/>
                    </a:solidFill>
                  </a:tcPr>
                </a:tc>
                <a:tc>
                  <a:txBody>
                    <a:bodyPr/>
                    <a:lstStyle/>
                    <a:p>
                      <a:pPr>
                        <a:defRPr sz="2200" b="0">
                          <a:solidFill>
                            <a:srgbClr val="22364C"/>
                          </a:solidFill>
                          <a:latin typeface="Aptos"/>
                        </a:defRPr>
                      </a:pPr>
                      <a:r>
                        <a:t>225</a:t>
                      </a:r>
                    </a:p>
                  </a:txBody>
                  <a:tcPr marL="109728" marR="109728" marT="54864" marB="54864">
                    <a:solidFill>
                      <a:srgbClr val="FFFFFF"/>
                    </a:solidFill>
                  </a:tcPr>
                </a:tc>
              </a:tr>
            </a:tbl>
          </a:graphicData>
        </a:graphic>
      </p:graphicFrame>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SST = somme des carrés des écarts à la moyenne = 500 €².</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Q10 / E03 · R²</a:t>
            </a:r>
          </a:p>
        </p:txBody>
      </p:sp>
      <p:sp>
        <p:nvSpPr>
          <p:cNvPr id="11"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67 / 73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R² · MÊMES ACHATS, DEUX FAÇONS DE PRÉDIRE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Voir les erreurs avant de comparer leurs carrés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37943"/>
            <a:ext cx="10927080" cy="603504"/>
          </a:xfrm>
          <a:prstGeom prst="rect">
            <a:avLst/>
          </a:prstGeom>
          <a:noFill/>
        </p:spPr>
        <p:txBody>
          <a:bodyPr wrap="square" lIns="22860" rIns="22860" tIns="13716" bIns="13716">
            <a:spAutoFit/>
          </a:bodyPr>
          <a:lstStyle/>
          <a:p>
            <a:pPr>
              <a:spcAft>
                <a:spcPts val="0"/>
              </a:spcAft>
              <a:defRPr sz="2000" b="0">
                <a:solidFill>
                  <a:srgbClr val="22364C"/>
                </a:solidFill>
                <a:latin typeface="Aptos"/>
              </a:defRPr>
            </a:pPr>
            <a:r>
              <a:t>Les points observés sont identiques. À gauche, prédire la moyenne ; à droite, utiliser la droite ajustée.</a:t>
            </a:r>
          </a:p>
        </p:txBody>
      </p:sp>
      <p:pic>
        <p:nvPicPr>
          <p:cNvPr id="6" name="Picture 5" descr="Quatre âges20,30,40,50 ; achats20,40,30,50€. Moyenne35€, SST500€² ; droite7+0,8×âge, SSE180€² ; R²0,64. Segments verticaux : écarts observé−prédit."/>
          <p:cNvPicPr>
            <a:picLocks noChangeAspect="1"/>
          </p:cNvPicPr>
          <p:nvPr/>
        </p:nvPicPr>
        <p:blipFill>
          <a:blip r:embed="rId2"/>
          <a:stretch>
            <a:fillRect/>
          </a:stretch>
        </p:blipFill>
        <p:spPr>
          <a:xfrm>
            <a:off x="965568" y="2459736"/>
            <a:ext cx="10221238" cy="3108960"/>
          </a:xfrm>
          <a:prstGeom prst="rect">
            <a:avLst/>
          </a:prstGeom>
        </p:spPr>
      </p:pic>
      <p:sp>
        <p:nvSpPr>
          <p:cNvPr id="7" name="Rectangle 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R² = 1 − 180 / 500 = 0,64 : réduction des erreurs au carré, pas proportion de prédictions exactes.</a:t>
            </a:r>
          </a:p>
        </p:txBody>
      </p:sp>
      <p:sp>
        <p:nvSpPr>
          <p:cNvPr id="9" name="TextBox 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0" name="TextBox 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Q10 / E03 · R²</a:t>
            </a:r>
          </a:p>
        </p:txBody>
      </p:sp>
      <p:sp>
        <p:nvSpPr>
          <p:cNvPr id="11"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2" name="TextBox 1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68 / 73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R² · EXEMPLE GUIDÉ · 4. COMPARER LES DEUX SOMMES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R² : réduction des erreurs au carré</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847088"/>
            <a:ext cx="10927080" cy="612648"/>
          </a:xfrm>
          <a:prstGeom prst="rect">
            <a:avLst/>
          </a:prstGeom>
          <a:noFill/>
        </p:spPr>
        <p:txBody>
          <a:bodyPr wrap="square" lIns="22860" rIns="22860" tIns="13716" bIns="13716">
            <a:spAutoFit/>
          </a:bodyPr>
          <a:lstStyle/>
          <a:p>
            <a:pPr>
              <a:spcAft>
                <a:spcPts val="100"/>
              </a:spcAft>
              <a:defRPr sz="2000" b="0">
                <a:solidFill>
                  <a:srgbClr val="22364C"/>
                </a:solidFill>
                <a:latin typeface="Aptos"/>
              </a:defRPr>
            </a:pPr>
            <a:r>
              <a:t>Même cible, mêmes quatre achats : comparer la droite et la moyenne.</a:t>
            </a:r>
          </a:p>
        </p:txBody>
      </p:sp>
      <p:pic>
        <p:nvPicPr>
          <p:cNvPr id="6" name="Picture 5" descr="r squared.png"/>
          <p:cNvPicPr>
            <a:picLocks noChangeAspect="1"/>
          </p:cNvPicPr>
          <p:nvPr/>
        </p:nvPicPr>
        <p:blipFill>
          <a:blip r:embed="rId2"/>
          <a:stretch>
            <a:fillRect/>
          </a:stretch>
        </p:blipFill>
        <p:spPr>
          <a:xfrm>
            <a:off x="884582" y="2532888"/>
            <a:ext cx="6460434" cy="2971800"/>
          </a:xfrm>
          <a:prstGeom prst="rect">
            <a:avLst/>
          </a:prstGeom>
        </p:spPr>
      </p:pic>
      <p:sp>
        <p:nvSpPr>
          <p:cNvPr id="7" name="TextBox 6"/>
          <p:cNvSpPr txBox="1"/>
          <p:nvPr/>
        </p:nvSpPr>
        <p:spPr>
          <a:xfrm>
            <a:off x="7863840" y="2578608"/>
            <a:ext cx="3675887" cy="2926080"/>
          </a:xfrm>
          <a:prstGeom prst="rect">
            <a:avLst/>
          </a:prstGeom>
          <a:noFill/>
        </p:spPr>
        <p:txBody>
          <a:bodyPr wrap="square" lIns="22860" rIns="22860" tIns="13716" bIns="13716">
            <a:spAutoFit/>
          </a:bodyPr>
          <a:lstStyle/>
          <a:p>
            <a:pPr>
              <a:spcAft>
                <a:spcPts val="1200"/>
              </a:spcAft>
              <a:defRPr sz="2300" b="0">
                <a:solidFill>
                  <a:srgbClr val="22364C"/>
                </a:solidFill>
                <a:latin typeface="Aptos"/>
              </a:defRPr>
            </a:pPr>
            <a:r>
              <a:t>R² = 1 − SSE / SST</a:t>
            </a:r>
          </a:p>
          <a:p>
            <a:pPr>
              <a:spcAft>
                <a:spcPts val="1200"/>
              </a:spcAft>
              <a:defRPr sz="2300" b="0">
                <a:solidFill>
                  <a:srgbClr val="22364C"/>
                </a:solidFill>
                <a:latin typeface="Aptos"/>
              </a:defRPr>
            </a:pPr>
            <a:r>
              <a:t>= 1 − 180 / 500 = 0,64</a:t>
            </a:r>
          </a:p>
          <a:p>
            <a:pPr>
              <a:spcAft>
                <a:spcPts val="1200"/>
              </a:spcAft>
              <a:defRPr sz="2300" b="0">
                <a:solidFill>
                  <a:srgbClr val="22364C"/>
                </a:solidFill>
                <a:latin typeface="Aptos"/>
              </a:defRPr>
            </a:pPr>
          </a:p>
          <a:p>
            <a:pPr>
              <a:spcAft>
                <a:spcPts val="1200"/>
              </a:spcAft>
              <a:defRPr sz="2300" b="0">
                <a:solidFill>
                  <a:srgbClr val="22364C"/>
                </a:solidFill>
                <a:latin typeface="Aptos"/>
              </a:defRPr>
            </a:pPr>
            <a:r>
              <a:t>Somme des erreurs au carré réduite de 64 % par rapport à la moyenne.</a:t>
            </a:r>
          </a:p>
        </p:txBody>
      </p:sp>
      <p:sp>
        <p:nvSpPr>
          <p:cNvPr id="8" name="Rectangle 7"/>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Aucune prédiction n’est exacte ici. R² ne compte pas les prédictions exactes.</a:t>
            </a:r>
          </a:p>
        </p:txBody>
      </p:sp>
      <p:sp>
        <p:nvSpPr>
          <p:cNvPr id="10" name="TextBox 9"/>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1" name="TextBox 10"/>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Q10 / E03 · R²</a:t>
            </a:r>
          </a:p>
        </p:txBody>
      </p:sp>
      <p:sp>
        <p:nvSpPr>
          <p:cNvPr id="12" name="return:index">
            <a:hlinkClick action="ppaction://hlinksldjump" r:id="rId3"/>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3" name="TextBox 12"/>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69 / 73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R² · RETOUR SUR Q10 · NOTION NOUVELLE</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R² = 0,25 : 25 % de quoi ?</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32588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109728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Sur les mêmes données d’apprentissage : somme des erreurs au carré = 100 €² avec la moyenne, 75 €² avec la droite.</a:t>
            </a:r>
          </a:p>
          <a:p>
            <a:pPr>
              <a:spcAft>
                <a:spcPts val="100"/>
              </a:spcAft>
              <a:defRPr sz="2200" b="0">
                <a:solidFill>
                  <a:srgbClr val="22364C"/>
                </a:solidFill>
                <a:latin typeface="Aptos"/>
              </a:defRPr>
            </a:pPr>
            <a:r>
              <a:t>R² = 1 − 75 / 100 = 0,25.</a:t>
            </a:r>
          </a:p>
        </p:txBody>
      </p:sp>
      <p:sp>
        <p:nvSpPr>
          <p:cNvPr id="7" name="TextBox 6"/>
          <p:cNvSpPr txBox="1"/>
          <p:nvPr/>
        </p:nvSpPr>
        <p:spPr>
          <a:xfrm>
            <a:off x="758952" y="3246120"/>
            <a:ext cx="10634472" cy="274320"/>
          </a:xfrm>
          <a:prstGeom prst="rect">
            <a:avLst/>
          </a:prstGeom>
          <a:noFill/>
        </p:spPr>
        <p:txBody>
          <a:bodyPr wrap="square" lIns="22860" rIns="22860" tIns="13716" bIns="13716">
            <a:spAutoFit/>
          </a:bodyPr>
          <a:lstStyle/>
          <a:p>
            <a:pPr>
              <a:spcAft>
                <a:spcPts val="0"/>
              </a:spcAft>
              <a:defRPr sz="1500" b="0">
                <a:solidFill>
                  <a:srgbClr val="087F8C"/>
                </a:solidFill>
                <a:latin typeface="Aptos"/>
              </a:defRPr>
            </a:pPr>
            <a:r>
              <a:t>Question reprise en discussion · choix du QCM non reproduits</a:t>
            </a:r>
          </a:p>
        </p:txBody>
      </p:sp>
      <p:sp>
        <p:nvSpPr>
          <p:cNvPr id="8" name="TextBox 7"/>
          <p:cNvSpPr txBox="1"/>
          <p:nvPr/>
        </p:nvSpPr>
        <p:spPr>
          <a:xfrm>
            <a:off x="758952" y="3621024"/>
            <a:ext cx="10634472" cy="1783080"/>
          </a:xfrm>
          <a:prstGeom prst="rect">
            <a:avLst/>
          </a:prstGeom>
          <a:noFill/>
        </p:spPr>
        <p:txBody>
          <a:bodyPr wrap="square" lIns="22860" rIns="22860" tIns="13716" bIns="13716">
            <a:spAutoFit/>
          </a:bodyPr>
          <a:lstStyle/>
          <a:p>
            <a:pPr>
              <a:spcAft>
                <a:spcPts val="400"/>
              </a:spcAft>
              <a:defRPr sz="2400" b="0">
                <a:solidFill>
                  <a:srgbClr val="142D4E"/>
                </a:solidFill>
                <a:latin typeface="Aptos"/>
              </a:defRPr>
            </a:pPr>
            <a:r>
              <a:t>Que signifie ici R² = 0,25 ?</a:t>
            </a:r>
          </a:p>
        </p:txBody>
      </p:sp>
      <p:sp>
        <p:nvSpPr>
          <p:cNvPr id="9" name="Rectangle 8"/>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Répondre en précisant la référence et les données utilisées.</a:t>
            </a:r>
          </a:p>
        </p:txBody>
      </p:sp>
      <p:sp>
        <p:nvSpPr>
          <p:cNvPr id="11" name="TextBox 10"/>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2" name="TextBox 11"/>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Q10 / E03 · R²</a:t>
            </a:r>
          </a:p>
        </p:txBody>
      </p:sp>
      <p:sp>
        <p:nvSpPr>
          <p:cNvPr id="13"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4" name="TextBox 13"/>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70 / 73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RETOUR À Q10 · INTERPRÉTATION ET LIMITES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Interpréter R² et ses limites</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01952"/>
            <a:ext cx="5367528" cy="1709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029968"/>
            <a:ext cx="5056632" cy="576072"/>
          </a:xfrm>
          <a:prstGeom prst="rect">
            <a:avLst/>
          </a:prstGeom>
          <a:noFill/>
        </p:spPr>
        <p:txBody>
          <a:bodyPr wrap="square" lIns="22860" rIns="22860" tIns="13716" bIns="13716">
            <a:spAutoFit/>
          </a:bodyPr>
          <a:lstStyle/>
          <a:p>
            <a:pPr>
              <a:spcAft>
                <a:spcPts val="800"/>
              </a:spcAft>
              <a:defRPr sz="2100" b="1">
                <a:solidFill>
                  <a:srgbClr val="142D4E"/>
                </a:solidFill>
                <a:latin typeface="Aptos"/>
              </a:defRPr>
            </a:pPr>
            <a:r>
              <a:t>R² = 1</a:t>
            </a:r>
          </a:p>
        </p:txBody>
      </p:sp>
      <p:sp>
        <p:nvSpPr>
          <p:cNvPr id="7" name="TextBox 6"/>
          <p:cNvSpPr txBox="1"/>
          <p:nvPr/>
        </p:nvSpPr>
        <p:spPr>
          <a:xfrm>
            <a:off x="749808" y="2642616"/>
            <a:ext cx="5056632" cy="896112"/>
          </a:xfrm>
          <a:prstGeom prst="rect">
            <a:avLst/>
          </a:prstGeom>
          <a:noFill/>
        </p:spPr>
        <p:txBody>
          <a:bodyPr wrap="square" lIns="22860" rIns="22860" tIns="13716" bIns="13716">
            <a:spAutoFit/>
          </a:bodyPr>
          <a:lstStyle/>
          <a:p>
            <a:pPr>
              <a:spcAft>
                <a:spcPts val="900"/>
              </a:spcAft>
              <a:defRPr sz="2000" b="0">
                <a:solidFill>
                  <a:srgbClr val="22364C"/>
                </a:solidFill>
                <a:latin typeface="Aptos"/>
              </a:defRPr>
            </a:pPr>
            <a:r>
              <a:t>Aucune erreur observée ; aucune garantie future.</a:t>
            </a:r>
          </a:p>
        </p:txBody>
      </p:sp>
      <p:sp>
        <p:nvSpPr>
          <p:cNvPr id="8" name="Rectangle 7"/>
          <p:cNvSpPr/>
          <p:nvPr/>
        </p:nvSpPr>
        <p:spPr>
          <a:xfrm>
            <a:off x="6190488" y="1901952"/>
            <a:ext cx="5367528" cy="1709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5936" y="2029968"/>
            <a:ext cx="5056632" cy="576072"/>
          </a:xfrm>
          <a:prstGeom prst="rect">
            <a:avLst/>
          </a:prstGeom>
          <a:noFill/>
        </p:spPr>
        <p:txBody>
          <a:bodyPr wrap="square" lIns="22860" rIns="22860" tIns="13716" bIns="13716">
            <a:spAutoFit/>
          </a:bodyPr>
          <a:lstStyle/>
          <a:p>
            <a:pPr>
              <a:spcAft>
                <a:spcPts val="800"/>
              </a:spcAft>
              <a:defRPr sz="2100" b="1">
                <a:solidFill>
                  <a:srgbClr val="142D4E"/>
                </a:solidFill>
                <a:latin typeface="Aptos"/>
              </a:defRPr>
            </a:pPr>
            <a:r>
              <a:t>R² = 0</a:t>
            </a:r>
          </a:p>
        </p:txBody>
      </p:sp>
      <p:sp>
        <p:nvSpPr>
          <p:cNvPr id="10" name="TextBox 9"/>
          <p:cNvSpPr txBox="1"/>
          <p:nvPr/>
        </p:nvSpPr>
        <p:spPr>
          <a:xfrm>
            <a:off x="6345936" y="2642616"/>
            <a:ext cx="5056632" cy="896112"/>
          </a:xfrm>
          <a:prstGeom prst="rect">
            <a:avLst/>
          </a:prstGeom>
          <a:noFill/>
        </p:spPr>
        <p:txBody>
          <a:bodyPr wrap="square" lIns="22860" rIns="22860" tIns="13716" bIns="13716">
            <a:spAutoFit/>
          </a:bodyPr>
          <a:lstStyle/>
          <a:p>
            <a:pPr>
              <a:spcAft>
                <a:spcPts val="900"/>
              </a:spcAft>
              <a:defRPr sz="2000" b="0">
                <a:solidFill>
                  <a:srgbClr val="22364C"/>
                </a:solidFill>
                <a:latin typeface="Aptos"/>
              </a:defRPr>
            </a:pPr>
            <a:r>
              <a:t>Même somme d’erreurs au carré que la moyenne.</a:t>
            </a:r>
          </a:p>
        </p:txBody>
      </p:sp>
      <p:sp>
        <p:nvSpPr>
          <p:cNvPr id="11" name="Rectangle 10"/>
          <p:cNvSpPr/>
          <p:nvPr/>
        </p:nvSpPr>
        <p:spPr>
          <a:xfrm>
            <a:off x="594360" y="3767328"/>
            <a:ext cx="5367528" cy="1709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895344"/>
            <a:ext cx="5056632" cy="576072"/>
          </a:xfrm>
          <a:prstGeom prst="rect">
            <a:avLst/>
          </a:prstGeom>
          <a:noFill/>
        </p:spPr>
        <p:txBody>
          <a:bodyPr wrap="square" lIns="22860" rIns="22860" tIns="13716" bIns="13716">
            <a:spAutoFit/>
          </a:bodyPr>
          <a:lstStyle/>
          <a:p>
            <a:pPr>
              <a:spcAft>
                <a:spcPts val="800"/>
              </a:spcAft>
              <a:defRPr sz="2100" b="1">
                <a:solidFill>
                  <a:srgbClr val="142D4E"/>
                </a:solidFill>
                <a:latin typeface="Aptos"/>
              </a:defRPr>
            </a:pPr>
            <a:r>
              <a:t>R² &lt; 0</a:t>
            </a:r>
          </a:p>
        </p:txBody>
      </p:sp>
      <p:sp>
        <p:nvSpPr>
          <p:cNvPr id="13" name="TextBox 12"/>
          <p:cNvSpPr txBox="1"/>
          <p:nvPr/>
        </p:nvSpPr>
        <p:spPr>
          <a:xfrm>
            <a:off x="749808" y="4507992"/>
            <a:ext cx="5056632" cy="896112"/>
          </a:xfrm>
          <a:prstGeom prst="rect">
            <a:avLst/>
          </a:prstGeom>
          <a:noFill/>
        </p:spPr>
        <p:txBody>
          <a:bodyPr wrap="square" lIns="22860" rIns="22860" tIns="13716" bIns="13716">
            <a:spAutoFit/>
          </a:bodyPr>
          <a:lstStyle/>
          <a:p>
            <a:pPr>
              <a:spcAft>
                <a:spcPts val="900"/>
              </a:spcAft>
              <a:defRPr sz="2000" b="0">
                <a:solidFill>
                  <a:srgbClr val="22364C"/>
                </a:solidFill>
                <a:latin typeface="Aptos"/>
              </a:defRPr>
            </a:pPr>
            <a:r>
              <a:t>Somme d’erreurs au carré supérieure à celle de la moyenne.</a:t>
            </a:r>
          </a:p>
        </p:txBody>
      </p:sp>
      <p:sp>
        <p:nvSpPr>
          <p:cNvPr id="14" name="Rectangle 13"/>
          <p:cNvSpPr/>
          <p:nvPr/>
        </p:nvSpPr>
        <p:spPr>
          <a:xfrm>
            <a:off x="6190488" y="3767328"/>
            <a:ext cx="5367528" cy="1709928"/>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3895344"/>
            <a:ext cx="5056632" cy="576072"/>
          </a:xfrm>
          <a:prstGeom prst="rect">
            <a:avLst/>
          </a:prstGeom>
          <a:noFill/>
        </p:spPr>
        <p:txBody>
          <a:bodyPr wrap="square" lIns="22860" rIns="22860" tIns="13716" bIns="13716">
            <a:spAutoFit/>
          </a:bodyPr>
          <a:lstStyle/>
          <a:p>
            <a:pPr>
              <a:spcAft>
                <a:spcPts val="800"/>
              </a:spcAft>
              <a:defRPr sz="2100" b="1">
                <a:solidFill>
                  <a:srgbClr val="142D4E"/>
                </a:solidFill>
                <a:latin typeface="Aptos"/>
              </a:defRPr>
            </a:pPr>
            <a:r>
              <a:t>SST = 0</a:t>
            </a:r>
          </a:p>
        </p:txBody>
      </p:sp>
      <p:sp>
        <p:nvSpPr>
          <p:cNvPr id="16" name="TextBox 15"/>
          <p:cNvSpPr txBox="1"/>
          <p:nvPr/>
        </p:nvSpPr>
        <p:spPr>
          <a:xfrm>
            <a:off x="6345936" y="4507992"/>
            <a:ext cx="5056632" cy="896112"/>
          </a:xfrm>
          <a:prstGeom prst="rect">
            <a:avLst/>
          </a:prstGeom>
          <a:noFill/>
        </p:spPr>
        <p:txBody>
          <a:bodyPr wrap="square" lIns="22860" rIns="22860" tIns="13716" bIns="13716">
            <a:spAutoFit/>
          </a:bodyPr>
          <a:lstStyle/>
          <a:p>
            <a:pPr>
              <a:spcAft>
                <a:spcPts val="900"/>
              </a:spcAft>
              <a:defRPr sz="2000" b="0">
                <a:solidFill>
                  <a:srgbClr val="22364C"/>
                </a:solidFill>
                <a:latin typeface="Aptos"/>
              </a:defRPr>
            </a:pPr>
            <a:r>
              <a:t>Montants observés identiques : division par zéro, formule non définie.</a:t>
            </a:r>
          </a:p>
        </p:txBody>
      </p:sp>
      <p:sp>
        <p:nvSpPr>
          <p:cNvPr id="17" name="Rectangle 16"/>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Réponse à Q10 : (100 − 75) / 100 = 25 % de réduction de la somme des erreurs au carré, sur ces données. Aucune cause établie.</a:t>
            </a:r>
          </a:p>
        </p:txBody>
      </p:sp>
      <p:sp>
        <p:nvSpPr>
          <p:cNvPr id="19" name="TextBox 18"/>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20" name="TextBox 19"/>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Q10 / E03 · R²</a:t>
            </a:r>
          </a:p>
        </p:txBody>
      </p:sp>
      <p:sp>
        <p:nvSpPr>
          <p:cNvPr id="21"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22" name="TextBox 21"/>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71 / 73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R² · SECOND EXEMPLE GUIDÉ</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R² peut être négatif</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Même référence</a:t>
            </a:r>
          </a:p>
        </p:txBody>
      </p:sp>
      <p:sp>
        <p:nvSpPr>
          <p:cNvPr id="7" name="TextBox 6"/>
          <p:cNvSpPr txBox="1"/>
          <p:nvPr/>
        </p:nvSpPr>
        <p:spPr>
          <a:xfrm>
            <a:off x="749808"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Observés : 10, 20, 30 €.</a:t>
            </a:r>
          </a:p>
          <a:p>
            <a:pPr>
              <a:spcAft>
                <a:spcPts val="900"/>
              </a:spcAft>
              <a:defRPr sz="2300" b="0">
                <a:solidFill>
                  <a:srgbClr val="22364C"/>
                </a:solidFill>
                <a:latin typeface="Aptos"/>
              </a:defRPr>
            </a:pPr>
            <a:r>
              <a:t>Moyenne : 20 €.</a:t>
            </a:r>
          </a:p>
          <a:p>
            <a:pPr>
              <a:spcAft>
                <a:spcPts val="900"/>
              </a:spcAft>
              <a:defRPr sz="2300" b="0">
                <a:solidFill>
                  <a:srgbClr val="22364C"/>
                </a:solidFill>
                <a:latin typeface="Aptos"/>
              </a:defRPr>
            </a:pPr>
            <a:r>
              <a:t>SST = 100 + 0 + 100 = 200 €².</a:t>
            </a:r>
          </a:p>
        </p:txBody>
      </p:sp>
      <p:sp>
        <p:nvSpPr>
          <p:cNvPr id="8" name="Rectangle 7"/>
          <p:cNvSpPr/>
          <p:nvPr/>
        </p:nvSpPr>
        <p:spPr>
          <a:xfrm>
            <a:off x="6176772" y="1993392"/>
            <a:ext cx="5372100" cy="3429000"/>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2220" y="2121408"/>
            <a:ext cx="5061204" cy="960120"/>
          </a:xfrm>
          <a:prstGeom prst="rect">
            <a:avLst/>
          </a:prstGeom>
          <a:noFill/>
        </p:spPr>
        <p:txBody>
          <a:bodyPr wrap="square" lIns="22860" rIns="22860" tIns="13716" bIns="13716">
            <a:spAutoFit/>
          </a:bodyPr>
          <a:lstStyle/>
          <a:p>
            <a:pPr>
              <a:spcAft>
                <a:spcPts val="800"/>
              </a:spcAft>
              <a:defRPr sz="2300" b="1">
                <a:solidFill>
                  <a:srgbClr val="142D4E"/>
                </a:solidFill>
                <a:latin typeface="Aptos"/>
              </a:defRPr>
            </a:pPr>
            <a:r>
              <a:t>Prédictions moins bonnes</a:t>
            </a:r>
          </a:p>
        </p:txBody>
      </p:sp>
      <p:sp>
        <p:nvSpPr>
          <p:cNvPr id="10" name="TextBox 9"/>
          <p:cNvSpPr txBox="1"/>
          <p:nvPr/>
        </p:nvSpPr>
        <p:spPr>
          <a:xfrm>
            <a:off x="6332220" y="3118104"/>
            <a:ext cx="5061204" cy="2231136"/>
          </a:xfrm>
          <a:prstGeom prst="rect">
            <a:avLst/>
          </a:prstGeom>
          <a:noFill/>
        </p:spPr>
        <p:txBody>
          <a:bodyPr wrap="square" lIns="22860" rIns="22860" tIns="13716" bIns="13716">
            <a:spAutoFit/>
          </a:bodyPr>
          <a:lstStyle/>
          <a:p>
            <a:pPr>
              <a:spcAft>
                <a:spcPts val="900"/>
              </a:spcAft>
              <a:defRPr sz="2300" b="0">
                <a:solidFill>
                  <a:srgbClr val="22364C"/>
                </a:solidFill>
                <a:latin typeface="Aptos"/>
              </a:defRPr>
            </a:pPr>
            <a:r>
              <a:t>Prédits : 40, 40, 40 €.</a:t>
            </a:r>
          </a:p>
          <a:p>
            <a:pPr>
              <a:spcAft>
                <a:spcPts val="900"/>
              </a:spcAft>
              <a:defRPr sz="2300" b="0">
                <a:solidFill>
                  <a:srgbClr val="22364C"/>
                </a:solidFill>
                <a:latin typeface="Aptos"/>
              </a:defRPr>
            </a:pPr>
            <a:r>
              <a:t>SSE = 900 + 400 + 100 = 1 400 €².</a:t>
            </a:r>
          </a:p>
          <a:p>
            <a:pPr>
              <a:spcAft>
                <a:spcPts val="900"/>
              </a:spcAft>
              <a:defRPr sz="2300" b="0">
                <a:solidFill>
                  <a:srgbClr val="22364C"/>
                </a:solidFill>
                <a:latin typeface="Aptos"/>
              </a:defRPr>
            </a:pPr>
            <a:r>
              <a:t>R² = 1 − 1 400 / 200 = −6.</a:t>
            </a:r>
          </a:p>
        </p:txBody>
      </p:sp>
      <p:sp>
        <p:nvSpPr>
          <p:cNvPr id="11" name="Rectangle 10"/>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Ce modèle fait moins bien que la référence moyenne sur ces trois observations.</a:t>
            </a:r>
          </a:p>
        </p:txBody>
      </p:sp>
      <p:sp>
        <p:nvSpPr>
          <p:cNvPr id="13" name="TextBox 12"/>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4" name="TextBox 13"/>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Q10 / E03 · R²</a:t>
            </a:r>
          </a:p>
        </p:txBody>
      </p:sp>
      <p:sp>
        <p:nvSpPr>
          <p:cNvPr id="15"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6" name="TextBox 15"/>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72 / 73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972800" cy="347472"/>
          </a:xfrm>
          <a:prstGeom prst="rect">
            <a:avLst/>
          </a:prstGeom>
          <a:noFill/>
        </p:spPr>
        <p:txBody>
          <a:bodyPr wrap="square" lIns="22860" rIns="22860" tIns="13716" bIns="13716">
            <a:spAutoFit/>
          </a:bodyPr>
          <a:lstStyle/>
          <a:p>
            <a:pPr>
              <a:spcAft>
                <a:spcPts val="800"/>
              </a:spcAft>
              <a:defRPr sz="1400" b="1">
                <a:solidFill>
                  <a:srgbClr val="087F8C"/>
                </a:solidFill>
                <a:latin typeface="Aptos"/>
              </a:defRPr>
            </a:pPr>
            <a:r>
              <a:t>R² · À VOUS · TROIS NOUVEAUX ACHATS</a:t>
            </a:r>
          </a:p>
        </p:txBody>
      </p:sp>
      <p:sp>
        <p:nvSpPr>
          <p:cNvPr id="3" name="TextBox 2"/>
          <p:cNvSpPr txBox="1"/>
          <p:nvPr/>
        </p:nvSpPr>
        <p:spPr>
          <a:xfrm>
            <a:off x="594360" y="667512"/>
            <a:ext cx="10972800" cy="960120"/>
          </a:xfrm>
          <a:prstGeom prst="rect">
            <a:avLst/>
          </a:prstGeom>
          <a:noFill/>
        </p:spPr>
        <p:txBody>
          <a:bodyPr wrap="square" lIns="22860" rIns="22860" tIns="13716" bIns="13716">
            <a:spAutoFit/>
          </a:bodyPr>
          <a:lstStyle/>
          <a:p>
            <a:pPr>
              <a:spcAft>
                <a:spcPts val="100"/>
              </a:spcAft>
              <a:defRPr sz="2900" b="1">
                <a:solidFill>
                  <a:srgbClr val="142D4E"/>
                </a:solidFill>
                <a:latin typeface="Aptos"/>
              </a:defRPr>
            </a:pPr>
            <a:r>
              <a:t>Calculer et interpréter R²</a:t>
            </a:r>
          </a:p>
        </p:txBody>
      </p:sp>
      <p:sp>
        <p:nvSpPr>
          <p:cNvPr id="4" name="Rectangle 3"/>
          <p:cNvSpPr/>
          <p:nvPr/>
        </p:nvSpPr>
        <p:spPr>
          <a:xfrm>
            <a:off x="621792" y="1673352"/>
            <a:ext cx="731520" cy="41148"/>
          </a:xfrm>
          <a:prstGeom prst="rect">
            <a:avLst/>
          </a:prstGeom>
          <a:solidFill>
            <a:srgbClr val="BD5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874519"/>
            <a:ext cx="10963656" cy="1170432"/>
          </a:xfrm>
          <a:prstGeom prst="rect">
            <a:avLst/>
          </a:prstGeom>
          <a:solidFill>
            <a:srgbClr val="EF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11680"/>
            <a:ext cx="10634472" cy="914400"/>
          </a:xfrm>
          <a:prstGeom prst="rect">
            <a:avLst/>
          </a:prstGeom>
          <a:noFill/>
        </p:spPr>
        <p:txBody>
          <a:bodyPr wrap="square" lIns="22860" rIns="22860" tIns="13716" bIns="13716">
            <a:spAutoFit/>
          </a:bodyPr>
          <a:lstStyle/>
          <a:p>
            <a:pPr>
              <a:spcAft>
                <a:spcPts val="100"/>
              </a:spcAft>
              <a:defRPr sz="2200" b="0">
                <a:solidFill>
                  <a:srgbClr val="22364C"/>
                </a:solidFill>
                <a:latin typeface="Aptos"/>
              </a:defRPr>
            </a:pPr>
            <a:r>
              <a:t>Trois nouveaux achats : observés [10, 20, 30] € ; prédits [15, 20, 25] €.</a:t>
            </a:r>
          </a:p>
          <a:p>
            <a:pPr>
              <a:spcAft>
                <a:spcPts val="100"/>
              </a:spcAft>
              <a:defRPr sz="2200" b="0">
                <a:solidFill>
                  <a:srgbClr val="22364C"/>
                </a:solidFill>
                <a:latin typeface="Aptos"/>
              </a:defRPr>
            </a:pPr>
            <a:r>
              <a:t>Modèle fixé : ne pas le réajuster.</a:t>
            </a:r>
          </a:p>
        </p:txBody>
      </p:sp>
      <p:sp>
        <p:nvSpPr>
          <p:cNvPr id="7" name="TextBox 6"/>
          <p:cNvSpPr txBox="1"/>
          <p:nvPr/>
        </p:nvSpPr>
        <p:spPr>
          <a:xfrm>
            <a:off x="658368" y="33375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1</a:t>
            </a:r>
          </a:p>
        </p:txBody>
      </p:sp>
      <p:sp>
        <p:nvSpPr>
          <p:cNvPr id="8" name="TextBox 7"/>
          <p:cNvSpPr txBox="1"/>
          <p:nvPr/>
        </p:nvSpPr>
        <p:spPr>
          <a:xfrm>
            <a:off x="1207008" y="33284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Calculez résidus, SSE et moyenne observée.</a:t>
            </a:r>
          </a:p>
        </p:txBody>
      </p:sp>
      <p:sp>
        <p:nvSpPr>
          <p:cNvPr id="9" name="TextBox 8"/>
          <p:cNvSpPr txBox="1"/>
          <p:nvPr/>
        </p:nvSpPr>
        <p:spPr>
          <a:xfrm>
            <a:off x="658368" y="40233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2</a:t>
            </a:r>
          </a:p>
        </p:txBody>
      </p:sp>
      <p:sp>
        <p:nvSpPr>
          <p:cNvPr id="10" name="TextBox 9"/>
          <p:cNvSpPr txBox="1"/>
          <p:nvPr/>
        </p:nvSpPr>
        <p:spPr>
          <a:xfrm>
            <a:off x="1207008" y="40142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Calculez SST et R². Vérifiez unités et diviseur.</a:t>
            </a:r>
          </a:p>
        </p:txBody>
      </p:sp>
      <p:sp>
        <p:nvSpPr>
          <p:cNvPr id="11" name="TextBox 10"/>
          <p:cNvSpPr txBox="1"/>
          <p:nvPr/>
        </p:nvSpPr>
        <p:spPr>
          <a:xfrm>
            <a:off x="658368" y="4709160"/>
            <a:ext cx="411480" cy="502920"/>
          </a:xfrm>
          <a:prstGeom prst="rect">
            <a:avLst/>
          </a:prstGeom>
          <a:noFill/>
        </p:spPr>
        <p:txBody>
          <a:bodyPr wrap="square" lIns="22860" rIns="22860" tIns="13716" bIns="13716">
            <a:spAutoFit/>
          </a:bodyPr>
          <a:lstStyle/>
          <a:p>
            <a:pPr>
              <a:spcAft>
                <a:spcPts val="800"/>
              </a:spcAft>
              <a:defRPr sz="2300" b="1">
                <a:solidFill>
                  <a:srgbClr val="BD561E"/>
                </a:solidFill>
                <a:latin typeface="Aptos"/>
              </a:defRPr>
            </a:pPr>
            <a:r>
              <a:t>3</a:t>
            </a:r>
          </a:p>
        </p:txBody>
      </p:sp>
      <p:sp>
        <p:nvSpPr>
          <p:cNvPr id="12" name="TextBox 11"/>
          <p:cNvSpPr txBox="1"/>
          <p:nvPr/>
        </p:nvSpPr>
        <p:spPr>
          <a:xfrm>
            <a:off x="1207008" y="4700016"/>
            <a:ext cx="10241280" cy="603504"/>
          </a:xfrm>
          <a:prstGeom prst="rect">
            <a:avLst/>
          </a:prstGeom>
          <a:noFill/>
        </p:spPr>
        <p:txBody>
          <a:bodyPr wrap="square" lIns="22860" rIns="22860" tIns="13716" bIns="13716">
            <a:spAutoFit/>
          </a:bodyPr>
          <a:lstStyle/>
          <a:p>
            <a:pPr>
              <a:spcAft>
                <a:spcPts val="0"/>
              </a:spcAft>
              <a:defRPr sz="2200" b="0">
                <a:solidFill>
                  <a:srgbClr val="22364C"/>
                </a:solidFill>
                <a:latin typeface="Aptos"/>
              </a:defRPr>
            </a:pPr>
            <a:r>
              <a:t>Rédigez l’interprétation, sans compter les prédictions exactes ni conclure à une cause.</a:t>
            </a:r>
          </a:p>
        </p:txBody>
      </p:sp>
      <p:sp>
        <p:nvSpPr>
          <p:cNvPr id="13" name="Rectangle 12"/>
          <p:cNvSpPr/>
          <p:nvPr/>
        </p:nvSpPr>
        <p:spPr>
          <a:xfrm>
            <a:off x="594360" y="5641848"/>
            <a:ext cx="10963656" cy="749808"/>
          </a:xfrm>
          <a:prstGeom prst="rect">
            <a:avLst/>
          </a:prstGeom>
          <a:solidFill>
            <a:srgbClr val="E6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715000"/>
            <a:ext cx="10680192" cy="621792"/>
          </a:xfrm>
          <a:prstGeom prst="rect">
            <a:avLst/>
          </a:prstGeom>
          <a:noFill/>
        </p:spPr>
        <p:txBody>
          <a:bodyPr wrap="square" lIns="22860" rIns="22860" tIns="13716" bIns="13716">
            <a:spAutoFit/>
          </a:bodyPr>
          <a:lstStyle/>
          <a:p>
            <a:pPr>
              <a:spcAft>
                <a:spcPts val="0"/>
              </a:spcAft>
              <a:defRPr sz="1800" b="0">
                <a:solidFill>
                  <a:srgbClr val="22364C"/>
                </a:solidFill>
                <a:latin typeface="Aptos"/>
              </a:defRPr>
            </a:pPr>
            <a:r>
              <a:t>Trois achats ne suffisent pas à établir une performance générale.</a:t>
            </a:r>
          </a:p>
        </p:txBody>
      </p:sp>
      <p:sp>
        <p:nvSpPr>
          <p:cNvPr id="15" name="TextBox 14"/>
          <p:cNvSpPr txBox="1"/>
          <p:nvPr/>
        </p:nvSpPr>
        <p:spPr>
          <a:xfrm>
            <a:off x="612648" y="6510528"/>
            <a:ext cx="5486400" cy="182880"/>
          </a:xfrm>
          <a:prstGeom prst="rect">
            <a:avLst/>
          </a:prstGeom>
          <a:noFill/>
        </p:spPr>
        <p:txBody>
          <a:bodyPr wrap="square" lIns="22860" rIns="22860" tIns="13716" bIns="13716">
            <a:spAutoFit/>
          </a:bodyPr>
          <a:lstStyle/>
          <a:p>
            <a:pPr>
              <a:spcAft>
                <a:spcPts val="0"/>
              </a:spcAft>
              <a:defRPr sz="1000" b="0">
                <a:solidFill>
                  <a:srgbClr val="56697B"/>
                </a:solidFill>
                <a:latin typeface="Aptos"/>
              </a:defRPr>
            </a:pPr>
            <a:r>
              <a:t>OLIVIER DELRIEU  /  13.10.2026  /  BROUILLON</a:t>
            </a:r>
          </a:p>
        </p:txBody>
      </p:sp>
      <p:sp>
        <p:nvSpPr>
          <p:cNvPr id="16" name="TextBox 15"/>
          <p:cNvSpPr txBox="1"/>
          <p:nvPr/>
        </p:nvSpPr>
        <p:spPr>
          <a:xfrm>
            <a:off x="6492240" y="6492240"/>
            <a:ext cx="2011680" cy="228600"/>
          </a:xfrm>
          <a:prstGeom prst="rect">
            <a:avLst/>
          </a:prstGeom>
          <a:noFill/>
        </p:spPr>
        <p:txBody>
          <a:bodyPr wrap="square" lIns="22860" rIns="22860" tIns="13716" bIns="13716">
            <a:spAutoFit/>
          </a:bodyPr>
          <a:lstStyle/>
          <a:p>
            <a:pPr>
              <a:spcAft>
                <a:spcPts val="0"/>
              </a:spcAft>
              <a:defRPr sz="1100" b="1">
                <a:solidFill>
                  <a:srgbClr val="56697B"/>
                </a:solidFill>
                <a:latin typeface="Aptos"/>
              </a:defRPr>
            </a:pPr>
            <a:r>
              <a:t>Q10 / E03 · R²</a:t>
            </a:r>
          </a:p>
        </p:txBody>
      </p:sp>
      <p:sp>
        <p:nvSpPr>
          <p:cNvPr id="17" name="return:index">
            <a:hlinkClick action="ppaction://hlinksldjump" r:id="rId2"/>
          </p:cNvPr>
          <p:cNvSpPr txBox="1"/>
          <p:nvPr/>
        </p:nvSpPr>
        <p:spPr>
          <a:xfrm>
            <a:off x="8869680" y="6464808"/>
            <a:ext cx="1463040" cy="274320"/>
          </a:xfrm>
          <a:prstGeom prst="rect">
            <a:avLst/>
          </a:prstGeom>
          <a:noFill/>
        </p:spPr>
        <p:txBody>
          <a:bodyPr wrap="square" lIns="22860" rIns="22860" tIns="13716" bIns="13716">
            <a:spAutoFit/>
          </a:bodyPr>
          <a:lstStyle/>
          <a:p>
            <a:pPr>
              <a:spcAft>
                <a:spcPts val="0"/>
              </a:spcAft>
              <a:defRPr sz="1200" b="1">
                <a:solidFill>
                  <a:srgbClr val="56697B"/>
                </a:solidFill>
                <a:latin typeface="Aptos"/>
              </a:defRPr>
            </a:pPr>
            <a:r>
              <a:t>Sommaire</a:t>
            </a:r>
          </a:p>
        </p:txBody>
      </p:sp>
      <p:sp>
        <p:nvSpPr>
          <p:cNvPr id="18" name="TextBox 17"/>
          <p:cNvSpPr txBox="1"/>
          <p:nvPr/>
        </p:nvSpPr>
        <p:spPr>
          <a:xfrm>
            <a:off x="10744200" y="6483096"/>
            <a:ext cx="822960" cy="228600"/>
          </a:xfrm>
          <a:prstGeom prst="rect">
            <a:avLst/>
          </a:prstGeom>
          <a:noFill/>
        </p:spPr>
        <p:txBody>
          <a:bodyPr wrap="square" lIns="22860" rIns="22860" tIns="13716" bIns="13716">
            <a:spAutoFit/>
          </a:bodyPr>
          <a:lstStyle/>
          <a:p>
            <a:pPr>
              <a:spcAft>
                <a:spcPts val="0"/>
              </a:spcAft>
              <a:defRPr sz="1100" b="0">
                <a:solidFill>
                  <a:srgbClr val="56697B"/>
                </a:solidFill>
                <a:latin typeface="Aptos"/>
              </a:defRPr>
            </a:pPr>
            <a:r>
              <a:t>73 / 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Reprendre les questions du bilan — 13 octobre 2026</dc:title>
  <dc:subject/>
  <dc:creator>Olivier Delrieu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