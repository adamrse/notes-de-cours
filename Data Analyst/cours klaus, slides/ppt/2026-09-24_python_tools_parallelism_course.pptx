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90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59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27.xml" ContentType="application/vnd.openxmlformats-officedocument.presentationml.slide+xml"/>
  <Override PartName="/ppt/slides/slide64.xml" ContentType="application/vnd.openxmlformats-officedocument.presentationml.slide+xml"/>
  <Override PartName="/ppt/slides/slide28.xml" ContentType="application/vnd.openxmlformats-officedocument.presentationml.slide+xml"/>
  <Override PartName="/ppt/slides/slide70.xml" ContentType="application/vnd.openxmlformats-officedocument.presentationml.slide+xml"/>
  <Override PartName="/ppt/slides/slide65.xml" ContentType="application/vnd.openxmlformats-officedocument.presentationml.slide+xml"/>
  <Override PartName="/ppt/slides/slide29.xml" ContentType="application/vnd.openxmlformats-officedocument.presentationml.slide+xml"/>
  <Override PartName="/ppt/slides/_rels/slide84.xml.rels" ContentType="application/vnd.openxmlformats-package.relationships+xml"/>
  <Override PartName="/ppt/slides/_rels/slide19.xml.rels" ContentType="application/vnd.openxmlformats-package.relationships+xml"/>
  <Override PartName="/ppt/slides/_rels/slide58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83.xml.rels" ContentType="application/vnd.openxmlformats-package.relationships+xml"/>
  <Override PartName="/ppt/slides/_rels/slide18.xml.rels" ContentType="application/vnd.openxmlformats-package.relationships+xml"/>
  <Override PartName="/ppt/slides/_rels/slide48.xml.rels" ContentType="application/vnd.openxmlformats-package.relationships+xml"/>
  <Override PartName="/ppt/slides/_rels/slide11.xml.rels" ContentType="application/vnd.openxmlformats-package.relationships+xml"/>
  <Override PartName="/ppt/slides/_rels/slide57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82.xml.rels" ContentType="application/vnd.openxmlformats-package.relationships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16.xml.rels" ContentType="application/vnd.openxmlformats-package.relationships+xml"/>
  <Override PartName="/ppt/slides/_rels/slide81.xml.rels" ContentType="application/vnd.openxmlformats-package.relationships+xml"/>
  <Override PartName="/ppt/slides/_rels/slide46.xml.rels" ContentType="application/vnd.openxmlformats-package.relationships+xml"/>
  <Override PartName="/ppt/slides/_rels/slide1.xml.rels" ContentType="application/vnd.openxmlformats-package.relationships+xml"/>
  <Override PartName="/ppt/slides/_rels/slide29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80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91.xml.rels" ContentType="application/vnd.openxmlformats-package.relationships+xml"/>
  <Override PartName="/ppt/slides/_rels/slide72.xml.rels" ContentType="application/vnd.openxmlformats-package.relationships+xml"/>
  <Override PartName="/ppt/slides/_rels/slide22.xml.rels" ContentType="application/vnd.openxmlformats-package.relationships+xml"/>
  <Override PartName="/ppt/slides/_rels/slide59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24.xml.rels" ContentType="application/vnd.openxmlformats-package.relationships+xml"/>
  <Override PartName="/ppt/slides/_rels/slide30.xml.rels" ContentType="application/vnd.openxmlformats-package.relationships+xml"/>
  <Override PartName="/ppt/slides/_rels/slide67.xml.rels" ContentType="application/vnd.openxmlformats-package.relationships+xml"/>
  <Override PartName="/ppt/slides/_rels/slide31.xml.rels" ContentType="application/vnd.openxmlformats-package.relationships+xml"/>
  <Override PartName="/ppt/slides/_rels/slide68.xml.rels" ContentType="application/vnd.openxmlformats-package.relationships+xml"/>
  <Override PartName="/ppt/slides/_rels/slide32.xml.rels" ContentType="application/vnd.openxmlformats-package.relationships+xml"/>
  <Override PartName="/ppt/slides/_rels/slide69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35.xml.rels" ContentType="application/vnd.openxmlformats-package.relationships+xml"/>
  <Override PartName="/ppt/slides/_rels/slide36.xml.rels" ContentType="application/vnd.openxmlformats-package.relationships+xml"/>
  <Override PartName="/ppt/slides/_rels/slide37.xml.rels" ContentType="application/vnd.openxmlformats-package.relationships+xml"/>
  <Override PartName="/ppt/slides/_rels/slide56.xml.rels" ContentType="application/vnd.openxmlformats-package.relationships+xml"/>
  <Override PartName="/ppt/slides/_rels/slide44.xml.rels" ContentType="application/vnd.openxmlformats-package.relationships+xml"/>
  <Override PartName="/ppt/slides/_rels/slide55.xml.rels" ContentType="application/vnd.openxmlformats-package.relationships+xml"/>
  <Override PartName="/ppt/slides/_rels/slide43.xml.rels" ContentType="application/vnd.openxmlformats-package.relationships+xml"/>
  <Override PartName="/ppt/slides/_rels/slide54.xml.rels" ContentType="application/vnd.openxmlformats-package.relationships+xml"/>
  <Override PartName="/ppt/slides/_rels/slide42.xml.rels" ContentType="application/vnd.openxmlformats-package.relationships+xml"/>
  <Override PartName="/ppt/slides/_rels/slide79.xml.rels" ContentType="application/vnd.openxmlformats-package.relationships+xml"/>
  <Override PartName="/ppt/slides/_rels/slide25.xml.rels" ContentType="application/vnd.openxmlformats-package.relationships+xml"/>
  <Override PartName="/ppt/slides/_rels/slide90.xml.rels" ContentType="application/vnd.openxmlformats-package.relationships+xml"/>
  <Override PartName="/ppt/slides/_rels/slide53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78.xml.rels" ContentType="application/vnd.openxmlformats-package.relationships+xml"/>
  <Override PartName="/ppt/slides/_rels/slide52.xml.rels" ContentType="application/vnd.openxmlformats-package.relationships+xml"/>
  <Override PartName="/ppt/slides/_rels/slide89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77.xml.rels" ContentType="application/vnd.openxmlformats-package.relationships+xml"/>
  <Override PartName="/ppt/slides/_rels/slide51.xml.rels" ContentType="application/vnd.openxmlformats-package.relationships+xml"/>
  <Override PartName="/ppt/slides/_rels/slide88.xml.rels" ContentType="application/vnd.openxmlformats-package.relationships+xml"/>
  <Override PartName="/ppt/slides/_rels/slide50.xml.rels" ContentType="application/vnd.openxmlformats-package.relationships+xml"/>
  <Override PartName="/ppt/slides/_rels/slide87.xml.rels" ContentType="application/vnd.openxmlformats-package.relationships+xml"/>
  <Override PartName="/ppt/slides/_rels/slide45.xml.rels" ContentType="application/vnd.openxmlformats-package.relationships+xml"/>
  <Override PartName="/ppt/slides/_rels/slide13.xml.rels" ContentType="application/vnd.openxmlformats-package.relationships+xml"/>
  <Override PartName="/ppt/slides/_rels/slide60.xml.rels" ContentType="application/vnd.openxmlformats-package.relationships+xml"/>
  <Override PartName="/ppt/slides/_rels/slide61.xml.rels" ContentType="application/vnd.openxmlformats-package.relationships+xml"/>
  <Override PartName="/ppt/slides/_rels/slide62.xml.rels" ContentType="application/vnd.openxmlformats-package.relationships+xml"/>
  <Override PartName="/ppt/slides/_rels/slide63.xml.rels" ContentType="application/vnd.openxmlformats-package.relationships+xml"/>
  <Override PartName="/ppt/slides/_rels/slide27.xml.rels" ContentType="application/vnd.openxmlformats-package.relationships+xml"/>
  <Override PartName="/ppt/slides/_rels/slide64.xml.rels" ContentType="application/vnd.openxmlformats-package.relationships+xml"/>
  <Override PartName="/ppt/slides/_rels/slide28.xml.rels" ContentType="application/vnd.openxmlformats-package.relationships+xml"/>
  <Override PartName="/ppt/slides/_rels/slide70.xml.rels" ContentType="application/vnd.openxmlformats-package.relationships+xml"/>
  <Override PartName="/ppt/slides/_rels/slide65.xml.rels" ContentType="application/vnd.openxmlformats-package.relationships+xml"/>
  <Override PartName="/ppt/slides/_rels/slide71.xml.rels" ContentType="application/vnd.openxmlformats-package.relationships+xml"/>
  <Override PartName="/ppt/slides/_rels/slide66.xml.rels" ContentType="application/vnd.openxmlformats-package.relationships+xml"/>
  <Override PartName="/ppt/slides/_rels/slide12.xml.rels" ContentType="application/vnd.openxmlformats-package.relationships+xml"/>
  <Override PartName="/ppt/slides/_rels/slide49.xml.rels" ContentType="application/vnd.openxmlformats-package.relationships+xml"/>
  <Override PartName="/ppt/slides/_rels/slide76.xml.rels" ContentType="application/vnd.openxmlformats-package.relationships+xml"/>
  <Override PartName="/ppt/slides/_rels/slide75.xml.rels" ContentType="application/vnd.openxmlformats-package.relationships+xml"/>
  <Override PartName="/ppt/slides/_rels/slide86.xml.rels" ContentType="application/vnd.openxmlformats-package.relationships+xml"/>
  <Override PartName="/ppt/slides/_rels/slide74.xml.rels" ContentType="application/vnd.openxmlformats-package.relationships+xml"/>
  <Override PartName="/ppt/slides/_rels/slide85.xml.rels" ContentType="application/vnd.openxmlformats-package.relationships+xml"/>
  <Override PartName="/ppt/slides/_rels/slide73.xml.rels" ContentType="application/vnd.openxmlformats-package.relationships+xml"/>
  <Override PartName="/ppt/slides/slide71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49.xml" ContentType="application/vnd.openxmlformats-officedocument.presentationml.slide+xml"/>
  <Override PartName="/ppt/slides/slide8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76.xml" ContentType="application/vnd.openxmlformats-officedocument.presentationml.slide+xml"/>
  <Override PartName="/ppt/slides/slide8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74.xml" ContentType="application/vnd.openxmlformats-officedocument.presentationml.slide+xml"/>
  <Override PartName="/ppt/slides/slide85.xml" ContentType="application/vnd.openxmlformats-officedocument.presentationml.slide+xml"/>
  <Override PartName="/ppt/slides/slide73.xml" ContentType="application/vnd.openxmlformats-officedocument.presentationml.slide+xml"/>
  <Override PartName="/ppt/slides/slide79.xml" ContentType="application/vnd.openxmlformats-officedocument.presentationml.slide+xml"/>
  <Override PartName="/ppt/slides/slide78.xml" ContentType="application/vnd.openxmlformats-officedocument.presentationml.slide+xml"/>
  <Override PartName="/ppt/slides/slide72.xml" ContentType="application/vnd.openxmlformats-officedocument.presentationml.slide+xml"/>
  <Override PartName="/ppt/slides/slide91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80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46.xml" ContentType="application/vnd.openxmlformats-officedocument.presentationml.slide+xml"/>
  <Override PartName="/ppt/slides/slide81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82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18.xml" ContentType="application/vnd.openxmlformats-officedocument.presentationml.slide+xml"/>
  <Override PartName="/ppt/slides/slide83.xml" ContentType="application/vnd.openxmlformats-officedocument.presentationml.slide+xml"/>
  <Override PartName="/ppt/slides/slide21.xml" ContentType="application/vnd.openxmlformats-officedocument.presentationml.slide+xml"/>
  <Override PartName="/ppt/slides/slide58.xml" ContentType="application/vnd.openxmlformats-officedocument.presentationml.slide+xml"/>
  <Override PartName="/ppt/slides/slide19.xml" ContentType="application/vnd.openxmlformats-officedocument.presentationml.slide+xml"/>
  <Override PartName="/ppt/slides/slide84.xml" ContentType="application/vnd.openxmlformats-officedocument.presentationml.slide+xml"/>
  <Override PartName="/ppt/notesSlides/notesSlide5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_rels/notesSlide74.xml.rels" ContentType="application/vnd.openxmlformats-package.relationships+xml"/>
  <Override PartName="/ppt/notesSlides/_rels/notesSlide55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73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80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81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82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83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75.xml.rels" ContentType="application/vnd.openxmlformats-package.relationships+xml"/>
  <Override PartName="/ppt/notesSlides/_rels/notesSlide57.xml.rels" ContentType="application/vnd.openxmlformats-package.relationships+xml"/>
  <Override PartName="/ppt/notesSlides/_rels/notesSlide84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76.xml.rels" ContentType="application/vnd.openxmlformats-package.relationships+xml"/>
  <Override PartName="/ppt/notesSlides/_rels/notesSlide58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77.xml.rels" ContentType="application/vnd.openxmlformats-package.relationships+xml"/>
  <Override PartName="/ppt/notesSlides/_rels/notesSlide59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7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4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67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68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69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54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79.xml.rels" ContentType="application/vnd.openxmlformats-package.relationships+xml"/>
  <Override PartName="/ppt/notesSlides/_rels/notesSlide53.xml.rels" ContentType="application/vnd.openxmlformats-package.relationships+xml"/>
  <Override PartName="/ppt/notesSlides/_rels/notesSlide52.xml.rels" ContentType="application/vnd.openxmlformats-package.relationships+xml"/>
  <Override PartName="/ppt/notesSlides/_rels/notesSlide89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51.xml.rels" ContentType="application/vnd.openxmlformats-package.relationships+xml"/>
  <Override PartName="/ppt/notesSlides/_rels/notesSlide88.xml.rels" ContentType="application/vnd.openxmlformats-package.relationships+xml"/>
  <Override PartName="/ppt/notesSlides/_rels/notesSlide48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50.xml.rels" ContentType="application/vnd.openxmlformats-package.relationships+xml"/>
  <Override PartName="/ppt/notesSlides/_rels/notesSlide87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78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46.xml.rels" ContentType="application/vnd.openxmlformats-package.relationships+xml"/>
  <Override PartName="/ppt/notesSlides/_rels/notesSlide45.xml.rels" ContentType="application/vnd.openxmlformats-package.relationships+xml"/>
  <Override PartName="/ppt/notesSlides/_rels/notesSlide44.xml.rels" ContentType="application/vnd.openxmlformats-package.relationships+xml"/>
  <Override PartName="/ppt/notesSlides/_rels/notesSlide43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71.xml.rels" ContentType="application/vnd.openxmlformats-package.relationships+xml"/>
  <Override PartName="/ppt/notesSlides/_rels/notesSlide56.xml.rels" ContentType="application/vnd.openxmlformats-package.relationships+xml"/>
  <Override PartName="/ppt/notesSlides/_rels/notesSlide60.xml.rels" ContentType="application/vnd.openxmlformats-package.relationships+xml"/>
  <Override PartName="/ppt/notesSlides/_rels/notesSlide61.xml.rels" ContentType="application/vnd.openxmlformats-package.relationships+xml"/>
  <Override PartName="/ppt/notesSlides/_rels/notesSlide62.xml.rels" ContentType="application/vnd.openxmlformats-package.relationships+xml"/>
  <Override PartName="/ppt/notesSlides/_rels/notesSlide63.xml.rels" ContentType="application/vnd.openxmlformats-package.relationships+xml"/>
  <Override PartName="/ppt/notesSlides/_rels/notesSlide64.xml.rels" ContentType="application/vnd.openxmlformats-package.relationships+xml"/>
  <Override PartName="/ppt/notesSlides/_rels/notesSlide91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65.xml.rels" ContentType="application/vnd.openxmlformats-package.relationships+xml"/>
  <Override PartName="/ppt/notesSlides/_rels/notesSlide86.xml.rels" ContentType="application/vnd.openxmlformats-package.relationships+xml"/>
  <Override PartName="/ppt/notesSlides/_rels/notesSlide85.xml.rels" ContentType="application/vnd.openxmlformats-package.relationships+xml"/>
  <Override PartName="/ppt/notesSlides/_rels/notesSlide72.xml.rels" ContentType="application/vnd.openxmlformats-package.relationships+xml"/>
  <Override PartName="/ppt/notesSlides/_rels/notesSlide70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66.xml.rels" ContentType="application/vnd.openxmlformats-package.relationships+xml"/>
  <Override PartName="/ppt/notesSlides/_rels/notesSlide90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6.xml.rels" ContentType="application/vnd.openxmlformats-package.relationships+xml"/>
  <Override PartName="/ppt/notesSlides/notesSlide7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16624E8-1A0A-4DBE-BE1D-1D1883AE863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
</Relationships>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
</Relationships>
</file>

<file path=ppt/notesSlides/_rels/notesSlide71.xml.rels><?xml version="1.0" encoding="UTF-8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
</Relationships>
</file>

<file path=ppt/notesSlides/_rels/notesSlide72.xml.rels><?xml version="1.0" encoding="UTF-8"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
</Relationships>
</file>

<file path=ppt/notesSlides/_rels/notesSlide73.xml.rels><?xml version="1.0" encoding="UTF-8"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
</Relationships>
</file>

<file path=ppt/notesSlides/_rels/notesSlide74.xml.rels><?xml version="1.0" encoding="UTF-8"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
</Relationships>
</file>

<file path=ppt/notesSlides/_rels/notesSlide75.xml.rels><?xml version="1.0" encoding="UTF-8"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
</Relationships>
</file>

<file path=ppt/notesSlides/_rels/notesSlide76.xml.rels><?xml version="1.0" encoding="UTF-8"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
</Relationships>
</file>

<file path=ppt/notesSlides/_rels/notesSlide77.xml.rels><?xml version="1.0" encoding="UTF-8"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
</Relationships>
</file>

<file path=ppt/notesSlides/_rels/notesSlide78.xml.rels><?xml version="1.0" encoding="UTF-8"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
</Relationships>
</file>

<file path=ppt/notesSlides/_rels/notesSlide79.xml.rels><?xml version="1.0" encoding="UTF-8"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
</Relationships>
</file>

<file path=ppt/notesSlides/_rels/notesSlide80.xml.rels><?xml version="1.0" encoding="UTF-8"?>
<Relationships xmlns="http://schemas.openxmlformats.org/package/2006/relationships"><Relationship Id="rId1" Type="http://schemas.openxmlformats.org/officeDocument/2006/relationships/slide" Target="../slides/slide80.xml"/><Relationship Id="rId2" Type="http://schemas.openxmlformats.org/officeDocument/2006/relationships/notesMaster" Target="../notesMasters/notesMaster1.xml"/>
</Relationships>
</file>

<file path=ppt/notesSlides/_rels/notesSlide81.xml.rels><?xml version="1.0" encoding="UTF-8"?>
<Relationships xmlns="http://schemas.openxmlformats.org/package/2006/relationships"><Relationship Id="rId1" Type="http://schemas.openxmlformats.org/officeDocument/2006/relationships/slide" Target="../slides/slide81.xml"/><Relationship Id="rId2" Type="http://schemas.openxmlformats.org/officeDocument/2006/relationships/notesMaster" Target="../notesMasters/notesMaster1.xml"/>
</Relationships>
</file>

<file path=ppt/notesSlides/_rels/notesSlide82.xml.rels><?xml version="1.0" encoding="UTF-8"?>
<Relationships xmlns="http://schemas.openxmlformats.org/package/2006/relationships"><Relationship Id="rId1" Type="http://schemas.openxmlformats.org/officeDocument/2006/relationships/slide" Target="../slides/slide82.xml"/><Relationship Id="rId2" Type="http://schemas.openxmlformats.org/officeDocument/2006/relationships/notesMaster" Target="../notesMasters/notesMaster1.xml"/>
</Relationships>
</file>

<file path=ppt/notesSlides/_rels/notesSlide83.xml.rels><?xml version="1.0" encoding="UTF-8"?>
<Relationships xmlns="http://schemas.openxmlformats.org/package/2006/relationships"><Relationship Id="rId1" Type="http://schemas.openxmlformats.org/officeDocument/2006/relationships/slide" Target="../slides/slide83.xml"/><Relationship Id="rId2" Type="http://schemas.openxmlformats.org/officeDocument/2006/relationships/notesMaster" Target="../notesMasters/notesMaster1.xml"/>
</Relationships>
</file>

<file path=ppt/notesSlides/_rels/notesSlide84.xml.rels><?xml version="1.0" encoding="UTF-8"?>
<Relationships xmlns="http://schemas.openxmlformats.org/package/2006/relationships"><Relationship Id="rId1" Type="http://schemas.openxmlformats.org/officeDocument/2006/relationships/slide" Target="../slides/slide84.xml"/><Relationship Id="rId2" Type="http://schemas.openxmlformats.org/officeDocument/2006/relationships/notesMaster" Target="../notesMasters/notesMaster1.xml"/>
</Relationships>
</file>

<file path=ppt/notesSlides/_rels/notesSlide85.xml.rels><?xml version="1.0" encoding="UTF-8"?>
<Relationships xmlns="http://schemas.openxmlformats.org/package/2006/relationships"><Relationship Id="rId1" Type="http://schemas.openxmlformats.org/officeDocument/2006/relationships/slide" Target="../slides/slide85.xml"/><Relationship Id="rId2" Type="http://schemas.openxmlformats.org/officeDocument/2006/relationships/notesMaster" Target="../notesMasters/notesMaster1.xml"/>
</Relationships>
</file>

<file path=ppt/notesSlides/_rels/notesSlide86.xml.rels><?xml version="1.0" encoding="UTF-8"?>
<Relationships xmlns="http://schemas.openxmlformats.org/package/2006/relationships"><Relationship Id="rId1" Type="http://schemas.openxmlformats.org/officeDocument/2006/relationships/slide" Target="../slides/slide86.xml"/><Relationship Id="rId2" Type="http://schemas.openxmlformats.org/officeDocument/2006/relationships/notesMaster" Target="../notesMasters/notesMaster1.xml"/>
</Relationships>
</file>

<file path=ppt/notesSlides/_rels/notesSlide87.xml.rels><?xml version="1.0" encoding="UTF-8"?>
<Relationships xmlns="http://schemas.openxmlformats.org/package/2006/relationships"><Relationship Id="rId1" Type="http://schemas.openxmlformats.org/officeDocument/2006/relationships/slide" Target="../slides/slide87.xml"/><Relationship Id="rId2" Type="http://schemas.openxmlformats.org/officeDocument/2006/relationships/notesMaster" Target="../notesMasters/notesMaster1.xml"/>
</Relationships>
</file>

<file path=ppt/notesSlides/_rels/notesSlide88.xml.rels><?xml version="1.0" encoding="UTF-8"?>
<Relationships xmlns="http://schemas.openxmlformats.org/package/2006/relationships"><Relationship Id="rId1" Type="http://schemas.openxmlformats.org/officeDocument/2006/relationships/slide" Target="../slides/slide88.xml"/><Relationship Id="rId2" Type="http://schemas.openxmlformats.org/officeDocument/2006/relationships/notesMaster" Target="../notesMasters/notesMaster1.xml"/>
</Relationships>
</file>

<file path=ppt/notesSlides/_rels/notesSlide89.xml.rels><?xml version="1.0" encoding="UTF-8"?>
<Relationships xmlns="http://schemas.openxmlformats.org/package/2006/relationships"><Relationship Id="rId1" Type="http://schemas.openxmlformats.org/officeDocument/2006/relationships/slide" Target="../slides/slide89.xml"/><Relationship Id="rId2" Type="http://schemas.openxmlformats.org/officeDocument/2006/relationships/notesMaster" Target="../notesMasters/notesMaster1.xml"/>
</Relationships>
</file>

<file path=ppt/notesSlides/_rels/notesSlide90.xml.rels><?xml version="1.0" encoding="UTF-8"?>
<Relationships xmlns="http://schemas.openxmlformats.org/package/2006/relationships"><Relationship Id="rId1" Type="http://schemas.openxmlformats.org/officeDocument/2006/relationships/slide" Target="../slides/slide90.xml"/><Relationship Id="rId2" Type="http://schemas.openxmlformats.org/officeDocument/2006/relationships/notesMaster" Target="../notesMasters/notesMaster1.xml"/>
</Relationships>
</file>

<file path=ppt/notesSlides/_rels/notesSlide91.xml.rels><?xml version="1.0" encoding="UTF-8"?>
<Relationships xmlns="http://schemas.openxmlformats.org/package/2006/relationships"><Relationship Id="rId1" Type="http://schemas.openxmlformats.org/officeDocument/2006/relationships/slide" Target="../slides/slide9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69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EB0B78A-C79F-4613-807A-926BC46CFC8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0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1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427C3FB-7F7B-4E95-937E-975733840D6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4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F8C732F-4A2F-401D-A425-2D3BABFF42A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0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7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36CD053-79E9-447C-B7C5-0CF91894521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0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0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701D303-BE59-4377-862D-2489C2D623D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3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973AEC9-EFE9-41A7-A018-E0145101F4D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6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548FBDE-E279-4E27-BD67-A0F40465F14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9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30509F9-EFDD-4BD0-9102-D66516BB3F2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2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2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58FAC01-E06F-48C7-901E-9074E114FCE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5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F89F1D8-3008-42BD-B1B7-55A39AA2061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2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8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358278B-633F-4E59-844B-C31D560C71B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1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813543B-BD7A-486B-ADAF-F27142F19DA2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3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4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187123D-E421-47BB-97DB-C350E80FEA4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7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C404BA2-6F56-43DB-A8F4-D88C6462325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3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0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DECD1A4-1E89-4C99-93CD-8444953F47A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4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3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7C1216B-9730-43A4-8E45-497F9ACACD2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6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46A31E7-B2C3-42D7-B8E9-775F266B7C1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4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9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E7FCD81-A7EA-4CD4-BC11-561602A08C2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5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2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7CF385-B2A9-4E2C-92C6-6DB4DE13CB6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5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5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1A9AD7-C726-4C9C-97FB-98CFA6B847E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8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C497E9D-A76D-48F3-A150-D16B4798FF5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1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44420BF-44FD-46EA-B9CA-5B4F654F189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4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7A6DAA0-D754-46A6-AD31-6E2C77A26DB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7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664ADAE-1A20-4CAF-A020-321E0B238BE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0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172A903-D9B6-45C4-A1EA-8942080ED21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3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93C5A09-ED3E-40FD-AD98-72A645A8BBA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6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3267EEC-EBF5-41EB-80C0-072B7EC7FDB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9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22A6CB9-4A22-4BD8-882A-73066D6AB3A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2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EFFCA51-A4CE-4A60-9C18-457EBC6A08D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5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EBAB9D1-BBC7-4EFD-9F47-064050161DD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8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978E132-DBFD-466A-B05C-E09C685429B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1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504B1D8-6A55-4BA3-93E4-166D1FB1282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4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3889B7D-578D-4D55-9FFA-D8082A1FA8F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9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7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0F05E3C-6D3B-4EDF-BF3B-6DC39F3D081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79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0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660D77E-3B2A-41B1-A780-17ABE5D277E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0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3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678D3B6-CF33-41B0-8D2D-F477FBCB700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0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6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72F126F-C5F2-43FC-B486-DE9433E2D52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9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646D959-E210-4C00-9962-441168AAECD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2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596F523-7A3E-4569-AADD-8A805161230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5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41C4526-299E-488C-8CC3-784D5A9ECCB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8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EC6A3E0-1CF7-47BE-9CE6-E501350F3CD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2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1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9583DA3-832C-43EB-A7A0-268A8D6C17B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4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30C7D6D-F8AD-48D1-A7E8-264FFDE8982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7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6509AFC-276C-4C1F-ABE0-F15ECA623E1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0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8D4BEC7-8B57-4CC0-B4DF-8C61335043F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3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9E1B924-0A26-45C0-A7B2-B1E0FD49722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6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A293797-BAEA-439D-A31C-87AFA007FD2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9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063DFB1-16A4-47A1-8348-356311D6DC4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4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2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799026D-9482-4DE3-A195-D51A272C479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5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C131C95-5031-4EAF-84CD-E1C966F07D1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4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8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626E8B2-8C0E-456D-A5D9-E8475A11909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1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AD855C8-E77A-42FC-A69A-D184252DEAF6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5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4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F527354-9B05-4C07-A925-5640B7BB1390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5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7" name="PlaceHolder 3"/>
          <p:cNvSpPr>
            <a:spLocks noGrp="1"/>
          </p:cNvSpPr>
          <p:nvPr>
            <p:ph type="sldNum" idx="9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CFCD7FA-5CBC-4D52-A737-41A8981B967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5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0" name="PlaceHolder 3"/>
          <p:cNvSpPr>
            <a:spLocks noGrp="1"/>
          </p:cNvSpPr>
          <p:nvPr>
            <p:ph type="sldNum" idx="9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909971A-B194-4366-8198-D397D6A4732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6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3" name="PlaceHolder 3"/>
          <p:cNvSpPr>
            <a:spLocks noGrp="1"/>
          </p:cNvSpPr>
          <p:nvPr>
            <p:ph type="sldNum" idx="9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0600C99-DB19-475C-9E91-8C98CFF0D6E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6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6" name="PlaceHolder 3"/>
          <p:cNvSpPr>
            <a:spLocks noGrp="1"/>
          </p:cNvSpPr>
          <p:nvPr>
            <p:ph type="sldNum" idx="9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CE85828-A8CB-4076-B84F-B11B219C6EF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6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9" name="PlaceHolder 3"/>
          <p:cNvSpPr>
            <a:spLocks noGrp="1"/>
          </p:cNvSpPr>
          <p:nvPr>
            <p:ph type="sldNum" idx="9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A5D3D64-82DF-41A6-8C40-F821AF7C473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7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2" name="PlaceHolder 3"/>
          <p:cNvSpPr>
            <a:spLocks noGrp="1"/>
          </p:cNvSpPr>
          <p:nvPr>
            <p:ph type="sldNum" idx="9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EA18B82-31F7-4CBF-B8B1-00A239EF970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7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5" name="PlaceHolder 3"/>
          <p:cNvSpPr>
            <a:spLocks noGrp="1"/>
          </p:cNvSpPr>
          <p:nvPr>
            <p:ph type="sldNum" idx="9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E2F4C95-CD8E-45E0-954D-4F71329A062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7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8" name="PlaceHolder 3"/>
          <p:cNvSpPr>
            <a:spLocks noGrp="1"/>
          </p:cNvSpPr>
          <p:nvPr>
            <p:ph type="sldNum" idx="9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131E5B4-6E6B-482E-96BD-09129C2A7B1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1" name="PlaceHolder 3"/>
          <p:cNvSpPr>
            <a:spLocks noGrp="1"/>
          </p:cNvSpPr>
          <p:nvPr>
            <p:ph type="sldNum" idx="9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09206A4-812A-49B2-83A5-3AE6026401F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4" name="PlaceHolder 3"/>
          <p:cNvSpPr>
            <a:spLocks noGrp="1"/>
          </p:cNvSpPr>
          <p:nvPr>
            <p:ph type="sldNum" idx="9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A9E1DC1-7F55-4AB6-A984-2387F484F56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7" name="PlaceHolder 3"/>
          <p:cNvSpPr>
            <a:spLocks noGrp="1"/>
          </p:cNvSpPr>
          <p:nvPr>
            <p:ph type="sldNum" idx="10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8D7B2B9-FC49-43D3-8DA2-BE158AC398C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0" name="PlaceHolder 3"/>
          <p:cNvSpPr>
            <a:spLocks noGrp="1"/>
          </p:cNvSpPr>
          <p:nvPr>
            <p:ph type="sldNum" idx="10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8A230C9-C372-4EAF-995B-5F0DEBAD8B2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3" name="PlaceHolder 3"/>
          <p:cNvSpPr>
            <a:spLocks noGrp="1"/>
          </p:cNvSpPr>
          <p:nvPr>
            <p:ph type="sldNum" idx="10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9721670-5726-47AE-8192-8D332C00FE6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6" name="PlaceHolder 3"/>
          <p:cNvSpPr>
            <a:spLocks noGrp="1"/>
          </p:cNvSpPr>
          <p:nvPr>
            <p:ph type="sldNum" idx="10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0EC1C6F-B913-4C9E-969F-507A5440BD7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8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9" name="PlaceHolder 3"/>
          <p:cNvSpPr>
            <a:spLocks noGrp="1"/>
          </p:cNvSpPr>
          <p:nvPr>
            <p:ph type="sldNum" idx="10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3B80341-18AA-450C-A293-3AD8F3C71EC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2" name="PlaceHolder 3"/>
          <p:cNvSpPr>
            <a:spLocks noGrp="1"/>
          </p:cNvSpPr>
          <p:nvPr>
            <p:ph type="sldNum" idx="10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234AD64-8559-4CC7-8884-F5F9AA991E4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5" name="PlaceHolder 3"/>
          <p:cNvSpPr>
            <a:spLocks noGrp="1"/>
          </p:cNvSpPr>
          <p:nvPr>
            <p:ph type="sldNum" idx="10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7CA0D3F-1899-40DE-95D8-277E450DFBE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8" name="PlaceHolder 3"/>
          <p:cNvSpPr>
            <a:spLocks noGrp="1"/>
          </p:cNvSpPr>
          <p:nvPr>
            <p:ph type="sldNum" idx="10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65F1183-3C80-43B8-871B-F865F6C68C81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1" name="PlaceHolder 3"/>
          <p:cNvSpPr>
            <a:spLocks noGrp="1"/>
          </p:cNvSpPr>
          <p:nvPr>
            <p:ph type="sldNum" idx="10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1186224-7055-4EC9-BFD4-AAA06F561BF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4" name="PlaceHolder 3"/>
          <p:cNvSpPr>
            <a:spLocks noGrp="1"/>
          </p:cNvSpPr>
          <p:nvPr>
            <p:ph type="sldNum" idx="10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6F576D5-2A48-499A-8AEF-C6D0FCB2527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7" name="PlaceHolder 3"/>
          <p:cNvSpPr>
            <a:spLocks noGrp="1"/>
          </p:cNvSpPr>
          <p:nvPr>
            <p:ph type="sldNum" idx="11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926D7E0-737E-4B3D-9645-D324140DD6A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0" name="PlaceHolder 3"/>
          <p:cNvSpPr>
            <a:spLocks noGrp="1"/>
          </p:cNvSpPr>
          <p:nvPr>
            <p:ph type="sldNum" idx="11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F1BE0DA-B272-4F3A-89D6-3E053981686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3" name="PlaceHolder 3"/>
          <p:cNvSpPr>
            <a:spLocks noGrp="1"/>
          </p:cNvSpPr>
          <p:nvPr>
            <p:ph type="sldNum" idx="11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3F1B024-FE8B-41C2-8975-7287F705FB49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6" name="PlaceHolder 3"/>
          <p:cNvSpPr>
            <a:spLocks noGrp="1"/>
          </p:cNvSpPr>
          <p:nvPr>
            <p:ph type="sldNum" idx="11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7AC222F-98DD-47F0-8A1E-5764A718A7AD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9" name="PlaceHolder 3"/>
          <p:cNvSpPr>
            <a:spLocks noGrp="1"/>
          </p:cNvSpPr>
          <p:nvPr>
            <p:ph type="sldNum" idx="11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952EA81-5227-44BD-85D5-B8B4C148A52E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2" name="PlaceHolder 3"/>
          <p:cNvSpPr>
            <a:spLocks noGrp="1"/>
          </p:cNvSpPr>
          <p:nvPr>
            <p:ph type="sldNum" idx="11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E03507D-798D-48B3-8D9F-B999D18C7B2F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5" name="PlaceHolder 3"/>
          <p:cNvSpPr>
            <a:spLocks noGrp="1"/>
          </p:cNvSpPr>
          <p:nvPr>
            <p:ph type="sldNum" idx="11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60A9B2E-2342-4209-AFE8-380160E9DB7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8" name="PlaceHolder 3"/>
          <p:cNvSpPr>
            <a:spLocks noGrp="1"/>
          </p:cNvSpPr>
          <p:nvPr>
            <p:ph type="sldNum" idx="11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9355A71-A451-47DC-9BA7-D3D43E83598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1" name="PlaceHolder 3"/>
          <p:cNvSpPr>
            <a:spLocks noGrp="1"/>
          </p:cNvSpPr>
          <p:nvPr>
            <p:ph type="sldNum" idx="11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E24CE26-AC0F-4B8C-B639-25306D085BF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4" name="PlaceHolder 3"/>
          <p:cNvSpPr>
            <a:spLocks noGrp="1"/>
          </p:cNvSpPr>
          <p:nvPr>
            <p:ph type="sldNum" idx="11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0AC3344-80DF-4939-8D2A-BCF82D91DF1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7" name="PlaceHolder 3"/>
          <p:cNvSpPr>
            <a:spLocks noGrp="1"/>
          </p:cNvSpPr>
          <p:nvPr>
            <p:ph type="sldNum" idx="12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D8A4753-9D8E-4F50-B7E3-2481C53092A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0" name="PlaceHolder 3"/>
          <p:cNvSpPr>
            <a:spLocks noGrp="1"/>
          </p:cNvSpPr>
          <p:nvPr>
            <p:ph type="sldNum" idx="12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55FFEF0-8F5E-4571-8EAE-44DC17775CEB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3" name="PlaceHolder 3"/>
          <p:cNvSpPr>
            <a:spLocks noGrp="1"/>
          </p:cNvSpPr>
          <p:nvPr>
            <p:ph type="sldNum" idx="12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7BBDD9A-5590-441C-8687-99CF386C3AE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5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6" name="PlaceHolder 3"/>
          <p:cNvSpPr>
            <a:spLocks noGrp="1"/>
          </p:cNvSpPr>
          <p:nvPr>
            <p:ph type="sldNum" idx="12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7697572-72BF-4896-ACB3-828BAC5A7AC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9" name="PlaceHolder 3"/>
          <p:cNvSpPr>
            <a:spLocks noGrp="1"/>
          </p:cNvSpPr>
          <p:nvPr>
            <p:ph type="sldNum" idx="12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7C1E3BE-A401-47CE-8B3C-085F5C1AB204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2" name="PlaceHolder 3"/>
          <p:cNvSpPr>
            <a:spLocks noGrp="1"/>
          </p:cNvSpPr>
          <p:nvPr>
            <p:ph type="sldNum" idx="12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63F1870-E9B1-4941-B259-19F9D3561333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6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5" name="PlaceHolder 3"/>
          <p:cNvSpPr>
            <a:spLocks noGrp="1"/>
          </p:cNvSpPr>
          <p:nvPr>
            <p:ph type="sldNum" idx="12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A8EE6FC-EAAD-42FB-A865-814E94D85975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9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8" name="PlaceHolder 3"/>
          <p:cNvSpPr>
            <a:spLocks noGrp="1"/>
          </p:cNvSpPr>
          <p:nvPr>
            <p:ph type="sldNum" idx="12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9A19BAB-32B6-4ED4-8A0C-B308800D4F3A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A49CB9-DAD7-41B8-BC9F-75F74926FFE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71ABFB-4FA8-4D74-B739-370FA07AB0E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94FC36-B41B-4B5B-95CD-4DA6C4A31E0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E523F5D-225D-4942-8A66-62368591862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C2F40F3-77FE-4092-B9A5-CAB737685C1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6C1834-7D72-4770-BC23-9F77BC13D26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D6EAE9-9B90-4EAF-8AB3-EBBC83A17E2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1BA221-1B70-41B0-94B6-7F0C8A1A622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2BD392-48F7-431B-9071-2E8C2B4FEB8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D3D2D37-F921-45C5-8ED3-6359477987B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ED382B-EF8E-4DBD-B0FA-7B693F2D8D2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hyperlink" Target="../lab/guided/rectangle_tools.py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.xml"/>
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hyperlink" Target="../lab/ENVIRONMENT.md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hyperlink" Target="../lab/ENVIRONMENT.md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9.xml"/>
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hyperlink" Target="../lab/ENVIRONMENT.md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0.xml"/>
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hyperlink" Target="../lab/ENVIRONMENT.md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1.xml"/>
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hyperlink" Target="../lab/02_config_demo.py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2.xml"/>
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hyperlink" Target="../lab/PYTHONPATH.md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3.xml"/>
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hyperlink" Target="../lab/PYTHONPATH.md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4.xml"/>
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hyperlink" Target="../lab/01_environment_check.py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5.xml"/>
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hyperlink" Target="../lab/VSCODE.md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
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hyperlink" Target="../lab/guided/run_rectangle.py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8.xml"/>
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hyperlink" Target="../lab/guided/tests/test_rectangle.py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9.xml"/>
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hyperlink" Target="../lab/VSCODE.md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0.xml"/>
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hyperlink" Target="../lab/AI_HELP.md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1.xml"/>
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hyperlink" Target="../lab/AI_PRACTICE.md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2.xml"/>
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hyperlink" Target="../lab/AI_PRACTICE.md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
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hyperlink" Target="../lab/AI_PRACTICE.md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5.xml"/>
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hyperlink" Target="../lab/AI_PRACTICE.md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6.xml"/>
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hyperlink" Target="../lab/AI_HELP.md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
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hyperlink" Target="../lab/AI_PRACTICE.md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9.xml"/>
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hyperlink" Target="../lab/AI_PRACTICE.md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0.xml"/>
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hyperlink" Target="../lab/AI_PRACTICE.md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
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hyperlink" Target="../lab/performance/vectorization_steps.py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4.xml"/>
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hyperlink" Target="../lab/performance/vectorization_steps.py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5.xml"/>
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hyperlink" Target="../lab/performance/vectorization_steps.py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6.xml"/>
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hyperlink" Target="../lab/continuation_22/01_Benchmark_Cpp_Python_FR.ipynb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7.xml"/>
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hyperlink" Target="../lab/continuation_22/01_Benchmark_Cpp_Python_FR.ipynb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8.xml"/>
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hyperlink" Target="../lab/continuation_22/01_Benchmark_Cpp_Python_FR.py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0.xml"/>
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hyperlink" Target="../lab/performance/vectorization_steps.py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1.xml"/>
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hyperlink" Target="../lab/performance/vectorization_steps.py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2.xml"/>
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hyperlink" Target="../lab/performance/vectorization_steps.py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3.xml"/>
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hyperlink" Target="../lab/performance/vectorization_steps.py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5.xml"/>
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hyperlink" Target="../lab/performance/parallel_steps.py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6.xml"/>
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hyperlink" Target="../lab/performance/parallel_steps.py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7.xml"/>
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hyperlink" Target="../lab/performance/mean_task.py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8.xml"/>
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hyperlink" Target="../lab/performance/parallel_steps.py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9.xml"/>
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hyperlink" Target="../lab/performance/parallel_steps.py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0.xml"/>
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hyperlink" Target="../lab/performance/parallel_steps.py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1.xml"/>
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hyperlink" Target="../lab/performance/parallel_steps.py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2.xml"/>
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hyperlink" Target="../lab/performance/README.md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4.xml"/>
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hyperlink" Target="../lab/performance/README.md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5.xml"/>
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hyperlink" Target="../lab/continuation_22/02_Parallelisme_CPU_GPU_FR.ipynb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6.xml"/>
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hyperlink" Target="../lab/continuation_22/02_Parallelisme_CPU_GPU_FR.ipynb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0.xml"/>
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../lab/continuation_22/03_Architecture_Gaussian_mixture_FR.ipynb" TargetMode="External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61.xml"/>
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hyperlink" Target="../lab/continuation_22/03_Architecture_Gaussian_mixture_FR.ipynb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6.xml"/>
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hyperlink" Target="../lab/continuation_22/03_Architecture_Gaussian_mixture_FR.ipynb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8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2.xml"/>
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hyperlink" Target="../lab/continuation_22/03_Architecture_Gaussian_mixture_FR.ipynb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73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4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5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6.xml"/>
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hyperlink" Target="../lab/continuation_22/04_CSV_types_missing_values_FR.ipynb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77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8.xml"/>
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hyperlink" Target="../lab/continuation_22/04_CSV_types_missing_values_FR.ipynb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79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0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1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2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3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4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5.xml"/>
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hyperlink" Target="../lab/continuation_22/API_REFERENCE.md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6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7.xml"/>
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hyperlink" Target="../documents/2026-09-24_python_exercices.docx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8.xml"/>
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hyperlink" Target="../lab/continuation_22/05_Afternoon_exercises_FR.ipynb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9.xml"/>
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hyperlink" Target="../lab/SUBMISSION.md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90.xml"/>
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hyperlink" Target="../lab/R_NEXT.md" TargetMode="External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9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COURS ET EXEMPLES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1" lang="en-US" sz="3000" strike="noStrike" u="none">
              <a:solidFill>
                <a:srgbClr val="102a43"/>
              </a:solidFill>
              <a:effectLst/>
              <a:uFillTx/>
              <a:latin typeface="Aptos"/>
            </a:endParaRPr>
          </a:p>
        </p:txBody>
      </p:sp>
      <p:sp>
        <p:nvSpPr>
          <p:cNvPr id="67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ectangle 4"/>
          <p:cNvSpPr/>
          <p:nvPr/>
        </p:nvSpPr>
        <p:spPr>
          <a:xfrm>
            <a:off x="0" y="0"/>
            <a:ext cx="12191760" cy="63090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777240" y="7772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6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COURS ET EXEMPLES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6"/>
          <p:cNvSpPr/>
          <p:nvPr/>
        </p:nvSpPr>
        <p:spPr>
          <a:xfrm>
            <a:off x="786240" y="1508760"/>
            <a:ext cx="776880" cy="637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777240" y="1856160"/>
            <a:ext cx="1056096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41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Python : comprendre,</a:t>
            </a:r>
            <a:endParaRPr b="0" lang="en-US" sz="4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41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vérifier et exécuter</a:t>
            </a:r>
            <a:endParaRPr b="0" lang="en-US" sz="4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8"/>
          <p:cNvSpPr/>
          <p:nvPr/>
        </p:nvSpPr>
        <p:spPr>
          <a:xfrm>
            <a:off x="777240" y="4041720"/>
            <a:ext cx="10560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500" strike="noStrike" u="none">
                <a:solidFill>
                  <a:srgbClr val="dce8ee"/>
                </a:solidFill>
                <a:effectLst/>
                <a:uFillTx/>
                <a:latin typeface="Aptos"/>
              </a:rPr>
              <a:t>Suite du 22 septembre et outils du 24 septembre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500" strike="noStrike" u="none">
                <a:solidFill>
                  <a:srgbClr val="dce8ee"/>
                </a:solidFill>
                <a:effectLst/>
                <a:uFillTx/>
                <a:latin typeface="Aptos"/>
              </a:rPr>
              <a:t>Olivier Delrieu — 24 septembre 2026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9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55708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10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1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01 / 91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RETOUR SUR LE TRAVAIL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Partir de votre dernier essai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Rectangle 4"/>
          <p:cNvSpPr/>
          <p:nvPr/>
        </p:nvSpPr>
        <p:spPr>
          <a:xfrm>
            <a:off x="73152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5"/>
          <p:cNvSpPr/>
          <p:nvPr/>
        </p:nvSpPr>
        <p:spPr>
          <a:xfrm>
            <a:off x="731520" y="2267640"/>
            <a:ext cx="54360" cy="23770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6"/>
          <p:cNvSpPr/>
          <p:nvPr/>
        </p:nvSpPr>
        <p:spPr>
          <a:xfrm>
            <a:off x="9234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CODE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7"/>
          <p:cNvSpPr/>
          <p:nvPr/>
        </p:nvSpPr>
        <p:spPr>
          <a:xfrm>
            <a:off x="9234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Quel exercice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avez-vous choisi ?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Chevron 8"/>
          <p:cNvSpPr/>
          <p:nvPr/>
        </p:nvSpPr>
        <p:spPr>
          <a:xfrm>
            <a:off x="4127040" y="3273480"/>
            <a:ext cx="209880" cy="365400"/>
          </a:xfrm>
          <a:prstGeom prst="chevron">
            <a:avLst>
              <a:gd name="adj" fmla="val 50000"/>
            </a:avLst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Rectangle 9"/>
          <p:cNvSpPr/>
          <p:nvPr/>
        </p:nvSpPr>
        <p:spPr>
          <a:xfrm>
            <a:off x="441972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Rectangle 10"/>
          <p:cNvSpPr/>
          <p:nvPr/>
        </p:nvSpPr>
        <p:spPr>
          <a:xfrm>
            <a:off x="4419720" y="2267640"/>
            <a:ext cx="54360" cy="23770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11"/>
          <p:cNvSpPr/>
          <p:nvPr/>
        </p:nvSpPr>
        <p:spPr>
          <a:xfrm>
            <a:off x="46116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ATTENDU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2"/>
          <p:cNvSpPr/>
          <p:nvPr/>
        </p:nvSpPr>
        <p:spPr>
          <a:xfrm>
            <a:off x="46116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Quel résultat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attendiez-vous ?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Chevron 13"/>
          <p:cNvSpPr/>
          <p:nvPr/>
        </p:nvSpPr>
        <p:spPr>
          <a:xfrm>
            <a:off x="7815240" y="3273480"/>
            <a:ext cx="209880" cy="365400"/>
          </a:xfrm>
          <a:prstGeom prst="chevron">
            <a:avLst>
              <a:gd name="adj" fmla="val 50000"/>
            </a:avLst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Rectangle 14"/>
          <p:cNvSpPr/>
          <p:nvPr/>
        </p:nvSpPr>
        <p:spPr>
          <a:xfrm>
            <a:off x="810756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" name="Rectangle 15"/>
          <p:cNvSpPr/>
          <p:nvPr/>
        </p:nvSpPr>
        <p:spPr>
          <a:xfrm>
            <a:off x="8107560" y="2267640"/>
            <a:ext cx="54360" cy="23770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16"/>
          <p:cNvSpPr/>
          <p:nvPr/>
        </p:nvSpPr>
        <p:spPr>
          <a:xfrm>
            <a:off x="82998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OBSERVÉ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7"/>
          <p:cNvSpPr/>
          <p:nvPr/>
        </p:nvSpPr>
        <p:spPr>
          <a:xfrm>
            <a:off x="82998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Quelle sortie ou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erreur avez-vous ?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ectangle 18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19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Montrer un exemple précis permet de choisir quoi vérifier ensuite.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20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21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2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02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PRÉDIRE AVANT D’EXÉCUTER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Un calcul peut-il renvoyer une phrase 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def area(width: float,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     height: float) -&gt; float: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return f"Area: {width * height}"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result = area(4, 3)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assert result == 12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À PRÉDIRE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Valeur de result ?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Type de result ?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test réussit-il ?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L’annotation annonce un type attendu ; elle ne convertit pas la valeur.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12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13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4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03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SUITE DE L’EXEMPLE PRÉCÉDENT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Observer ce que la fonction renvoie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print(repr(result))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print(type(result).__name__)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# Observed output: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# 'Area: 12'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# str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CHERCHER LA CAUSE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Lire le return.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Comparer la valeur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au nombre attendu.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Le message d’erreur montre un écart ; l’inspection aide à l’expliquer.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12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13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14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04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TROIS ACTIONS DISTINCTES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Calculer, décrire, afficher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Rectangle 4"/>
          <p:cNvSpPr/>
          <p:nvPr/>
        </p:nvSpPr>
        <p:spPr>
          <a:xfrm>
            <a:off x="73152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Rectangle 5"/>
          <p:cNvSpPr/>
          <p:nvPr/>
        </p:nvSpPr>
        <p:spPr>
          <a:xfrm>
            <a:off x="731520" y="2267640"/>
            <a:ext cx="54360" cy="23770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6"/>
          <p:cNvSpPr/>
          <p:nvPr/>
        </p:nvSpPr>
        <p:spPr>
          <a:xfrm>
            <a:off x="9234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area()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7"/>
          <p:cNvSpPr/>
          <p:nvPr/>
        </p:nvSpPr>
        <p:spPr>
          <a:xfrm>
            <a:off x="9234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Renvoie un nombre.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12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Chevron 8"/>
          <p:cNvSpPr/>
          <p:nvPr/>
        </p:nvSpPr>
        <p:spPr>
          <a:xfrm>
            <a:off x="4127040" y="3273480"/>
            <a:ext cx="209880" cy="365400"/>
          </a:xfrm>
          <a:prstGeom prst="chevron">
            <a:avLst>
              <a:gd name="adj" fmla="val 50000"/>
            </a:avLst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Rectangle 9"/>
          <p:cNvSpPr/>
          <p:nvPr/>
        </p:nvSpPr>
        <p:spPr>
          <a:xfrm>
            <a:off x="441972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Rectangle 10"/>
          <p:cNvSpPr/>
          <p:nvPr/>
        </p:nvSpPr>
        <p:spPr>
          <a:xfrm>
            <a:off x="4419720" y="2267640"/>
            <a:ext cx="54360" cy="2377080"/>
          </a:xfrm>
          <a:prstGeom prst="rect">
            <a:avLst/>
          </a:prstGeom>
          <a:solidFill>
            <a:srgbClr val="287c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11"/>
          <p:cNvSpPr/>
          <p:nvPr/>
        </p:nvSpPr>
        <p:spPr>
          <a:xfrm>
            <a:off x="46116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287c72"/>
                </a:solidFill>
                <a:effectLst/>
                <a:uFillTx/>
                <a:latin typeface="Aptos"/>
              </a:rPr>
              <a:t>describe()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2"/>
          <p:cNvSpPr/>
          <p:nvPr/>
        </p:nvSpPr>
        <p:spPr>
          <a:xfrm>
            <a:off x="46116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Renvoie un texte.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« Area: 12 »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Chevron 13"/>
          <p:cNvSpPr/>
          <p:nvPr/>
        </p:nvSpPr>
        <p:spPr>
          <a:xfrm>
            <a:off x="7815240" y="3273480"/>
            <a:ext cx="209880" cy="365400"/>
          </a:xfrm>
          <a:prstGeom prst="chevron">
            <a:avLst>
              <a:gd name="adj" fmla="val 50000"/>
            </a:avLst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Rectangle 14"/>
          <p:cNvSpPr/>
          <p:nvPr/>
        </p:nvSpPr>
        <p:spPr>
          <a:xfrm>
            <a:off x="810756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Rectangle 15"/>
          <p:cNvSpPr/>
          <p:nvPr/>
        </p:nvSpPr>
        <p:spPr>
          <a:xfrm>
            <a:off x="8107560" y="2267640"/>
            <a:ext cx="54360" cy="237708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16"/>
          <p:cNvSpPr/>
          <p:nvPr/>
        </p:nvSpPr>
        <p:spPr>
          <a:xfrm>
            <a:off x="82998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print()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7"/>
          <p:cNvSpPr/>
          <p:nvPr/>
        </p:nvSpPr>
        <p:spPr>
          <a:xfrm>
            <a:off x="82998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Affiche le texte.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Renvoie None.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18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19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Séparer ces actions permet de réutiliser le calcul sans imposer un affichage.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20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21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22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05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DU PETIT EXEMPLE AUX FICHIERS DU PROJET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Retrouver le même défaut dans une classe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lab/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└── guided/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├── rectangle_tools.py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├── run_rectangle.py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└── tests/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2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    └── test_rectangle.py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RECTANGLE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La fonction area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devient une méthode.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Elle utilise les dimensions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stockées dans l’objet.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Le programme et le test importent la même classe Rectangle.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12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guided/rectangle_tools.py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13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14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15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06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PRÉPARER PYTHON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Trois noms proches, trois rôles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Rectangle 4"/>
          <p:cNvSpPr/>
          <p:nvPr/>
        </p:nvSpPr>
        <p:spPr>
          <a:xfrm>
            <a:off x="722520" y="1856160"/>
            <a:ext cx="2445840" cy="7632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TextBox 5"/>
          <p:cNvSpPr/>
          <p:nvPr/>
        </p:nvSpPr>
        <p:spPr>
          <a:xfrm>
            <a:off x="850320" y="1879200"/>
            <a:ext cx="221256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ÉLÉMENT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6"/>
          <p:cNvSpPr/>
          <p:nvPr/>
        </p:nvSpPr>
        <p:spPr>
          <a:xfrm>
            <a:off x="3191400" y="1856160"/>
            <a:ext cx="4320360" cy="7632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7"/>
          <p:cNvSpPr/>
          <p:nvPr/>
        </p:nvSpPr>
        <p:spPr>
          <a:xfrm>
            <a:off x="3319200" y="1879200"/>
            <a:ext cx="408708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CE QU’IL CONTIENT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8"/>
          <p:cNvSpPr/>
          <p:nvPr/>
        </p:nvSpPr>
        <p:spPr>
          <a:xfrm>
            <a:off x="7534800" y="1856160"/>
            <a:ext cx="4027680" cy="7632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9"/>
          <p:cNvSpPr/>
          <p:nvPr/>
        </p:nvSpPr>
        <p:spPr>
          <a:xfrm>
            <a:off x="7662600" y="1879200"/>
            <a:ext cx="379440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À QUOI IL SERT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10"/>
          <p:cNvSpPr/>
          <p:nvPr/>
        </p:nvSpPr>
        <p:spPr>
          <a:xfrm>
            <a:off x="722520" y="2642760"/>
            <a:ext cx="244584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TextBox 11"/>
          <p:cNvSpPr/>
          <p:nvPr/>
        </p:nvSpPr>
        <p:spPr>
          <a:xfrm>
            <a:off x="850320" y="2665440"/>
            <a:ext cx="221256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.venv/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12"/>
          <p:cNvSpPr/>
          <p:nvPr/>
        </p:nvSpPr>
        <p:spPr>
          <a:xfrm>
            <a:off x="3191400" y="2642760"/>
            <a:ext cx="432036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13"/>
          <p:cNvSpPr/>
          <p:nvPr/>
        </p:nvSpPr>
        <p:spPr>
          <a:xfrm>
            <a:off x="3319200" y="2665440"/>
            <a:ext cx="408708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Python du projet et ses paquets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ectangle 14"/>
          <p:cNvSpPr/>
          <p:nvPr/>
        </p:nvSpPr>
        <p:spPr>
          <a:xfrm>
            <a:off x="7534800" y="2642760"/>
            <a:ext cx="402768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15"/>
          <p:cNvSpPr/>
          <p:nvPr/>
        </p:nvSpPr>
        <p:spPr>
          <a:xfrm>
            <a:off x="7662600" y="2665440"/>
            <a:ext cx="379440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Isoler les dépendances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Rectangle 16"/>
          <p:cNvSpPr/>
          <p:nvPr/>
        </p:nvSpPr>
        <p:spPr>
          <a:xfrm>
            <a:off x="722520" y="3429000"/>
            <a:ext cx="244584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17"/>
          <p:cNvSpPr/>
          <p:nvPr/>
        </p:nvSpPr>
        <p:spPr>
          <a:xfrm>
            <a:off x="850320" y="3451680"/>
            <a:ext cx="221256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requirements.txt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18"/>
          <p:cNvSpPr/>
          <p:nvPr/>
        </p:nvSpPr>
        <p:spPr>
          <a:xfrm>
            <a:off x="3191400" y="3429000"/>
            <a:ext cx="432036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19"/>
          <p:cNvSpPr/>
          <p:nvPr/>
        </p:nvSpPr>
        <p:spPr>
          <a:xfrm>
            <a:off x="3319200" y="3451680"/>
            <a:ext cx="408708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Une liste de paquets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Rectangle 20"/>
          <p:cNvSpPr/>
          <p:nvPr/>
        </p:nvSpPr>
        <p:spPr>
          <a:xfrm>
            <a:off x="7534800" y="3429000"/>
            <a:ext cx="402768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21"/>
          <p:cNvSpPr/>
          <p:nvPr/>
        </p:nvSpPr>
        <p:spPr>
          <a:xfrm>
            <a:off x="7662600" y="3451680"/>
            <a:ext cx="379440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Installer ce qui est nécessaire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22"/>
          <p:cNvSpPr/>
          <p:nvPr/>
        </p:nvSpPr>
        <p:spPr>
          <a:xfrm>
            <a:off x="722520" y="4215240"/>
            <a:ext cx="244584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23"/>
          <p:cNvSpPr/>
          <p:nvPr/>
        </p:nvSpPr>
        <p:spPr>
          <a:xfrm>
            <a:off x="850320" y="4238280"/>
            <a:ext cx="221256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.env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ectangle 24"/>
          <p:cNvSpPr/>
          <p:nvPr/>
        </p:nvSpPr>
        <p:spPr>
          <a:xfrm>
            <a:off x="3191400" y="4215240"/>
            <a:ext cx="432036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TextBox 25"/>
          <p:cNvSpPr/>
          <p:nvPr/>
        </p:nvSpPr>
        <p:spPr>
          <a:xfrm>
            <a:off x="3319200" y="4238280"/>
            <a:ext cx="408708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Du texte : NAME=value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26"/>
          <p:cNvSpPr/>
          <p:nvPr/>
        </p:nvSpPr>
        <p:spPr>
          <a:xfrm>
            <a:off x="7534800" y="4215240"/>
            <a:ext cx="402768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TextBox 27"/>
          <p:cNvSpPr/>
          <p:nvPr/>
        </p:nvSpPr>
        <p:spPr>
          <a:xfrm>
            <a:off x="7662600" y="4238280"/>
            <a:ext cx="379440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Configurer un programme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28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29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Un fichier .env ne crée pas de Python et n’installe aucun paquet.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30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ENVIRONMENT.md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31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32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33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07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VÉRIFIER L’ENVIRONNEMENT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Le terminal et le notebook ont chacun un Python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Rectangle 4"/>
          <p:cNvSpPr/>
          <p:nvPr/>
        </p:nvSpPr>
        <p:spPr>
          <a:xfrm>
            <a:off x="71316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Rectangle 5"/>
          <p:cNvSpPr/>
          <p:nvPr/>
        </p:nvSpPr>
        <p:spPr>
          <a:xfrm>
            <a:off x="71316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6"/>
          <p:cNvSpPr/>
          <p:nvPr/>
        </p:nvSpPr>
        <p:spPr>
          <a:xfrm>
            <a:off x="9054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TERMINAL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7"/>
          <p:cNvSpPr/>
          <p:nvPr/>
        </p:nvSpPr>
        <p:spPr>
          <a:xfrm>
            <a:off x="9054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chemin de l’exécutable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ou l’activation détermine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Python lancé.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8"/>
          <p:cNvSpPr/>
          <p:nvPr/>
        </p:nvSpPr>
        <p:spPr>
          <a:xfrm>
            <a:off x="621792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Rectangle 9"/>
          <p:cNvSpPr/>
          <p:nvPr/>
        </p:nvSpPr>
        <p:spPr>
          <a:xfrm>
            <a:off x="6217920" y="1901880"/>
            <a:ext cx="54360" cy="30902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10"/>
          <p:cNvSpPr/>
          <p:nvPr/>
        </p:nvSpPr>
        <p:spPr>
          <a:xfrm>
            <a:off x="64098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NOTEBOOK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11"/>
          <p:cNvSpPr/>
          <p:nvPr/>
        </p:nvSpPr>
        <p:spPr>
          <a:xfrm>
            <a:off x="64098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noyau exécute les cellules.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Vérifier le noyau sélectionné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dans l’interface.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ectangle 12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13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Dans les deux : import sys ; print(sys.executable)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Rectangle 14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15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16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08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DEPUIS LE DOSSIER LAB · TERMINAL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Créer un environnement si nécessaire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TextBox 4"/>
          <p:cNvSpPr/>
          <p:nvPr/>
        </p:nvSpPr>
        <p:spPr>
          <a:xfrm>
            <a:off x="777240" y="190188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LINUX · BASH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5"/>
          <p:cNvSpPr/>
          <p:nvPr/>
        </p:nvSpPr>
        <p:spPr>
          <a:xfrm>
            <a:off x="6263640" y="190188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WINDOWS · POWERSHELL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6"/>
          <p:cNvSpPr/>
          <p:nvPr/>
        </p:nvSpPr>
        <p:spPr>
          <a:xfrm>
            <a:off x="731520" y="2450520"/>
            <a:ext cx="5230080" cy="21942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7"/>
          <p:cNvSpPr/>
          <p:nvPr/>
        </p:nvSpPr>
        <p:spPr>
          <a:xfrm>
            <a:off x="914400" y="2606040"/>
            <a:ext cx="4864320" cy="188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python3 -m venv .venv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.venv/bin/python --version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ectangle 8"/>
          <p:cNvSpPr/>
          <p:nvPr/>
        </p:nvSpPr>
        <p:spPr>
          <a:xfrm>
            <a:off x="6217920" y="2450520"/>
            <a:ext cx="5230080" cy="21942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Box 9"/>
          <p:cNvSpPr/>
          <p:nvPr/>
        </p:nvSpPr>
        <p:spPr>
          <a:xfrm>
            <a:off x="6400800" y="2606040"/>
            <a:ext cx="4864320" cy="188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py -m venv .venv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.\.venv\Scripts\python.exe -V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Ces chemins fonctionnent sans activation. Conserver un environnement déjà prêt.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12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ENVIRONMENT.md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13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14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15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09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DEPUIS LAB · CHOISIR LES COMMANDES DE SON TERMINAL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Activer, puis vérifier le Python du terminal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4"/>
          <p:cNvSpPr/>
          <p:nvPr/>
        </p:nvSpPr>
        <p:spPr>
          <a:xfrm>
            <a:off x="777240" y="186552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LINUX · BASH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5"/>
          <p:cNvSpPr/>
          <p:nvPr/>
        </p:nvSpPr>
        <p:spPr>
          <a:xfrm>
            <a:off x="6263640" y="1865520"/>
            <a:ext cx="5120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WINDOWS · POWERSHELL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ectangle 6"/>
          <p:cNvSpPr/>
          <p:nvPr/>
        </p:nvSpPr>
        <p:spPr>
          <a:xfrm>
            <a:off x="731520" y="2395800"/>
            <a:ext cx="5257440" cy="2121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7"/>
          <p:cNvSpPr/>
          <p:nvPr/>
        </p:nvSpPr>
        <p:spPr>
          <a:xfrm>
            <a:off x="914400" y="2551320"/>
            <a:ext cx="4891680" cy="18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source .venv/bin/activate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9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python -m pip --version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ectangle 8"/>
          <p:cNvSpPr/>
          <p:nvPr/>
        </p:nvSpPr>
        <p:spPr>
          <a:xfrm>
            <a:off x="6217920" y="2395800"/>
            <a:ext cx="5230080" cy="2121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TextBox 9"/>
          <p:cNvSpPr/>
          <p:nvPr/>
        </p:nvSpPr>
        <p:spPr>
          <a:xfrm>
            <a:off x="6400800" y="2551320"/>
            <a:ext cx="4864320" cy="18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.\.venv\Scripts\Activate.ps1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9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python -m pip --version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Le chemin affiché par pip doit correspondre à l’environnement .venv attendu.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12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ENVIRONMENT.md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13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14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15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10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DEPUIS LAB · APRÈS ACTIVATION ET VÉRIFICATION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Installer avec le Python qui exécutera le code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Rectangle 4"/>
          <p:cNvSpPr/>
          <p:nvPr/>
        </p:nvSpPr>
        <p:spPr>
          <a:xfrm>
            <a:off x="713160" y="1938600"/>
            <a:ext cx="10743840" cy="13712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5"/>
          <p:cNvSpPr/>
          <p:nvPr/>
        </p:nvSpPr>
        <p:spPr>
          <a:xfrm>
            <a:off x="896040" y="2094120"/>
            <a:ext cx="10378080" cy="10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python -m pip install -r requirements.txt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python 01_environment_check.py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6"/>
          <p:cNvSpPr/>
          <p:nvPr/>
        </p:nvSpPr>
        <p:spPr>
          <a:xfrm>
            <a:off x="786240" y="3657600"/>
            <a:ext cx="2971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DANS LE NOTEBOOK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7"/>
          <p:cNvSpPr/>
          <p:nvPr/>
        </p:nvSpPr>
        <p:spPr>
          <a:xfrm>
            <a:off x="3749040" y="3657600"/>
            <a:ext cx="749772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Choisir le noyau du projet.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Vérifier sys.executable dans une cellule.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8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9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Les exemples repris du 22 ont aussi un fichier continuation_22/requirements.txt.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10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ENVIRONMENT.md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ectangle 11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12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13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11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COPIER .ENV.EXAMPLE VERS .ENV AVANT CET ESSAI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.env : un fichier texte que le programme lit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8" name="TextBox 4"/>
          <p:cNvSpPr/>
          <p:nvPr/>
        </p:nvSpPr>
        <p:spPr>
          <a:xfrm>
            <a:off x="768240" y="1865520"/>
            <a:ext cx="3931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FICHIER .env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Rectangle 5"/>
          <p:cNvSpPr/>
          <p:nvPr/>
        </p:nvSpPr>
        <p:spPr>
          <a:xfrm>
            <a:off x="731520" y="2414160"/>
            <a:ext cx="4205880" cy="21211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6"/>
          <p:cNvSpPr/>
          <p:nvPr/>
        </p:nvSpPr>
        <p:spPr>
          <a:xfrm>
            <a:off x="914400" y="2569320"/>
            <a:ext cx="3840120" cy="18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COURSE_LABEL=practice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N_VALUES=20000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N_WORKERS=2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7"/>
          <p:cNvSpPr/>
          <p:nvPr/>
        </p:nvSpPr>
        <p:spPr>
          <a:xfrm>
            <a:off x="5239440" y="1865520"/>
            <a:ext cx="6126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CODE PYTHON · DEPUIS lab/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ectangle 8"/>
          <p:cNvSpPr/>
          <p:nvPr/>
        </p:nvSpPr>
        <p:spPr>
          <a:xfrm>
            <a:off x="5166360" y="2414160"/>
            <a:ext cx="6290640" cy="25416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TextBox 9"/>
          <p:cNvSpPr/>
          <p:nvPr/>
        </p:nvSpPr>
        <p:spPr>
          <a:xfrm>
            <a:off x="5349240" y="2569320"/>
            <a:ext cx="5924880" cy="223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from dotenv import dotenv_values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raw = dotenv_values(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".env", interpolate=False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count = int(raw["N_VALUES"])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Ces réglages servent à cette démonstration. Les scripts de performance ont leurs propres options.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12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02_config_demo.py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Rectangle 13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14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5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12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DANS .ENV · CHOISIR ET ADAPTER UN SEUL CHEMIN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PYTHONPATH : où chercher vos modules 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4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# Linux example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PYTHONPATH=/home/user/course/lab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# Windows example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PYTHONPATH=C:/course/lab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DOSSIER À AJOUTER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dossier lab contient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dossier guided.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Python pourra y chercher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module demandé.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PYTHONPATH est lu au démarrage de Python ; créer .env ne suffit pas à le charger.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12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PYTHONPATH.md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ectangle 13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14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15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13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EXTRAIT DE .VSCODE/SETTINGS.JSON · DOSSIER LAB OUVERT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Faire lire .env par le terminal de VS Code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{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"python.envFile":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"${workspaceFolder}/.env",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"python.terminal.useEnvFile": true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}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ESSAI À FAIRE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Adapter le chemin.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Activer ces réglages.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Ouvrir un terminal neuf.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Vérifier l’import.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Dans le kit, useEnvFile vaut d’abord false. La fiche donne les commandes de vérification.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12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PYTHONPATH.md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Rectangle 13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8" name="TextBox 14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15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14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DIAGNOSTIC DE L’ENVIRONNEMENT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Un import échoue : quoi vérifier 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Rectangle 4"/>
          <p:cNvSpPr/>
          <p:nvPr/>
        </p:nvSpPr>
        <p:spPr>
          <a:xfrm>
            <a:off x="722520" y="1856160"/>
            <a:ext cx="4274640" cy="6224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Box 5"/>
          <p:cNvSpPr/>
          <p:nvPr/>
        </p:nvSpPr>
        <p:spPr>
          <a:xfrm>
            <a:off x="850320" y="1879200"/>
            <a:ext cx="40413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OBSERVATION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Rectangle 6"/>
          <p:cNvSpPr/>
          <p:nvPr/>
        </p:nvSpPr>
        <p:spPr>
          <a:xfrm>
            <a:off x="5020200" y="1856160"/>
            <a:ext cx="6542280" cy="6224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TextBox 7"/>
          <p:cNvSpPr/>
          <p:nvPr/>
        </p:nvSpPr>
        <p:spPr>
          <a:xfrm>
            <a:off x="5148000" y="1879200"/>
            <a:ext cx="63090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PROCHAINE VÉRIFICATION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Rectangle 8"/>
          <p:cNvSpPr/>
          <p:nvPr/>
        </p:nvSpPr>
        <p:spPr>
          <a:xfrm>
            <a:off x="722520" y="2501640"/>
            <a:ext cx="42746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Box 9"/>
          <p:cNvSpPr/>
          <p:nvPr/>
        </p:nvSpPr>
        <p:spPr>
          <a:xfrm>
            <a:off x="850320" y="2524680"/>
            <a:ext cx="40413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paquet semble installé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Rectangle 10"/>
          <p:cNvSpPr/>
          <p:nvPr/>
        </p:nvSpPr>
        <p:spPr>
          <a:xfrm>
            <a:off x="5020200" y="2501640"/>
            <a:ext cx="654228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TextBox 11"/>
          <p:cNvSpPr/>
          <p:nvPr/>
        </p:nvSpPr>
        <p:spPr>
          <a:xfrm>
            <a:off x="5148000" y="2524680"/>
            <a:ext cx="63090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Même sys.executable dans les deux contextes 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Rectangle 12"/>
          <p:cNvSpPr/>
          <p:nvPr/>
        </p:nvSpPr>
        <p:spPr>
          <a:xfrm>
            <a:off x="722520" y="3147480"/>
            <a:ext cx="42746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13"/>
          <p:cNvSpPr/>
          <p:nvPr/>
        </p:nvSpPr>
        <p:spPr>
          <a:xfrm>
            <a:off x="850320" y="3170160"/>
            <a:ext cx="40413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fichier personnel est introuvable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Rectangle 14"/>
          <p:cNvSpPr/>
          <p:nvPr/>
        </p:nvSpPr>
        <p:spPr>
          <a:xfrm>
            <a:off x="5020200" y="3147480"/>
            <a:ext cx="654228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Box 15"/>
          <p:cNvSpPr/>
          <p:nvPr/>
        </p:nvSpPr>
        <p:spPr>
          <a:xfrm>
            <a:off x="5148000" y="3170160"/>
            <a:ext cx="63090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Bon dossier et bon nom de module 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Rectangle 16"/>
          <p:cNvSpPr/>
          <p:nvPr/>
        </p:nvSpPr>
        <p:spPr>
          <a:xfrm>
            <a:off x="722520" y="3792960"/>
            <a:ext cx="42746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TextBox 17"/>
          <p:cNvSpPr/>
          <p:nvPr/>
        </p:nvSpPr>
        <p:spPr>
          <a:xfrm>
            <a:off x="850320" y="3815640"/>
            <a:ext cx="40413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résultat semble ancien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Rectangle 18"/>
          <p:cNvSpPr/>
          <p:nvPr/>
        </p:nvSpPr>
        <p:spPr>
          <a:xfrm>
            <a:off x="5020200" y="3792960"/>
            <a:ext cx="654228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TextBox 19"/>
          <p:cNvSpPr/>
          <p:nvPr/>
        </p:nvSpPr>
        <p:spPr>
          <a:xfrm>
            <a:off x="5148000" y="3815640"/>
            <a:ext cx="63090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Noyau redémarré après la modification 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Rectangle 20"/>
          <p:cNvSpPr/>
          <p:nvPr/>
        </p:nvSpPr>
        <p:spPr>
          <a:xfrm>
            <a:off x="722520" y="4438440"/>
            <a:ext cx="42746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TextBox 21"/>
          <p:cNvSpPr/>
          <p:nvPr/>
        </p:nvSpPr>
        <p:spPr>
          <a:xfrm>
            <a:off x="850320" y="4461480"/>
            <a:ext cx="40413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script lit un autre dossier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Rectangle 22"/>
          <p:cNvSpPr/>
          <p:nvPr/>
        </p:nvSpPr>
        <p:spPr>
          <a:xfrm>
            <a:off x="5020200" y="4438440"/>
            <a:ext cx="654228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TextBox 23"/>
          <p:cNvSpPr/>
          <p:nvPr/>
        </p:nvSpPr>
        <p:spPr>
          <a:xfrm>
            <a:off x="5148000" y="4461480"/>
            <a:ext cx="63090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Que vaut Path.cwd() 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Rectangle 24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TextBox 25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Lire l’erreur exacte avant de réinstaller des paquets.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26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01_environment_check.py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Rectangle 27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7" name="TextBox 28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29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15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VS CODE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Choisir l’outil selon la question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2" name="Rectangle 4"/>
          <p:cNvSpPr/>
          <p:nvPr/>
        </p:nvSpPr>
        <p:spPr>
          <a:xfrm>
            <a:off x="722520" y="1856160"/>
            <a:ext cx="3588840" cy="6224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TextBox 5"/>
          <p:cNvSpPr/>
          <p:nvPr/>
        </p:nvSpPr>
        <p:spPr>
          <a:xfrm>
            <a:off x="850320" y="1879200"/>
            <a:ext cx="33555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OUTIL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Rectangle 6"/>
          <p:cNvSpPr/>
          <p:nvPr/>
        </p:nvSpPr>
        <p:spPr>
          <a:xfrm>
            <a:off x="4334400" y="1856160"/>
            <a:ext cx="7228080" cy="6224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5" name="TextBox 7"/>
          <p:cNvSpPr/>
          <p:nvPr/>
        </p:nvSpPr>
        <p:spPr>
          <a:xfrm>
            <a:off x="4462200" y="1879200"/>
            <a:ext cx="69948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CE QU’IL AIDE À VOIR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Rectangle 8"/>
          <p:cNvSpPr/>
          <p:nvPr/>
        </p:nvSpPr>
        <p:spPr>
          <a:xfrm>
            <a:off x="722520" y="2501640"/>
            <a:ext cx="35888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Box 9"/>
          <p:cNvSpPr/>
          <p:nvPr/>
        </p:nvSpPr>
        <p:spPr>
          <a:xfrm>
            <a:off x="850320" y="2524680"/>
            <a:ext cx="33555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Python + Pylance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Rectangle 10"/>
          <p:cNvSpPr/>
          <p:nvPr/>
        </p:nvSpPr>
        <p:spPr>
          <a:xfrm>
            <a:off x="4334400" y="2501640"/>
            <a:ext cx="722808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9" name="TextBox 11"/>
          <p:cNvSpPr/>
          <p:nvPr/>
        </p:nvSpPr>
        <p:spPr>
          <a:xfrm>
            <a:off x="4462200" y="2524680"/>
            <a:ext cx="69948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Noms disponibles, paramètres et types attendus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Rectangle 12"/>
          <p:cNvSpPr/>
          <p:nvPr/>
        </p:nvSpPr>
        <p:spPr>
          <a:xfrm>
            <a:off x="722520" y="3147480"/>
            <a:ext cx="35888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1" name="TextBox 13"/>
          <p:cNvSpPr/>
          <p:nvPr/>
        </p:nvSpPr>
        <p:spPr>
          <a:xfrm>
            <a:off x="850320" y="3170160"/>
            <a:ext cx="33555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Ruff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Rectangle 14"/>
          <p:cNvSpPr/>
          <p:nvPr/>
        </p:nvSpPr>
        <p:spPr>
          <a:xfrm>
            <a:off x="4334400" y="3147480"/>
            <a:ext cx="722808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3" name="TextBox 15"/>
          <p:cNvSpPr/>
          <p:nvPr/>
        </p:nvSpPr>
        <p:spPr>
          <a:xfrm>
            <a:off x="4462200" y="3170160"/>
            <a:ext cx="69948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Par exemple, un import inutilisé ou un nom absent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Rectangle 16"/>
          <p:cNvSpPr/>
          <p:nvPr/>
        </p:nvSpPr>
        <p:spPr>
          <a:xfrm>
            <a:off x="722520" y="3792960"/>
            <a:ext cx="35888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Box 17"/>
          <p:cNvSpPr/>
          <p:nvPr/>
        </p:nvSpPr>
        <p:spPr>
          <a:xfrm>
            <a:off x="850320" y="3815640"/>
            <a:ext cx="33555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Python Debugger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Rectangle 18"/>
          <p:cNvSpPr/>
          <p:nvPr/>
        </p:nvSpPr>
        <p:spPr>
          <a:xfrm>
            <a:off x="4334400" y="3792960"/>
            <a:ext cx="722808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TextBox 19"/>
          <p:cNvSpPr/>
          <p:nvPr/>
        </p:nvSpPr>
        <p:spPr>
          <a:xfrm>
            <a:off x="4462200" y="3815640"/>
            <a:ext cx="69948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Valeurs présentes pendant l’exécution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Rectangle 20"/>
          <p:cNvSpPr/>
          <p:nvPr/>
        </p:nvSpPr>
        <p:spPr>
          <a:xfrm>
            <a:off x="722520" y="4438440"/>
            <a:ext cx="35888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9" name="TextBox 21"/>
          <p:cNvSpPr/>
          <p:nvPr/>
        </p:nvSpPr>
        <p:spPr>
          <a:xfrm>
            <a:off x="850320" y="4461480"/>
            <a:ext cx="33555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Tests / unittest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Rectangle 22"/>
          <p:cNvSpPr/>
          <p:nvPr/>
        </p:nvSpPr>
        <p:spPr>
          <a:xfrm>
            <a:off x="4334400" y="4438440"/>
            <a:ext cx="722808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Box 23"/>
          <p:cNvSpPr/>
          <p:nvPr/>
        </p:nvSpPr>
        <p:spPr>
          <a:xfrm>
            <a:off x="4462200" y="4461480"/>
            <a:ext cx="69948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Écart entre résultat attendu et résultat obtenu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Rectangle 24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3" name="TextBox 25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Une extension de VS Code et un paquet Python s’installent séparément.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26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VSCODE.md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Rectangle 27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6" name="TextBox 28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Box 29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16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VS CODE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Deux formes de complétion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1" name="Rectangle 4"/>
          <p:cNvSpPr/>
          <p:nvPr/>
        </p:nvSpPr>
        <p:spPr>
          <a:xfrm>
            <a:off x="71316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Rectangle 5"/>
          <p:cNvSpPr/>
          <p:nvPr/>
        </p:nvSpPr>
        <p:spPr>
          <a:xfrm>
            <a:off x="71316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3" name="TextBox 6"/>
          <p:cNvSpPr/>
          <p:nvPr/>
        </p:nvSpPr>
        <p:spPr>
          <a:xfrm>
            <a:off x="9054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PYLANCE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7"/>
          <p:cNvSpPr/>
          <p:nvPr/>
        </p:nvSpPr>
        <p:spPr>
          <a:xfrm>
            <a:off x="9054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Propose des noms disponibles.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Affiche les paramètres et types.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Analyse le code du projet.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Rectangle 8"/>
          <p:cNvSpPr/>
          <p:nvPr/>
        </p:nvSpPr>
        <p:spPr>
          <a:xfrm>
            <a:off x="621792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" name="Rectangle 9"/>
          <p:cNvSpPr/>
          <p:nvPr/>
        </p:nvSpPr>
        <p:spPr>
          <a:xfrm>
            <a:off x="6217920" y="1901880"/>
            <a:ext cx="54360" cy="30902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TextBox 10"/>
          <p:cNvSpPr/>
          <p:nvPr/>
        </p:nvSpPr>
        <p:spPr>
          <a:xfrm>
            <a:off x="64098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SUGGESTION PAR UNE IA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11"/>
          <p:cNvSpPr/>
          <p:nvPr/>
        </p:nvSpPr>
        <p:spPr>
          <a:xfrm>
            <a:off x="64098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Propose du code à partir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du contexte reçu.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Peut inventer ou se tromper.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Rectangle 12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0" name="TextBox 13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Lire la proposition avant de l’accepter, puis vérifier son effet.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Rectangle 14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2" name="TextBox 15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16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17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DÉBOGUER LE RECTANGLE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Un point d’arrêt rend l’exécution visible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7" name="Rectangle 4"/>
          <p:cNvSpPr/>
          <p:nvPr/>
        </p:nvSpPr>
        <p:spPr>
          <a:xfrm>
            <a:off x="73152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8" name="Rectangle 5"/>
          <p:cNvSpPr/>
          <p:nvPr/>
        </p:nvSpPr>
        <p:spPr>
          <a:xfrm>
            <a:off x="731520" y="2267640"/>
            <a:ext cx="54360" cy="23770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TextBox 6"/>
          <p:cNvSpPr/>
          <p:nvPr/>
        </p:nvSpPr>
        <p:spPr>
          <a:xfrm>
            <a:off x="9234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ARRÊTER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7"/>
          <p:cNvSpPr/>
          <p:nvPr/>
        </p:nvSpPr>
        <p:spPr>
          <a:xfrm>
            <a:off x="9234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Poser un point d’arrêt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avant l’appel.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Chevron 8"/>
          <p:cNvSpPr/>
          <p:nvPr/>
        </p:nvSpPr>
        <p:spPr>
          <a:xfrm>
            <a:off x="4127040" y="3273480"/>
            <a:ext cx="209880" cy="365400"/>
          </a:xfrm>
          <a:prstGeom prst="chevron">
            <a:avLst>
              <a:gd name="adj" fmla="val 50000"/>
            </a:avLst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" name="Rectangle 9"/>
          <p:cNvSpPr/>
          <p:nvPr/>
        </p:nvSpPr>
        <p:spPr>
          <a:xfrm>
            <a:off x="441972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3" name="Rectangle 10"/>
          <p:cNvSpPr/>
          <p:nvPr/>
        </p:nvSpPr>
        <p:spPr>
          <a:xfrm>
            <a:off x="4419720" y="2267640"/>
            <a:ext cx="54360" cy="23770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4" name="TextBox 11"/>
          <p:cNvSpPr/>
          <p:nvPr/>
        </p:nvSpPr>
        <p:spPr>
          <a:xfrm>
            <a:off x="46116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OBSERVER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12"/>
          <p:cNvSpPr/>
          <p:nvPr/>
        </p:nvSpPr>
        <p:spPr>
          <a:xfrm>
            <a:off x="46116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Entrer dans la fonction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avec Step Into.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Chevron 13"/>
          <p:cNvSpPr/>
          <p:nvPr/>
        </p:nvSpPr>
        <p:spPr>
          <a:xfrm>
            <a:off x="7815240" y="3273480"/>
            <a:ext cx="209880" cy="365400"/>
          </a:xfrm>
          <a:prstGeom prst="chevron">
            <a:avLst>
              <a:gd name="adj" fmla="val 50000"/>
            </a:avLst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7" name="Rectangle 14"/>
          <p:cNvSpPr/>
          <p:nvPr/>
        </p:nvSpPr>
        <p:spPr>
          <a:xfrm>
            <a:off x="810756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8" name="Rectangle 15"/>
          <p:cNvSpPr/>
          <p:nvPr/>
        </p:nvSpPr>
        <p:spPr>
          <a:xfrm>
            <a:off x="8107560" y="2267640"/>
            <a:ext cx="54360" cy="23770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9" name="TextBox 16"/>
          <p:cNvSpPr/>
          <p:nvPr/>
        </p:nvSpPr>
        <p:spPr>
          <a:xfrm>
            <a:off x="82998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VÉRIFIER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17"/>
          <p:cNvSpPr/>
          <p:nvPr/>
        </p:nvSpPr>
        <p:spPr>
          <a:xfrm>
            <a:off x="82998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Lire valeurs et types.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Relancer après correction.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Rectangle 18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2" name="TextBox 19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Chercher pourquoi area renvoie du texte alors qu’un nombre est attendu.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20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guided/run_rectangle.py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Rectangle 21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5" name="TextBox 22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23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18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EXTRAIT D’UN FICHIER DE TEST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Transformer une vérification en test répétable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1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import unittest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9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from guided.rectangle_tools import Rectangle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9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class AreaTest(unittest.TestCase):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9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def test_area(self):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9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    r = Rectangle(4, 3)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9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    self.assertEqual(r.area(), 12)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3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4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ATTENDU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Pour 4 × 3,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la méthode doit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renvoyer le nombre 12.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7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La valeur attendue vient du besoin ; on ne l’adapte pas au défaut du programme.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12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guided/tests/test_rectangle.py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Rectangle 13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" name="TextBox 14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15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19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DEPUIS LAB · AVEC LE PYTHON DU PROJET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Lire l’échec avant de corriger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5" name="Rectangle 4"/>
          <p:cNvSpPr/>
          <p:nvPr/>
        </p:nvSpPr>
        <p:spPr>
          <a:xfrm>
            <a:off x="713160" y="1938600"/>
            <a:ext cx="10743840" cy="10969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6" name="TextBox 5"/>
          <p:cNvSpPr/>
          <p:nvPr/>
        </p:nvSpPr>
        <p:spPr>
          <a:xfrm>
            <a:off x="896040" y="2094120"/>
            <a:ext cx="1037808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python -m unittest discover -s guided/tests -v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Box 6"/>
          <p:cNvSpPr/>
          <p:nvPr/>
        </p:nvSpPr>
        <p:spPr>
          <a:xfrm>
            <a:off x="786240" y="3593520"/>
            <a:ext cx="28342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8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DANS VS CODE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Box 7"/>
          <p:cNvSpPr/>
          <p:nvPr/>
        </p:nvSpPr>
        <p:spPr>
          <a:xfrm>
            <a:off x="3675960" y="3593520"/>
            <a:ext cx="740628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6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Découvrir les tests, en lancer un, puis déboguer son échec.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Rectangle 8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0" name="TextBox 9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« 0 tests » suivi de « OK » ne signifie pas que votre code a été vérifié.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Box 10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VSCODE.md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Rectangle 11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3" name="TextBox 12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13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20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ASSISTANCE AU CODE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Donner à l’IA un problème vérifiable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8" name="Rectangle 4"/>
          <p:cNvSpPr/>
          <p:nvPr/>
        </p:nvSpPr>
        <p:spPr>
          <a:xfrm>
            <a:off x="722520" y="1856160"/>
            <a:ext cx="3360240" cy="6224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9" name="TextBox 5"/>
          <p:cNvSpPr/>
          <p:nvPr/>
        </p:nvSpPr>
        <p:spPr>
          <a:xfrm>
            <a:off x="850320" y="1879200"/>
            <a:ext cx="31269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INFORMATION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Rectangle 6"/>
          <p:cNvSpPr/>
          <p:nvPr/>
        </p:nvSpPr>
        <p:spPr>
          <a:xfrm>
            <a:off x="4105800" y="1856160"/>
            <a:ext cx="7456680" cy="6224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1" name="TextBox 7"/>
          <p:cNvSpPr/>
          <p:nvPr/>
        </p:nvSpPr>
        <p:spPr>
          <a:xfrm>
            <a:off x="4233600" y="1879200"/>
            <a:ext cx="72234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EXEMPLE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Rectangle 8"/>
          <p:cNvSpPr/>
          <p:nvPr/>
        </p:nvSpPr>
        <p:spPr>
          <a:xfrm>
            <a:off x="722520" y="2501640"/>
            <a:ext cx="33602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3" name="TextBox 9"/>
          <p:cNvSpPr/>
          <p:nvPr/>
        </p:nvSpPr>
        <p:spPr>
          <a:xfrm>
            <a:off x="850320" y="2524680"/>
            <a:ext cx="31269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Résultat attendu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Rectangle 10"/>
          <p:cNvSpPr/>
          <p:nvPr/>
        </p:nvSpPr>
        <p:spPr>
          <a:xfrm>
            <a:off x="4105800" y="2501640"/>
            <a:ext cx="745668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5" name="TextBox 11"/>
          <p:cNvSpPr/>
          <p:nvPr/>
        </p:nvSpPr>
        <p:spPr>
          <a:xfrm>
            <a:off x="4233600" y="2524680"/>
            <a:ext cx="72234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Des nombres en entrée, un nombre en sortie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Rectangle 12"/>
          <p:cNvSpPr/>
          <p:nvPr/>
        </p:nvSpPr>
        <p:spPr>
          <a:xfrm>
            <a:off x="722520" y="3147480"/>
            <a:ext cx="33602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7" name="TextBox 13"/>
          <p:cNvSpPr/>
          <p:nvPr/>
        </p:nvSpPr>
        <p:spPr>
          <a:xfrm>
            <a:off x="850320" y="3170160"/>
            <a:ext cx="31269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Ce qui se produit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Rectangle 14"/>
          <p:cNvSpPr/>
          <p:nvPr/>
        </p:nvSpPr>
        <p:spPr>
          <a:xfrm>
            <a:off x="4105800" y="3147480"/>
            <a:ext cx="745668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9" name="TextBox 15"/>
          <p:cNvSpPr/>
          <p:nvPr/>
        </p:nvSpPr>
        <p:spPr>
          <a:xfrm>
            <a:off x="4233600" y="3170160"/>
            <a:ext cx="72234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Petit extrait de code, sortie et erreur exactes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Rectangle 16"/>
          <p:cNvSpPr/>
          <p:nvPr/>
        </p:nvSpPr>
        <p:spPr>
          <a:xfrm>
            <a:off x="722520" y="3792960"/>
            <a:ext cx="33602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1" name="TextBox 17"/>
          <p:cNvSpPr/>
          <p:nvPr/>
        </p:nvSpPr>
        <p:spPr>
          <a:xfrm>
            <a:off x="850320" y="3815640"/>
            <a:ext cx="31269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Contexte utile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Rectangle 18"/>
          <p:cNvSpPr/>
          <p:nvPr/>
        </p:nvSpPr>
        <p:spPr>
          <a:xfrm>
            <a:off x="4105800" y="3792960"/>
            <a:ext cx="745668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3" name="TextBox 19"/>
          <p:cNvSpPr/>
          <p:nvPr/>
        </p:nvSpPr>
        <p:spPr>
          <a:xfrm>
            <a:off x="4233600" y="3815640"/>
            <a:ext cx="72234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Python utilisé, fichier, terminal ou notebook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Rectangle 20"/>
          <p:cNvSpPr/>
          <p:nvPr/>
        </p:nvSpPr>
        <p:spPr>
          <a:xfrm>
            <a:off x="722520" y="4438440"/>
            <a:ext cx="33602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5" name="TextBox 21"/>
          <p:cNvSpPr/>
          <p:nvPr/>
        </p:nvSpPr>
        <p:spPr>
          <a:xfrm>
            <a:off x="850320" y="4461480"/>
            <a:ext cx="31269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Aide demandée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Rectangle 22"/>
          <p:cNvSpPr/>
          <p:nvPr/>
        </p:nvSpPr>
        <p:spPr>
          <a:xfrm>
            <a:off x="4105800" y="4438440"/>
            <a:ext cx="745668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7" name="TextBox 23"/>
          <p:cNvSpPr/>
          <p:nvPr/>
        </p:nvSpPr>
        <p:spPr>
          <a:xfrm>
            <a:off x="4233600" y="4461480"/>
            <a:ext cx="72234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Expliquer l’écart et proposer une correction limitée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Rectangle 24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" name="TextBox 25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Après la réponse : exécuter, tester et expliquer la modification.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Box 26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AI_HELP.md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Rectangle 27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2" name="TextBox 28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Box 29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21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EXEMPLE À RELIRE ET ADAPTER · FONCTION AREA DÉJÀ ÉTUDIÉE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Un exemple de demande précise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7" name="Rectangle 4"/>
          <p:cNvSpPr/>
          <p:nvPr/>
        </p:nvSpPr>
        <p:spPr>
          <a:xfrm>
            <a:off x="731520" y="1892880"/>
            <a:ext cx="10725480" cy="30996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8" name="TextBox 5"/>
          <p:cNvSpPr/>
          <p:nvPr/>
        </p:nvSpPr>
        <p:spPr>
          <a:xfrm>
            <a:off x="960120" y="2148840"/>
            <a:ext cx="10259280" cy="26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Avec area(4, 3), j’attends le nombre 12.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J’obtiens le texte « Area: 12 » et mon test échoue.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Je joins le code et la sortie du test.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Explique la cause et propose une correction limitée.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5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Propose un autre cas à vérifier ; dis ce que tu n’as pas exécuté.</a:t>
            </a:r>
            <a:endParaRPr b="0" lang="en-US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Rectangle 6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0" name="TextBox 7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Quelles informations permettent de reproduire le problème ?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Box 8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AI_PRACTICE.md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Rectangle 9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3" name="TextBox 10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Box 11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22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TRAVAIL ÉTUDIANT · ACTIVITÉ 1 DE LA FICHE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À vous : améliorer une demande trop vague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8" name="Rectangle 4"/>
          <p:cNvSpPr/>
          <p:nvPr/>
        </p:nvSpPr>
        <p:spPr>
          <a:xfrm>
            <a:off x="71316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9" name="Rectangle 5"/>
          <p:cNvSpPr/>
          <p:nvPr/>
        </p:nvSpPr>
        <p:spPr>
          <a:xfrm>
            <a:off x="71316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0" name="TextBox 6"/>
          <p:cNvSpPr/>
          <p:nvPr/>
        </p:nvSpPr>
        <p:spPr>
          <a:xfrm>
            <a:off x="9054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POINT DE DÉPART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Box 7"/>
          <p:cNvSpPr/>
          <p:nvPr/>
        </p:nvSpPr>
        <p:spPr>
          <a:xfrm>
            <a:off x="9054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« Mon calcul est faux.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Corrige-le. »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Reprendre le petit exemple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area de la fiche.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Rectangle 8"/>
          <p:cNvSpPr/>
          <p:nvPr/>
        </p:nvSpPr>
        <p:spPr>
          <a:xfrm>
            <a:off x="621792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3" name="Rectangle 9"/>
          <p:cNvSpPr/>
          <p:nvPr/>
        </p:nvSpPr>
        <p:spPr>
          <a:xfrm>
            <a:off x="6217920" y="1901880"/>
            <a:ext cx="54360" cy="30902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4" name="TextBox 10"/>
          <p:cNvSpPr/>
          <p:nvPr/>
        </p:nvSpPr>
        <p:spPr>
          <a:xfrm>
            <a:off x="64098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PRODUCTION ATTENDUE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Box 11"/>
          <p:cNvSpPr/>
          <p:nvPr/>
        </p:nvSpPr>
        <p:spPr>
          <a:xfrm>
            <a:off x="64098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Ajouter entrée et sortie attendue,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sortie obtenue et code utile.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Préciser l’aide souhaitée.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Justifier un cas à vérifier.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Rectangle 12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7" name="TextBox 13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Conserver votre demande et un résultat vérifié dans AI_NOTES.md ; réponses fictives disponibles.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Box 14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AI_PRACTICE.md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Rectangle 15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0" name="TextBox 16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Box 17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23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PERSONNALISATION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Où écrire les consignes données à l’IA 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5" name="Rectangle 4"/>
          <p:cNvSpPr/>
          <p:nvPr/>
        </p:nvSpPr>
        <p:spPr>
          <a:xfrm>
            <a:off x="722520" y="1856160"/>
            <a:ext cx="4292640" cy="6224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6" name="TextBox 5"/>
          <p:cNvSpPr/>
          <p:nvPr/>
        </p:nvSpPr>
        <p:spPr>
          <a:xfrm>
            <a:off x="850320" y="1879200"/>
            <a:ext cx="40597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EMPLACEMENT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Rectangle 6"/>
          <p:cNvSpPr/>
          <p:nvPr/>
        </p:nvSpPr>
        <p:spPr>
          <a:xfrm>
            <a:off x="5038200" y="1856160"/>
            <a:ext cx="6523920" cy="6224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8" name="TextBox 7"/>
          <p:cNvSpPr/>
          <p:nvPr/>
        </p:nvSpPr>
        <p:spPr>
          <a:xfrm>
            <a:off x="5166360" y="1879200"/>
            <a:ext cx="62906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EXEMPLE D’USAGE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Rectangle 8"/>
          <p:cNvSpPr/>
          <p:nvPr/>
        </p:nvSpPr>
        <p:spPr>
          <a:xfrm>
            <a:off x="722520" y="2501640"/>
            <a:ext cx="42926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0" name="TextBox 9"/>
          <p:cNvSpPr/>
          <p:nvPr/>
        </p:nvSpPr>
        <p:spPr>
          <a:xfrm>
            <a:off x="850320" y="2524680"/>
            <a:ext cx="40597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Personnalisation de ChatGPT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Rectangle 10"/>
          <p:cNvSpPr/>
          <p:nvPr/>
        </p:nvSpPr>
        <p:spPr>
          <a:xfrm>
            <a:off x="5038200" y="2501640"/>
            <a:ext cx="65239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2" name="TextBox 11"/>
          <p:cNvSpPr/>
          <p:nvPr/>
        </p:nvSpPr>
        <p:spPr>
          <a:xfrm>
            <a:off x="5166360" y="2524680"/>
            <a:ext cx="62906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Préférence durable : français, code en anglais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Rectangle 12"/>
          <p:cNvSpPr/>
          <p:nvPr/>
        </p:nvSpPr>
        <p:spPr>
          <a:xfrm>
            <a:off x="722520" y="3147480"/>
            <a:ext cx="42926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4" name="TextBox 13"/>
          <p:cNvSpPr/>
          <p:nvPr/>
        </p:nvSpPr>
        <p:spPr>
          <a:xfrm>
            <a:off x="850320" y="3170160"/>
            <a:ext cx="40597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Demande courante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Rectangle 14"/>
          <p:cNvSpPr/>
          <p:nvPr/>
        </p:nvSpPr>
        <p:spPr>
          <a:xfrm>
            <a:off x="5038200" y="3147480"/>
            <a:ext cx="65239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6" name="TextBox 15"/>
          <p:cNvSpPr/>
          <p:nvPr/>
        </p:nvSpPr>
        <p:spPr>
          <a:xfrm>
            <a:off x="5166360" y="3170160"/>
            <a:ext cx="62906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Fichiers utiles, erreur et résultat attendu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Rectangle 16"/>
          <p:cNvSpPr/>
          <p:nvPr/>
        </p:nvSpPr>
        <p:spPr>
          <a:xfrm>
            <a:off x="722520" y="3792960"/>
            <a:ext cx="42926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8" name="TextBox 17"/>
          <p:cNvSpPr/>
          <p:nvPr/>
        </p:nvSpPr>
        <p:spPr>
          <a:xfrm>
            <a:off x="850320" y="3815640"/>
            <a:ext cx="40597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Instructions du chat dans VS Code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Rectangle 18"/>
          <p:cNvSpPr/>
          <p:nvPr/>
        </p:nvSpPr>
        <p:spPr>
          <a:xfrm>
            <a:off x="5038200" y="3792960"/>
            <a:ext cx="65239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0" name="TextBox 19"/>
          <p:cNvSpPr/>
          <p:nvPr/>
        </p:nvSpPr>
        <p:spPr>
          <a:xfrm>
            <a:off x="5166360" y="3815640"/>
            <a:ext cx="62906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Conventions du projet pour cet assistant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Rectangle 20"/>
          <p:cNvSpPr/>
          <p:nvPr/>
        </p:nvSpPr>
        <p:spPr>
          <a:xfrm>
            <a:off x="722520" y="4438440"/>
            <a:ext cx="42926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2" name="TextBox 21"/>
          <p:cNvSpPr/>
          <p:nvPr/>
        </p:nvSpPr>
        <p:spPr>
          <a:xfrm>
            <a:off x="850320" y="4461480"/>
            <a:ext cx="40597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Suggestions dans l’éditeur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Rectangle 22"/>
          <p:cNvSpPr/>
          <p:nvPr/>
        </p:nvSpPr>
        <p:spPr>
          <a:xfrm>
            <a:off x="5038200" y="4438440"/>
            <a:ext cx="65239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4" name="TextBox 23"/>
          <p:cNvSpPr/>
          <p:nvPr/>
        </p:nvSpPr>
        <p:spPr>
          <a:xfrm>
            <a:off x="5166360" y="4461480"/>
            <a:ext cx="62906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Réglages propres à l’outil de complétion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Rectangle 24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6" name="TextBox 25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Vérifier séparément les consignes du chat et les réglages des suggestions de code.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Rectangle 26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8" name="TextBox 27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Box 28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24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EXEMPLES DE PERSONNALISATION ET DE DEMANDE COURANTE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Préférences générales et demande actuelle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3" name="Rectangle 4"/>
          <p:cNvSpPr/>
          <p:nvPr/>
        </p:nvSpPr>
        <p:spPr>
          <a:xfrm>
            <a:off x="71316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4" name="Rectangle 5"/>
          <p:cNvSpPr/>
          <p:nvPr/>
        </p:nvSpPr>
        <p:spPr>
          <a:xfrm>
            <a:off x="71316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5" name="TextBox 6"/>
          <p:cNvSpPr/>
          <p:nvPr/>
        </p:nvSpPr>
        <p:spPr>
          <a:xfrm>
            <a:off x="9054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PRÉFÉRENCES GÉNÉRALES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Box 7"/>
          <p:cNvSpPr/>
          <p:nvPr/>
        </p:nvSpPr>
        <p:spPr>
          <a:xfrm>
            <a:off x="9054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Explique en français courant.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Écris le code en anglais.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Distingue ce que tu proposes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de ce que tu as exécuté.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Rectangle 8"/>
          <p:cNvSpPr/>
          <p:nvPr/>
        </p:nvSpPr>
        <p:spPr>
          <a:xfrm>
            <a:off x="621792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8" name="Rectangle 9"/>
          <p:cNvSpPr/>
          <p:nvPr/>
        </p:nvSpPr>
        <p:spPr>
          <a:xfrm>
            <a:off x="6217920" y="1901880"/>
            <a:ext cx="54360" cy="30902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9" name="TextBox 10"/>
          <p:cNvSpPr/>
          <p:nvPr/>
        </p:nvSpPr>
        <p:spPr>
          <a:xfrm>
            <a:off x="64098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PROBLÈME ACTUEL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Box 11"/>
          <p:cNvSpPr/>
          <p:nvPr/>
        </p:nvSpPr>
        <p:spPr>
          <a:xfrm>
            <a:off x="64098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Examine ai_rectangle_v1.py.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area(4, 3) doit renvoyer 12.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Explique pourquoi le résultat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est actuellement un texte.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Rectangle 12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2" name="TextBox 13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Une préférence peut rester utile ; le nom de fichier et le défaut changent avec le travail.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Box 14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AI_PRACTICE.md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Rectangle 15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5" name="TextBox 16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Box 17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25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TRAVAIL ÉTUDIANT · ACTIVITÉ 2 DE LA FICHE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À vous : adapter les consignes à un autre problème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0" name="Rectangle 4"/>
          <p:cNvSpPr/>
          <p:nvPr/>
        </p:nvSpPr>
        <p:spPr>
          <a:xfrm>
            <a:off x="71316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1" name="Rectangle 5"/>
          <p:cNvSpPr/>
          <p:nvPr/>
        </p:nvSpPr>
        <p:spPr>
          <a:xfrm>
            <a:off x="71316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2" name="TextBox 6"/>
          <p:cNvSpPr/>
          <p:nvPr/>
        </p:nvSpPr>
        <p:spPr>
          <a:xfrm>
            <a:off x="9054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NOUVEAU CAS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Box 7"/>
          <p:cNvSpPr/>
          <p:nvPr/>
        </p:nvSpPr>
        <p:spPr>
          <a:xfrm>
            <a:off x="9054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double(7) doit renvoyer 14.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La fonction renvoie « 14 ».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Quelles informations sur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rectangle faut-il remplacer 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Rectangle 8"/>
          <p:cNvSpPr/>
          <p:nvPr/>
        </p:nvSpPr>
        <p:spPr>
          <a:xfrm>
            <a:off x="621792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5" name="Rectangle 9"/>
          <p:cNvSpPr/>
          <p:nvPr/>
        </p:nvSpPr>
        <p:spPr>
          <a:xfrm>
            <a:off x="6217920" y="1901880"/>
            <a:ext cx="54360" cy="30902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6" name="TextBox 10"/>
          <p:cNvSpPr/>
          <p:nvPr/>
        </p:nvSpPr>
        <p:spPr>
          <a:xfrm>
            <a:off x="64098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PRODUCTION ATTENDUE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Box 11"/>
          <p:cNvSpPr/>
          <p:nvPr/>
        </p:nvSpPr>
        <p:spPr>
          <a:xfrm>
            <a:off x="64098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Écrire vos deux blocs 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préférences et demande actuelle.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Justifier une consigne gardée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et une consigne remplacée.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Rectangle 12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9" name="TextBox 13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« N’utilise jamais de classe » serait-il une bonne préférence pour tous vos projets ?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Box 14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AI_PRACTICE.md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Rectangle 15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2" name="TextBox 16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Box 17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26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DEUX PROPOSITIONS FICTIVES À DISCUTER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Une réponse plausible suffit-elle 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7" name="Rectangle 4"/>
          <p:cNvSpPr/>
          <p:nvPr/>
        </p:nvSpPr>
        <p:spPr>
          <a:xfrm>
            <a:off x="71316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8" name="Rectangle 5"/>
          <p:cNvSpPr/>
          <p:nvPr/>
        </p:nvSpPr>
        <p:spPr>
          <a:xfrm>
            <a:off x="71316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9" name="TextBox 6"/>
          <p:cNvSpPr/>
          <p:nvPr/>
        </p:nvSpPr>
        <p:spPr>
          <a:xfrm>
            <a:off x="9054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PROPOSITION A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Box 7"/>
          <p:cNvSpPr/>
          <p:nvPr/>
        </p:nvSpPr>
        <p:spPr>
          <a:xfrm>
            <a:off x="9054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test échoue.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Modifions le test pour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accepter la phrase.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Rectangle 8"/>
          <p:cNvSpPr/>
          <p:nvPr/>
        </p:nvSpPr>
        <p:spPr>
          <a:xfrm>
            <a:off x="621792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2" name="Rectangle 9"/>
          <p:cNvSpPr/>
          <p:nvPr/>
        </p:nvSpPr>
        <p:spPr>
          <a:xfrm>
            <a:off x="6217920" y="1901880"/>
            <a:ext cx="54360" cy="30902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3" name="TextBox 10"/>
          <p:cNvSpPr/>
          <p:nvPr/>
        </p:nvSpPr>
        <p:spPr>
          <a:xfrm>
            <a:off x="64098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PROPOSITION B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Box 11"/>
          <p:cNvSpPr/>
          <p:nvPr/>
        </p:nvSpPr>
        <p:spPr>
          <a:xfrm>
            <a:off x="64098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 nombre est attendu.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Inspectons le return, puis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séparons calcul et texte.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Rectangle 12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6" name="TextBox 13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Quelle proposition respecte le besoin ? Quelle exécution permet de le vérifier ?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Box 14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AI_HELP.md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Rectangle 15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9" name="TextBox 16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Box 17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27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OUTILS LOCAUX ET SERVICES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Savoir quels fichiers sont partagés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4" name="Rectangle 4"/>
          <p:cNvSpPr/>
          <p:nvPr/>
        </p:nvSpPr>
        <p:spPr>
          <a:xfrm>
            <a:off x="722520" y="1856160"/>
            <a:ext cx="3954240" cy="6224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5" name="TextBox 5"/>
          <p:cNvSpPr/>
          <p:nvPr/>
        </p:nvSpPr>
        <p:spPr>
          <a:xfrm>
            <a:off x="850320" y="1879200"/>
            <a:ext cx="37213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ACTION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Rectangle 6"/>
          <p:cNvSpPr/>
          <p:nvPr/>
        </p:nvSpPr>
        <p:spPr>
          <a:xfrm>
            <a:off x="4700160" y="1856160"/>
            <a:ext cx="6862320" cy="6224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7" name="TextBox 7"/>
          <p:cNvSpPr/>
          <p:nvPr/>
        </p:nvSpPr>
        <p:spPr>
          <a:xfrm>
            <a:off x="4827960" y="1879200"/>
            <a:ext cx="66290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QUESTION À SE POSER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Rectangle 8"/>
          <p:cNvSpPr/>
          <p:nvPr/>
        </p:nvSpPr>
        <p:spPr>
          <a:xfrm>
            <a:off x="722520" y="2501640"/>
            <a:ext cx="39542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9" name="TextBox 9"/>
          <p:cNvSpPr/>
          <p:nvPr/>
        </p:nvSpPr>
        <p:spPr>
          <a:xfrm>
            <a:off x="850320" y="2524680"/>
            <a:ext cx="37213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Exécuter localement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Rectangle 10"/>
          <p:cNvSpPr/>
          <p:nvPr/>
        </p:nvSpPr>
        <p:spPr>
          <a:xfrm>
            <a:off x="4700160" y="2501640"/>
            <a:ext cx="68623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1" name="TextBox 11"/>
          <p:cNvSpPr/>
          <p:nvPr/>
        </p:nvSpPr>
        <p:spPr>
          <a:xfrm>
            <a:off x="4827960" y="2524680"/>
            <a:ext cx="66290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Quel fichier mon Python lit-il 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Rectangle 12"/>
          <p:cNvSpPr/>
          <p:nvPr/>
        </p:nvSpPr>
        <p:spPr>
          <a:xfrm>
            <a:off x="722520" y="3147480"/>
            <a:ext cx="39542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3" name="TextBox 13"/>
          <p:cNvSpPr/>
          <p:nvPr/>
        </p:nvSpPr>
        <p:spPr>
          <a:xfrm>
            <a:off x="850320" y="3170160"/>
            <a:ext cx="37213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Synchroniser avec Drive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Rectangle 14"/>
          <p:cNvSpPr/>
          <p:nvPr/>
        </p:nvSpPr>
        <p:spPr>
          <a:xfrm>
            <a:off x="4700160" y="3147480"/>
            <a:ext cx="68623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5" name="TextBox 15"/>
          <p:cNvSpPr/>
          <p:nvPr/>
        </p:nvSpPr>
        <p:spPr>
          <a:xfrm>
            <a:off x="4827960" y="3170160"/>
            <a:ext cx="66290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Quel dossier est envoyé au service 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Rectangle 16"/>
          <p:cNvSpPr/>
          <p:nvPr/>
        </p:nvSpPr>
        <p:spPr>
          <a:xfrm>
            <a:off x="722520" y="3792960"/>
            <a:ext cx="39542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7" name="TextBox 17"/>
          <p:cNvSpPr/>
          <p:nvPr/>
        </p:nvSpPr>
        <p:spPr>
          <a:xfrm>
            <a:off x="850320" y="3815640"/>
            <a:ext cx="37213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Pousser vers GitHub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Rectangle 18"/>
          <p:cNvSpPr/>
          <p:nvPr/>
        </p:nvSpPr>
        <p:spPr>
          <a:xfrm>
            <a:off x="4700160" y="3792960"/>
            <a:ext cx="68623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9" name="TextBox 19"/>
          <p:cNvSpPr/>
          <p:nvPr/>
        </p:nvSpPr>
        <p:spPr>
          <a:xfrm>
            <a:off x="4827960" y="3815640"/>
            <a:ext cx="66290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Dans quel dépôt et avec quels accès 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Rectangle 20"/>
          <p:cNvSpPr/>
          <p:nvPr/>
        </p:nvSpPr>
        <p:spPr>
          <a:xfrm>
            <a:off x="722520" y="4438440"/>
            <a:ext cx="39542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1" name="TextBox 21"/>
          <p:cNvSpPr/>
          <p:nvPr/>
        </p:nvSpPr>
        <p:spPr>
          <a:xfrm>
            <a:off x="850320" y="4461480"/>
            <a:ext cx="37213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Demander de l’aide à une IA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Rectangle 22"/>
          <p:cNvSpPr/>
          <p:nvPr/>
        </p:nvSpPr>
        <p:spPr>
          <a:xfrm>
            <a:off x="4700160" y="4438440"/>
            <a:ext cx="68623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3" name="TextBox 23"/>
          <p:cNvSpPr/>
          <p:nvPr/>
        </p:nvSpPr>
        <p:spPr>
          <a:xfrm>
            <a:off x="4827960" y="4461480"/>
            <a:ext cx="66290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Quel extrait est envoyé à quel service 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Rectangle 24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5" name="TextBox 25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Partager seulement les fichiers utiles, sans secrets ni données personnelles.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Rectangle 26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7" name="TextBox 27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Box 28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28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VOTRE DOSSIER DEVIENT UTILE QUAND SON CONTENU EST FOURNI OU CONSULTÉ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Le contexte : ce dont l’IA dispose pour répondre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2" name="Rectangle 4"/>
          <p:cNvSpPr/>
          <p:nvPr/>
        </p:nvSpPr>
        <p:spPr>
          <a:xfrm>
            <a:off x="73152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3" name="Rectangle 5"/>
          <p:cNvSpPr/>
          <p:nvPr/>
        </p:nvSpPr>
        <p:spPr>
          <a:xfrm>
            <a:off x="731520" y="2267640"/>
            <a:ext cx="54360" cy="23770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4" name="TextBox 6"/>
          <p:cNvSpPr/>
          <p:nvPr/>
        </p:nvSpPr>
        <p:spPr>
          <a:xfrm>
            <a:off x="9234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VOTRE DEMANDE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Box 7"/>
          <p:cNvSpPr/>
          <p:nvPr/>
        </p:nvSpPr>
        <p:spPr>
          <a:xfrm>
            <a:off x="9234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But, contraintes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et résultat attendu.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Chevron 8"/>
          <p:cNvSpPr/>
          <p:nvPr/>
        </p:nvSpPr>
        <p:spPr>
          <a:xfrm>
            <a:off x="4127040" y="3273480"/>
            <a:ext cx="209880" cy="365400"/>
          </a:xfrm>
          <a:prstGeom prst="chevron">
            <a:avLst>
              <a:gd name="adj" fmla="val 50000"/>
            </a:avLst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7" name="Rectangle 9"/>
          <p:cNvSpPr/>
          <p:nvPr/>
        </p:nvSpPr>
        <p:spPr>
          <a:xfrm>
            <a:off x="441972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8" name="Rectangle 10"/>
          <p:cNvSpPr/>
          <p:nvPr/>
        </p:nvSpPr>
        <p:spPr>
          <a:xfrm>
            <a:off x="4419720" y="2267640"/>
            <a:ext cx="54360" cy="23770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9" name="TextBox 11"/>
          <p:cNvSpPr/>
          <p:nvPr/>
        </p:nvSpPr>
        <p:spPr>
          <a:xfrm>
            <a:off x="46116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INFORMATIONS REÇUES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Box 12"/>
          <p:cNvSpPr/>
          <p:nvPr/>
        </p:nvSpPr>
        <p:spPr>
          <a:xfrm>
            <a:off x="46116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Messages, extraits,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fichiers effectivement lus.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Chevron 13"/>
          <p:cNvSpPr/>
          <p:nvPr/>
        </p:nvSpPr>
        <p:spPr>
          <a:xfrm>
            <a:off x="7815240" y="3273480"/>
            <a:ext cx="209880" cy="365400"/>
          </a:xfrm>
          <a:prstGeom prst="chevron">
            <a:avLst>
              <a:gd name="adj" fmla="val 50000"/>
            </a:avLst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2" name="Rectangle 14"/>
          <p:cNvSpPr/>
          <p:nvPr/>
        </p:nvSpPr>
        <p:spPr>
          <a:xfrm>
            <a:off x="810756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3" name="Rectangle 15"/>
          <p:cNvSpPr/>
          <p:nvPr/>
        </p:nvSpPr>
        <p:spPr>
          <a:xfrm>
            <a:off x="8107560" y="2267640"/>
            <a:ext cx="54360" cy="23770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4" name="TextBox 16"/>
          <p:cNvSpPr/>
          <p:nvPr/>
        </p:nvSpPr>
        <p:spPr>
          <a:xfrm>
            <a:off x="82998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RÉPONSE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Box 17"/>
          <p:cNvSpPr/>
          <p:nvPr/>
        </p:nvSpPr>
        <p:spPr>
          <a:xfrm>
            <a:off x="82998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Une proposition fondée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sur ce contexte disponible.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Rectangle 18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7" name="TextBox 19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Un fichier présent sur votre ordinateur n’est pas forcément connu de l’assistant.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Box 20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AI_PRACTICE.md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Rectangle 21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0" name="TextBox 22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Box 23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29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CONTEXTE ACTUEL ET MÉMOIRE CONSERVÉE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Partager des fichiers ne partage pas tout le contexte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5" name="Rectangle 4"/>
          <p:cNvSpPr/>
          <p:nvPr/>
        </p:nvSpPr>
        <p:spPr>
          <a:xfrm>
            <a:off x="71316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6" name="Rectangle 5"/>
          <p:cNvSpPr/>
          <p:nvPr/>
        </p:nvSpPr>
        <p:spPr>
          <a:xfrm>
            <a:off x="71316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7" name="TextBox 6"/>
          <p:cNvSpPr/>
          <p:nvPr/>
        </p:nvSpPr>
        <p:spPr>
          <a:xfrm>
            <a:off x="9054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CONTEXTE ACTUEL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Box 7"/>
          <p:cNvSpPr/>
          <p:nvPr/>
        </p:nvSpPr>
        <p:spPr>
          <a:xfrm>
            <a:off x="9054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Informations utilisées pour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la réponse en cours.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La quantité est limitée 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des éléments peuvent être résumés.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Rectangle 8"/>
          <p:cNvSpPr/>
          <p:nvPr/>
        </p:nvSpPr>
        <p:spPr>
          <a:xfrm>
            <a:off x="621792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0" name="Rectangle 9"/>
          <p:cNvSpPr/>
          <p:nvPr/>
        </p:nvSpPr>
        <p:spPr>
          <a:xfrm>
            <a:off x="6217920" y="1901880"/>
            <a:ext cx="54360" cy="30902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1" name="TextBox 10"/>
          <p:cNvSpPr/>
          <p:nvPr/>
        </p:nvSpPr>
        <p:spPr>
          <a:xfrm>
            <a:off x="64098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MÉMOIRE CONSERVÉE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Box 11"/>
          <p:cNvSpPr/>
          <p:nvPr/>
        </p:nvSpPr>
        <p:spPr>
          <a:xfrm>
            <a:off x="64098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Informations gardées pour plus tard,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selon l’outil et ses réglages.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Elles peuvent être incomplètes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ou ne plus être à jour.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Rectangle 12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4" name="TextBox 13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Une nouvelle conversation ou un autre outil peut manquer de décisions et de résultats précédents.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Box 14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AI_PRACTICE.md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Rectangle 15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7" name="TextBox 16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Box 17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30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TRAVAIL ÉTUDIANT · ACTIVITÉ 3 DE LA FICHE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À vous : préparer une note pour reprendre le travail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2" name="Rectangle 4"/>
          <p:cNvSpPr/>
          <p:nvPr/>
        </p:nvSpPr>
        <p:spPr>
          <a:xfrm>
            <a:off x="722520" y="1856160"/>
            <a:ext cx="4228920" cy="6224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3" name="TextBox 5"/>
          <p:cNvSpPr/>
          <p:nvPr/>
        </p:nvSpPr>
        <p:spPr>
          <a:xfrm>
            <a:off x="850320" y="1879200"/>
            <a:ext cx="39956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À TRANSMETTRE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Rectangle 6"/>
          <p:cNvSpPr/>
          <p:nvPr/>
        </p:nvSpPr>
        <p:spPr>
          <a:xfrm>
            <a:off x="4974480" y="1856160"/>
            <a:ext cx="6588000" cy="6224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5" name="TextBox 7"/>
          <p:cNvSpPr/>
          <p:nvPr/>
        </p:nvSpPr>
        <p:spPr>
          <a:xfrm>
            <a:off x="5102280" y="1879200"/>
            <a:ext cx="63547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À FAIRE VÉRIFIER PAR UN COLLÈGUE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Rectangle 8"/>
          <p:cNvSpPr/>
          <p:nvPr/>
        </p:nvSpPr>
        <p:spPr>
          <a:xfrm>
            <a:off x="722520" y="2501640"/>
            <a:ext cx="42289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7" name="TextBox 9"/>
          <p:cNvSpPr/>
          <p:nvPr/>
        </p:nvSpPr>
        <p:spPr>
          <a:xfrm>
            <a:off x="850320" y="2524680"/>
            <a:ext cx="39956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Besoin et décision retenue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Rectangle 10"/>
          <p:cNvSpPr/>
          <p:nvPr/>
        </p:nvSpPr>
        <p:spPr>
          <a:xfrm>
            <a:off x="4974480" y="2501640"/>
            <a:ext cx="658800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9" name="TextBox 11"/>
          <p:cNvSpPr/>
          <p:nvPr/>
        </p:nvSpPr>
        <p:spPr>
          <a:xfrm>
            <a:off x="5102280" y="2524680"/>
            <a:ext cx="63547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résultat à obtenir est-il explicite 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Rectangle 12"/>
          <p:cNvSpPr/>
          <p:nvPr/>
        </p:nvSpPr>
        <p:spPr>
          <a:xfrm>
            <a:off x="722520" y="3147480"/>
            <a:ext cx="42289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1" name="TextBox 13"/>
          <p:cNvSpPr/>
          <p:nvPr/>
        </p:nvSpPr>
        <p:spPr>
          <a:xfrm>
            <a:off x="850320" y="3170160"/>
            <a:ext cx="39956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Fichier actuel et version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Rectangle 14"/>
          <p:cNvSpPr/>
          <p:nvPr/>
        </p:nvSpPr>
        <p:spPr>
          <a:xfrm>
            <a:off x="4974480" y="3147480"/>
            <a:ext cx="658800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3" name="TextBox 15"/>
          <p:cNvSpPr/>
          <p:nvPr/>
        </p:nvSpPr>
        <p:spPr>
          <a:xfrm>
            <a:off x="5102280" y="3170160"/>
            <a:ext cx="63547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Quel code a réellement été testé 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Rectangle 16"/>
          <p:cNvSpPr/>
          <p:nvPr/>
        </p:nvSpPr>
        <p:spPr>
          <a:xfrm>
            <a:off x="722520" y="3792960"/>
            <a:ext cx="42289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5" name="TextBox 17"/>
          <p:cNvSpPr/>
          <p:nvPr/>
        </p:nvSpPr>
        <p:spPr>
          <a:xfrm>
            <a:off x="850320" y="3815640"/>
            <a:ext cx="39956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Commande et résultat observé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Rectangle 18"/>
          <p:cNvSpPr/>
          <p:nvPr/>
        </p:nvSpPr>
        <p:spPr>
          <a:xfrm>
            <a:off x="4974480" y="3792960"/>
            <a:ext cx="658800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7" name="TextBox 19"/>
          <p:cNvSpPr/>
          <p:nvPr/>
        </p:nvSpPr>
        <p:spPr>
          <a:xfrm>
            <a:off x="5102280" y="3815640"/>
            <a:ext cx="63547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test porte-t-il sur cette version 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Rectangle 20"/>
          <p:cNvSpPr/>
          <p:nvPr/>
        </p:nvSpPr>
        <p:spPr>
          <a:xfrm>
            <a:off x="722520" y="4438440"/>
            <a:ext cx="42289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9" name="TextBox 21"/>
          <p:cNvSpPr/>
          <p:nvPr/>
        </p:nvSpPr>
        <p:spPr>
          <a:xfrm>
            <a:off x="850320" y="4461480"/>
            <a:ext cx="39956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Prochaine vérification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Rectangle 22"/>
          <p:cNvSpPr/>
          <p:nvPr/>
        </p:nvSpPr>
        <p:spPr>
          <a:xfrm>
            <a:off x="4974480" y="4438440"/>
            <a:ext cx="658800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1" name="TextBox 23"/>
          <p:cNvSpPr/>
          <p:nvPr/>
        </p:nvSpPr>
        <p:spPr>
          <a:xfrm>
            <a:off x="5102280" y="4461480"/>
            <a:ext cx="63547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Que reste-t-il à faire ou à confirmer 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Rectangle 24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3" name="TextBox 25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Si la note annonce « v2 vérifiée », mais que la commande lance v1, que peut-on conclure ?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Box 26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AI_PRACTICE.md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Rectangle 27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6" name="TextBox 28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Box 29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31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EXÉCUTION ET PERFORMANCES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1" lang="en-US" sz="3000" strike="noStrike" u="none">
              <a:solidFill>
                <a:srgbClr val="102a43"/>
              </a:solidFill>
              <a:effectLst/>
              <a:uFillTx/>
              <a:latin typeface="Aptos"/>
            </a:endParaRPr>
          </a:p>
        </p:txBody>
      </p:sp>
      <p:sp>
        <p:nvSpPr>
          <p:cNvPr id="660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1" name="Rectangle 4"/>
          <p:cNvSpPr/>
          <p:nvPr/>
        </p:nvSpPr>
        <p:spPr>
          <a:xfrm>
            <a:off x="0" y="0"/>
            <a:ext cx="12191760" cy="63090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2" name="TextBox 5"/>
          <p:cNvSpPr/>
          <p:nvPr/>
        </p:nvSpPr>
        <p:spPr>
          <a:xfrm>
            <a:off x="777240" y="7772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6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EXÉCUTION ET PERFORMANCES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Rectangle 6"/>
          <p:cNvSpPr/>
          <p:nvPr/>
        </p:nvSpPr>
        <p:spPr>
          <a:xfrm>
            <a:off x="786240" y="1508760"/>
            <a:ext cx="776880" cy="637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4" name="TextBox 7"/>
          <p:cNvSpPr/>
          <p:nvPr/>
        </p:nvSpPr>
        <p:spPr>
          <a:xfrm>
            <a:off x="777240" y="1856160"/>
            <a:ext cx="1056096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41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Comprendre où</a:t>
            </a:r>
            <a:endParaRPr b="0" lang="en-US" sz="4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41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s’exécute le calcul</a:t>
            </a:r>
            <a:endParaRPr b="0" lang="en-US" sz="4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Box 8"/>
          <p:cNvSpPr/>
          <p:nvPr/>
        </p:nvSpPr>
        <p:spPr>
          <a:xfrm>
            <a:off x="777240" y="4041720"/>
            <a:ext cx="10560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500" strike="noStrike" u="none">
                <a:solidFill>
                  <a:srgbClr val="dce8ee"/>
                </a:solidFill>
                <a:effectLst/>
                <a:uFillTx/>
                <a:latin typeface="Aptos"/>
              </a:rPr>
              <a:t>Comparer les résultats, puis mesurer les durées.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Rectangle 9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55708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7" name="TextBox 10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Box 11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32 / 91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C++, CPYTHON ET NUMPY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Du code source au calcul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2" name="TextBox 4"/>
          <p:cNvSpPr/>
          <p:nvPr/>
        </p:nvSpPr>
        <p:spPr>
          <a:xfrm>
            <a:off x="777240" y="212148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3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C++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Rectangle 5"/>
          <p:cNvSpPr/>
          <p:nvPr/>
        </p:nvSpPr>
        <p:spPr>
          <a:xfrm>
            <a:off x="3246120" y="1938600"/>
            <a:ext cx="8165160" cy="8226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4" name="TextBox 6"/>
          <p:cNvSpPr/>
          <p:nvPr/>
        </p:nvSpPr>
        <p:spPr>
          <a:xfrm>
            <a:off x="3429000" y="2112120"/>
            <a:ext cx="7799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source → compilation → instructions machine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Box 7"/>
          <p:cNvSpPr/>
          <p:nvPr/>
        </p:nvSpPr>
        <p:spPr>
          <a:xfrm>
            <a:off x="777240" y="316368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3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Boucle Python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Rectangle 8"/>
          <p:cNvSpPr/>
          <p:nvPr/>
        </p:nvSpPr>
        <p:spPr>
          <a:xfrm>
            <a:off x="3246120" y="2980800"/>
            <a:ext cx="8165160" cy="8226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7" name="TextBox 9"/>
          <p:cNvSpPr/>
          <p:nvPr/>
        </p:nvSpPr>
        <p:spPr>
          <a:xfrm>
            <a:off x="3429000" y="3154680"/>
            <a:ext cx="7799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source → bytecode → interpréteur CPython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Box 10"/>
          <p:cNvSpPr/>
          <p:nvPr/>
        </p:nvSpPr>
        <p:spPr>
          <a:xfrm>
            <a:off x="777240" y="420624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300" strike="noStrike" u="none">
                <a:solidFill>
                  <a:srgbClr val="287c72"/>
                </a:solidFill>
                <a:effectLst/>
                <a:uFillTx/>
                <a:latin typeface="Aptos"/>
              </a:rPr>
              <a:t>NumPy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Rectangle 11"/>
          <p:cNvSpPr/>
          <p:nvPr/>
        </p:nvSpPr>
        <p:spPr>
          <a:xfrm>
            <a:off x="3246120" y="4023360"/>
            <a:ext cx="8165160" cy="8226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0" name="TextBox 12"/>
          <p:cNvSpPr/>
          <p:nvPr/>
        </p:nvSpPr>
        <p:spPr>
          <a:xfrm>
            <a:off x="3429000" y="4197240"/>
            <a:ext cx="77994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appel Python → routine native sur le tableau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Rectangle 13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2" name="TextBox 14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Le bytecode est une suite d’instructions lues par CPython, pas du code machine.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Rectangle 15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4" name="TextBox 16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Box 17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33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QUATRE DURÉES EN MINUTES · POINT DE DÉPART DE L’EXEMPLE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Créer le tableau avant de l’utiliser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9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0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import numpy as np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values = np.array(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[0, 60, 90, 120], dtype=float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print(values.shape)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print(values.dtype)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2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3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À IDENTIFIER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values est un tableau.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Positions : 0 à 3.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shape décrit sa forme.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dtype indique le type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des valeurs.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6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Quelle sortie attendez-vous après la conversion des quatre durées en heures ?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Box 12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performance/vectorization_steps.py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Rectangle 13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9" name="TextBox 14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Box 15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34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SUITE DU MÊME TABLEAU VALUES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Convertir une valeur après l’autre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4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5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output = np.empty_like(values)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for i, value in enumerate(values):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output[i] = value / 60.0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print(output)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7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8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LIRE LA BOUCLE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empty_like réserve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 tableau de même forme.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i est la position.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value est la durée lue.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1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Chaque position doit être remplie avant de lire le tableau créé avec empty_like.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Box 12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performance/vectorization_steps.py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Rectangle 13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4" name="TextBox 14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Box 15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35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VECTORISATION · TOUJOURS LES MÊMES QUATRE VALEURS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Écrire le calcul sur tout le tableau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9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0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expected = values / 60.0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print(expected)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np.testing.assert_array_equal(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output, expected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2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3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VÉRIFIER D’ABORD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La division s’applique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à chaque valeur.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contrôle compare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les deux tableaux.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6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Vectoriser ne signifie pas automatiquement utiliser plusieurs cœurs.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Box 12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performance/vectorization_steps.py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Rectangle 13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9" name="TextBox 14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Box 15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36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SUITE DU TABLEAU VALUES · CRÉER UNE COLONNE PANDAS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Avec pandas, une division ou un appel par valeur 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4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5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import pandas as pd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series = pd.Series(values)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hours = series / 60.0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hours = series.map(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lambda value: value / 60.0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7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8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DIFFÉRENCE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La division utilise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l’opération de tableau.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map appelle ici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une fonction Python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pour chaque valeur.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1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lambda définit ici une petite fonction par valeur ; nous la détaillerons plus loin.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Box 12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continuation_22/01_Benchmark_Cpp_Python_FR.ipynb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Rectangle 13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4" name="TextBox 14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Box 15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37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MESURES DU 20 SEPTEMBRE 2026 · UNE SEULE MACHINE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Un exemple mesuré : un million de divisions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9" name="Rectangle 4"/>
          <p:cNvSpPr/>
          <p:nvPr/>
        </p:nvSpPr>
        <p:spPr>
          <a:xfrm>
            <a:off x="3886200" y="2194560"/>
            <a:ext cx="10440" cy="26604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0" name="TextBox 5"/>
          <p:cNvSpPr/>
          <p:nvPr/>
        </p:nvSpPr>
        <p:spPr>
          <a:xfrm>
            <a:off x="3675960" y="4901040"/>
            <a:ext cx="594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0,1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Rectangle 6"/>
          <p:cNvSpPr/>
          <p:nvPr/>
        </p:nvSpPr>
        <p:spPr>
          <a:xfrm>
            <a:off x="5235120" y="2194560"/>
            <a:ext cx="10440" cy="26604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2" name="TextBox 7"/>
          <p:cNvSpPr/>
          <p:nvPr/>
        </p:nvSpPr>
        <p:spPr>
          <a:xfrm>
            <a:off x="5024520" y="4901040"/>
            <a:ext cx="594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Rectangle 8"/>
          <p:cNvSpPr/>
          <p:nvPr/>
        </p:nvSpPr>
        <p:spPr>
          <a:xfrm>
            <a:off x="6583680" y="2194560"/>
            <a:ext cx="10440" cy="26604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4" name="TextBox 9"/>
          <p:cNvSpPr/>
          <p:nvPr/>
        </p:nvSpPr>
        <p:spPr>
          <a:xfrm>
            <a:off x="6373440" y="4901040"/>
            <a:ext cx="594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10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Rectangle 10"/>
          <p:cNvSpPr/>
          <p:nvPr/>
        </p:nvSpPr>
        <p:spPr>
          <a:xfrm>
            <a:off x="7932600" y="2194560"/>
            <a:ext cx="10440" cy="26604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6" name="TextBox 11"/>
          <p:cNvSpPr/>
          <p:nvPr/>
        </p:nvSpPr>
        <p:spPr>
          <a:xfrm>
            <a:off x="7722000" y="4901040"/>
            <a:ext cx="594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100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Rectangle 12"/>
          <p:cNvSpPr/>
          <p:nvPr/>
        </p:nvSpPr>
        <p:spPr>
          <a:xfrm>
            <a:off x="9281160" y="2194560"/>
            <a:ext cx="10440" cy="26604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8" name="TextBox 13"/>
          <p:cNvSpPr/>
          <p:nvPr/>
        </p:nvSpPr>
        <p:spPr>
          <a:xfrm>
            <a:off x="9070920" y="4901040"/>
            <a:ext cx="594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6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1000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TextBox 14"/>
          <p:cNvSpPr/>
          <p:nvPr/>
        </p:nvSpPr>
        <p:spPr>
          <a:xfrm>
            <a:off x="786240" y="2231280"/>
            <a:ext cx="301716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C++ compilé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Rectangle 15"/>
          <p:cNvSpPr/>
          <p:nvPr/>
        </p:nvSpPr>
        <p:spPr>
          <a:xfrm>
            <a:off x="5212800" y="2414160"/>
            <a:ext cx="233640" cy="500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1" name="Oval 16"/>
          <p:cNvSpPr/>
          <p:nvPr/>
        </p:nvSpPr>
        <p:spPr>
          <a:xfrm>
            <a:off x="5320080" y="2340720"/>
            <a:ext cx="100080" cy="182520"/>
          </a:xfrm>
          <a:prstGeom prst="ellipse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2" name="TextBox 17"/>
          <p:cNvSpPr/>
          <p:nvPr/>
        </p:nvSpPr>
        <p:spPr>
          <a:xfrm>
            <a:off x="9619560" y="223128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2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1,26 ms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Box 18"/>
          <p:cNvSpPr/>
          <p:nvPr/>
        </p:nvSpPr>
        <p:spPr>
          <a:xfrm>
            <a:off x="786240" y="2743200"/>
            <a:ext cx="301716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Boucle Python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Rectangle 19"/>
          <p:cNvSpPr/>
          <p:nvPr/>
        </p:nvSpPr>
        <p:spPr>
          <a:xfrm>
            <a:off x="7574760" y="2926080"/>
            <a:ext cx="231480" cy="50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5" name="Oval 20"/>
          <p:cNvSpPr/>
          <p:nvPr/>
        </p:nvSpPr>
        <p:spPr>
          <a:xfrm>
            <a:off x="7680240" y="2853000"/>
            <a:ext cx="100080" cy="182520"/>
          </a:xfrm>
          <a:prstGeom prst="ellipse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6" name="TextBox 21"/>
          <p:cNvSpPr/>
          <p:nvPr/>
        </p:nvSpPr>
        <p:spPr>
          <a:xfrm>
            <a:off x="9619560" y="274320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2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70,85 ms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TextBox 22"/>
          <p:cNvSpPr/>
          <p:nvPr/>
        </p:nvSpPr>
        <p:spPr>
          <a:xfrm>
            <a:off x="786240" y="3255120"/>
            <a:ext cx="301716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NumPy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Rectangle 23"/>
          <p:cNvSpPr/>
          <p:nvPr/>
        </p:nvSpPr>
        <p:spPr>
          <a:xfrm>
            <a:off x="5282640" y="3438000"/>
            <a:ext cx="401760" cy="50040"/>
          </a:xfrm>
          <a:prstGeom prst="rect">
            <a:avLst/>
          </a:prstGeom>
          <a:solidFill>
            <a:srgbClr val="287c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9" name="Oval 24"/>
          <p:cNvSpPr/>
          <p:nvPr/>
        </p:nvSpPr>
        <p:spPr>
          <a:xfrm>
            <a:off x="5301720" y="3364920"/>
            <a:ext cx="100080" cy="182520"/>
          </a:xfrm>
          <a:prstGeom prst="ellipse">
            <a:avLst/>
          </a:prstGeom>
          <a:solidFill>
            <a:srgbClr val="287c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0" name="TextBox 25"/>
          <p:cNvSpPr/>
          <p:nvPr/>
        </p:nvSpPr>
        <p:spPr>
          <a:xfrm>
            <a:off x="9619560" y="325512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200" strike="noStrike" u="none">
                <a:solidFill>
                  <a:srgbClr val="287c72"/>
                </a:solidFill>
                <a:effectLst/>
                <a:uFillTx/>
                <a:latin typeface="Aptos"/>
              </a:rPr>
              <a:t>1,22 ms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Box 26"/>
          <p:cNvSpPr/>
          <p:nvPr/>
        </p:nvSpPr>
        <p:spPr>
          <a:xfrm>
            <a:off x="786240" y="3767400"/>
            <a:ext cx="301716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pandas : division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Rectangle 27"/>
          <p:cNvSpPr/>
          <p:nvPr/>
        </p:nvSpPr>
        <p:spPr>
          <a:xfrm>
            <a:off x="5330160" y="3950280"/>
            <a:ext cx="163440" cy="50040"/>
          </a:xfrm>
          <a:prstGeom prst="rect">
            <a:avLst/>
          </a:prstGeom>
          <a:solidFill>
            <a:srgbClr val="287c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3" name="Oval 28"/>
          <p:cNvSpPr/>
          <p:nvPr/>
        </p:nvSpPr>
        <p:spPr>
          <a:xfrm>
            <a:off x="5378400" y="3877200"/>
            <a:ext cx="100080" cy="182520"/>
          </a:xfrm>
          <a:prstGeom prst="ellipse">
            <a:avLst/>
          </a:prstGeom>
          <a:solidFill>
            <a:srgbClr val="287c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4" name="TextBox 29"/>
          <p:cNvSpPr/>
          <p:nvPr/>
        </p:nvSpPr>
        <p:spPr>
          <a:xfrm>
            <a:off x="9619560" y="376740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200" strike="noStrike" u="none">
                <a:solidFill>
                  <a:srgbClr val="287c72"/>
                </a:solidFill>
                <a:effectLst/>
                <a:uFillTx/>
                <a:latin typeface="Aptos"/>
              </a:rPr>
              <a:t>1,39 ms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Box 30"/>
          <p:cNvSpPr/>
          <p:nvPr/>
        </p:nvSpPr>
        <p:spPr>
          <a:xfrm>
            <a:off x="786240" y="4279320"/>
            <a:ext cx="301716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pandas : map + lambda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Rectangle 31"/>
          <p:cNvSpPr/>
          <p:nvPr/>
        </p:nvSpPr>
        <p:spPr>
          <a:xfrm>
            <a:off x="8606880" y="4462200"/>
            <a:ext cx="222840" cy="500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7" name="Oval 32"/>
          <p:cNvSpPr/>
          <p:nvPr/>
        </p:nvSpPr>
        <p:spPr>
          <a:xfrm>
            <a:off x="8632080" y="4389120"/>
            <a:ext cx="100080" cy="182520"/>
          </a:xfrm>
          <a:prstGeom prst="ellipse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8" name="TextBox 33"/>
          <p:cNvSpPr/>
          <p:nvPr/>
        </p:nvSpPr>
        <p:spPr>
          <a:xfrm>
            <a:off x="9619560" y="427932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22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359,86 ms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TextBox 34"/>
          <p:cNvSpPr/>
          <p:nvPr/>
        </p:nvSpPr>
        <p:spPr>
          <a:xfrm>
            <a:off x="786240" y="1755720"/>
            <a:ext cx="10606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8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Échelle logarithmique : chaque graduation multiplie le temps par 10.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Rectangle 35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1" name="TextBox 36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Point : médiane de 11 mesures. Trait : minimum–maximum. Plus à gauche = plus rapide.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Box 37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continuation_22/01_Benchmark_Cpp_Python_FR.ipynb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Rectangle 38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4" name="TextBox 39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TextBox 40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38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LE PROTOCOLE DU BENCHMARK PRÉCÉDENT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Que mesurent ces nombres 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9" name="Rectangle 4"/>
          <p:cNvSpPr/>
          <p:nvPr/>
        </p:nvSpPr>
        <p:spPr>
          <a:xfrm>
            <a:off x="71316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0" name="Rectangle 5"/>
          <p:cNvSpPr/>
          <p:nvPr/>
        </p:nvSpPr>
        <p:spPr>
          <a:xfrm>
            <a:off x="71316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1" name="TextBox 6"/>
          <p:cNvSpPr/>
          <p:nvPr/>
        </p:nvSpPr>
        <p:spPr>
          <a:xfrm>
            <a:off x="9054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DANS LE TEMPS MESURÉ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Box 7"/>
          <p:cNvSpPr/>
          <p:nvPr/>
        </p:nvSpPr>
        <p:spPr>
          <a:xfrm>
            <a:off x="9054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Création de la sortie.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Division de chaque valeur.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Construction du résultat.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Rectangle 8"/>
          <p:cNvSpPr/>
          <p:nvPr/>
        </p:nvSpPr>
        <p:spPr>
          <a:xfrm>
            <a:off x="621792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4" name="Rectangle 9"/>
          <p:cNvSpPr/>
          <p:nvPr/>
        </p:nvSpPr>
        <p:spPr>
          <a:xfrm>
            <a:off x="6217920" y="1901880"/>
            <a:ext cx="54360" cy="30902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5" name="TextBox 10"/>
          <p:cNvSpPr/>
          <p:nvPr/>
        </p:nvSpPr>
        <p:spPr>
          <a:xfrm>
            <a:off x="64098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HORS DU TEMPS MESURÉ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TextBox 11"/>
          <p:cNvSpPr/>
          <p:nvPr/>
        </p:nvSpPr>
        <p:spPr>
          <a:xfrm>
            <a:off x="64098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Préparation des entrées.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Vérification des sorties.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Imports et compilation C++.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Rectangle 12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8" name="TextBox 13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Ces temps décrivent ce calcul et ces représentations sur cette machine.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TextBox 14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continuation_22/01_Benchmark_Cpp_Python_FR.py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Rectangle 15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1" name="TextBox 16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TextBox 17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39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CPU : LE PROCESSEUR QUI EXÉCUTE LE PROGRAMME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Une tâche après l’autre, ou plusieurs à la fois 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6" name="Rectangle 4"/>
          <p:cNvSpPr/>
          <p:nvPr/>
        </p:nvSpPr>
        <p:spPr>
          <a:xfrm>
            <a:off x="71316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7" name="Rectangle 5"/>
          <p:cNvSpPr/>
          <p:nvPr/>
        </p:nvSpPr>
        <p:spPr>
          <a:xfrm>
            <a:off x="71316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8" name="TextBox 6"/>
          <p:cNvSpPr/>
          <p:nvPr/>
        </p:nvSpPr>
        <p:spPr>
          <a:xfrm>
            <a:off x="9054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EXÉCUTION SÉQUENTIELLE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TextBox 7"/>
          <p:cNvSpPr/>
          <p:nvPr/>
        </p:nvSpPr>
        <p:spPr>
          <a:xfrm>
            <a:off x="9054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Faire le premier travail.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Attendre son résultat.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Faire ensuite le suivant.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Rectangle 8"/>
          <p:cNvSpPr/>
          <p:nvPr/>
        </p:nvSpPr>
        <p:spPr>
          <a:xfrm>
            <a:off x="621792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1" name="Rectangle 9"/>
          <p:cNvSpPr/>
          <p:nvPr/>
        </p:nvSpPr>
        <p:spPr>
          <a:xfrm>
            <a:off x="6217920" y="1901880"/>
            <a:ext cx="54360" cy="30902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2" name="TextBox 10"/>
          <p:cNvSpPr/>
          <p:nvPr/>
        </p:nvSpPr>
        <p:spPr>
          <a:xfrm>
            <a:off x="64098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EXÉCUTION PARALLÈLE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Box 11"/>
          <p:cNvSpPr/>
          <p:nvPr/>
        </p:nvSpPr>
        <p:spPr>
          <a:xfrm>
            <a:off x="64098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Répartir des travaux séparables.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Ils peuvent avancer en même temps.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Rassembler leurs résultats.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Rectangle 12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5" name="TextBox 13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Les cœurs du processeur permettent plusieurs calculs ; organiser leur travail a aussi un coût.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Rectangle 14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7" name="TextBox 15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TextBox 16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40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UN THREAD EST UN FIL D’EXÉCUTION · LA MÉMOIRE EST PARTAGÉE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Threads : plusieurs tâches dans un même programme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2" name="Rectangle 4"/>
          <p:cNvSpPr/>
          <p:nvPr/>
        </p:nvSpPr>
        <p:spPr>
          <a:xfrm>
            <a:off x="740520" y="1920240"/>
            <a:ext cx="10679760" cy="5666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3" name="TextBox 5"/>
          <p:cNvSpPr/>
          <p:nvPr/>
        </p:nvSpPr>
        <p:spPr>
          <a:xfrm>
            <a:off x="914400" y="2011680"/>
            <a:ext cx="1033236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Un tableau d’entrée commun, seulement lu par les tâches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Rectangle 6"/>
          <p:cNvSpPr/>
          <p:nvPr/>
        </p:nvSpPr>
        <p:spPr>
          <a:xfrm>
            <a:off x="758880" y="2807280"/>
            <a:ext cx="5239080" cy="2194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5" name="Rectangle 7"/>
          <p:cNvSpPr/>
          <p:nvPr/>
        </p:nvSpPr>
        <p:spPr>
          <a:xfrm>
            <a:off x="758880" y="2807280"/>
            <a:ext cx="54360" cy="219420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6" name="TextBox 8"/>
          <p:cNvSpPr/>
          <p:nvPr/>
        </p:nvSpPr>
        <p:spPr>
          <a:xfrm>
            <a:off x="951120" y="2971800"/>
            <a:ext cx="4854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TÂCHE 1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TextBox 9"/>
          <p:cNvSpPr/>
          <p:nvPr/>
        </p:nvSpPr>
        <p:spPr>
          <a:xfrm>
            <a:off x="951120" y="3675960"/>
            <a:ext cx="485496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Lit le lot 1.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Produit sa sortie.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Ne modifie pas l’entrée.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Rectangle 10"/>
          <p:cNvSpPr/>
          <p:nvPr/>
        </p:nvSpPr>
        <p:spPr>
          <a:xfrm>
            <a:off x="6190560" y="2807280"/>
            <a:ext cx="5239080" cy="2194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9" name="Rectangle 11"/>
          <p:cNvSpPr/>
          <p:nvPr/>
        </p:nvSpPr>
        <p:spPr>
          <a:xfrm>
            <a:off x="6190560" y="2807280"/>
            <a:ext cx="54360" cy="2194200"/>
          </a:xfrm>
          <a:prstGeom prst="rect">
            <a:avLst/>
          </a:prstGeom>
          <a:solidFill>
            <a:srgbClr val="287c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0" name="TextBox 12"/>
          <p:cNvSpPr/>
          <p:nvPr/>
        </p:nvSpPr>
        <p:spPr>
          <a:xfrm>
            <a:off x="6382440" y="2971800"/>
            <a:ext cx="4854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287c72"/>
                </a:solidFill>
                <a:effectLst/>
                <a:uFillTx/>
                <a:latin typeface="Aptos"/>
              </a:rPr>
              <a:t>TÂCHE 2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TextBox 13"/>
          <p:cNvSpPr/>
          <p:nvPr/>
        </p:nvSpPr>
        <p:spPr>
          <a:xfrm>
            <a:off x="6382440" y="3675960"/>
            <a:ext cx="485496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Lit le lot 2.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Produit sa sortie.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Ne modifie pas l’entrée.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Rectangle 14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3" name="TextBox 15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Au maximum deux threads ; chaque tâche produit sa sortie sans modifier values.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TextBox 16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performance/vectorization_steps.py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Rectangle 17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6" name="TextBox 18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TextBox 19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41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RETOUR AUX QUATRE DURÉES DU TABLEAU VALUES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9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Définir le travail d’un thread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1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2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def divide_chunk(chunk):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return chunk / 60.0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chunks = [values[:2], values[2:]]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print(chunks)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4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5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DEUX LOTS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values[:2] : 0 et 60.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values[2:] : 90 et 120.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Chaque appel convertit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 lot en heures.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8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La fonction est définie avant d’être confiée aux threads.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Box 12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performance/vectorization_steps.py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Rectangle 13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1" name="TextBox 14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TextBox 15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42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DIVIDE_CHUNK ET CHUNKS VIENNENT DE LA DIAPOSITIVE PRÉCÉDENTE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Confier les deux lots à un groupe de threads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6" name="Rectangle 4"/>
          <p:cNvSpPr/>
          <p:nvPr/>
        </p:nvSpPr>
        <p:spPr>
          <a:xfrm>
            <a:off x="713160" y="1938600"/>
            <a:ext cx="10743840" cy="31453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7" name="TextBox 5"/>
          <p:cNvSpPr/>
          <p:nvPr/>
        </p:nvSpPr>
        <p:spPr>
          <a:xfrm>
            <a:off x="896040" y="2094120"/>
            <a:ext cx="1037808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from concurrent.futures import ThreadPoolExecutor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with ThreadPoolExecutor(max_workers=2) as pool: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parts = list(pool.map(divide_chunk, chunks))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Rectangle 6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9" name="TextBox 7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map applique la fonction à chaque lot ; parts conserve les résultats dans l’ordre des lots.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TextBox 8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performance/vectorization_steps.py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Rectangle 9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2" name="TextBox 10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TextBox 11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43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SUITE · PARTS CONTIENT LES DEUX TABLEAUX CONVERTIS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Réunir les morceaux et vérifier le résultat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7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8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result = np.concatenate(parts)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print(result)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np.testing.assert_array_equal(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result, expected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9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0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1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RÉSULTAT ATTENDU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2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[0.0, 1.0, 1.5, 2.0]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concatenate met les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morceaux bout à bout.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contrôle compare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avec la division initiale.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4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Même entrée, mêmes valeurs et même ordre : l’organisation du calcul a changé.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TextBox 12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performance/vectorization_steps.py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Rectangle 13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7" name="TextBox 14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TextBox 15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44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CPYTHON LORSQUE LE GIL EST ACTIVÉ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Pourquoi plusieurs threads ne suffisent-ils pas 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2" name="Rectangle 4"/>
          <p:cNvSpPr/>
          <p:nvPr/>
        </p:nvSpPr>
        <p:spPr>
          <a:xfrm>
            <a:off x="71316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3" name="Rectangle 5"/>
          <p:cNvSpPr/>
          <p:nvPr/>
        </p:nvSpPr>
        <p:spPr>
          <a:xfrm>
            <a:off x="71316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4" name="TextBox 6"/>
          <p:cNvSpPr/>
          <p:nvPr/>
        </p:nvSpPr>
        <p:spPr>
          <a:xfrm>
            <a:off x="9054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BOUCLE PYTHON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TextBox 7"/>
          <p:cNvSpPr/>
          <p:nvPr/>
        </p:nvSpPr>
        <p:spPr>
          <a:xfrm>
            <a:off x="9054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GIL est un verrou interne.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 seul thread à la fois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exécute le code Python.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Rectangle 8"/>
          <p:cNvSpPr/>
          <p:nvPr/>
        </p:nvSpPr>
        <p:spPr>
          <a:xfrm>
            <a:off x="621792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7" name="Rectangle 9"/>
          <p:cNvSpPr/>
          <p:nvPr/>
        </p:nvSpPr>
        <p:spPr>
          <a:xfrm>
            <a:off x="6217920" y="1901880"/>
            <a:ext cx="54360" cy="30902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8" name="TextBox 10"/>
          <p:cNvSpPr/>
          <p:nvPr/>
        </p:nvSpPr>
        <p:spPr>
          <a:xfrm>
            <a:off x="64098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CALCUL NUMPY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TextBox 11"/>
          <p:cNvSpPr/>
          <p:nvPr/>
        </p:nvSpPr>
        <p:spPr>
          <a:xfrm>
            <a:off x="64098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De nombreuses opérations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natives libèrent ce verrou.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Ces calculs peuvent alors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s’exécuter en même temps.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Rectangle 12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1" name="TextBox 13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Un gain dépend aussi du travail à faire, de la mémoire et du coût de lancement.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Rectangle 14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3" name="TextBox 15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TextBox 16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45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UN PROCESSUS POSSÈDE SON PROPRE ESPACE MÉMOIRE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Processus : plusieurs exécutions séparées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8" name="Rectangle 4"/>
          <p:cNvSpPr/>
          <p:nvPr/>
        </p:nvSpPr>
        <p:spPr>
          <a:xfrm>
            <a:off x="73152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9" name="Rectangle 5"/>
          <p:cNvSpPr/>
          <p:nvPr/>
        </p:nvSpPr>
        <p:spPr>
          <a:xfrm>
            <a:off x="731520" y="2267640"/>
            <a:ext cx="54360" cy="23770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0" name="TextBox 6"/>
          <p:cNvSpPr/>
          <p:nvPr/>
        </p:nvSpPr>
        <p:spPr>
          <a:xfrm>
            <a:off x="9234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PROGRAMME PRINCIPAL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TextBox 7"/>
          <p:cNvSpPr/>
          <p:nvPr/>
        </p:nvSpPr>
        <p:spPr>
          <a:xfrm>
            <a:off x="9234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Prépare les données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de chaque tâche.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Chevron 8"/>
          <p:cNvSpPr/>
          <p:nvPr/>
        </p:nvSpPr>
        <p:spPr>
          <a:xfrm>
            <a:off x="4127040" y="3273480"/>
            <a:ext cx="209880" cy="365400"/>
          </a:xfrm>
          <a:prstGeom prst="chevron">
            <a:avLst>
              <a:gd name="adj" fmla="val 50000"/>
            </a:avLst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3" name="Rectangle 9"/>
          <p:cNvSpPr/>
          <p:nvPr/>
        </p:nvSpPr>
        <p:spPr>
          <a:xfrm>
            <a:off x="441972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4" name="Rectangle 10"/>
          <p:cNvSpPr/>
          <p:nvPr/>
        </p:nvSpPr>
        <p:spPr>
          <a:xfrm>
            <a:off x="4419720" y="2267640"/>
            <a:ext cx="54360" cy="2377080"/>
          </a:xfrm>
          <a:prstGeom prst="rect">
            <a:avLst/>
          </a:prstGeom>
          <a:solidFill>
            <a:srgbClr val="287c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5" name="TextBox 11"/>
          <p:cNvSpPr/>
          <p:nvPr/>
        </p:nvSpPr>
        <p:spPr>
          <a:xfrm>
            <a:off x="46116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287c72"/>
                </a:solidFill>
                <a:effectLst/>
                <a:uFillTx/>
                <a:latin typeface="Aptos"/>
              </a:rPr>
              <a:t>PROCESSUS DE CALCUL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TextBox 12"/>
          <p:cNvSpPr/>
          <p:nvPr/>
        </p:nvSpPr>
        <p:spPr>
          <a:xfrm>
            <a:off x="46116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Chaque Python possède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sa propre mémoire.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Chevron 13"/>
          <p:cNvSpPr/>
          <p:nvPr/>
        </p:nvSpPr>
        <p:spPr>
          <a:xfrm>
            <a:off x="7815240" y="3273480"/>
            <a:ext cx="209880" cy="365400"/>
          </a:xfrm>
          <a:prstGeom prst="chevron">
            <a:avLst>
              <a:gd name="adj" fmla="val 50000"/>
            </a:avLst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8" name="Rectangle 14"/>
          <p:cNvSpPr/>
          <p:nvPr/>
        </p:nvSpPr>
        <p:spPr>
          <a:xfrm>
            <a:off x="810756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09" name="Rectangle 15"/>
          <p:cNvSpPr/>
          <p:nvPr/>
        </p:nvSpPr>
        <p:spPr>
          <a:xfrm>
            <a:off x="8107560" y="2267640"/>
            <a:ext cx="54360" cy="237708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0" name="TextBox 16"/>
          <p:cNvSpPr/>
          <p:nvPr/>
        </p:nvSpPr>
        <p:spPr>
          <a:xfrm>
            <a:off x="82998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PROGRAMME PRINCIPAL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TextBox 17"/>
          <p:cNvSpPr/>
          <p:nvPr/>
        </p:nvSpPr>
        <p:spPr>
          <a:xfrm>
            <a:off x="82998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Récupère les résultats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transmis par les processus.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Rectangle 18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3" name="TextBox 19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Il faut démarrer les processus et leur transmettre les données : cela prend du temps.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TextBox 20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performance/parallel_steps.py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5" name="Rectangle 21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6" name="TextBox 22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TextBox 23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46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NOUVEAU CALCUL : MOYENNE D’UN ÉCHANTILLON SIMULÉ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Décrire deux tâches avant de les exécuter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1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2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tasks = [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(404, 20_000),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(405, 20_000),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]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seed, size = tasks[0]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4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5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UNE TÂCHE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6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seed initialise le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générateur aléatoire.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size : nombre de tirages.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Ici : 20 000.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8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Les tâches gardent les mêmes paramètres dans les deux modes d’exécution.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9" name="TextBox 12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performance/parallel_steps.py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Rectangle 13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1" name="TextBox 14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TextBox 15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47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DÉFINITION DANS PERFORMANCE/MEAN_TASK.PY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Écrire la fonction qui calcule une moyenne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6" name="Rectangle 4"/>
          <p:cNvSpPr/>
          <p:nvPr/>
        </p:nvSpPr>
        <p:spPr>
          <a:xfrm>
            <a:off x="713160" y="1938600"/>
            <a:ext cx="10743840" cy="31453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7" name="TextBox 5"/>
          <p:cNvSpPr/>
          <p:nvPr/>
        </p:nvSpPr>
        <p:spPr>
          <a:xfrm>
            <a:off x="896040" y="2094120"/>
            <a:ext cx="1037808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from random import Random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def sample_mean(task):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seed, size = task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rng = Random(seed)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total = 0.0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for _ in range(size):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    total += rng.gauss(100, 18)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return total / size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Rectangle 6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9" name="TextBox 7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gauss(100, 18) : loi normale de moyenne 100 et d’écart-type 18.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TextBox 8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performance/mean_task.py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Rectangle 9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2" name="TextBox 10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TextBox 11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48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DÉBUT DE PERFORMANCE/PARALLEL_STEPS.PY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Définir run_sequential : une tâche après l’autre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7" name="Rectangle 4"/>
          <p:cNvSpPr/>
          <p:nvPr/>
        </p:nvSpPr>
        <p:spPr>
          <a:xfrm>
            <a:off x="713160" y="1938600"/>
            <a:ext cx="10743840" cy="31453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8" name="TextBox 5"/>
          <p:cNvSpPr/>
          <p:nvPr/>
        </p:nvSpPr>
        <p:spPr>
          <a:xfrm>
            <a:off x="896040" y="2094120"/>
            <a:ext cx="1037808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from mean_task import sample_mean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def run_sequential(tasks):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results = []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for task in tasks: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    result = sample_mean(task)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    results.append(result)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return results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Rectangle 6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0" name="TextBox 7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La liste results reçoit une moyenne par tâche, dans l’ordre de la liste tasks.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TextBox 8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performance/parallel_steps.py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Rectangle 9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3" name="TextBox 10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4" name="TextBox 11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49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SUITE DU MÊME SCRIPT · SAMPLE_MEAN EST DÉJÀ IMPORTÉE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Définir run_parallel : confier les tâches aux processus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8" name="Rectangle 4"/>
          <p:cNvSpPr/>
          <p:nvPr/>
        </p:nvSpPr>
        <p:spPr>
          <a:xfrm>
            <a:off x="713160" y="1938600"/>
            <a:ext cx="10743840" cy="31453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9" name="TextBox 5"/>
          <p:cNvSpPr/>
          <p:nvPr/>
        </p:nvSpPr>
        <p:spPr>
          <a:xfrm>
            <a:off x="896040" y="2094120"/>
            <a:ext cx="1037808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from concurrent.futures import ProcessPoolExecutor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from multiprocessing import get_context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def run_parallel(tasks, workers):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context = get_context("spawn")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with ProcessPoolExecutor(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    max_workers=workers, mp_context=context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) as pool: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    results = list(pool.map(sample_mean, tasks))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return results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Rectangle 6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1" name="TextBox 7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spawn démarre des Python neufs ; workers fixe le nombre maximal de processus de calcul.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TextBox 8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performance/parallel_steps.py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Rectangle 9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4" name="TextBox 10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TextBox 11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50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LES DEUX FONCTIONS SONT MAINTENANT DÉFINIES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Définir main : comparer les deux exécutions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9" name="Rectangle 4"/>
          <p:cNvSpPr/>
          <p:nvPr/>
        </p:nvSpPr>
        <p:spPr>
          <a:xfrm>
            <a:off x="713160" y="1938600"/>
            <a:ext cx="10743840" cy="31453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0" name="TextBox 5"/>
          <p:cNvSpPr/>
          <p:nvPr/>
        </p:nvSpPr>
        <p:spPr>
          <a:xfrm>
            <a:off x="896040" y="2094120"/>
            <a:ext cx="1037808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def main():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tasks = [(404, 20_000), (405, 20_000)]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expected = run_sequential(tasks)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result = run_parallel(tasks, workers=2)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assert result == expected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print(expected)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print(result)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Rectangle 6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2" name="TextBox 7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Le même calcul doit donner les mêmes moyennes ; aucun gain de temps n’est encore mesuré.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TextBox 8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performance/parallel_steps.py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Rectangle 9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5" name="TextBox 10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TextBox 11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51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DERNIÈRES LIGNES DE PERFORMANCE/PARALLEL_STEPS.PY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Lancer main seulement au démarrage du script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0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1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if __name__ == "__main__":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main()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3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4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LANCEMENT DIRECT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Python lance main.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Lors d’un import,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les fonctions sont définies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sans relancer main.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7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Depuis lab : python performance/parallel_steps.py — exécuter le fichier dans le terminal.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TextBox 12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performance/parallel_steps.py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Rectangle 13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0" name="TextBox 14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TextBox 15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52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MÊME ORGANISATION, DAVANTAGE D’INFORMATIONS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Passer de l’exemple guidé aux mesures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5" name="Rectangle 4"/>
          <p:cNvSpPr/>
          <p:nvPr/>
        </p:nvSpPr>
        <p:spPr>
          <a:xfrm>
            <a:off x="722520" y="1856160"/>
            <a:ext cx="5189040" cy="6224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6" name="TextBox 5"/>
          <p:cNvSpPr/>
          <p:nvPr/>
        </p:nvSpPr>
        <p:spPr>
          <a:xfrm>
            <a:off x="850320" y="1879200"/>
            <a:ext cx="49557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EXEMPLE GUIDÉ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Rectangle 6"/>
          <p:cNvSpPr/>
          <p:nvPr/>
        </p:nvSpPr>
        <p:spPr>
          <a:xfrm>
            <a:off x="5934600" y="1856160"/>
            <a:ext cx="5627880" cy="6224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8" name="TextBox 7"/>
          <p:cNvSpPr/>
          <p:nvPr/>
        </p:nvSpPr>
        <p:spPr>
          <a:xfrm>
            <a:off x="6062400" y="1879200"/>
            <a:ext cx="53946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PISTE C : run_processes.py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9" name="Rectangle 8"/>
          <p:cNvSpPr/>
          <p:nvPr/>
        </p:nvSpPr>
        <p:spPr>
          <a:xfrm>
            <a:off x="722520" y="2501640"/>
            <a:ext cx="51890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0" name="TextBox 9"/>
          <p:cNvSpPr/>
          <p:nvPr/>
        </p:nvSpPr>
        <p:spPr>
          <a:xfrm>
            <a:off x="850320" y="2524680"/>
            <a:ext cx="49557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sample_mean dans mean_task.py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Rectangle 10"/>
          <p:cNvSpPr/>
          <p:nvPr/>
        </p:nvSpPr>
        <p:spPr>
          <a:xfrm>
            <a:off x="5934600" y="2501640"/>
            <a:ext cx="562788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2" name="TextBox 11"/>
          <p:cNvSpPr/>
          <p:nvPr/>
        </p:nvSpPr>
        <p:spPr>
          <a:xfrm>
            <a:off x="6062400" y="2524680"/>
            <a:ext cx="53946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simulate_sample dans process_tasks.py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Rectangle 12"/>
          <p:cNvSpPr/>
          <p:nvPr/>
        </p:nvSpPr>
        <p:spPr>
          <a:xfrm>
            <a:off x="722520" y="3147480"/>
            <a:ext cx="51890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4" name="TextBox 13"/>
          <p:cNvSpPr/>
          <p:nvPr/>
        </p:nvSpPr>
        <p:spPr>
          <a:xfrm>
            <a:off x="850320" y="3170160"/>
            <a:ext cx="49557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 couple seed, effectif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5" name="Rectangle 14"/>
          <p:cNvSpPr/>
          <p:nvPr/>
        </p:nvSpPr>
        <p:spPr>
          <a:xfrm>
            <a:off x="5934600" y="3147480"/>
            <a:ext cx="562788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6" name="TextBox 15"/>
          <p:cNvSpPr/>
          <p:nvPr/>
        </p:nvSpPr>
        <p:spPr>
          <a:xfrm>
            <a:off x="6062400" y="3170160"/>
            <a:ext cx="53946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SimulationTask : mêmes paramètres nommés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Rectangle 16"/>
          <p:cNvSpPr/>
          <p:nvPr/>
        </p:nvSpPr>
        <p:spPr>
          <a:xfrm>
            <a:off x="722520" y="3792960"/>
            <a:ext cx="51890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8" name="TextBox 17"/>
          <p:cNvSpPr/>
          <p:nvPr/>
        </p:nvSpPr>
        <p:spPr>
          <a:xfrm>
            <a:off x="850320" y="3815640"/>
            <a:ext cx="49557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Une moyenne renvoyée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Rectangle 18"/>
          <p:cNvSpPr/>
          <p:nvPr/>
        </p:nvSpPr>
        <p:spPr>
          <a:xfrm>
            <a:off x="5934600" y="3792960"/>
            <a:ext cx="562788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0" name="TextBox 19"/>
          <p:cNvSpPr/>
          <p:nvPr/>
        </p:nvSpPr>
        <p:spPr>
          <a:xfrm>
            <a:off x="6062400" y="3815640"/>
            <a:ext cx="53946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Moyenne et proportion au-dessus de 130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1" name="Rectangle 20"/>
          <p:cNvSpPr/>
          <p:nvPr/>
        </p:nvSpPr>
        <p:spPr>
          <a:xfrm>
            <a:off x="722520" y="4438440"/>
            <a:ext cx="51890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2" name="TextBox 21"/>
          <p:cNvSpPr/>
          <p:nvPr/>
        </p:nvSpPr>
        <p:spPr>
          <a:xfrm>
            <a:off x="850320" y="4461480"/>
            <a:ext cx="49557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Accord des résultats seulement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Rectangle 22"/>
          <p:cNvSpPr/>
          <p:nvPr/>
        </p:nvSpPr>
        <p:spPr>
          <a:xfrm>
            <a:off x="5934600" y="4438440"/>
            <a:ext cx="562788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4" name="TextBox 23"/>
          <p:cNvSpPr/>
          <p:nvPr/>
        </p:nvSpPr>
        <p:spPr>
          <a:xfrm>
            <a:off x="6062400" y="4461480"/>
            <a:ext cx="53946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Accord, répétitions et durées mesurées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Rectangle 24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6" name="TextBox 25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L’exemple guidé explique le mécanisme ; le programme de la piste C mesure ses coûts.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7" name="TextBox 26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performance/README.md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Rectangle 27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9" name="TextBox 28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0" name="TextBox 29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53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LIRE LE PROTOCOLE AVANT DE COMPARER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2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Deux comparaisons, deux limites de chronométrage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3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4" name="Rectangle 4"/>
          <p:cNvSpPr/>
          <p:nvPr/>
        </p:nvSpPr>
        <p:spPr>
          <a:xfrm>
            <a:off x="722520" y="1856160"/>
            <a:ext cx="4868640" cy="7632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5" name="TextBox 5"/>
          <p:cNvSpPr/>
          <p:nvPr/>
        </p:nvSpPr>
        <p:spPr>
          <a:xfrm>
            <a:off x="850320" y="1879200"/>
            <a:ext cx="463572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SUPPORT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6" name="Rectangle 6"/>
          <p:cNvSpPr/>
          <p:nvPr/>
        </p:nvSpPr>
        <p:spPr>
          <a:xfrm>
            <a:off x="5614560" y="1856160"/>
            <a:ext cx="5947920" cy="7632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7" name="TextBox 7"/>
          <p:cNvSpPr/>
          <p:nvPr/>
        </p:nvSpPr>
        <p:spPr>
          <a:xfrm>
            <a:off x="5742360" y="1879200"/>
            <a:ext cx="57146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CE QUI EST MESURÉ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8" name="Rectangle 8"/>
          <p:cNvSpPr/>
          <p:nvPr/>
        </p:nvSpPr>
        <p:spPr>
          <a:xfrm>
            <a:off x="722520" y="2642760"/>
            <a:ext cx="486864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9" name="TextBox 9"/>
          <p:cNvSpPr/>
          <p:nvPr/>
        </p:nvSpPr>
        <p:spPr>
          <a:xfrm>
            <a:off x="850320" y="2665440"/>
            <a:ext cx="463572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Notebook CPU/GPU repris du 22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Rectangle 10"/>
          <p:cNvSpPr/>
          <p:nvPr/>
        </p:nvSpPr>
        <p:spPr>
          <a:xfrm>
            <a:off x="5614560" y="2642760"/>
            <a:ext cx="594792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1" name="TextBox 11"/>
          <p:cNvSpPr/>
          <p:nvPr/>
        </p:nvSpPr>
        <p:spPr>
          <a:xfrm>
            <a:off x="5742360" y="2665440"/>
            <a:ext cx="57146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Threads déjà créés ; démarrage du groupe exclu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2" name="Rectangle 12"/>
          <p:cNvSpPr/>
          <p:nvPr/>
        </p:nvSpPr>
        <p:spPr>
          <a:xfrm>
            <a:off x="722520" y="3429000"/>
            <a:ext cx="486864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3" name="TextBox 13"/>
          <p:cNvSpPr/>
          <p:nvPr/>
        </p:nvSpPr>
        <p:spPr>
          <a:xfrm>
            <a:off x="850320" y="3451680"/>
            <a:ext cx="463572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compare_execution.py et run_processes.py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4" name="Rectangle 14"/>
          <p:cNvSpPr/>
          <p:nvPr/>
        </p:nvSpPr>
        <p:spPr>
          <a:xfrm>
            <a:off x="5614560" y="3429000"/>
            <a:ext cx="594792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5" name="TextBox 15"/>
          <p:cNvSpPr/>
          <p:nvPr/>
        </p:nvSpPr>
        <p:spPr>
          <a:xfrm>
            <a:off x="5742360" y="3451680"/>
            <a:ext cx="57146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Calcul, création et fermeture du groupe inclus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Rectangle 16"/>
          <p:cNvSpPr/>
          <p:nvPr/>
        </p:nvSpPr>
        <p:spPr>
          <a:xfrm>
            <a:off x="722520" y="4215240"/>
            <a:ext cx="486864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7" name="TextBox 17"/>
          <p:cNvSpPr/>
          <p:nvPr/>
        </p:nvSpPr>
        <p:spPr>
          <a:xfrm>
            <a:off x="850320" y="4238280"/>
            <a:ext cx="463572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Dans les deux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8" name="Rectangle 18"/>
          <p:cNvSpPr/>
          <p:nvPr/>
        </p:nvSpPr>
        <p:spPr>
          <a:xfrm>
            <a:off x="5614560" y="4215240"/>
            <a:ext cx="594792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9" name="TextBox 19"/>
          <p:cNvSpPr/>
          <p:nvPr/>
        </p:nvSpPr>
        <p:spPr>
          <a:xfrm>
            <a:off x="5742360" y="4238280"/>
            <a:ext cx="57146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Préparation des données et contrôles hors mesure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0" name="Rectangle 2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1" name="TextBox 2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Un temps de calcul seul ne se compare pas directement à un temps complet.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Rectangle 22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3" name="TextBox 23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4" name="TextBox 24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54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EXPLORER UNE QUESTION PRÉCISE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6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Faire varier un seul paramètre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7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8" name="Rectangle 4"/>
          <p:cNvSpPr/>
          <p:nvPr/>
        </p:nvSpPr>
        <p:spPr>
          <a:xfrm>
            <a:off x="722520" y="1856160"/>
            <a:ext cx="4228920" cy="7632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9" name="TextBox 5"/>
          <p:cNvSpPr/>
          <p:nvPr/>
        </p:nvSpPr>
        <p:spPr>
          <a:xfrm>
            <a:off x="850320" y="1879200"/>
            <a:ext cx="39956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MODIFIER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0" name="Rectangle 6"/>
          <p:cNvSpPr/>
          <p:nvPr/>
        </p:nvSpPr>
        <p:spPr>
          <a:xfrm>
            <a:off x="4974480" y="1856160"/>
            <a:ext cx="6588000" cy="7632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1" name="TextBox 7"/>
          <p:cNvSpPr/>
          <p:nvPr/>
        </p:nvSpPr>
        <p:spPr>
          <a:xfrm>
            <a:off x="5102280" y="1879200"/>
            <a:ext cx="635472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OBSERVER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2" name="Rectangle 8"/>
          <p:cNvSpPr/>
          <p:nvPr/>
        </p:nvSpPr>
        <p:spPr>
          <a:xfrm>
            <a:off x="722520" y="2642760"/>
            <a:ext cx="422892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3" name="TextBox 9"/>
          <p:cNvSpPr/>
          <p:nvPr/>
        </p:nvSpPr>
        <p:spPr>
          <a:xfrm>
            <a:off x="850320" y="2665440"/>
            <a:ext cx="39956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Taille du tableau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Rectangle 10"/>
          <p:cNvSpPr/>
          <p:nvPr/>
        </p:nvSpPr>
        <p:spPr>
          <a:xfrm>
            <a:off x="4974480" y="2642760"/>
            <a:ext cx="658800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5" name="TextBox 11"/>
          <p:cNvSpPr/>
          <p:nvPr/>
        </p:nvSpPr>
        <p:spPr>
          <a:xfrm>
            <a:off x="5102280" y="2665440"/>
            <a:ext cx="635472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coût de lancement devient-il moins important 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6" name="Rectangle 12"/>
          <p:cNvSpPr/>
          <p:nvPr/>
        </p:nvSpPr>
        <p:spPr>
          <a:xfrm>
            <a:off x="722520" y="3429000"/>
            <a:ext cx="422892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7" name="TextBox 13"/>
          <p:cNvSpPr/>
          <p:nvPr/>
        </p:nvSpPr>
        <p:spPr>
          <a:xfrm>
            <a:off x="850320" y="3451680"/>
            <a:ext cx="39956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Nombre de threads ou processus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8" name="Rectangle 14"/>
          <p:cNvSpPr/>
          <p:nvPr/>
        </p:nvSpPr>
        <p:spPr>
          <a:xfrm>
            <a:off x="4974480" y="3429000"/>
            <a:ext cx="658800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9" name="TextBox 15"/>
          <p:cNvSpPr/>
          <p:nvPr/>
        </p:nvSpPr>
        <p:spPr>
          <a:xfrm>
            <a:off x="5102280" y="3451680"/>
            <a:ext cx="635472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temps diminue-t-il réellement 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Rectangle 16"/>
          <p:cNvSpPr/>
          <p:nvPr/>
        </p:nvSpPr>
        <p:spPr>
          <a:xfrm>
            <a:off x="722520" y="4215240"/>
            <a:ext cx="422892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1" name="TextBox 17"/>
          <p:cNvSpPr/>
          <p:nvPr/>
        </p:nvSpPr>
        <p:spPr>
          <a:xfrm>
            <a:off x="850320" y="4238280"/>
            <a:ext cx="39956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Nombre de tirages par tâche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Rectangle 18"/>
          <p:cNvSpPr/>
          <p:nvPr/>
        </p:nvSpPr>
        <p:spPr>
          <a:xfrm>
            <a:off x="4974480" y="4215240"/>
            <a:ext cx="658800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3" name="TextBox 19"/>
          <p:cNvSpPr/>
          <p:nvPr/>
        </p:nvSpPr>
        <p:spPr>
          <a:xfrm>
            <a:off x="5102280" y="4238280"/>
            <a:ext cx="635472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Les processus compensent-ils leur démarrage 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Rectangle 2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5" name="TextBox 2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Répéter les mesures, conserver leur médiane et expliquer aussi un ralentissement.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TextBox 22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performance/README.md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Rectangle 23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8" name="TextBox 24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TextBox 25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55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GPU : PROCESSEUR ADAPTÉ À DE NOMBREUX CALCULS EN PARALLÈLE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GPU : déplacer les données avant de calculer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3" name="Rectangle 4"/>
          <p:cNvSpPr/>
          <p:nvPr/>
        </p:nvSpPr>
        <p:spPr>
          <a:xfrm>
            <a:off x="73152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4" name="Rectangle 5"/>
          <p:cNvSpPr/>
          <p:nvPr/>
        </p:nvSpPr>
        <p:spPr>
          <a:xfrm>
            <a:off x="731520" y="2267640"/>
            <a:ext cx="54360" cy="23770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5" name="TextBox 6"/>
          <p:cNvSpPr/>
          <p:nvPr/>
        </p:nvSpPr>
        <p:spPr>
          <a:xfrm>
            <a:off x="9234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MÉMOIRE DU CPU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TextBox 7"/>
          <p:cNvSpPr/>
          <p:nvPr/>
        </p:nvSpPr>
        <p:spPr>
          <a:xfrm>
            <a:off x="9234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Données de départ.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Copie vers le GPU.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Chevron 8"/>
          <p:cNvSpPr/>
          <p:nvPr/>
        </p:nvSpPr>
        <p:spPr>
          <a:xfrm>
            <a:off x="4127040" y="3273480"/>
            <a:ext cx="209880" cy="365400"/>
          </a:xfrm>
          <a:prstGeom prst="chevron">
            <a:avLst>
              <a:gd name="adj" fmla="val 50000"/>
            </a:avLst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8" name="Rectangle 9"/>
          <p:cNvSpPr/>
          <p:nvPr/>
        </p:nvSpPr>
        <p:spPr>
          <a:xfrm>
            <a:off x="441972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9" name="Rectangle 10"/>
          <p:cNvSpPr/>
          <p:nvPr/>
        </p:nvSpPr>
        <p:spPr>
          <a:xfrm>
            <a:off x="4419720" y="2267640"/>
            <a:ext cx="54360" cy="2377080"/>
          </a:xfrm>
          <a:prstGeom prst="rect">
            <a:avLst/>
          </a:prstGeom>
          <a:solidFill>
            <a:srgbClr val="287c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0" name="TextBox 11"/>
          <p:cNvSpPr/>
          <p:nvPr/>
        </p:nvSpPr>
        <p:spPr>
          <a:xfrm>
            <a:off x="46116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287c72"/>
                </a:solidFill>
                <a:effectLst/>
                <a:uFillTx/>
                <a:latin typeface="Aptos"/>
              </a:rPr>
              <a:t>MÉMOIRE DU GPU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1" name="TextBox 12"/>
          <p:cNvSpPr/>
          <p:nvPr/>
        </p:nvSpPr>
        <p:spPr>
          <a:xfrm>
            <a:off x="46116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Calcul sur les données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qui s’y trouvent.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2" name="Chevron 13"/>
          <p:cNvSpPr/>
          <p:nvPr/>
        </p:nvSpPr>
        <p:spPr>
          <a:xfrm>
            <a:off x="7815240" y="3273480"/>
            <a:ext cx="209880" cy="365400"/>
          </a:xfrm>
          <a:prstGeom prst="chevron">
            <a:avLst>
              <a:gd name="adj" fmla="val 50000"/>
            </a:avLst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3" name="Rectangle 14"/>
          <p:cNvSpPr/>
          <p:nvPr/>
        </p:nvSpPr>
        <p:spPr>
          <a:xfrm>
            <a:off x="810756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4" name="Rectangle 15"/>
          <p:cNvSpPr/>
          <p:nvPr/>
        </p:nvSpPr>
        <p:spPr>
          <a:xfrm>
            <a:off x="8107560" y="2267640"/>
            <a:ext cx="54360" cy="237708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5" name="TextBox 16"/>
          <p:cNvSpPr/>
          <p:nvPr/>
        </p:nvSpPr>
        <p:spPr>
          <a:xfrm>
            <a:off x="82998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MÉMOIRE DU CPU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6" name="TextBox 17"/>
          <p:cNvSpPr/>
          <p:nvPr/>
        </p:nvSpPr>
        <p:spPr>
          <a:xfrm>
            <a:off x="82998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Copie du résultat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vers le programme.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7" name="Rectangle 18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8" name="TextBox 19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Activer un GPU ne déplace pas automatiquement un tableau NumPy vers sa mémoire.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" name="TextBox 20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continuation_22/02_Parallelisme_CPU_GPU_FR.ipynb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0" name="Rectangle 21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1" name="TextBox 22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2" name="TextBox 23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56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EXTRAIT CONCEPTUEL · TABLEAUX PYTORCH DÉJÀ SUR LE GPU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Distinguer le calcul GPU du trajet complet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6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7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hours_gpu = minutes_gpu / 60.0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9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0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DEUX MESURES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Sans transfert : données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déjà sur le GPU.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Trajet complet :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CPU → GPU → CPU.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2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3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Pour une simple division, les transferts peuvent coûter plus que le calcul.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4" name="TextBox 12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continuation_22/02_Parallelisme_CPU_GPU_FR.ipynb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5" name="Rectangle 13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6" name="TextBox 14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7" name="TextBox 15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57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LIRE UNE PUBLICATION AVEC RECUL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9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Une affirmation sur Python et l’IA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0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11" name="Picture 4" descr="python_ai_tiobe_post.png"/>
          <p:cNvPicPr/>
          <p:nvPr/>
        </p:nvPicPr>
        <p:blipFill>
          <a:blip r:embed="rId1"/>
          <a:stretch/>
        </p:blipFill>
        <p:spPr>
          <a:xfrm>
            <a:off x="786240" y="1783080"/>
            <a:ext cx="3237840" cy="350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2" name="Rectangle 5"/>
          <p:cNvSpPr/>
          <p:nvPr/>
        </p:nvSpPr>
        <p:spPr>
          <a:xfrm>
            <a:off x="4681800" y="1938600"/>
            <a:ext cx="6757200" cy="301716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3" name="Rectangle 6"/>
          <p:cNvSpPr/>
          <p:nvPr/>
        </p:nvSpPr>
        <p:spPr>
          <a:xfrm>
            <a:off x="4681800" y="1938600"/>
            <a:ext cx="54360" cy="301716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4" name="TextBox 7"/>
          <p:cNvSpPr/>
          <p:nvPr/>
        </p:nvSpPr>
        <p:spPr>
          <a:xfrm>
            <a:off x="4873680" y="2103120"/>
            <a:ext cx="63730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AFFIRMATION À VÉRIFIER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5" name="TextBox 8"/>
          <p:cNvSpPr/>
          <p:nvPr/>
        </p:nvSpPr>
        <p:spPr>
          <a:xfrm>
            <a:off x="4873680" y="2807280"/>
            <a:ext cx="6373080" cy="20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Python reculerait parce que l’IA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faciliterait l’usage d’autres langages.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Quel indicateur ? Quelle période ?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Quelle preuve d’un effet de l’IA ?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6" name="Rectangle 9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7" name="TextBox 10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Une baisse dans un indice ne démontre pas que l’IA fait abandonner Python.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Rectangle 11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9" name="TextBox 12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TextBox 13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58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NE PAS CONFONDRE INDICATEUR ET EXPLICATION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Que mesure l’indice TIOBE 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4" name="Rectangle 4"/>
          <p:cNvSpPr/>
          <p:nvPr/>
        </p:nvSpPr>
        <p:spPr>
          <a:xfrm>
            <a:off x="71316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5" name="Rectangle 5"/>
          <p:cNvSpPr/>
          <p:nvPr/>
        </p:nvSpPr>
        <p:spPr>
          <a:xfrm>
            <a:off x="71316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6" name="TextBox 6"/>
          <p:cNvSpPr/>
          <p:nvPr/>
        </p:nvSpPr>
        <p:spPr>
          <a:xfrm>
            <a:off x="9054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INDICATEUR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7" name="TextBox 7"/>
          <p:cNvSpPr/>
          <p:nvPr/>
        </p:nvSpPr>
        <p:spPr>
          <a:xfrm>
            <a:off x="9054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 score relatif calculé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à partir du nombre de résultats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de moteurs de recherche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pour des requêtes définies.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8" name="Rectangle 8"/>
          <p:cNvSpPr/>
          <p:nvPr/>
        </p:nvSpPr>
        <p:spPr>
          <a:xfrm>
            <a:off x="621792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9" name="Rectangle 9"/>
          <p:cNvSpPr/>
          <p:nvPr/>
        </p:nvSpPr>
        <p:spPr>
          <a:xfrm>
            <a:off x="6217920" y="1901880"/>
            <a:ext cx="54360" cy="30902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0" name="TextBox 10"/>
          <p:cNvSpPr/>
          <p:nvPr/>
        </p:nvSpPr>
        <p:spPr>
          <a:xfrm>
            <a:off x="64098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CE QU’IL N’ÉTABLIT PAS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1" name="TextBox 11"/>
          <p:cNvSpPr/>
          <p:nvPr/>
        </p:nvSpPr>
        <p:spPr>
          <a:xfrm>
            <a:off x="64098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nombre de projets réels.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La vitesse d’un langage.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La raison d’une variation.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 effet causal de l’IA.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" name="Rectangle 12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3" name="TextBox 13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Pour choisir un outil, examiner le travail à faire, les bibliothèques et les mesures utiles.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4" name="Rectangle 14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5" name="TextBox 15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6" name="TextBox 16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59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ATELIER GUIDÉ · MÉLANGE DE DEUX LOIS NORMALES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8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1" lang="en-US" sz="3000" strike="noStrike" u="none">
              <a:solidFill>
                <a:srgbClr val="102a43"/>
              </a:solidFill>
              <a:effectLst/>
              <a:uFillTx/>
              <a:latin typeface="Aptos"/>
            </a:endParaRPr>
          </a:p>
        </p:txBody>
      </p:sp>
      <p:sp>
        <p:nvSpPr>
          <p:cNvPr id="1139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0" name="Rectangle 4"/>
          <p:cNvSpPr/>
          <p:nvPr/>
        </p:nvSpPr>
        <p:spPr>
          <a:xfrm>
            <a:off x="0" y="0"/>
            <a:ext cx="12191760" cy="63090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1" name="TextBox 5"/>
          <p:cNvSpPr/>
          <p:nvPr/>
        </p:nvSpPr>
        <p:spPr>
          <a:xfrm>
            <a:off x="777240" y="7772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6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ATELIER GUIDÉ · MÉLANGE DE DEUX LOIS NORMALES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2" name="Rectangle 6"/>
          <p:cNvSpPr/>
          <p:nvPr/>
        </p:nvSpPr>
        <p:spPr>
          <a:xfrm>
            <a:off x="786240" y="1508760"/>
            <a:ext cx="776880" cy="637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3" name="TextBox 7"/>
          <p:cNvSpPr/>
          <p:nvPr/>
        </p:nvSpPr>
        <p:spPr>
          <a:xfrm>
            <a:off x="777240" y="1856160"/>
            <a:ext cx="1056096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41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Construire une classe</a:t>
            </a:r>
            <a:endParaRPr b="0" lang="en-US" sz="4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41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puis son module</a:t>
            </a:r>
            <a:endParaRPr b="0" lang="en-US" sz="4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4" name="TextBox 8"/>
          <p:cNvSpPr/>
          <p:nvPr/>
        </p:nvSpPr>
        <p:spPr>
          <a:xfrm>
            <a:off x="777240" y="4041720"/>
            <a:ext cx="10560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500" strike="noStrike" u="none">
                <a:solidFill>
                  <a:srgbClr val="dce8ee"/>
                </a:solidFill>
                <a:effectLst/>
                <a:uFillTx/>
                <a:latin typeface="Aptos"/>
              </a:rPr>
              <a:t>Un seul exemple progressif : simuler deux groupes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500" strike="noStrike" u="none">
                <a:solidFill>
                  <a:srgbClr val="dce8ee"/>
                </a:solidFill>
                <a:effectLst/>
                <a:uFillTx/>
                <a:latin typeface="Aptos"/>
              </a:rPr>
              <a:t>et préparer trois graphiques.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5" name="Rectangle 9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55708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6" name="TextBox 10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7" name="TextBox 11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60 / 91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COURBES THÉORIQUES · UNE OBSERVATION VIENT DE A OU DE B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9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Deux groupes peuvent se recouvrir fortement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0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51" name="Picture 4" descr="gaussian_mixture_model.png"/>
          <p:cNvPicPr/>
          <p:nvPr/>
        </p:nvPicPr>
        <p:blipFill>
          <a:blip r:embed="rId1"/>
          <a:stretch/>
        </p:blipFill>
        <p:spPr>
          <a:xfrm>
            <a:off x="777240" y="1746360"/>
            <a:ext cx="10634040" cy="328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2" name="Rectangle 5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3" name="TextBox 6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9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A : moyenne 100, écart-type 18, part 60 %. B : moyenne 106, écart-type 24, part 40 %.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4" name="TextBox 7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2"/>
              </a:rPr>
              <a:t>Fichier : continuation_22/03_Architecture_Gaussian_mixture_FR.ipynb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5" name="Rectangle 8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6" name="TextBox 9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7" name="TextBox 10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61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EXTRAIT DU NOTEBOOK · NP DÉSIGNE NUMPY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9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Partir d’un script qui simule les deux groupes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0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1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2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rng = np.random.default_rng(404)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n = 2_000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n_a = int(n * 0.60)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n_b = n - n_a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a = rng.normal(100, 18, n_a)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b = rng.normal(106, 24, n_b)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3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4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5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À PRÉDIRE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6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rng produit les tirages.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Quelle taille pour a ?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Quelle taille pour b ?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Et pour la table finale ?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7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8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Ici, les effectifs des deux groupes sont fixés avant les tirages.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9" name="TextBox 12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continuation_22/03_Architecture_Gaussian_mixture_FR.ipynb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0" name="Rectangle 13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1" name="TextBox 14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2" name="TextBox 15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62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COMPLÉTER DRAW_COMPONENT DANS LE NOTEBOOK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4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Fonction 1 : tirer les valeurs d’un groupe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5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6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7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def draw_component(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rng, mean, std_dev, size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):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# TODO: return a NumPy array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pass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8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9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0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RÉSULTAT ATTENDU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1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 tableau NumPy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de size nombres.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Aucun affichage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dans la fonction.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2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3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Vérifier la forme (5,) ; recréer le générateur avec la même seed doit redonner les mêmes valeurs.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4" name="Rectangle 12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5" name="TextBox 13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" name="TextBox 14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63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COMPLÉTER COMBINE_COMPONENTS DANS LE NOTEBOOK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Fonction 2 : réunir les valeurs et leurs étiquettes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0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1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def combine_components(a, b):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# TODO: return a DataFrame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# Columns: value, component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pass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a = np.array([1.0, 2.0])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b = np.array([3.0])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2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3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4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PETIT CAS À VÉRIFIER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5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value    component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1.0         A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2.0         A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3.0         B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7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La table doit garder toutes les valeurs et indiquer leur groupe d’origine.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" name="Rectangle 12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9" name="TextBox 13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0" name="TextBox 14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64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PRÉPARER GAUSSIANMIXTURE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2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La classe réunit paramètres, données et méthodes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3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4" name="Rectangle 4"/>
          <p:cNvSpPr/>
          <p:nvPr/>
        </p:nvSpPr>
        <p:spPr>
          <a:xfrm>
            <a:off x="73152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5" name="Rectangle 5"/>
          <p:cNvSpPr/>
          <p:nvPr/>
        </p:nvSpPr>
        <p:spPr>
          <a:xfrm>
            <a:off x="731520" y="2267640"/>
            <a:ext cx="54360" cy="23770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6" name="TextBox 6"/>
          <p:cNvSpPr/>
          <p:nvPr/>
        </p:nvSpPr>
        <p:spPr>
          <a:xfrm>
            <a:off x="9234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PARAMÈTRES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7" name="TextBox 7"/>
          <p:cNvSpPr/>
          <p:nvPr/>
        </p:nvSpPr>
        <p:spPr>
          <a:xfrm>
            <a:off x="9234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Moyennes, écarts-types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et part du groupe A.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8" name="Chevron 8"/>
          <p:cNvSpPr/>
          <p:nvPr/>
        </p:nvSpPr>
        <p:spPr>
          <a:xfrm>
            <a:off x="4127040" y="3273480"/>
            <a:ext cx="209880" cy="365400"/>
          </a:xfrm>
          <a:prstGeom prst="chevron">
            <a:avLst>
              <a:gd name="adj" fmla="val 50000"/>
            </a:avLst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9" name="Rectangle 9"/>
          <p:cNvSpPr/>
          <p:nvPr/>
        </p:nvSpPr>
        <p:spPr>
          <a:xfrm>
            <a:off x="441972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0" name="Rectangle 10"/>
          <p:cNvSpPr/>
          <p:nvPr/>
        </p:nvSpPr>
        <p:spPr>
          <a:xfrm>
            <a:off x="4419720" y="2267640"/>
            <a:ext cx="54360" cy="2377080"/>
          </a:xfrm>
          <a:prstGeom prst="rect">
            <a:avLst/>
          </a:prstGeom>
          <a:solidFill>
            <a:srgbClr val="287c7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1" name="TextBox 11"/>
          <p:cNvSpPr/>
          <p:nvPr/>
        </p:nvSpPr>
        <p:spPr>
          <a:xfrm>
            <a:off x="46116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287c72"/>
                </a:solidFill>
                <a:effectLst/>
                <a:uFillTx/>
                <a:latin typeface="Aptos"/>
              </a:rPr>
              <a:t>DONNÉES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2" name="TextBox 12"/>
          <p:cNvSpPr/>
          <p:nvPr/>
        </p:nvSpPr>
        <p:spPr>
          <a:xfrm>
            <a:off x="46116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self.samples garde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dernier échantillon.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3" name="Chevron 13"/>
          <p:cNvSpPr/>
          <p:nvPr/>
        </p:nvSpPr>
        <p:spPr>
          <a:xfrm>
            <a:off x="7815240" y="3273480"/>
            <a:ext cx="209880" cy="365400"/>
          </a:xfrm>
          <a:prstGeom prst="chevron">
            <a:avLst>
              <a:gd name="adj" fmla="val 50000"/>
            </a:avLst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4" name="Rectangle 14"/>
          <p:cNvSpPr/>
          <p:nvPr/>
        </p:nvSpPr>
        <p:spPr>
          <a:xfrm>
            <a:off x="810756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5" name="Rectangle 15"/>
          <p:cNvSpPr/>
          <p:nvPr/>
        </p:nvSpPr>
        <p:spPr>
          <a:xfrm>
            <a:off x="8107560" y="2267640"/>
            <a:ext cx="54360" cy="237708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6" name="TextBox 16"/>
          <p:cNvSpPr/>
          <p:nvPr/>
        </p:nvSpPr>
        <p:spPr>
          <a:xfrm>
            <a:off x="82998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MÉTHODES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" name="TextBox 17"/>
          <p:cNvSpPr/>
          <p:nvPr/>
        </p:nvSpPr>
        <p:spPr>
          <a:xfrm>
            <a:off x="82998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sample : tirer.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plot : préparer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les figures.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8" name="Rectangle 18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9" name="TextBox 19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Chaque instance garde ses propres paramètres et son propre échantillon.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0" name="Rectangle 20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1" name="TextBox 21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2" name="TextBox 22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65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EXTRAIT À COMPLÉTER DANS LA CLASSE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4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Initialiser l’objet sans encore tirer de valeurs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5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6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7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def __init__(self, mean_a, std_a,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         mean_b, std_b,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         weight_a=0.60):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# TODO: store every parameter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self.samples = None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8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9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0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À CONSERVER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1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Les cinq paramètres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dans des attributs.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Aucun échantillon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à la création.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2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3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Après avoir modifié la classe dans le notebook, recréer l’instance.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4" name="Rectangle 12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5" name="TextBox 13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6" name="TextBox 14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66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MÉTHODE À COMPLÉTER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8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sample : dérouler les opérations dans l’ordre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9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0" name="Rectangle 4"/>
          <p:cNvSpPr/>
          <p:nvPr/>
        </p:nvSpPr>
        <p:spPr>
          <a:xfrm>
            <a:off x="722520" y="1856160"/>
            <a:ext cx="3725640" cy="6224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1" name="TextBox 5"/>
          <p:cNvSpPr/>
          <p:nvPr/>
        </p:nvSpPr>
        <p:spPr>
          <a:xfrm>
            <a:off x="850320" y="1879200"/>
            <a:ext cx="34927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ÉTAPE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2" name="Rectangle 6"/>
          <p:cNvSpPr/>
          <p:nvPr/>
        </p:nvSpPr>
        <p:spPr>
          <a:xfrm>
            <a:off x="4471560" y="1856160"/>
            <a:ext cx="7090920" cy="6224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3" name="TextBox 7"/>
          <p:cNvSpPr/>
          <p:nvPr/>
        </p:nvSpPr>
        <p:spPr>
          <a:xfrm>
            <a:off x="4599360" y="1879200"/>
            <a:ext cx="68576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TRAVAIL ATTENDU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4" name="Rectangle 8"/>
          <p:cNvSpPr/>
          <p:nvPr/>
        </p:nvSpPr>
        <p:spPr>
          <a:xfrm>
            <a:off x="722520" y="2501640"/>
            <a:ext cx="37256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5" name="TextBox 9"/>
          <p:cNvSpPr/>
          <p:nvPr/>
        </p:nvSpPr>
        <p:spPr>
          <a:xfrm>
            <a:off x="850320" y="2524680"/>
            <a:ext cx="34927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1 · Préparer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6" name="Rectangle 10"/>
          <p:cNvSpPr/>
          <p:nvPr/>
        </p:nvSpPr>
        <p:spPr>
          <a:xfrm>
            <a:off x="4471560" y="2501640"/>
            <a:ext cx="70909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7" name="TextBox 11"/>
          <p:cNvSpPr/>
          <p:nvPr/>
        </p:nvSpPr>
        <p:spPr>
          <a:xfrm>
            <a:off x="4599360" y="2524680"/>
            <a:ext cx="68576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Créer rng avec seed ; calculer n_a et n_b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8" name="Rectangle 12"/>
          <p:cNvSpPr/>
          <p:nvPr/>
        </p:nvSpPr>
        <p:spPr>
          <a:xfrm>
            <a:off x="722520" y="3147480"/>
            <a:ext cx="37256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9" name="TextBox 13"/>
          <p:cNvSpPr/>
          <p:nvPr/>
        </p:nvSpPr>
        <p:spPr>
          <a:xfrm>
            <a:off x="850320" y="3170160"/>
            <a:ext cx="34927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2 · Tirer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0" name="Rectangle 14"/>
          <p:cNvSpPr/>
          <p:nvPr/>
        </p:nvSpPr>
        <p:spPr>
          <a:xfrm>
            <a:off x="4471560" y="3147480"/>
            <a:ext cx="70909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1" name="TextBox 15"/>
          <p:cNvSpPr/>
          <p:nvPr/>
        </p:nvSpPr>
        <p:spPr>
          <a:xfrm>
            <a:off x="4599360" y="3170160"/>
            <a:ext cx="68576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Appeler draw_component pour A puis pour B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2" name="Rectangle 16"/>
          <p:cNvSpPr/>
          <p:nvPr/>
        </p:nvSpPr>
        <p:spPr>
          <a:xfrm>
            <a:off x="722520" y="3792960"/>
            <a:ext cx="37256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3" name="TextBox 17"/>
          <p:cNvSpPr/>
          <p:nvPr/>
        </p:nvSpPr>
        <p:spPr>
          <a:xfrm>
            <a:off x="850320" y="3815640"/>
            <a:ext cx="34927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3 · Réunir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4" name="Rectangle 18"/>
          <p:cNvSpPr/>
          <p:nvPr/>
        </p:nvSpPr>
        <p:spPr>
          <a:xfrm>
            <a:off x="4471560" y="3792960"/>
            <a:ext cx="70909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5" name="TextBox 19"/>
          <p:cNvSpPr/>
          <p:nvPr/>
        </p:nvSpPr>
        <p:spPr>
          <a:xfrm>
            <a:off x="4599360" y="3815640"/>
            <a:ext cx="68576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Appeler combine_components(a, b)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6" name="Rectangle 20"/>
          <p:cNvSpPr/>
          <p:nvPr/>
        </p:nvSpPr>
        <p:spPr>
          <a:xfrm>
            <a:off x="722520" y="4438440"/>
            <a:ext cx="37256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7" name="TextBox 21"/>
          <p:cNvSpPr/>
          <p:nvPr/>
        </p:nvSpPr>
        <p:spPr>
          <a:xfrm>
            <a:off x="850320" y="4461480"/>
            <a:ext cx="34927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4 · Conserver et renvoyer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8" name="Rectangle 22"/>
          <p:cNvSpPr/>
          <p:nvPr/>
        </p:nvSpPr>
        <p:spPr>
          <a:xfrm>
            <a:off x="4471560" y="4438440"/>
            <a:ext cx="70909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9" name="TextBox 23"/>
          <p:cNvSpPr/>
          <p:nvPr/>
        </p:nvSpPr>
        <p:spPr>
          <a:xfrm>
            <a:off x="4599360" y="4461480"/>
            <a:ext cx="68576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Stocker la table dans self.samples et la renvoyer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0" name="Rectangle 24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1" name="TextBox 25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Une seule table sert de résultat et d’échantillon conservé par l’objet.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2" name="TextBox 26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continuation_22/03_Architecture_Gaussian_mixture_FR.ipynb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3" name="Rectangle 27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4" name="TextBox 28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5" name="TextBox 29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67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APRÈS AVOIR COMPLÉTÉ LES DEUX FONCTIONS ET LA CLASSE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7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Vérifier ce que sample a produit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8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9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0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model = GaussianMixture(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100, 18, 106, 24, weight_a=0.60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sample = model.sample(2_000, seed=404)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assert sample is model.samples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assert sample.shape == (2_000, 2)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print(sample["component"].value_counts())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1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2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3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ATTENDU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4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La même table est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conservée et renvoyée.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 : 1 200 lignes.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B : 800 lignes.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5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6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Un contrôle de forme ne suffit pas : vérifier aussi les colonnes et les valeurs.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7" name="Rectangle 12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8" name="TextBox 13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9" name="TextBox 14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68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COMPLÉMENT APRÈS LE PREMIER CAS RÉUSSI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1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Décider quoi faire des paramètres invalides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2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3" name="Rectangle 4"/>
          <p:cNvSpPr/>
          <p:nvPr/>
        </p:nvSpPr>
        <p:spPr>
          <a:xfrm>
            <a:off x="71316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4" name="Rectangle 5"/>
          <p:cNvSpPr/>
          <p:nvPr/>
        </p:nvSpPr>
        <p:spPr>
          <a:xfrm>
            <a:off x="71316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5" name="TextBox 6"/>
          <p:cNvSpPr/>
          <p:nvPr/>
        </p:nvSpPr>
        <p:spPr>
          <a:xfrm>
            <a:off x="9054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VALEURS À REFUSER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6" name="TextBox 7"/>
          <p:cNvSpPr/>
          <p:nvPr/>
        </p:nvSpPr>
        <p:spPr>
          <a:xfrm>
            <a:off x="9054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Écart-type nul ou négatif.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Part de A hors de ]0, 1[.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Effectif trop petit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pour la tâche demandée.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7" name="Rectangle 8"/>
          <p:cNvSpPr/>
          <p:nvPr/>
        </p:nvSpPr>
        <p:spPr>
          <a:xfrm>
            <a:off x="621792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8" name="Rectangle 9"/>
          <p:cNvSpPr/>
          <p:nvPr/>
        </p:nvSpPr>
        <p:spPr>
          <a:xfrm>
            <a:off x="6217920" y="1901880"/>
            <a:ext cx="54360" cy="30902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9" name="TextBox 10"/>
          <p:cNvSpPr/>
          <p:nvPr/>
        </p:nvSpPr>
        <p:spPr>
          <a:xfrm>
            <a:off x="64098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CAS À EXAMINER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0" name="TextBox 11"/>
          <p:cNvSpPr/>
          <p:nvPr/>
        </p:nvSpPr>
        <p:spPr>
          <a:xfrm>
            <a:off x="64098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Même avec 0 &lt; weight_a &lt; 1,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int(n × weight_a) peut être 0.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Que doit faire le programme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si un groupe est vide 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1" name="Rectangle 12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2" name="TextBox 13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Pour cet atelier, exiger au moins une observation dans chaque groupe.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3" name="Rectangle 14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4" name="TextBox 15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5" name="TextBox 16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69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LES MÉTHODES RENVOIENT DES FIGURES PLOTLY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7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Trois graphiques, trois questions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8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9" name="Rectangle 4"/>
          <p:cNvSpPr/>
          <p:nvPr/>
        </p:nvSpPr>
        <p:spPr>
          <a:xfrm>
            <a:off x="722520" y="1856160"/>
            <a:ext cx="4000320" cy="7632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0" name="TextBox 5"/>
          <p:cNvSpPr/>
          <p:nvPr/>
        </p:nvSpPr>
        <p:spPr>
          <a:xfrm>
            <a:off x="850320" y="1879200"/>
            <a:ext cx="37670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MÉTHODE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1" name="Rectangle 6"/>
          <p:cNvSpPr/>
          <p:nvPr/>
        </p:nvSpPr>
        <p:spPr>
          <a:xfrm>
            <a:off x="4745880" y="1856160"/>
            <a:ext cx="6816600" cy="7632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2" name="TextBox 7"/>
          <p:cNvSpPr/>
          <p:nvPr/>
        </p:nvSpPr>
        <p:spPr>
          <a:xfrm>
            <a:off x="4873680" y="1879200"/>
            <a:ext cx="658332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QUESTION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3" name="Rectangle 8"/>
          <p:cNvSpPr/>
          <p:nvPr/>
        </p:nvSpPr>
        <p:spPr>
          <a:xfrm>
            <a:off x="722520" y="2642760"/>
            <a:ext cx="400032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4" name="TextBox 9"/>
          <p:cNvSpPr/>
          <p:nvPr/>
        </p:nvSpPr>
        <p:spPr>
          <a:xfrm>
            <a:off x="850320" y="2665440"/>
            <a:ext cx="37670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plot_components()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5" name="Rectangle 10"/>
          <p:cNvSpPr/>
          <p:nvPr/>
        </p:nvSpPr>
        <p:spPr>
          <a:xfrm>
            <a:off x="4745880" y="2642760"/>
            <a:ext cx="681660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6" name="TextBox 11"/>
          <p:cNvSpPr/>
          <p:nvPr/>
        </p:nvSpPr>
        <p:spPr>
          <a:xfrm>
            <a:off x="4873680" y="2665440"/>
            <a:ext cx="658332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Comment les distributions de A et B se recouvrent-elles 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7" name="Rectangle 12"/>
          <p:cNvSpPr/>
          <p:nvPr/>
        </p:nvSpPr>
        <p:spPr>
          <a:xfrm>
            <a:off x="722520" y="3429000"/>
            <a:ext cx="400032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8" name="TextBox 13"/>
          <p:cNvSpPr/>
          <p:nvPr/>
        </p:nvSpPr>
        <p:spPr>
          <a:xfrm>
            <a:off x="850320" y="3451680"/>
            <a:ext cx="37670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plot_mixture()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9" name="Rectangle 14"/>
          <p:cNvSpPr/>
          <p:nvPr/>
        </p:nvSpPr>
        <p:spPr>
          <a:xfrm>
            <a:off x="4745880" y="3429000"/>
            <a:ext cx="681660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0" name="TextBox 15"/>
          <p:cNvSpPr/>
          <p:nvPr/>
        </p:nvSpPr>
        <p:spPr>
          <a:xfrm>
            <a:off x="4873680" y="3451680"/>
            <a:ext cx="658332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Que voit-on si l’on masque l’origine des observations 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1" name="Rectangle 16"/>
          <p:cNvSpPr/>
          <p:nvPr/>
        </p:nvSpPr>
        <p:spPr>
          <a:xfrm>
            <a:off x="722520" y="4215240"/>
            <a:ext cx="400032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2" name="TextBox 17"/>
          <p:cNvSpPr/>
          <p:nvPr/>
        </p:nvSpPr>
        <p:spPr>
          <a:xfrm>
            <a:off x="850320" y="4238280"/>
            <a:ext cx="37670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plot_box()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3" name="Rectangle 18"/>
          <p:cNvSpPr/>
          <p:nvPr/>
        </p:nvSpPr>
        <p:spPr>
          <a:xfrm>
            <a:off x="4745880" y="4215240"/>
            <a:ext cx="681660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4" name="TextBox 19"/>
          <p:cNvSpPr/>
          <p:nvPr/>
        </p:nvSpPr>
        <p:spPr>
          <a:xfrm>
            <a:off x="4873680" y="4238280"/>
            <a:ext cx="658332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Comment les médianes et dispersions se comparent-elles 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5" name="Rectangle 2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6" name="TextBox 2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Chaque méthode renvoie une go.Figure ; le notebook décide quand l’afficher.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Rectangle 22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8" name="TextBox 23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9" name="TextBox 24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70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APRÈS MODEL.SAMPLE(...) ET LES MÉTHODES COMPLÉTÉES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1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Garder l’affichage dans le notebook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2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3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4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fig = model.plot_components()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assert isinstance(fig, go.Figure)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fig.show()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model.plot_mixture().show()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model.plot_box().show()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5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6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7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POURQUOI RENVOYER ?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8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même graphique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peut être affiché,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modifié ou enregistré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par le code appelant.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9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0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go désigne plotly.graph_objects, importé dans le notebook.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1" name="Rectangle 12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2" name="TextBox 13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3" name="TextBox 14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71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DEUX INSTANCES À COMPARER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5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Créer deux modèles sans écraser le premier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6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7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8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first = GaussianMixture(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100, 18, 106, 24, weight_a=0.60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second = GaussianMixture(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100, 18, 106, 30, weight_a=0.30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first.sample(2_000, seed=404)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second.sample(2_000, seed=404)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9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0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1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À VÉRIFIER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2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 : 1 200 puis 600.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Tables distinctes.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premier modèle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garde ses paramètres.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3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4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Ici, deux paramètres changent : l’effet observé ne s’attribue pas à un seul d’entre eux.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5" name="Rectangle 12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6" name="TextBox 13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7" name="TextBox 14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72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CRÉER MY_GAUSSIAN_MIXTURE.PY À CÔTÉ DU NOTEBOOK 03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9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Déplacer les définitions dans votre module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0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1" name="Rectangle 4"/>
          <p:cNvSpPr/>
          <p:nvPr/>
        </p:nvSpPr>
        <p:spPr>
          <a:xfrm>
            <a:off x="71316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2" name="Rectangle 5"/>
          <p:cNvSpPr/>
          <p:nvPr/>
        </p:nvSpPr>
        <p:spPr>
          <a:xfrm>
            <a:off x="71316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3" name="TextBox 6"/>
          <p:cNvSpPr/>
          <p:nvPr/>
        </p:nvSpPr>
        <p:spPr>
          <a:xfrm>
            <a:off x="9054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DANS LE FICHIER .py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4" name="TextBox 7"/>
          <p:cNvSpPr/>
          <p:nvPr/>
        </p:nvSpPr>
        <p:spPr>
          <a:xfrm>
            <a:off x="9054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Imports utiles.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draw_component.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combine_components.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Classe GaussianMixture.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5" name="Rectangle 8"/>
          <p:cNvSpPr/>
          <p:nvPr/>
        </p:nvSpPr>
        <p:spPr>
          <a:xfrm>
            <a:off x="621792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6" name="Rectangle 9"/>
          <p:cNvSpPr/>
          <p:nvPr/>
        </p:nvSpPr>
        <p:spPr>
          <a:xfrm>
            <a:off x="6217920" y="1901880"/>
            <a:ext cx="54360" cy="30902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7" name="TextBox 10"/>
          <p:cNvSpPr/>
          <p:nvPr/>
        </p:nvSpPr>
        <p:spPr>
          <a:xfrm>
            <a:off x="64098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DANS LE NOTEBOOK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8" name="TextBox 11"/>
          <p:cNvSpPr/>
          <p:nvPr/>
        </p:nvSpPr>
        <p:spPr>
          <a:xfrm>
            <a:off x="64098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Paramètres de l’essai.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Création du modèle.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Appels des méthodes.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Affichage et commentaires.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9" name="Rectangle 12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0" name="TextBox 13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Le module contient le code réutilisable ; le notebook décrit votre expérience.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1" name="TextBox 14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continuation_22/03_Architecture_Gaussian_mixture_FR.ipynb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2" name="Rectangle 15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3" name="TextBox 16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4" name="TextBox 17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73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ENREGISTRER, REDÉMARRER LE NOYAU, PUIS TOUT EXÉCUTER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6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Vérifier l’import dans un noyau neuf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7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8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9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import my_gaussian_mixture as gm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print(gm.__file__)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model = gm.GaussianMixture(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100, 18, 106, 24, weight_a=0.60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sample = model.sample(2_000, seed=404)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0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model.plot_mixture().show()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0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1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2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À CONFIRMER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3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Bon fichier importé ?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module fonctionne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sans les définitions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des anciennes cellules ?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4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5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Le contrôle module_build_ok du notebook doit ensuite réussir.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6" name="Rectangle 12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7" name="TextBox 13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8" name="TextBox 14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74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FAIRE LE LIEN ENTRE OBJET, MODULE ET NOTEBOOK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0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Expliquer l’organisation obtenue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1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2" name="Rectangle 4"/>
          <p:cNvSpPr/>
          <p:nvPr/>
        </p:nvSpPr>
        <p:spPr>
          <a:xfrm>
            <a:off x="73152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3" name="Rectangle 5"/>
          <p:cNvSpPr/>
          <p:nvPr/>
        </p:nvSpPr>
        <p:spPr>
          <a:xfrm>
            <a:off x="731520" y="2267640"/>
            <a:ext cx="54360" cy="23770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4" name="TextBox 6"/>
          <p:cNvSpPr/>
          <p:nvPr/>
        </p:nvSpPr>
        <p:spPr>
          <a:xfrm>
            <a:off x="9234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DONNÉES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5" name="TextBox 7"/>
          <p:cNvSpPr/>
          <p:nvPr/>
        </p:nvSpPr>
        <p:spPr>
          <a:xfrm>
            <a:off x="9234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Quel objet garde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l’échantillon ?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6" name="Chevron 8"/>
          <p:cNvSpPr/>
          <p:nvPr/>
        </p:nvSpPr>
        <p:spPr>
          <a:xfrm>
            <a:off x="4127040" y="3273480"/>
            <a:ext cx="209880" cy="365400"/>
          </a:xfrm>
          <a:prstGeom prst="chevron">
            <a:avLst>
              <a:gd name="adj" fmla="val 50000"/>
            </a:avLst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7" name="Rectangle 9"/>
          <p:cNvSpPr/>
          <p:nvPr/>
        </p:nvSpPr>
        <p:spPr>
          <a:xfrm>
            <a:off x="441972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8" name="Rectangle 10"/>
          <p:cNvSpPr/>
          <p:nvPr/>
        </p:nvSpPr>
        <p:spPr>
          <a:xfrm>
            <a:off x="4419720" y="2267640"/>
            <a:ext cx="54360" cy="23770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9" name="TextBox 11"/>
          <p:cNvSpPr/>
          <p:nvPr/>
        </p:nvSpPr>
        <p:spPr>
          <a:xfrm>
            <a:off x="46116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GRAPHIQUE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0" name="TextBox 12"/>
          <p:cNvSpPr/>
          <p:nvPr/>
        </p:nvSpPr>
        <p:spPr>
          <a:xfrm>
            <a:off x="46116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Pourquoi renvoyer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une figure ?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1" name="Chevron 13"/>
          <p:cNvSpPr/>
          <p:nvPr/>
        </p:nvSpPr>
        <p:spPr>
          <a:xfrm>
            <a:off x="7815240" y="3273480"/>
            <a:ext cx="209880" cy="365400"/>
          </a:xfrm>
          <a:prstGeom prst="chevron">
            <a:avLst>
              <a:gd name="adj" fmla="val 50000"/>
            </a:avLst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2" name="Rectangle 14"/>
          <p:cNvSpPr/>
          <p:nvPr/>
        </p:nvSpPr>
        <p:spPr>
          <a:xfrm>
            <a:off x="810756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3" name="Rectangle 15"/>
          <p:cNvSpPr/>
          <p:nvPr/>
        </p:nvSpPr>
        <p:spPr>
          <a:xfrm>
            <a:off x="8107560" y="2267640"/>
            <a:ext cx="54360" cy="23770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4" name="TextBox 16"/>
          <p:cNvSpPr/>
          <p:nvPr/>
        </p:nvSpPr>
        <p:spPr>
          <a:xfrm>
            <a:off x="82998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MODIFICATION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5" name="TextBox 17"/>
          <p:cNvSpPr/>
          <p:nvPr/>
        </p:nvSpPr>
        <p:spPr>
          <a:xfrm>
            <a:off x="82998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Quel fichier contient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calcul à corriger ?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6" name="Rectangle 18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7" name="TextBox 19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Appuyer chaque explication sur une ligne de code et un résultat observé.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8" name="Rectangle 20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9" name="TextBox 21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0" name="TextBox 22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75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EXEMPLES DE CODE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2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1" lang="en-US" sz="3000" strike="noStrike" u="none">
              <a:solidFill>
                <a:srgbClr val="102a43"/>
              </a:solidFill>
              <a:effectLst/>
              <a:uFillTx/>
              <a:latin typeface="Aptos"/>
            </a:endParaRPr>
          </a:p>
        </p:txBody>
      </p:sp>
      <p:sp>
        <p:nvSpPr>
          <p:cNvPr id="1403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4" name="Rectangle 4"/>
          <p:cNvSpPr/>
          <p:nvPr/>
        </p:nvSpPr>
        <p:spPr>
          <a:xfrm>
            <a:off x="0" y="0"/>
            <a:ext cx="12191760" cy="63090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5" name="TextBox 5"/>
          <p:cNvSpPr/>
          <p:nvPr/>
        </p:nvSpPr>
        <p:spPr>
          <a:xfrm>
            <a:off x="777240" y="7772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6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EXEMPLES DE CODE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6" name="Rectangle 6"/>
          <p:cNvSpPr/>
          <p:nvPr/>
        </p:nvSpPr>
        <p:spPr>
          <a:xfrm>
            <a:off x="786240" y="1508760"/>
            <a:ext cx="776880" cy="637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7" name="TextBox 7"/>
          <p:cNvSpPr/>
          <p:nvPr/>
        </p:nvSpPr>
        <p:spPr>
          <a:xfrm>
            <a:off x="777240" y="1856160"/>
            <a:ext cx="1056096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41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Lire les données</a:t>
            </a:r>
            <a:endParaRPr b="0" lang="en-US" sz="4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41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sans changer leur sens</a:t>
            </a:r>
            <a:endParaRPr b="0" lang="en-US" sz="4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8" name="TextBox 8"/>
          <p:cNvSpPr/>
          <p:nvPr/>
        </p:nvSpPr>
        <p:spPr>
          <a:xfrm>
            <a:off x="777240" y="4041720"/>
            <a:ext cx="10560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500" strike="noStrike" u="none">
                <a:solidFill>
                  <a:srgbClr val="dce8ee"/>
                </a:solidFill>
                <a:effectLst/>
                <a:uFillTx/>
                <a:latin typeface="Aptos"/>
              </a:rPr>
              <a:t>CSV, types, valeurs manquantes et petites fonctions.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9" name="Rectangle 9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55708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0" name="TextBox 10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1" name="TextBox 11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76 / 91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STRINGIO PERMET DE LIRE CE TEXTE COMME UN FICHIER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Lire un petit CSV depuis une chaîne de texte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4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5" name="Rectangle 4"/>
          <p:cNvSpPr/>
          <p:nvPr/>
        </p:nvSpPr>
        <p:spPr>
          <a:xfrm>
            <a:off x="713160" y="1938600"/>
            <a:ext cx="10743840" cy="31453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6" name="TextBox 5"/>
          <p:cNvSpPr/>
          <p:nvPr/>
        </p:nvSpPr>
        <p:spPr>
          <a:xfrm>
            <a:off x="896040" y="2094120"/>
            <a:ext cx="1037808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from io import StringIO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import pandas as pd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csv_text = """ticket_id,channel,resolution_minutes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001,phone,30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002,chat,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003,email,NA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004,phone,0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005,email,unknown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"""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Rectangle 6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8" name="TextBox 7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Prédire le sens de 001, de la case vide, de NA, de 0 et de unknown avant de lire.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9" name="TextBox 8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continuation_22/04_CSV_types_missing_values_FR.ipynb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Rectangle 9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1" name="TextBox 10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2" name="TextBox 11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77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MÊME CSV · PRÉCISER LES COLONNES DE TEXTE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4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Conserver les zéros d’un identifiant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5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6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7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frame = pd.read_csv(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StringIO(csv_text),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dtype={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    "ticket_id": "string",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    "channel": "string",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},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8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9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0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PREMIÈRE ÉTAPE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1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001 reste du texte.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La colonne des durées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contient encore le mot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unknown.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2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3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Un identifiant ne devient pas une quantité à calculer parce qu’il contient des chiffres.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4" name="Rectangle 12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5" name="TextBox 13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6" name="TextBox 14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78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MÊME CSV · LIRE LES DURÉES COMME DES NOMBRES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8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Choisir les textes qui signifient « manquant »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9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0" name="Rectangle 4"/>
          <p:cNvSpPr/>
          <p:nvPr/>
        </p:nvSpPr>
        <p:spPr>
          <a:xfrm>
            <a:off x="713160" y="1938600"/>
            <a:ext cx="10743840" cy="314532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1" name="TextBox 5"/>
          <p:cNvSpPr/>
          <p:nvPr/>
        </p:nvSpPr>
        <p:spPr>
          <a:xfrm>
            <a:off x="896040" y="2094120"/>
            <a:ext cx="1037808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typed = pd.read_csv(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StringIO(csv_text),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dtype={"ticket_id": "string", "channel": "string",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       "resolution_minutes": "Float64"},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keep_default_na=False,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na_values={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    "resolution_minutes": ["", "NA", "unknown"]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},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2" name="Rectangle 6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3" name="TextBox 7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Float64 accepte les valeurs manquantes ; le zéro reste une valeur connue.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4" name="TextBox 8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continuation_22/04_CSV_types_missing_values_FR.ipynb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5" name="Rectangle 9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6" name="TextBox 10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7" name="TextBox 11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79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QUATRE QUESTIONS DIFFÉRENTES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9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Le type de l’objet et le type de la colonne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0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1" name="Rectangle 4"/>
          <p:cNvSpPr/>
          <p:nvPr/>
        </p:nvSpPr>
        <p:spPr>
          <a:xfrm>
            <a:off x="722520" y="1856160"/>
            <a:ext cx="5874840" cy="6224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2" name="TextBox 5"/>
          <p:cNvSpPr/>
          <p:nvPr/>
        </p:nvSpPr>
        <p:spPr>
          <a:xfrm>
            <a:off x="850320" y="1879200"/>
            <a:ext cx="56415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EXPRESSION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3" name="Rectangle 6"/>
          <p:cNvSpPr/>
          <p:nvPr/>
        </p:nvSpPr>
        <p:spPr>
          <a:xfrm>
            <a:off x="6620400" y="1856160"/>
            <a:ext cx="4942080" cy="6224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4" name="TextBox 7"/>
          <p:cNvSpPr/>
          <p:nvPr/>
        </p:nvSpPr>
        <p:spPr>
          <a:xfrm>
            <a:off x="6748200" y="1879200"/>
            <a:ext cx="47088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INFORMATION OBTENUE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5" name="Rectangle 8"/>
          <p:cNvSpPr/>
          <p:nvPr/>
        </p:nvSpPr>
        <p:spPr>
          <a:xfrm>
            <a:off x="722520" y="2501640"/>
            <a:ext cx="58748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6" name="TextBox 9"/>
          <p:cNvSpPr/>
          <p:nvPr/>
        </p:nvSpPr>
        <p:spPr>
          <a:xfrm>
            <a:off x="850320" y="2524680"/>
            <a:ext cx="56415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9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type(typed)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7" name="Rectangle 10"/>
          <p:cNvSpPr/>
          <p:nvPr/>
        </p:nvSpPr>
        <p:spPr>
          <a:xfrm>
            <a:off x="6620400" y="2501640"/>
            <a:ext cx="494208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8" name="TextBox 11"/>
          <p:cNvSpPr/>
          <p:nvPr/>
        </p:nvSpPr>
        <p:spPr>
          <a:xfrm>
            <a:off x="6748200" y="2524680"/>
            <a:ext cx="47088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9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DataFrame : une table pandas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9" name="Rectangle 12"/>
          <p:cNvSpPr/>
          <p:nvPr/>
        </p:nvSpPr>
        <p:spPr>
          <a:xfrm>
            <a:off x="722520" y="3147480"/>
            <a:ext cx="58748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0" name="TextBox 13"/>
          <p:cNvSpPr/>
          <p:nvPr/>
        </p:nvSpPr>
        <p:spPr>
          <a:xfrm>
            <a:off x="850320" y="3170160"/>
            <a:ext cx="56415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9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type(typed["resolution_minutes"])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1" name="Rectangle 14"/>
          <p:cNvSpPr/>
          <p:nvPr/>
        </p:nvSpPr>
        <p:spPr>
          <a:xfrm>
            <a:off x="6620400" y="3147480"/>
            <a:ext cx="494208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2" name="TextBox 15"/>
          <p:cNvSpPr/>
          <p:nvPr/>
        </p:nvSpPr>
        <p:spPr>
          <a:xfrm>
            <a:off x="6748200" y="3170160"/>
            <a:ext cx="47088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9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Series : une colonne pandas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3" name="Rectangle 16"/>
          <p:cNvSpPr/>
          <p:nvPr/>
        </p:nvSpPr>
        <p:spPr>
          <a:xfrm>
            <a:off x="722520" y="3792960"/>
            <a:ext cx="58748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4" name="TextBox 17"/>
          <p:cNvSpPr/>
          <p:nvPr/>
        </p:nvSpPr>
        <p:spPr>
          <a:xfrm>
            <a:off x="850320" y="3815640"/>
            <a:ext cx="56415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9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typed["resolution_minutes"].dtype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5" name="Rectangle 18"/>
          <p:cNvSpPr/>
          <p:nvPr/>
        </p:nvSpPr>
        <p:spPr>
          <a:xfrm>
            <a:off x="6620400" y="3792960"/>
            <a:ext cx="494208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6" name="TextBox 19"/>
          <p:cNvSpPr/>
          <p:nvPr/>
        </p:nvSpPr>
        <p:spPr>
          <a:xfrm>
            <a:off x="6748200" y="3815640"/>
            <a:ext cx="47088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9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Float64 : le type des valeurs de la colonne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7" name="Rectangle 20"/>
          <p:cNvSpPr/>
          <p:nvPr/>
        </p:nvSpPr>
        <p:spPr>
          <a:xfrm>
            <a:off x="722520" y="4438440"/>
            <a:ext cx="58748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8" name="TextBox 21"/>
          <p:cNvSpPr/>
          <p:nvPr/>
        </p:nvSpPr>
        <p:spPr>
          <a:xfrm>
            <a:off x="850320" y="4461480"/>
            <a:ext cx="56415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9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typed.dtypes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9" name="Rectangle 22"/>
          <p:cNvSpPr/>
          <p:nvPr/>
        </p:nvSpPr>
        <p:spPr>
          <a:xfrm>
            <a:off x="6620400" y="4438440"/>
            <a:ext cx="494208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0" name="TextBox 23"/>
          <p:cNvSpPr/>
          <p:nvPr/>
        </p:nvSpPr>
        <p:spPr>
          <a:xfrm>
            <a:off x="6748200" y="4461480"/>
            <a:ext cx="47088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9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Le type de chaque colonne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1" name="Rectangle 24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2" name="TextBox 25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Une Series est un objet ; dtype décrit les valeurs qu’elle contient.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3" name="Rectangle 26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4" name="TextBox 27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5" name="TextBox 28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80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EXEMPLE NUMÉRIQUE À DISCUTER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7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Une valeur manquante n’est pas un zéro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8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9" name="Rectangle 4"/>
          <p:cNvSpPr/>
          <p:nvPr/>
        </p:nvSpPr>
        <p:spPr>
          <a:xfrm>
            <a:off x="713160" y="1938600"/>
            <a:ext cx="10743840" cy="17186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0" name="TextBox 5"/>
          <p:cNvSpPr/>
          <p:nvPr/>
        </p:nvSpPr>
        <p:spPr>
          <a:xfrm>
            <a:off x="896040" y="2094120"/>
            <a:ext cx="10378080" cy="140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3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values = pd.Series([30, None, 0], dtype="Float64")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3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values.count()   # 2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3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values.mean()    # 15.0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1" name="TextBox 6"/>
          <p:cNvSpPr/>
          <p:nvPr/>
        </p:nvSpPr>
        <p:spPr>
          <a:xfrm>
            <a:off x="795600" y="3913560"/>
            <a:ext cx="53031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MOYENNE DES VALEURS CONNUES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2" name="TextBox 7"/>
          <p:cNvSpPr/>
          <p:nvPr/>
        </p:nvSpPr>
        <p:spPr>
          <a:xfrm>
            <a:off x="795600" y="4416480"/>
            <a:ext cx="530316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(30 + 0) / 2 = 15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La case inconnue n’est pas comptée.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3" name="TextBox 8"/>
          <p:cNvSpPr/>
          <p:nvPr/>
        </p:nvSpPr>
        <p:spPr>
          <a:xfrm>
            <a:off x="6291000" y="3913560"/>
            <a:ext cx="5028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SI ON LA REMPLACE PAR 0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4" name="TextBox 9"/>
          <p:cNvSpPr/>
          <p:nvPr/>
        </p:nvSpPr>
        <p:spPr>
          <a:xfrm>
            <a:off x="6291000" y="4416480"/>
            <a:ext cx="5028840" cy="78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(30 + 0 + 0) / 3 = 10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On fait une autre hypothèse.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5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6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Avant de remplir une case vide, expliquer ce que la valeur ajoutée signifierait.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7" name="Rectangle 12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8" name="TextBox 13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9" name="TextBox 14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81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LA REPRÉSENTATION DÉPEND DU TYPE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1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Reconnaître les valeurs manquantes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2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3" name="Rectangle 4"/>
          <p:cNvSpPr/>
          <p:nvPr/>
        </p:nvSpPr>
        <p:spPr>
          <a:xfrm>
            <a:off x="722520" y="1856160"/>
            <a:ext cx="3040200" cy="7632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4" name="TextBox 5"/>
          <p:cNvSpPr/>
          <p:nvPr/>
        </p:nvSpPr>
        <p:spPr>
          <a:xfrm>
            <a:off x="850320" y="1879200"/>
            <a:ext cx="280692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MARQUEUR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5" name="Rectangle 6"/>
          <p:cNvSpPr/>
          <p:nvPr/>
        </p:nvSpPr>
        <p:spPr>
          <a:xfrm>
            <a:off x="3785760" y="1856160"/>
            <a:ext cx="7776720" cy="7632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6" name="TextBox 7"/>
          <p:cNvSpPr/>
          <p:nvPr/>
        </p:nvSpPr>
        <p:spPr>
          <a:xfrm>
            <a:off x="3913560" y="1879200"/>
            <a:ext cx="75434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EXEMPLE D’USAGE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7" name="Rectangle 8"/>
          <p:cNvSpPr/>
          <p:nvPr/>
        </p:nvSpPr>
        <p:spPr>
          <a:xfrm>
            <a:off x="722520" y="2642760"/>
            <a:ext cx="304020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8" name="TextBox 9"/>
          <p:cNvSpPr/>
          <p:nvPr/>
        </p:nvSpPr>
        <p:spPr>
          <a:xfrm>
            <a:off x="850320" y="2665440"/>
            <a:ext cx="280692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NaN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9" name="Rectangle 10"/>
          <p:cNvSpPr/>
          <p:nvPr/>
        </p:nvSpPr>
        <p:spPr>
          <a:xfrm>
            <a:off x="3785760" y="2642760"/>
            <a:ext cx="777672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0" name="TextBox 11"/>
          <p:cNvSpPr/>
          <p:nvPr/>
        </p:nvSpPr>
        <p:spPr>
          <a:xfrm>
            <a:off x="3913560" y="2665440"/>
            <a:ext cx="75434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Valeur manquante dans un tableau float64 classique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1" name="Rectangle 12"/>
          <p:cNvSpPr/>
          <p:nvPr/>
        </p:nvSpPr>
        <p:spPr>
          <a:xfrm>
            <a:off x="722520" y="3429000"/>
            <a:ext cx="304020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2" name="TextBox 13"/>
          <p:cNvSpPr/>
          <p:nvPr/>
        </p:nvSpPr>
        <p:spPr>
          <a:xfrm>
            <a:off x="850320" y="3451680"/>
            <a:ext cx="280692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pd.NA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3" name="Rectangle 14"/>
          <p:cNvSpPr/>
          <p:nvPr/>
        </p:nvSpPr>
        <p:spPr>
          <a:xfrm>
            <a:off x="3785760" y="3429000"/>
            <a:ext cx="777672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4" name="TextBox 15"/>
          <p:cNvSpPr/>
          <p:nvPr/>
        </p:nvSpPr>
        <p:spPr>
          <a:xfrm>
            <a:off x="3913560" y="3451680"/>
            <a:ext cx="75434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Valeur manquante avec un type pandas prévu pour l’accepter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5" name="Rectangle 16"/>
          <p:cNvSpPr/>
          <p:nvPr/>
        </p:nvSpPr>
        <p:spPr>
          <a:xfrm>
            <a:off x="722520" y="4215240"/>
            <a:ext cx="304020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6" name="TextBox 17"/>
          <p:cNvSpPr/>
          <p:nvPr/>
        </p:nvSpPr>
        <p:spPr>
          <a:xfrm>
            <a:off x="850320" y="4238280"/>
            <a:ext cx="280692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NaT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7" name="Rectangle 18"/>
          <p:cNvSpPr/>
          <p:nvPr/>
        </p:nvSpPr>
        <p:spPr>
          <a:xfrm>
            <a:off x="3785760" y="4215240"/>
            <a:ext cx="7776720" cy="76320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8" name="TextBox 19"/>
          <p:cNvSpPr/>
          <p:nvPr/>
        </p:nvSpPr>
        <p:spPr>
          <a:xfrm>
            <a:off x="3913560" y="4238280"/>
            <a:ext cx="75434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Date ou durée manquante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9" name="Rectangle 2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0" name="TextBox 2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Utiliser isna() pour les repérer ; préciser le traitement choisi avant un calcul.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1" name="Rectangle 22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2" name="TextBox 23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3" name="TextBox 24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82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POSITIONS ET ÉTIQUETTES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5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NumPy et pandas ne repèrent pas les valeurs pareil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6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7" name="Rectangle 4"/>
          <p:cNvSpPr/>
          <p:nvPr/>
        </p:nvSpPr>
        <p:spPr>
          <a:xfrm>
            <a:off x="71316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8" name="Rectangle 5"/>
          <p:cNvSpPr/>
          <p:nvPr/>
        </p:nvSpPr>
        <p:spPr>
          <a:xfrm>
            <a:off x="71316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9" name="TextBox 6"/>
          <p:cNvSpPr/>
          <p:nvPr/>
        </p:nvSpPr>
        <p:spPr>
          <a:xfrm>
            <a:off x="9054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NUMPY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0" name="TextBox 7"/>
          <p:cNvSpPr/>
          <p:nvPr/>
        </p:nvSpPr>
        <p:spPr>
          <a:xfrm>
            <a:off x="9054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 tableau organisé par positions.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a[0] désigne ici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la première valeur.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1" name="Rectangle 8"/>
          <p:cNvSpPr/>
          <p:nvPr/>
        </p:nvSpPr>
        <p:spPr>
          <a:xfrm>
            <a:off x="621792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2" name="Rectangle 9"/>
          <p:cNvSpPr/>
          <p:nvPr/>
        </p:nvSpPr>
        <p:spPr>
          <a:xfrm>
            <a:off x="6217920" y="1901880"/>
            <a:ext cx="54360" cy="30902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3" name="TextBox 10"/>
          <p:cNvSpPr/>
          <p:nvPr/>
        </p:nvSpPr>
        <p:spPr>
          <a:xfrm>
            <a:off x="64098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PANDAS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4" name="TextBox 11"/>
          <p:cNvSpPr/>
          <p:nvPr/>
        </p:nvSpPr>
        <p:spPr>
          <a:xfrm>
            <a:off x="64098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Une table ou une colonne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avec un index et des noms.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Utiliser iloc pour les positions,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loc pour les étiquettes.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5" name="Rectangle 12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6" name="TextBox 13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Lors d’une opération entre Series, pandas peut aligner les valeurs selon l’index.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7" name="Rectangle 14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8" name="TextBox 15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9" name="TextBox 16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83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UN PARAMÈTRE, UNE EXPRESSION, UNE VALEUR RENVOYÉE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1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lambda écrit une petite fonction sans la nommer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2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3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4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minutes = [30, 60, 90]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hours = list(map(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lambda value: value / 60,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minutes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))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# [0.5, 1.0, 1.5]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5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6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7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LIRE L’EXPRESSION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8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value est le paramètre.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value / 60 est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la valeur renvoyée.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map l’applique à chacun.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9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0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Choisir def si la fonction mérite un nom, plusieurs étapes ou des tests dédiés.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1" name="Rectangle 12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2" name="TextBox 13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3" name="TextBox 14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84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TRIER UNE LISTE SANS MODIFIER LES TEXTES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5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Avec key, lambda indique quoi comparer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6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7" name="Rectangle 4"/>
          <p:cNvSpPr/>
          <p:nvPr/>
        </p:nvSpPr>
        <p:spPr>
          <a:xfrm>
            <a:off x="713160" y="1938600"/>
            <a:ext cx="6903360" cy="312696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8" name="TextBox 5"/>
          <p:cNvSpPr/>
          <p:nvPr/>
        </p:nvSpPr>
        <p:spPr>
          <a:xfrm>
            <a:off x="896040" y="2094120"/>
            <a:ext cx="6537600" cy="28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360" rIns="18360" tIns="18360" bIns="1836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names = ["Alice", "Bo", "Claire"]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ordered = sorted(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    names, key=lambda name: len(name)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)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100" strike="noStrike" u="none">
                <a:solidFill>
                  <a:srgbClr val="fcfcfb"/>
                </a:solidFill>
                <a:effectLst/>
                <a:uFillTx/>
                <a:latin typeface="Courier New"/>
              </a:rPr>
              <a:t># ["Bo", "Alice", "Claire"]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9" name="Rectangle 6"/>
          <p:cNvSpPr/>
          <p:nvPr/>
        </p:nvSpPr>
        <p:spPr>
          <a:xfrm>
            <a:off x="7872840" y="1901880"/>
            <a:ext cx="359316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0" name="Rectangle 7"/>
          <p:cNvSpPr/>
          <p:nvPr/>
        </p:nvSpPr>
        <p:spPr>
          <a:xfrm>
            <a:off x="787284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1" name="TextBox 8"/>
          <p:cNvSpPr/>
          <p:nvPr/>
        </p:nvSpPr>
        <p:spPr>
          <a:xfrm>
            <a:off x="8065080" y="2066400"/>
            <a:ext cx="3209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À DISTINGUER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2" name="TextBox 9"/>
          <p:cNvSpPr/>
          <p:nvPr/>
        </p:nvSpPr>
        <p:spPr>
          <a:xfrm>
            <a:off x="8065080" y="2770560"/>
            <a:ext cx="320904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Comparer les longueurs.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Garder les noms.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3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names reste inchangée.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3" name="Rectangle 10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4" name="TextBox 11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Ici, lambda définit le critère du tri ; elle ne transforme pas les noms en nombres.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5" name="Rectangle 12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6" name="TextBox 13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7" name="TextBox 14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85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FICHE DE RÉFÉRENCE FOURNIE AVEC LES NOTEBOOKS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9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Retrouver une fonction utile sans tout mémoriser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0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1" name="Rectangle 4"/>
          <p:cNvSpPr/>
          <p:nvPr/>
        </p:nvSpPr>
        <p:spPr>
          <a:xfrm>
            <a:off x="722520" y="1856160"/>
            <a:ext cx="4000320" cy="6224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2" name="TextBox 5"/>
          <p:cNvSpPr/>
          <p:nvPr/>
        </p:nvSpPr>
        <p:spPr>
          <a:xfrm>
            <a:off x="850320" y="1879200"/>
            <a:ext cx="37670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BESOIN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3" name="Rectangle 6"/>
          <p:cNvSpPr/>
          <p:nvPr/>
        </p:nvSpPr>
        <p:spPr>
          <a:xfrm>
            <a:off x="4745880" y="1856160"/>
            <a:ext cx="6816600" cy="6224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4" name="TextBox 7"/>
          <p:cNvSpPr/>
          <p:nvPr/>
        </p:nvSpPr>
        <p:spPr>
          <a:xfrm>
            <a:off x="4873680" y="1879200"/>
            <a:ext cx="65833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EXEMPLES À RETROUVER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5" name="Rectangle 8"/>
          <p:cNvSpPr/>
          <p:nvPr/>
        </p:nvSpPr>
        <p:spPr>
          <a:xfrm>
            <a:off x="722520" y="2501640"/>
            <a:ext cx="40003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6" name="TextBox 9"/>
          <p:cNvSpPr/>
          <p:nvPr/>
        </p:nvSpPr>
        <p:spPr>
          <a:xfrm>
            <a:off x="850320" y="2524680"/>
            <a:ext cx="37670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Lire et contrôler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7" name="Rectangle 10"/>
          <p:cNvSpPr/>
          <p:nvPr/>
        </p:nvSpPr>
        <p:spPr>
          <a:xfrm>
            <a:off x="4745880" y="2501640"/>
            <a:ext cx="681660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8" name="TextBox 11"/>
          <p:cNvSpPr/>
          <p:nvPr/>
        </p:nvSpPr>
        <p:spPr>
          <a:xfrm>
            <a:off x="4873680" y="2524680"/>
            <a:ext cx="65833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read_csv, dtypes, isna, count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9" name="Rectangle 12"/>
          <p:cNvSpPr/>
          <p:nvPr/>
        </p:nvSpPr>
        <p:spPr>
          <a:xfrm>
            <a:off x="722520" y="3147480"/>
            <a:ext cx="40003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0" name="TextBox 13"/>
          <p:cNvSpPr/>
          <p:nvPr/>
        </p:nvSpPr>
        <p:spPr>
          <a:xfrm>
            <a:off x="850320" y="3170160"/>
            <a:ext cx="37670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Simuler et réunir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1" name="Rectangle 14"/>
          <p:cNvSpPr/>
          <p:nvPr/>
        </p:nvSpPr>
        <p:spPr>
          <a:xfrm>
            <a:off x="4745880" y="3147480"/>
            <a:ext cx="681660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2" name="TextBox 15"/>
          <p:cNvSpPr/>
          <p:nvPr/>
        </p:nvSpPr>
        <p:spPr>
          <a:xfrm>
            <a:off x="4873680" y="3170160"/>
            <a:ext cx="65833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default_rng, normal, concatenate, DataFrame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3" name="Rectangle 16"/>
          <p:cNvSpPr/>
          <p:nvPr/>
        </p:nvSpPr>
        <p:spPr>
          <a:xfrm>
            <a:off x="722520" y="3792960"/>
            <a:ext cx="40003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4" name="TextBox 17"/>
          <p:cNvSpPr/>
          <p:nvPr/>
        </p:nvSpPr>
        <p:spPr>
          <a:xfrm>
            <a:off x="850320" y="3815640"/>
            <a:ext cx="37670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Préparer une figure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5" name="Rectangle 18"/>
          <p:cNvSpPr/>
          <p:nvPr/>
        </p:nvSpPr>
        <p:spPr>
          <a:xfrm>
            <a:off x="4745880" y="3792960"/>
            <a:ext cx="681660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6" name="TextBox 19"/>
          <p:cNvSpPr/>
          <p:nvPr/>
        </p:nvSpPr>
        <p:spPr>
          <a:xfrm>
            <a:off x="4873680" y="3815640"/>
            <a:ext cx="65833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histogram, box, go.Figure, show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7" name="Rectangle 20"/>
          <p:cNvSpPr/>
          <p:nvPr/>
        </p:nvSpPr>
        <p:spPr>
          <a:xfrm>
            <a:off x="722520" y="4438440"/>
            <a:ext cx="40003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8" name="TextBox 21"/>
          <p:cNvSpPr/>
          <p:nvPr/>
        </p:nvSpPr>
        <p:spPr>
          <a:xfrm>
            <a:off x="850320" y="4461480"/>
            <a:ext cx="37670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Mesurer et vérifier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9" name="Rectangle 22"/>
          <p:cNvSpPr/>
          <p:nvPr/>
        </p:nvSpPr>
        <p:spPr>
          <a:xfrm>
            <a:off x="4745880" y="4438440"/>
            <a:ext cx="681660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0" name="TextBox 23"/>
          <p:cNvSpPr/>
          <p:nvPr/>
        </p:nvSpPr>
        <p:spPr>
          <a:xfrm>
            <a:off x="4873680" y="4461480"/>
            <a:ext cx="65833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perf_counter, assertions, comparaisons de tableaux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1" name="Rectangle 24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2" name="TextBox 25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Lire les paramètres, le type du résultat et un petit exemple avant d’utiliser une fonction.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3" name="TextBox 26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continuation_22/API_REFERENCE.md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4" name="Rectangle 27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5" name="TextBox 28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6" name="TextBox 29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86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EXERCICES DU 24 SEPTEMBRE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8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endParaRPr b="1" lang="en-US" sz="3000" strike="noStrike" u="none">
              <a:solidFill>
                <a:srgbClr val="102a43"/>
              </a:solidFill>
              <a:effectLst/>
              <a:uFillTx/>
              <a:latin typeface="Aptos"/>
            </a:endParaRPr>
          </a:p>
        </p:txBody>
      </p:sp>
      <p:sp>
        <p:nvSpPr>
          <p:cNvPr id="1589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0" name="Rectangle 4"/>
          <p:cNvSpPr/>
          <p:nvPr/>
        </p:nvSpPr>
        <p:spPr>
          <a:xfrm>
            <a:off x="0" y="0"/>
            <a:ext cx="12191760" cy="630900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1" name="TextBox 5"/>
          <p:cNvSpPr/>
          <p:nvPr/>
        </p:nvSpPr>
        <p:spPr>
          <a:xfrm>
            <a:off x="777240" y="7772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6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EXERCICES DU 24 SEPTEMBRE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2" name="Rectangle 6"/>
          <p:cNvSpPr/>
          <p:nvPr/>
        </p:nvSpPr>
        <p:spPr>
          <a:xfrm>
            <a:off x="786240" y="1508760"/>
            <a:ext cx="776880" cy="6372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9080" bIns="19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3" name="TextBox 7"/>
          <p:cNvSpPr/>
          <p:nvPr/>
        </p:nvSpPr>
        <p:spPr>
          <a:xfrm>
            <a:off x="777240" y="1856160"/>
            <a:ext cx="1056096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41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Passer au travail autonome</a:t>
            </a:r>
            <a:endParaRPr b="0" lang="en-US" sz="4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4" name="TextBox 8"/>
          <p:cNvSpPr/>
          <p:nvPr/>
        </p:nvSpPr>
        <p:spPr>
          <a:xfrm>
            <a:off x="777240" y="4041720"/>
            <a:ext cx="10560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500" strike="noStrike" u="none">
                <a:solidFill>
                  <a:srgbClr val="dce8ee"/>
                </a:solidFill>
                <a:effectLst/>
                <a:uFillTx/>
                <a:latin typeface="Aptos"/>
              </a:rPr>
              <a:t>Le livret DOCX réunit les consignes détaillées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500" strike="noStrike" u="none">
                <a:solidFill>
                  <a:srgbClr val="dce8ee"/>
                </a:solidFill>
                <a:effectLst/>
                <a:uFillTx/>
                <a:latin typeface="Aptos"/>
              </a:rPr>
              <a:t>et les extraits de code à utiliser.</a:t>
            </a:r>
            <a:endParaRPr b="0" lang="en-US" sz="2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5" name="Rectangle 9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55708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6" name="TextBox 10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7" name="TextBox 11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b8dce8"/>
                </a:solidFill>
                <a:effectLst/>
                <a:uFillTx/>
                <a:latin typeface="Aptos"/>
              </a:rPr>
              <a:t>87 / 91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CONSIGNES DU LIVRET DOCX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9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Un exercice commun, puis un choix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0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1" name="Rectangle 4"/>
          <p:cNvSpPr/>
          <p:nvPr/>
        </p:nvSpPr>
        <p:spPr>
          <a:xfrm>
            <a:off x="722520" y="1856160"/>
            <a:ext cx="4868640" cy="6224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2" name="TextBox 5"/>
          <p:cNvSpPr/>
          <p:nvPr/>
        </p:nvSpPr>
        <p:spPr>
          <a:xfrm>
            <a:off x="850320" y="1879200"/>
            <a:ext cx="46357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TRAVAIL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3" name="Rectangle 6"/>
          <p:cNvSpPr/>
          <p:nvPr/>
        </p:nvSpPr>
        <p:spPr>
          <a:xfrm>
            <a:off x="5614560" y="1856160"/>
            <a:ext cx="5947920" cy="6224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4" name="TextBox 7"/>
          <p:cNvSpPr/>
          <p:nvPr/>
        </p:nvSpPr>
        <p:spPr>
          <a:xfrm>
            <a:off x="5742360" y="1879200"/>
            <a:ext cx="57146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PRODUCTION ATTENDUE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5" name="Rectangle 8"/>
          <p:cNvSpPr/>
          <p:nvPr/>
        </p:nvSpPr>
        <p:spPr>
          <a:xfrm>
            <a:off x="722520" y="2501640"/>
            <a:ext cx="48686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6" name="TextBox 9"/>
          <p:cNvSpPr/>
          <p:nvPr/>
        </p:nvSpPr>
        <p:spPr>
          <a:xfrm>
            <a:off x="850320" y="2524680"/>
            <a:ext cx="46357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Commun · convertir une durée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7" name="Rectangle 10"/>
          <p:cNvSpPr/>
          <p:nvPr/>
        </p:nvSpPr>
        <p:spPr>
          <a:xfrm>
            <a:off x="5614560" y="2501640"/>
            <a:ext cx="59479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8" name="TextBox 11"/>
          <p:cNvSpPr/>
          <p:nvPr/>
        </p:nvSpPr>
        <p:spPr>
          <a:xfrm>
            <a:off x="5742360" y="2524680"/>
            <a:ext cx="57146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Corriger minutes_to_hours et expliquer les contrôles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9" name="Rectangle 12"/>
          <p:cNvSpPr/>
          <p:nvPr/>
        </p:nvSpPr>
        <p:spPr>
          <a:xfrm>
            <a:off x="722520" y="3147480"/>
            <a:ext cx="48686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0" name="TextBox 13"/>
          <p:cNvSpPr/>
          <p:nvPr/>
        </p:nvSpPr>
        <p:spPr>
          <a:xfrm>
            <a:off x="850320" y="3170160"/>
            <a:ext cx="46357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A · vérifier la fonction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1" name="Rectangle 14"/>
          <p:cNvSpPr/>
          <p:nvPr/>
        </p:nvSpPr>
        <p:spPr>
          <a:xfrm>
            <a:off x="5614560" y="3147480"/>
            <a:ext cx="59479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2" name="TextBox 15"/>
          <p:cNvSpPr/>
          <p:nvPr/>
        </p:nvSpPr>
        <p:spPr>
          <a:xfrm>
            <a:off x="5742360" y="3170160"/>
            <a:ext cx="57146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Valeurs acceptées, erreurs prévues et tests unittest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3" name="Rectangle 16"/>
          <p:cNvSpPr/>
          <p:nvPr/>
        </p:nvSpPr>
        <p:spPr>
          <a:xfrm>
            <a:off x="722520" y="3792960"/>
            <a:ext cx="48686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4" name="TextBox 17"/>
          <p:cNvSpPr/>
          <p:nvPr/>
        </p:nvSpPr>
        <p:spPr>
          <a:xfrm>
            <a:off x="850320" y="3815640"/>
            <a:ext cx="46357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B · comparer les exécutions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5" name="Rectangle 18"/>
          <p:cNvSpPr/>
          <p:nvPr/>
        </p:nvSpPr>
        <p:spPr>
          <a:xfrm>
            <a:off x="5614560" y="3792960"/>
            <a:ext cx="59479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6" name="TextBox 19"/>
          <p:cNvSpPr/>
          <p:nvPr/>
        </p:nvSpPr>
        <p:spPr>
          <a:xfrm>
            <a:off x="5742360" y="3815640"/>
            <a:ext cx="57146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Boucle, NumPy, threads : résultats et mesures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7" name="Rectangle 20"/>
          <p:cNvSpPr/>
          <p:nvPr/>
        </p:nvSpPr>
        <p:spPr>
          <a:xfrm>
            <a:off x="722520" y="4438440"/>
            <a:ext cx="48686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8" name="TextBox 21"/>
          <p:cNvSpPr/>
          <p:nvPr/>
        </p:nvSpPr>
        <p:spPr>
          <a:xfrm>
            <a:off x="850320" y="4461480"/>
            <a:ext cx="46357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 · utiliser des processus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9" name="Rectangle 22"/>
          <p:cNvSpPr/>
          <p:nvPr/>
        </p:nvSpPr>
        <p:spPr>
          <a:xfrm>
            <a:off x="5614560" y="4438440"/>
            <a:ext cx="59479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0" name="TextBox 23"/>
          <p:cNvSpPr/>
          <p:nvPr/>
        </p:nvSpPr>
        <p:spPr>
          <a:xfrm>
            <a:off x="5742360" y="4461480"/>
            <a:ext cx="571464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Mêmes tâches, mêmes résultats et coûts expliqués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1" name="Rectangle 24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2" name="TextBox 25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Lire le livret, ouvrir lab/README.md et conserver vos fichiers utiles.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3" name="TextBox 26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documents/2026-09-24_python_exercices.docx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4" name="Rectangle 27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5" name="TextBox 28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6" name="TextBox 29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88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RÉSERVE FACULTATIVE · NOTEBOOK 05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8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Reprendre un exercice du 22 si vous le souhaitez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9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0" name="Rectangle 4"/>
          <p:cNvSpPr/>
          <p:nvPr/>
        </p:nvSpPr>
        <p:spPr>
          <a:xfrm>
            <a:off x="722520" y="1856160"/>
            <a:ext cx="4822920" cy="6224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1" name="TextBox 5"/>
          <p:cNvSpPr/>
          <p:nvPr/>
        </p:nvSpPr>
        <p:spPr>
          <a:xfrm>
            <a:off x="850320" y="1879200"/>
            <a:ext cx="45900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PISTE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2" name="Rectangle 6"/>
          <p:cNvSpPr/>
          <p:nvPr/>
        </p:nvSpPr>
        <p:spPr>
          <a:xfrm>
            <a:off x="5568840" y="1856160"/>
            <a:ext cx="5993640" cy="622440"/>
          </a:xfrm>
          <a:prstGeom prst="rect">
            <a:avLst/>
          </a:prstGeom>
          <a:solidFill>
            <a:srgbClr val="102a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3" name="TextBox 7"/>
          <p:cNvSpPr/>
          <p:nvPr/>
        </p:nvSpPr>
        <p:spPr>
          <a:xfrm>
            <a:off x="5696640" y="1879200"/>
            <a:ext cx="57603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fcfcfb"/>
                </a:solidFill>
                <a:effectLst/>
                <a:uFillTx/>
                <a:latin typeface="Aptos"/>
              </a:rPr>
              <a:t>CE QU’ELLE PERMET DE RETRAVAILLER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4" name="Rectangle 8"/>
          <p:cNvSpPr/>
          <p:nvPr/>
        </p:nvSpPr>
        <p:spPr>
          <a:xfrm>
            <a:off x="722520" y="2501640"/>
            <a:ext cx="48229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5" name="TextBox 9"/>
          <p:cNvSpPr/>
          <p:nvPr/>
        </p:nvSpPr>
        <p:spPr>
          <a:xfrm>
            <a:off x="850320" y="2524680"/>
            <a:ext cx="45900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Fonctions et valeurs manquantes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6" name="Rectangle 10"/>
          <p:cNvSpPr/>
          <p:nvPr/>
        </p:nvSpPr>
        <p:spPr>
          <a:xfrm>
            <a:off x="5568840" y="2501640"/>
            <a:ext cx="59936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7" name="TextBox 11"/>
          <p:cNvSpPr/>
          <p:nvPr/>
        </p:nvSpPr>
        <p:spPr>
          <a:xfrm>
            <a:off x="5696640" y="2524680"/>
            <a:ext cx="57603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Lire, nettoyer, calculer et expliquer le résultat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8" name="Rectangle 12"/>
          <p:cNvSpPr/>
          <p:nvPr/>
        </p:nvSpPr>
        <p:spPr>
          <a:xfrm>
            <a:off x="722520" y="3147480"/>
            <a:ext cx="48229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9" name="TextBox 13"/>
          <p:cNvSpPr/>
          <p:nvPr/>
        </p:nvSpPr>
        <p:spPr>
          <a:xfrm>
            <a:off x="850320" y="3170160"/>
            <a:ext cx="45900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Classe puis module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0" name="Rectangle 14"/>
          <p:cNvSpPr/>
          <p:nvPr/>
        </p:nvSpPr>
        <p:spPr>
          <a:xfrm>
            <a:off x="5568840" y="3147480"/>
            <a:ext cx="59936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1" name="TextBox 15"/>
          <p:cNvSpPr/>
          <p:nvPr/>
        </p:nvSpPr>
        <p:spPr>
          <a:xfrm>
            <a:off x="5696640" y="3170160"/>
            <a:ext cx="57603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Importer sa classe depuis un notebook neuf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2" name="Rectangle 16"/>
          <p:cNvSpPr/>
          <p:nvPr/>
        </p:nvSpPr>
        <p:spPr>
          <a:xfrm>
            <a:off x="722520" y="3792960"/>
            <a:ext cx="48229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3" name="TextBox 17"/>
          <p:cNvSpPr/>
          <p:nvPr/>
        </p:nvSpPr>
        <p:spPr>
          <a:xfrm>
            <a:off x="850320" y="3815640"/>
            <a:ext cx="45900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Fonction et unittest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4" name="Rectangle 18"/>
          <p:cNvSpPr/>
          <p:nvPr/>
        </p:nvSpPr>
        <p:spPr>
          <a:xfrm>
            <a:off x="5568840" y="3792960"/>
            <a:ext cx="59936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5" name="TextBox 19"/>
          <p:cNvSpPr/>
          <p:nvPr/>
        </p:nvSpPr>
        <p:spPr>
          <a:xfrm>
            <a:off x="5696640" y="3815640"/>
            <a:ext cx="57603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Vérifier trois cas choisis et justifiés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6" name="Rectangle 20"/>
          <p:cNvSpPr/>
          <p:nvPr/>
        </p:nvSpPr>
        <p:spPr>
          <a:xfrm>
            <a:off x="722520" y="4438440"/>
            <a:ext cx="482292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7" name="TextBox 21"/>
          <p:cNvSpPr/>
          <p:nvPr/>
        </p:nvSpPr>
        <p:spPr>
          <a:xfrm>
            <a:off x="850320" y="4461480"/>
            <a:ext cx="459000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Boucle et NumPy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8" name="Rectangle 22"/>
          <p:cNvSpPr/>
          <p:nvPr/>
        </p:nvSpPr>
        <p:spPr>
          <a:xfrm>
            <a:off x="5568840" y="4438440"/>
            <a:ext cx="5993640" cy="6224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9" name="TextBox 23"/>
          <p:cNvSpPr/>
          <p:nvPr/>
        </p:nvSpPr>
        <p:spPr>
          <a:xfrm>
            <a:off x="5696640" y="4461480"/>
            <a:ext cx="576036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Comparer le même calcul et ses durées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0" name="Rectangle 24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1" name="TextBox 25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Ces reprises sont distinctes du travail commun et des choix A/B/C du 24.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2" name="TextBox 26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continuation_22/05_Afternoon_exercises_FR.ipynb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3" name="Rectangle 27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4" name="TextBox 28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5" name="TextBox 29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89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TRAVAIL À RENDRE ET EXPLICATION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7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Vérifier depuis un démarrage neuf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8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9" name="Rectangle 4"/>
          <p:cNvSpPr/>
          <p:nvPr/>
        </p:nvSpPr>
        <p:spPr>
          <a:xfrm>
            <a:off x="73152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0" name="Rectangle 5"/>
          <p:cNvSpPr/>
          <p:nvPr/>
        </p:nvSpPr>
        <p:spPr>
          <a:xfrm>
            <a:off x="731520" y="2267640"/>
            <a:ext cx="54360" cy="23770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1" name="TextBox 6"/>
          <p:cNvSpPr/>
          <p:nvPr/>
        </p:nvSpPr>
        <p:spPr>
          <a:xfrm>
            <a:off x="9234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RELANCER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2" name="TextBox 7"/>
          <p:cNvSpPr/>
          <p:nvPr/>
        </p:nvSpPr>
        <p:spPr>
          <a:xfrm>
            <a:off x="9234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Repartir de zéro.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Exécuter les fichiers.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3" name="Chevron 8"/>
          <p:cNvSpPr/>
          <p:nvPr/>
        </p:nvSpPr>
        <p:spPr>
          <a:xfrm>
            <a:off x="4127040" y="3273480"/>
            <a:ext cx="209880" cy="365400"/>
          </a:xfrm>
          <a:prstGeom prst="chevron">
            <a:avLst>
              <a:gd name="adj" fmla="val 50000"/>
            </a:avLst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4" name="Rectangle 9"/>
          <p:cNvSpPr/>
          <p:nvPr/>
        </p:nvSpPr>
        <p:spPr>
          <a:xfrm>
            <a:off x="441972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5" name="Rectangle 10"/>
          <p:cNvSpPr/>
          <p:nvPr/>
        </p:nvSpPr>
        <p:spPr>
          <a:xfrm>
            <a:off x="4419720" y="2267640"/>
            <a:ext cx="54360" cy="23770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6" name="TextBox 11"/>
          <p:cNvSpPr/>
          <p:nvPr/>
        </p:nvSpPr>
        <p:spPr>
          <a:xfrm>
            <a:off x="46116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CONSERVER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7" name="TextBox 12"/>
          <p:cNvSpPr/>
          <p:nvPr/>
        </p:nvSpPr>
        <p:spPr>
          <a:xfrm>
            <a:off x="46116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Commande et résultat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dans RETURN.md.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8" name="Chevron 13"/>
          <p:cNvSpPr/>
          <p:nvPr/>
        </p:nvSpPr>
        <p:spPr>
          <a:xfrm>
            <a:off x="7815240" y="3273480"/>
            <a:ext cx="209880" cy="365400"/>
          </a:xfrm>
          <a:prstGeom prst="chevron">
            <a:avLst>
              <a:gd name="adj" fmla="val 50000"/>
            </a:avLst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9" name="Rectangle 14"/>
          <p:cNvSpPr/>
          <p:nvPr/>
        </p:nvSpPr>
        <p:spPr>
          <a:xfrm>
            <a:off x="8107560" y="2267640"/>
            <a:ext cx="3322080" cy="237708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0" name="Rectangle 15"/>
          <p:cNvSpPr/>
          <p:nvPr/>
        </p:nvSpPr>
        <p:spPr>
          <a:xfrm>
            <a:off x="8107560" y="2267640"/>
            <a:ext cx="54360" cy="237708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1" name="TextBox 16"/>
          <p:cNvSpPr/>
          <p:nvPr/>
        </p:nvSpPr>
        <p:spPr>
          <a:xfrm>
            <a:off x="8299800" y="2432160"/>
            <a:ext cx="293796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EXPLIQUER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2" name="TextBox 17"/>
          <p:cNvSpPr/>
          <p:nvPr/>
        </p:nvSpPr>
        <p:spPr>
          <a:xfrm>
            <a:off x="8299800" y="3136320"/>
            <a:ext cx="2937960" cy="138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Correction apportée.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2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Portée des contrôles.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3" name="Rectangle 18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4" name="TextBox 19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Un programme qui fonctionne grâce à une ancienne cellule n’est pas encore reproductible.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5" name="TextBox 20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SUBMISSION.md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6" name="Rectangle 21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7" name="TextBox 22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8" name="TextBox 23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90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TextBox 1"/>
          <p:cNvSpPr/>
          <p:nvPr/>
        </p:nvSpPr>
        <p:spPr>
          <a:xfrm>
            <a:off x="658440" y="265320"/>
            <a:ext cx="10862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1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RÉFÉRENCE FACULTATIVE APRÈS LA SÉANCE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0" name="TextBox 2"/>
          <p:cNvSpPr/>
          <p:nvPr/>
        </p:nvSpPr>
        <p:spPr>
          <a:xfrm>
            <a:off x="658440" y="740520"/>
            <a:ext cx="1086264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3000" strike="noStrike" u="none">
                <a:solidFill>
                  <a:srgbClr val="102a43"/>
                </a:solidFill>
                <a:effectLst/>
                <a:uFillTx/>
                <a:latin typeface="Aptos"/>
              </a:rPr>
              <a:t>R : un environnement distinct à découvrir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1" name="Rectangle 3"/>
          <p:cNvSpPr/>
          <p:nvPr/>
        </p:nvSpPr>
        <p:spPr>
          <a:xfrm>
            <a:off x="676800" y="1536120"/>
            <a:ext cx="10835280" cy="216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3040" bIns="-230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2" name="Rectangle 4"/>
          <p:cNvSpPr/>
          <p:nvPr/>
        </p:nvSpPr>
        <p:spPr>
          <a:xfrm>
            <a:off x="71316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3" name="Rectangle 5"/>
          <p:cNvSpPr/>
          <p:nvPr/>
        </p:nvSpPr>
        <p:spPr>
          <a:xfrm>
            <a:off x="713160" y="1901880"/>
            <a:ext cx="54360" cy="3090240"/>
          </a:xfrm>
          <a:prstGeom prst="rect">
            <a:avLst/>
          </a:prstGeom>
          <a:solidFill>
            <a:srgbClr val="12678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4" name="TextBox 6"/>
          <p:cNvSpPr/>
          <p:nvPr/>
        </p:nvSpPr>
        <p:spPr>
          <a:xfrm>
            <a:off x="9054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12678a"/>
                </a:solidFill>
                <a:effectLst/>
                <a:uFillTx/>
                <a:latin typeface="Aptos"/>
              </a:rPr>
              <a:t>R ET RSTUDIO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5" name="TextBox 7"/>
          <p:cNvSpPr/>
          <p:nvPr/>
        </p:nvSpPr>
        <p:spPr>
          <a:xfrm>
            <a:off x="9054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 exécute le code.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RStudio fournit un éditeur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et des outils de travail.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6" name="Rectangle 8"/>
          <p:cNvSpPr/>
          <p:nvPr/>
        </p:nvSpPr>
        <p:spPr>
          <a:xfrm>
            <a:off x="6217920" y="1901880"/>
            <a:ext cx="5248440" cy="3090240"/>
          </a:xfrm>
          <a:prstGeom prst="rect">
            <a:avLst/>
          </a:prstGeom>
          <a:solidFill>
            <a:srgbClr val="f1f5f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7" name="Rectangle 9"/>
          <p:cNvSpPr/>
          <p:nvPr/>
        </p:nvSpPr>
        <p:spPr>
          <a:xfrm>
            <a:off x="6217920" y="1901880"/>
            <a:ext cx="54360" cy="309024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8" name="TextBox 10"/>
          <p:cNvSpPr/>
          <p:nvPr/>
        </p:nvSpPr>
        <p:spPr>
          <a:xfrm>
            <a:off x="6409800" y="2066400"/>
            <a:ext cx="48643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1" lang="en-US" sz="1700" strike="noStrike" u="none">
                <a:solidFill>
                  <a:srgbClr val="b66d3a"/>
                </a:solidFill>
                <a:effectLst/>
                <a:uFillTx/>
                <a:latin typeface="Aptos"/>
              </a:rPr>
              <a:t>RPY2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9" name="TextBox 11"/>
          <p:cNvSpPr/>
          <p:nvPr/>
        </p:nvSpPr>
        <p:spPr>
          <a:xfrm>
            <a:off x="6409800" y="2770560"/>
            <a:ext cx="486432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Relie Python à R.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Installer ce paquet ne fournit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400" strike="noStrike" u="none">
                <a:solidFill>
                  <a:srgbClr val="203645"/>
                </a:solidFill>
                <a:effectLst/>
                <a:uFillTx/>
                <a:latin typeface="Aptos"/>
              </a:rPr>
              <a:t>pas à lui seul l’environnement R.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0" name="Rectangle 12"/>
          <p:cNvSpPr/>
          <p:nvPr/>
        </p:nvSpPr>
        <p:spPr>
          <a:xfrm>
            <a:off x="731520" y="5523120"/>
            <a:ext cx="50040" cy="603000"/>
          </a:xfrm>
          <a:prstGeom prst="rect">
            <a:avLst/>
          </a:prstGeom>
          <a:solidFill>
            <a:srgbClr val="b66d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1" name="TextBox 13"/>
          <p:cNvSpPr/>
          <p:nvPr/>
        </p:nvSpPr>
        <p:spPr>
          <a:xfrm>
            <a:off x="932760" y="5523120"/>
            <a:ext cx="10332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ctr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2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Aucune installation de R n’est nécessaire pour les exercices de cette séance.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2" name="TextBox 14"/>
          <p:cNvSpPr/>
          <p:nvPr/>
        </p:nvSpPr>
        <p:spPr>
          <a:xfrm>
            <a:off x="768240" y="51937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200" strike="noStrike" u="sng">
                <a:solidFill>
                  <a:srgbClr val="0000ff"/>
                </a:solidFill>
                <a:effectLst/>
                <a:uFillTx/>
                <a:latin typeface="Aptos"/>
                <a:hlinkClick r:id="rId1"/>
              </a:rPr>
              <a:t>Fichier : R_NEXT.md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3" name="Rectangle 15"/>
          <p:cNvSpPr/>
          <p:nvPr/>
        </p:nvSpPr>
        <p:spPr>
          <a:xfrm>
            <a:off x="676800" y="6382440"/>
            <a:ext cx="10844280" cy="16200"/>
          </a:xfrm>
          <a:prstGeom prst="rect">
            <a:avLst/>
          </a:prstGeom>
          <a:solidFill>
            <a:srgbClr val="d4dee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8440" bIns="-28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4" name="TextBox 16"/>
          <p:cNvSpPr/>
          <p:nvPr/>
        </p:nvSpPr>
        <p:spPr>
          <a:xfrm>
            <a:off x="685800" y="6464880"/>
            <a:ext cx="9417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0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PYTHON  /  OLIVIER DELRIEU  /  24.09.2026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5" name="TextBox 17"/>
          <p:cNvSpPr/>
          <p:nvPr/>
        </p:nvSpPr>
        <p:spPr>
          <a:xfrm>
            <a:off x="10588680" y="6437520"/>
            <a:ext cx="914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spAutoFit/>
          </a:bodyPr>
          <a:p>
            <a:pPr algn="r" defTabSz="457200">
              <a:lnSpc>
                <a:spcPct val="100000"/>
              </a:lnSpc>
              <a:spcAft>
                <a:spcPts val="400"/>
              </a:spcAft>
            </a:pPr>
            <a:r>
              <a:rPr b="0" lang="en-US" sz="1100" strike="noStrike" u="none">
                <a:solidFill>
                  <a:srgbClr val="526777"/>
                </a:solidFill>
                <a:effectLst/>
                <a:uFillTx/>
                <a:latin typeface="Aptos"/>
              </a:rPr>
              <a:t>91 / 91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Olivier Delrieu</dc:creator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>Python : comprendre, vérifier et exécuter</dc:subject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