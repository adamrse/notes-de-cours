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clone peut s’appeler atelier-git-2026 : identifier sa racine par README.md et requirements.txt. Git et le clonage sont hors de cette installation Python. Le README du dépôt est le fil conducteur. Ce diaporama précède celui du projet de commandes.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§1, à faire une seule fois. Si .venv existe déjà, le conserver ; installer seulement les dépendances manquantes. pip utilise directement cet interpréteur : aucune activation n’est nécessaire pour ces commandes. En cas d’échec, garder le message et consulter le dépannage.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§2. Garder les modèles. settings.json prépare aussi les imports pour Pylance (analyse de l’éditeur). tasks.json définit les tâches. Les réglages propres à l’espace de travail et l’alerte JSONC sont traités dans le dépannage, sans modifier le parcours nominal.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§2 et dot_env_template.ini. pwd se lance dans le terminal Linux/macOS ; (Get-Location).Path dans PowerShell, à la racine du dépôt. Les chemins montrés sont des exemples, à remplacer tous les deux. Les deux-points ou le point-virgule séparent deux dossiers. Les / fonctionnent aussi dans ces chemins Windows. Ne pas utiliser ${workspaceFolder} dans .env.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§3 ; la vérification provient du dépannage. Si VS Code conserve un ancien choix, suivre Python: Select Interpreter puis rouvrir un terminal Python. Conserver ce terminal : il sera réutilisé après les tâches, qui ouvrent leur propre panneau. https://github.com/G404-DataAnalyst/atelier-git-2026/blob/python-pipeline-2026-10-11/docs/troubleshooting.md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§3. Un vecteur NumPy est un tableau à une dimension. run.py génère dix tirages d’une loi normale N(0, 1), sans graine fixée. Leur moyenne et écart-type ne sont pas exactement 0 et 1. La tâche a son propre PYTHONPATH ; son succès seul ne vérifie pas .env.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§3. La tâche exécute -m unittest discover -s tests/p010_test_hello -v. Le format comprend le type ndarray, la taille et des valeurs finies. Le test statistique utilise 10 000 tirages, seed=42 et une tolérance de 0,05 sur la moyenne et l’écart-type. Les trois tests ne constituent pas une preuve générale d’absence de défauts.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§3 et aide texte du projet. La commande --help est un contrôle du terminal ; seul l’essai --size/--seed est facultatif. -m lance le package (un dossier Python importable), dont __main__.py est le point d’entrée. À taille et graine identiques, le vecteur se répète dans cet environnement. Si --help échoue malgré les tâches, vérifier .env et recréer le terminal Python.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§4, exemple identique. Les tâches incluent projects/ dans PYTHONPATH ; Pylance utilise ses propres réglages d’analyse. Faire prévoir le nombre de valeurs avant l’exécution. Garder seed=42 et size=5 reproduit le même résultat. Le package est le dossier p010_test_hello, pas le dossier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§4. Cette règle concerne le dossier personnel et ses sous-dossiers. La créer avant tout ajout Git du nouveau script si l’on souhaite le garder local. Elle ne retire pas les fichiers déjà suivis et ne s’applique pas à projects/. Aucun commit n’est demandé dans ce parcours.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Changer size modifie le nombre de valeurs. Demander une prévision avant de modifier et lancer. Pour comparer deux lancements, garder taille et graine identiques. Le dépannage contient les cas d’interpréteur, bibliothèque, import et commentaire JSON. Passer ensuite au projet de commandes et à son propre README.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G404-DataAnalyst/atelier-git-2026/blob/python-pipeline-2026-10-11/README.md"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G404-DataAnalyst/atelier-git-2026/blob/python-pipeline-2026-10-11/README.md" TargetMode="External"/><Relationship Id="rId3" Type="http://schemas.openxmlformats.org/officeDocument/2006/relationships/hyperlink" Target="https://github.com/G404-DataAnalyst/atelier-git-2026/blob/python-pipeline-2026-10-11/docs/troubleshooting.md" TargetMode="External"/><Relationship Id="rId4"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ATELIER PYTHON · PARCOURS GUIDÉ</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Préparer Python et VS Code</a:t>
            </a:r>
          </a:p>
        </p:txBody>
      </p:sp>
      <p:sp>
        <p:nvSpPr>
          <p:cNvPr id="5" name="TextBox 4"/>
          <p:cNvSpPr txBox="1"/>
          <p:nvPr/>
        </p:nvSpPr>
        <p:spPr>
          <a:xfrm>
            <a:off x="612648" y="1828800"/>
            <a:ext cx="10972800" cy="548640"/>
          </a:xfrm>
          <a:prstGeom prst="rect">
            <a:avLst/>
          </a:prstGeom>
          <a:noFill/>
        </p:spPr>
        <p:txBody>
          <a:bodyPr wrap="square" lIns="18288" rIns="18288" tIns="18288" bIns="18288">
            <a:spAutoFit/>
          </a:bodyPr>
          <a:lstStyle/>
          <a:p>
            <a:pPr>
              <a:lnSpc>
                <a:spcPct val="105000"/>
              </a:lnSpc>
              <a:spcAft>
                <a:spcPts val="500"/>
              </a:spcAft>
              <a:defRPr sz="2800" b="1">
                <a:solidFill>
                  <a:srgbClr val="22364C"/>
                </a:solidFill>
                <a:latin typeface="Aptos"/>
              </a:defRPr>
            </a:pPr>
            <a:r>
              <a:t>Ouvrir votre dossier atelier-git dans VS Code.</a:t>
            </a:r>
          </a:p>
        </p:txBody>
      </p:sp>
      <p:sp>
        <p:nvSpPr>
          <p:cNvPr id="6" name="TextBox 5"/>
          <p:cNvSpPr txBox="1"/>
          <p:nvPr/>
        </p:nvSpPr>
        <p:spPr>
          <a:xfrm>
            <a:off x="612648" y="2514600"/>
            <a:ext cx="10972800" cy="502920"/>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À la racine : README.md, requirements.txt et projects/.</a:t>
            </a:r>
          </a:p>
        </p:txBody>
      </p:sp>
      <p:sp>
        <p:nvSpPr>
          <p:cNvPr id="7" name="TextBox 6"/>
          <p:cNvSpPr txBox="1"/>
          <p:nvPr/>
        </p:nvSpPr>
        <p:spPr>
          <a:xfrm>
            <a:off x="612648" y="3227832"/>
            <a:ext cx="10972800" cy="502920"/>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Prérequis : Python 3 et l’extension Python de Microsoft.</a:t>
            </a:r>
          </a:p>
        </p:txBody>
      </p:sp>
      <p:sp>
        <p:nvSpPr>
          <p:cNvPr id="8" name="Rectangle 7">
            <a:hlinkClick r:id="rId2"/>
          </p:cNvPr>
          <p:cNvSpPr/>
          <p:nvPr/>
        </p:nvSpPr>
        <p:spPr>
          <a:xfrm>
            <a:off x="612648" y="3931920"/>
            <a:ext cx="3182112" cy="512064"/>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a:hlinkClick r:id="rId2"/>
          </p:cNvPr>
          <p:cNvSpPr txBox="1"/>
          <p:nvPr/>
        </p:nvSpPr>
        <p:spPr>
          <a:xfrm>
            <a:off x="731520" y="4032504"/>
            <a:ext cx="2944368" cy="320040"/>
          </a:xfrm>
          <a:prstGeom prst="rect">
            <a:avLst/>
          </a:prstGeom>
          <a:noFill/>
        </p:spPr>
        <p:txBody>
          <a:bodyPr wrap="square" lIns="18288" rIns="18288" tIns="18288" bIns="18288">
            <a:spAutoFit/>
          </a:bodyPr>
          <a:lstStyle/>
          <a:p>
            <a:pPr>
              <a:lnSpc>
                <a:spcPct val="105000"/>
              </a:lnSpc>
              <a:spcAft>
                <a:spcPts val="500"/>
              </a:spcAft>
              <a:defRPr sz="1800" b="1">
                <a:solidFill>
                  <a:srgbClr val="FFFFFF"/>
                </a:solidFill>
                <a:latin typeface="Aptos"/>
              </a:defRPr>
            </a:pPr>
            <a:r>
              <a:t>Ouvrir le README</a:t>
            </a:r>
          </a:p>
        </p:txBody>
      </p:sp>
      <p:sp>
        <p:nvSpPr>
          <p:cNvPr id="10" name="TextBox 9"/>
          <p:cNvSpPr txBox="1"/>
          <p:nvPr/>
        </p:nvSpPr>
        <p:spPr>
          <a:xfrm>
            <a:off x="4114800" y="4014215"/>
            <a:ext cx="7132320" cy="411480"/>
          </a:xfrm>
          <a:prstGeom prst="rect">
            <a:avLst/>
          </a:prstGeom>
          <a:noFill/>
        </p:spPr>
        <p:txBody>
          <a:bodyPr wrap="square" lIns="18288" rIns="18288" tIns="18288" bIns="18288">
            <a:spAutoFit/>
          </a:bodyPr>
          <a:lstStyle/>
          <a:p>
            <a:pPr>
              <a:lnSpc>
                <a:spcPct val="105000"/>
              </a:lnSpc>
              <a:spcAft>
                <a:spcPts val="500"/>
              </a:spcAft>
              <a:defRPr sz="2300" b="0">
                <a:solidFill>
                  <a:srgbClr val="22364C"/>
                </a:solidFill>
                <a:latin typeface="Aptos"/>
              </a:defRPr>
            </a:pPr>
            <a:r>
              <a:t>Suivre ses quatre étapes :</a:t>
            </a:r>
          </a:p>
        </p:txBody>
      </p:sp>
      <p:sp>
        <p:nvSpPr>
          <p:cNvPr id="11" name="Rectangle 10"/>
          <p:cNvSpPr/>
          <p:nvPr/>
        </p:nvSpPr>
        <p:spPr>
          <a:xfrm>
            <a:off x="594360" y="4727448"/>
            <a:ext cx="2560320" cy="768096"/>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13232" y="4965192"/>
            <a:ext cx="2331720" cy="365760"/>
          </a:xfrm>
          <a:prstGeom prst="rect">
            <a:avLst/>
          </a:prstGeom>
          <a:noFill/>
        </p:spPr>
        <p:txBody>
          <a:bodyPr wrap="square" lIns="18288" rIns="18288" tIns="18288" bIns="18288">
            <a:spAutoFit/>
          </a:bodyPr>
          <a:lstStyle/>
          <a:p>
            <a:pPr>
              <a:lnSpc>
                <a:spcPct val="105000"/>
              </a:lnSpc>
              <a:spcAft>
                <a:spcPts val="500"/>
              </a:spcAft>
              <a:defRPr sz="2200" b="1">
                <a:solidFill>
                  <a:srgbClr val="087F8C"/>
                </a:solidFill>
                <a:latin typeface="Aptos"/>
              </a:defRPr>
            </a:pPr>
            <a:r>
              <a:t>1  Installer</a:t>
            </a:r>
          </a:p>
        </p:txBody>
      </p:sp>
      <p:sp>
        <p:nvSpPr>
          <p:cNvPr id="13" name="Rectangle 12"/>
          <p:cNvSpPr/>
          <p:nvPr/>
        </p:nvSpPr>
        <p:spPr>
          <a:xfrm>
            <a:off x="3410712" y="4727448"/>
            <a:ext cx="2560320" cy="768096"/>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529584" y="4965192"/>
            <a:ext cx="2331720" cy="365760"/>
          </a:xfrm>
          <a:prstGeom prst="rect">
            <a:avLst/>
          </a:prstGeom>
          <a:noFill/>
        </p:spPr>
        <p:txBody>
          <a:bodyPr wrap="square" lIns="18288" rIns="18288" tIns="18288" bIns="18288">
            <a:spAutoFit/>
          </a:bodyPr>
          <a:lstStyle/>
          <a:p>
            <a:pPr>
              <a:lnSpc>
                <a:spcPct val="105000"/>
              </a:lnSpc>
              <a:spcAft>
                <a:spcPts val="500"/>
              </a:spcAft>
              <a:defRPr sz="2200" b="1">
                <a:solidFill>
                  <a:srgbClr val="087F8C"/>
                </a:solidFill>
                <a:latin typeface="Aptos"/>
              </a:defRPr>
            </a:pPr>
            <a:r>
              <a:t>2  Configurer</a:t>
            </a:r>
          </a:p>
        </p:txBody>
      </p:sp>
      <p:sp>
        <p:nvSpPr>
          <p:cNvPr id="15" name="Rectangle 14"/>
          <p:cNvSpPr/>
          <p:nvPr/>
        </p:nvSpPr>
        <p:spPr>
          <a:xfrm>
            <a:off x="6227064" y="4727448"/>
            <a:ext cx="2560320" cy="768096"/>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345936" y="4965192"/>
            <a:ext cx="2331720" cy="365760"/>
          </a:xfrm>
          <a:prstGeom prst="rect">
            <a:avLst/>
          </a:prstGeom>
          <a:noFill/>
        </p:spPr>
        <p:txBody>
          <a:bodyPr wrap="square" lIns="18288" rIns="18288" tIns="18288" bIns="18288">
            <a:spAutoFit/>
          </a:bodyPr>
          <a:lstStyle/>
          <a:p>
            <a:pPr>
              <a:lnSpc>
                <a:spcPct val="105000"/>
              </a:lnSpc>
              <a:spcAft>
                <a:spcPts val="500"/>
              </a:spcAft>
              <a:defRPr sz="2200" b="1">
                <a:solidFill>
                  <a:srgbClr val="087F8C"/>
                </a:solidFill>
                <a:latin typeface="Aptos"/>
              </a:defRPr>
            </a:pPr>
            <a:r>
              <a:t>3  Lancer</a:t>
            </a:r>
          </a:p>
        </p:txBody>
      </p:sp>
      <p:sp>
        <p:nvSpPr>
          <p:cNvPr id="17" name="Rectangle 16"/>
          <p:cNvSpPr/>
          <p:nvPr/>
        </p:nvSpPr>
        <p:spPr>
          <a:xfrm>
            <a:off x="9043416" y="4727448"/>
            <a:ext cx="2560320" cy="768096"/>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162288" y="4965192"/>
            <a:ext cx="2331720" cy="365760"/>
          </a:xfrm>
          <a:prstGeom prst="rect">
            <a:avLst/>
          </a:prstGeom>
          <a:noFill/>
        </p:spPr>
        <p:txBody>
          <a:bodyPr wrap="square" lIns="18288" rIns="18288" tIns="18288" bIns="18288">
            <a:spAutoFit/>
          </a:bodyPr>
          <a:lstStyle/>
          <a:p>
            <a:pPr>
              <a:lnSpc>
                <a:spcPct val="105000"/>
              </a:lnSpc>
              <a:spcAft>
                <a:spcPts val="500"/>
              </a:spcAft>
              <a:defRPr sz="2200" b="1">
                <a:solidFill>
                  <a:srgbClr val="087F8C"/>
                </a:solidFill>
                <a:latin typeface="Aptos"/>
              </a:defRPr>
            </a:pPr>
            <a:r>
              <a:t>4  Réutiliser</a:t>
            </a:r>
          </a:p>
        </p:txBody>
      </p:sp>
      <p:sp>
        <p:nvSpPr>
          <p:cNvPr id="19" name="Rectangle 18"/>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Toutes les commandes se lancent à la racine du dépôt.</a:t>
            </a:r>
          </a:p>
        </p:txBody>
      </p:sp>
      <p:sp>
        <p:nvSpPr>
          <p:cNvPr id="21" name="TextBox 20"/>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22" name="TextBox 21"/>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1/4 — INSTALLER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Créer .venv et installer les bibliothèques</a:t>
            </a:r>
          </a:p>
        </p:txBody>
      </p:sp>
      <p:sp>
        <p:nvSpPr>
          <p:cNvPr id="5" name="TextBox 4"/>
          <p:cNvSpPr txBox="1"/>
          <p:nvPr/>
        </p:nvSpPr>
        <p:spPr>
          <a:xfrm>
            <a:off x="612648" y="1847088"/>
            <a:ext cx="10972800" cy="603504"/>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Dans VS Code : Terminal → Nouveau terminal. Choisir votre système.</a:t>
            </a:r>
          </a:p>
        </p:txBody>
      </p:sp>
      <p:sp>
        <p:nvSpPr>
          <p:cNvPr id="6" name="TextBox 5"/>
          <p:cNvSpPr txBox="1"/>
          <p:nvPr/>
        </p:nvSpPr>
        <p:spPr>
          <a:xfrm>
            <a:off x="612648" y="2679192"/>
            <a:ext cx="10972800" cy="393192"/>
          </a:xfrm>
          <a:prstGeom prst="rect">
            <a:avLst/>
          </a:prstGeom>
          <a:noFill/>
        </p:spPr>
        <p:txBody>
          <a:bodyPr wrap="square" lIns="18288" rIns="18288" tIns="18288" bIns="18288">
            <a:spAutoFit/>
          </a:bodyPr>
          <a:lstStyle/>
          <a:p>
            <a:pPr>
              <a:lnSpc>
                <a:spcPct val="105000"/>
              </a:lnSpc>
              <a:spcAft>
                <a:spcPts val="500"/>
              </a:spcAft>
              <a:defRPr sz="2300" b="1">
                <a:solidFill>
                  <a:srgbClr val="087F8C"/>
                </a:solidFill>
                <a:latin typeface="Aptos"/>
              </a:defRPr>
            </a:pPr>
            <a:r>
              <a:t>Linux / macOS</a:t>
            </a:r>
          </a:p>
        </p:txBody>
      </p:sp>
      <p:sp>
        <p:nvSpPr>
          <p:cNvPr id="7" name="Rectangle 6"/>
          <p:cNvSpPr/>
          <p:nvPr/>
        </p:nvSpPr>
        <p:spPr>
          <a:xfrm>
            <a:off x="594360" y="3163824"/>
            <a:ext cx="11000232" cy="978408"/>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77240" y="3282696"/>
            <a:ext cx="10634472" cy="768096"/>
          </a:xfrm>
          <a:prstGeom prst="rect">
            <a:avLst/>
          </a:prstGeom>
          <a:noFill/>
        </p:spPr>
        <p:txBody>
          <a:bodyPr wrap="none" lIns="18288" rIns="18288" tIns="18288" bIns="18288">
            <a:spAutoFit/>
          </a:bodyPr>
          <a:lstStyle/>
          <a:p>
            <a:pPr>
              <a:lnSpc>
                <a:spcPct val="105000"/>
              </a:lnSpc>
              <a:spcAft>
                <a:spcPts val="300"/>
              </a:spcAft>
              <a:defRPr sz="2200" b="0">
                <a:solidFill>
                  <a:srgbClr val="FFFFFF"/>
                </a:solidFill>
                <a:latin typeface="DejaVu Sans Mono"/>
              </a:defRPr>
            </a:pPr>
            <a:r>
              <a:t>python3 -m venv .venv</a:t>
            </a:r>
          </a:p>
          <a:p>
            <a:pPr>
              <a:lnSpc>
                <a:spcPct val="105000"/>
              </a:lnSpc>
              <a:spcAft>
                <a:spcPts val="300"/>
              </a:spcAft>
              <a:defRPr sz="2200" b="0">
                <a:solidFill>
                  <a:srgbClr val="FFFFFF"/>
                </a:solidFill>
                <a:latin typeface="DejaVu Sans Mono"/>
              </a:defRPr>
            </a:pPr>
            <a:r>
              <a:t>.venv/bin/python -m pip install -r requirements.txt</a:t>
            </a:r>
          </a:p>
        </p:txBody>
      </p:sp>
      <p:sp>
        <p:nvSpPr>
          <p:cNvPr id="9" name="TextBox 8"/>
          <p:cNvSpPr txBox="1"/>
          <p:nvPr/>
        </p:nvSpPr>
        <p:spPr>
          <a:xfrm>
            <a:off x="612648" y="4315968"/>
            <a:ext cx="10972800" cy="393192"/>
          </a:xfrm>
          <a:prstGeom prst="rect">
            <a:avLst/>
          </a:prstGeom>
          <a:noFill/>
        </p:spPr>
        <p:txBody>
          <a:bodyPr wrap="square" lIns="18288" rIns="18288" tIns="18288" bIns="18288">
            <a:spAutoFit/>
          </a:bodyPr>
          <a:lstStyle/>
          <a:p>
            <a:pPr>
              <a:lnSpc>
                <a:spcPct val="105000"/>
              </a:lnSpc>
              <a:spcAft>
                <a:spcPts val="500"/>
              </a:spcAft>
              <a:defRPr sz="2300" b="1">
                <a:solidFill>
                  <a:srgbClr val="087F8C"/>
                </a:solidFill>
                <a:latin typeface="Aptos"/>
              </a:defRPr>
            </a:pPr>
            <a:r>
              <a:t>Windows · PowerShell</a:t>
            </a:r>
          </a:p>
        </p:txBody>
      </p:sp>
      <p:sp>
        <p:nvSpPr>
          <p:cNvPr id="10" name="Rectangle 9"/>
          <p:cNvSpPr/>
          <p:nvPr/>
        </p:nvSpPr>
        <p:spPr>
          <a:xfrm>
            <a:off x="594360" y="4800600"/>
            <a:ext cx="11000232" cy="914400"/>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7240" y="4919472"/>
            <a:ext cx="10634472" cy="704088"/>
          </a:xfrm>
          <a:prstGeom prst="rect">
            <a:avLst/>
          </a:prstGeom>
          <a:noFill/>
        </p:spPr>
        <p:txBody>
          <a:bodyPr wrap="none" lIns="18288" rIns="18288" tIns="18288" bIns="18288">
            <a:spAutoFit/>
          </a:bodyPr>
          <a:lstStyle/>
          <a:p>
            <a:pPr>
              <a:lnSpc>
                <a:spcPct val="105000"/>
              </a:lnSpc>
              <a:spcAft>
                <a:spcPts val="300"/>
              </a:spcAft>
              <a:defRPr sz="2100" b="0">
                <a:solidFill>
                  <a:srgbClr val="FFFFFF"/>
                </a:solidFill>
                <a:latin typeface="DejaVu Sans Mono"/>
              </a:defRPr>
            </a:pPr>
            <a:r>
              <a:t>py -m venv .venv</a:t>
            </a:r>
          </a:p>
          <a:p>
            <a:pPr>
              <a:lnSpc>
                <a:spcPct val="105000"/>
              </a:lnSpc>
              <a:spcAft>
                <a:spcPts val="300"/>
              </a:spcAft>
              <a:defRPr sz="2100" b="0">
                <a:solidFill>
                  <a:srgbClr val="FFFFFF"/>
                </a:solidFill>
                <a:latin typeface="DejaVu Sans Mono"/>
              </a:defRPr>
            </a:pPr>
            <a:r>
              <a:t>.\.venv\Scripts\python.exe -m pip install -r requirements.txt</a:t>
            </a:r>
          </a:p>
        </p:txBody>
      </p:sp>
      <p:sp>
        <p:nvSpPr>
          <p:cNvPr id="12" name="Rectangle 11"/>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Une seule installation : .venv contient Python et ses bibliothèques.</a:t>
            </a:r>
          </a:p>
        </p:txBody>
      </p:sp>
      <p:sp>
        <p:nvSpPr>
          <p:cNvPr id="14" name="TextBox 13"/>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15" name="TextBox 14"/>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2/4 — CONFIGURER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Copier puis renommer les trois modèles</a:t>
            </a:r>
          </a:p>
        </p:txBody>
      </p:sp>
      <p:sp>
        <p:nvSpPr>
          <p:cNvPr id="5" name="TextBox 4"/>
          <p:cNvSpPr txBox="1"/>
          <p:nvPr/>
        </p:nvSpPr>
        <p:spPr>
          <a:xfrm>
            <a:off x="612648" y="1837943"/>
            <a:ext cx="10972800" cy="941832"/>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Dans l’explorateur VS Code : copier-coller dans le même dossier,</a:t>
            </a:r>
          </a:p>
          <a:p>
            <a:pPr>
              <a:lnSpc>
                <a:spcPct val="105000"/>
              </a:lnSpc>
              <a:spcAft>
                <a:spcPts val="500"/>
              </a:spcAft>
              <a:defRPr sz="2400" b="0">
                <a:solidFill>
                  <a:srgbClr val="22364C"/>
                </a:solidFill>
                <a:latin typeface="Aptos"/>
              </a:defRPr>
            </a:pPr>
            <a:r>
              <a:t>puis renommer les copies. Ne pas écraser les fichiers existants.</a:t>
            </a:r>
          </a:p>
        </p:txBody>
      </p:sp>
      <p:sp>
        <p:nvSpPr>
          <p:cNvPr id="6" name="Rectangle 5"/>
          <p:cNvSpPr/>
          <p:nvPr/>
        </p:nvSpPr>
        <p:spPr>
          <a:xfrm>
            <a:off x="594360" y="3044952"/>
            <a:ext cx="11000232" cy="640080"/>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7240" y="3200400"/>
            <a:ext cx="1920240" cy="356616"/>
          </a:xfrm>
          <a:prstGeom prst="rect">
            <a:avLst/>
          </a:prstGeom>
          <a:noFill/>
        </p:spPr>
        <p:txBody>
          <a:bodyPr wrap="square" lIns="18288" rIns="18288" tIns="18288" bIns="18288">
            <a:spAutoFit/>
          </a:bodyPr>
          <a:lstStyle/>
          <a:p>
            <a:pPr>
              <a:lnSpc>
                <a:spcPct val="105000"/>
              </a:lnSpc>
              <a:spcAft>
                <a:spcPts val="500"/>
              </a:spcAft>
              <a:defRPr sz="2000" b="1">
                <a:solidFill>
                  <a:srgbClr val="56697B"/>
                </a:solidFill>
                <a:latin typeface="Aptos"/>
              </a:defRPr>
            </a:pPr>
            <a:r>
              <a:t>RACINE</a:t>
            </a:r>
          </a:p>
        </p:txBody>
      </p:sp>
      <p:sp>
        <p:nvSpPr>
          <p:cNvPr id="8" name="TextBox 7"/>
          <p:cNvSpPr txBox="1"/>
          <p:nvPr/>
        </p:nvSpPr>
        <p:spPr>
          <a:xfrm>
            <a:off x="2651760" y="3200400"/>
            <a:ext cx="4846320" cy="365760"/>
          </a:xfrm>
          <a:prstGeom prst="rect">
            <a:avLst/>
          </a:prstGeom>
          <a:noFill/>
        </p:spPr>
        <p:txBody>
          <a:bodyPr wrap="square" lIns="18288" rIns="18288" tIns="18288" bIns="18288">
            <a:spAutoFit/>
          </a:bodyPr>
          <a:lstStyle/>
          <a:p>
            <a:pPr>
              <a:lnSpc>
                <a:spcPct val="105000"/>
              </a:lnSpc>
              <a:spcAft>
                <a:spcPts val="500"/>
              </a:spcAft>
              <a:defRPr sz="2100" b="0">
                <a:solidFill>
                  <a:srgbClr val="22364C"/>
                </a:solidFill>
                <a:latin typeface="DejaVu Sans Mono"/>
              </a:defRPr>
            </a:pPr>
            <a:r>
              <a:t>dot_env_template.ini</a:t>
            </a:r>
          </a:p>
        </p:txBody>
      </p:sp>
      <p:sp>
        <p:nvSpPr>
          <p:cNvPr id="9" name="TextBox 8"/>
          <p:cNvSpPr txBox="1"/>
          <p:nvPr/>
        </p:nvSpPr>
        <p:spPr>
          <a:xfrm>
            <a:off x="7488936" y="3163824"/>
            <a:ext cx="484632" cy="365760"/>
          </a:xfrm>
          <a:prstGeom prst="rect">
            <a:avLst/>
          </a:prstGeom>
          <a:noFill/>
        </p:spPr>
        <p:txBody>
          <a:bodyPr wrap="square" lIns="18288" rIns="18288" tIns="18288" bIns="18288">
            <a:spAutoFit/>
          </a:bodyPr>
          <a:lstStyle/>
          <a:p>
            <a:pPr>
              <a:lnSpc>
                <a:spcPct val="105000"/>
              </a:lnSpc>
              <a:spcAft>
                <a:spcPts val="500"/>
              </a:spcAft>
              <a:defRPr sz="2500" b="0">
                <a:solidFill>
                  <a:srgbClr val="087F8C"/>
                </a:solidFill>
                <a:latin typeface="Aptos"/>
              </a:defRPr>
            </a:pPr>
            <a:r>
              <a:t>→</a:t>
            </a:r>
          </a:p>
        </p:txBody>
      </p:sp>
      <p:sp>
        <p:nvSpPr>
          <p:cNvPr id="10" name="TextBox 9"/>
          <p:cNvSpPr txBox="1"/>
          <p:nvPr/>
        </p:nvSpPr>
        <p:spPr>
          <a:xfrm>
            <a:off x="8092440" y="3200400"/>
            <a:ext cx="3282696" cy="365760"/>
          </a:xfrm>
          <a:prstGeom prst="rect">
            <a:avLst/>
          </a:prstGeom>
          <a:noFill/>
        </p:spPr>
        <p:txBody>
          <a:bodyPr wrap="square" lIns="18288" rIns="18288" tIns="18288" bIns="18288">
            <a:spAutoFit/>
          </a:bodyPr>
          <a:lstStyle/>
          <a:p>
            <a:pPr>
              <a:lnSpc>
                <a:spcPct val="105000"/>
              </a:lnSpc>
              <a:spcAft>
                <a:spcPts val="500"/>
              </a:spcAft>
              <a:defRPr sz="2100" b="1">
                <a:solidFill>
                  <a:srgbClr val="087F8C"/>
                </a:solidFill>
                <a:latin typeface="DejaVu Sans Mono"/>
              </a:defRPr>
            </a:pPr>
            <a:r>
              <a:t>.env</a:t>
            </a:r>
          </a:p>
        </p:txBody>
      </p:sp>
      <p:sp>
        <p:nvSpPr>
          <p:cNvPr id="11" name="Rectangle 10"/>
          <p:cNvSpPr/>
          <p:nvPr/>
        </p:nvSpPr>
        <p:spPr>
          <a:xfrm>
            <a:off x="594360" y="3840480"/>
            <a:ext cx="11000232" cy="640080"/>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7240" y="3995928"/>
            <a:ext cx="1920240" cy="356616"/>
          </a:xfrm>
          <a:prstGeom prst="rect">
            <a:avLst/>
          </a:prstGeom>
          <a:noFill/>
        </p:spPr>
        <p:txBody>
          <a:bodyPr wrap="square" lIns="18288" rIns="18288" tIns="18288" bIns="18288">
            <a:spAutoFit/>
          </a:bodyPr>
          <a:lstStyle/>
          <a:p>
            <a:pPr>
              <a:lnSpc>
                <a:spcPct val="105000"/>
              </a:lnSpc>
              <a:spcAft>
                <a:spcPts val="500"/>
              </a:spcAft>
              <a:defRPr sz="2000" b="1">
                <a:solidFill>
                  <a:srgbClr val="56697B"/>
                </a:solidFill>
                <a:latin typeface="Aptos"/>
              </a:defRPr>
            </a:pPr>
            <a:r>
              <a:t>.vscode/</a:t>
            </a:r>
          </a:p>
        </p:txBody>
      </p:sp>
      <p:sp>
        <p:nvSpPr>
          <p:cNvPr id="13" name="TextBox 12"/>
          <p:cNvSpPr txBox="1"/>
          <p:nvPr/>
        </p:nvSpPr>
        <p:spPr>
          <a:xfrm>
            <a:off x="2651760" y="3995928"/>
            <a:ext cx="4846320" cy="365760"/>
          </a:xfrm>
          <a:prstGeom prst="rect">
            <a:avLst/>
          </a:prstGeom>
          <a:noFill/>
        </p:spPr>
        <p:txBody>
          <a:bodyPr wrap="square" lIns="18288" rIns="18288" tIns="18288" bIns="18288">
            <a:spAutoFit/>
          </a:bodyPr>
          <a:lstStyle/>
          <a:p>
            <a:pPr>
              <a:lnSpc>
                <a:spcPct val="105000"/>
              </a:lnSpc>
              <a:spcAft>
                <a:spcPts val="500"/>
              </a:spcAft>
              <a:defRPr sz="2100" b="0">
                <a:solidFill>
                  <a:srgbClr val="22364C"/>
                </a:solidFill>
                <a:latin typeface="DejaVu Sans Mono"/>
              </a:defRPr>
            </a:pPr>
            <a:r>
              <a:t>settings_template.json</a:t>
            </a:r>
          </a:p>
        </p:txBody>
      </p:sp>
      <p:sp>
        <p:nvSpPr>
          <p:cNvPr id="14" name="TextBox 13"/>
          <p:cNvSpPr txBox="1"/>
          <p:nvPr/>
        </p:nvSpPr>
        <p:spPr>
          <a:xfrm>
            <a:off x="7488936" y="3959352"/>
            <a:ext cx="484632" cy="365760"/>
          </a:xfrm>
          <a:prstGeom prst="rect">
            <a:avLst/>
          </a:prstGeom>
          <a:noFill/>
        </p:spPr>
        <p:txBody>
          <a:bodyPr wrap="square" lIns="18288" rIns="18288" tIns="18288" bIns="18288">
            <a:spAutoFit/>
          </a:bodyPr>
          <a:lstStyle/>
          <a:p>
            <a:pPr>
              <a:lnSpc>
                <a:spcPct val="105000"/>
              </a:lnSpc>
              <a:spcAft>
                <a:spcPts val="500"/>
              </a:spcAft>
              <a:defRPr sz="2500" b="0">
                <a:solidFill>
                  <a:srgbClr val="087F8C"/>
                </a:solidFill>
                <a:latin typeface="Aptos"/>
              </a:defRPr>
            </a:pPr>
            <a:r>
              <a:t>→</a:t>
            </a:r>
          </a:p>
        </p:txBody>
      </p:sp>
      <p:sp>
        <p:nvSpPr>
          <p:cNvPr id="15" name="TextBox 14"/>
          <p:cNvSpPr txBox="1"/>
          <p:nvPr/>
        </p:nvSpPr>
        <p:spPr>
          <a:xfrm>
            <a:off x="8092440" y="3995928"/>
            <a:ext cx="3282696" cy="365760"/>
          </a:xfrm>
          <a:prstGeom prst="rect">
            <a:avLst/>
          </a:prstGeom>
          <a:noFill/>
        </p:spPr>
        <p:txBody>
          <a:bodyPr wrap="square" lIns="18288" rIns="18288" tIns="18288" bIns="18288">
            <a:spAutoFit/>
          </a:bodyPr>
          <a:lstStyle/>
          <a:p>
            <a:pPr>
              <a:lnSpc>
                <a:spcPct val="105000"/>
              </a:lnSpc>
              <a:spcAft>
                <a:spcPts val="500"/>
              </a:spcAft>
              <a:defRPr sz="2100" b="1">
                <a:solidFill>
                  <a:srgbClr val="087F8C"/>
                </a:solidFill>
                <a:latin typeface="DejaVu Sans Mono"/>
              </a:defRPr>
            </a:pPr>
            <a:r>
              <a:t>settings.json</a:t>
            </a:r>
          </a:p>
        </p:txBody>
      </p:sp>
      <p:sp>
        <p:nvSpPr>
          <p:cNvPr id="16" name="Rectangle 15"/>
          <p:cNvSpPr/>
          <p:nvPr/>
        </p:nvSpPr>
        <p:spPr>
          <a:xfrm>
            <a:off x="594360" y="4636008"/>
            <a:ext cx="11000232" cy="640080"/>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77240" y="4791456"/>
            <a:ext cx="1920240" cy="356616"/>
          </a:xfrm>
          <a:prstGeom prst="rect">
            <a:avLst/>
          </a:prstGeom>
          <a:noFill/>
        </p:spPr>
        <p:txBody>
          <a:bodyPr wrap="square" lIns="18288" rIns="18288" tIns="18288" bIns="18288">
            <a:spAutoFit/>
          </a:bodyPr>
          <a:lstStyle/>
          <a:p>
            <a:pPr>
              <a:lnSpc>
                <a:spcPct val="105000"/>
              </a:lnSpc>
              <a:spcAft>
                <a:spcPts val="500"/>
              </a:spcAft>
              <a:defRPr sz="2000" b="1">
                <a:solidFill>
                  <a:srgbClr val="56697B"/>
                </a:solidFill>
                <a:latin typeface="Aptos"/>
              </a:defRPr>
            </a:pPr>
            <a:r>
              <a:t>.vscode/</a:t>
            </a:r>
          </a:p>
        </p:txBody>
      </p:sp>
      <p:sp>
        <p:nvSpPr>
          <p:cNvPr id="18" name="TextBox 17"/>
          <p:cNvSpPr txBox="1"/>
          <p:nvPr/>
        </p:nvSpPr>
        <p:spPr>
          <a:xfrm>
            <a:off x="2651760" y="4791456"/>
            <a:ext cx="4846320" cy="365760"/>
          </a:xfrm>
          <a:prstGeom prst="rect">
            <a:avLst/>
          </a:prstGeom>
          <a:noFill/>
        </p:spPr>
        <p:txBody>
          <a:bodyPr wrap="square" lIns="18288" rIns="18288" tIns="18288" bIns="18288">
            <a:spAutoFit/>
          </a:bodyPr>
          <a:lstStyle/>
          <a:p>
            <a:pPr>
              <a:lnSpc>
                <a:spcPct val="105000"/>
              </a:lnSpc>
              <a:spcAft>
                <a:spcPts val="500"/>
              </a:spcAft>
              <a:defRPr sz="2100" b="0">
                <a:solidFill>
                  <a:srgbClr val="22364C"/>
                </a:solidFill>
                <a:latin typeface="DejaVu Sans Mono"/>
              </a:defRPr>
            </a:pPr>
            <a:r>
              <a:t>tasks_template.json</a:t>
            </a:r>
          </a:p>
        </p:txBody>
      </p:sp>
      <p:sp>
        <p:nvSpPr>
          <p:cNvPr id="19" name="TextBox 18"/>
          <p:cNvSpPr txBox="1"/>
          <p:nvPr/>
        </p:nvSpPr>
        <p:spPr>
          <a:xfrm>
            <a:off x="7488936" y="4754880"/>
            <a:ext cx="484632" cy="365760"/>
          </a:xfrm>
          <a:prstGeom prst="rect">
            <a:avLst/>
          </a:prstGeom>
          <a:noFill/>
        </p:spPr>
        <p:txBody>
          <a:bodyPr wrap="square" lIns="18288" rIns="18288" tIns="18288" bIns="18288">
            <a:spAutoFit/>
          </a:bodyPr>
          <a:lstStyle/>
          <a:p>
            <a:pPr>
              <a:lnSpc>
                <a:spcPct val="105000"/>
              </a:lnSpc>
              <a:spcAft>
                <a:spcPts val="500"/>
              </a:spcAft>
              <a:defRPr sz="2500" b="0">
                <a:solidFill>
                  <a:srgbClr val="087F8C"/>
                </a:solidFill>
                <a:latin typeface="Aptos"/>
              </a:defRPr>
            </a:pPr>
            <a:r>
              <a:t>→</a:t>
            </a:r>
          </a:p>
        </p:txBody>
      </p:sp>
      <p:sp>
        <p:nvSpPr>
          <p:cNvPr id="20" name="TextBox 19"/>
          <p:cNvSpPr txBox="1"/>
          <p:nvPr/>
        </p:nvSpPr>
        <p:spPr>
          <a:xfrm>
            <a:off x="8092440" y="4791456"/>
            <a:ext cx="3282696" cy="365760"/>
          </a:xfrm>
          <a:prstGeom prst="rect">
            <a:avLst/>
          </a:prstGeom>
          <a:noFill/>
        </p:spPr>
        <p:txBody>
          <a:bodyPr wrap="square" lIns="18288" rIns="18288" tIns="18288" bIns="18288">
            <a:spAutoFit/>
          </a:bodyPr>
          <a:lstStyle/>
          <a:p>
            <a:pPr>
              <a:lnSpc>
                <a:spcPct val="105000"/>
              </a:lnSpc>
              <a:spcAft>
                <a:spcPts val="500"/>
              </a:spcAft>
              <a:defRPr sz="2100" b="1">
                <a:solidFill>
                  <a:srgbClr val="087F8C"/>
                </a:solidFill>
                <a:latin typeface="DejaVu Sans Mono"/>
              </a:defRPr>
            </a:pPr>
            <a:r>
              <a:t>tasks.json</a:t>
            </a:r>
          </a:p>
        </p:txBody>
      </p:sp>
      <p:sp>
        <p:nvSpPr>
          <p:cNvPr id="21" name="Rectangle 20"/>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L’interpréteur .venv est déjà configuré dans .vscode/settings.json.</a:t>
            </a:r>
          </a:p>
        </p:txBody>
      </p:sp>
      <p:sp>
        <p:nvSpPr>
          <p:cNvPr id="23" name="TextBox 22"/>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24" name="TextBox 23"/>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2/4 — CONFIGURER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Adapter les deux chemins dans .env</a:t>
            </a:r>
          </a:p>
        </p:txBody>
      </p:sp>
      <p:sp>
        <p:nvSpPr>
          <p:cNvPr id="5" name="TextBox 4"/>
          <p:cNvSpPr txBox="1"/>
          <p:nvPr/>
        </p:nvSpPr>
        <p:spPr>
          <a:xfrm>
            <a:off x="612648" y="1819656"/>
            <a:ext cx="10972800" cy="886968"/>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Choisir votre système et remplacer les deux chemins de l’exemple</a:t>
            </a:r>
          </a:p>
          <a:p>
            <a:pPr>
              <a:lnSpc>
                <a:spcPct val="105000"/>
              </a:lnSpc>
              <a:spcAft>
                <a:spcPts val="500"/>
              </a:spcAft>
              <a:defRPr sz="2400" b="0">
                <a:solidFill>
                  <a:srgbClr val="22364C"/>
                </a:solidFill>
                <a:latin typeface="Aptos"/>
              </a:defRPr>
            </a:pPr>
            <a:r>
              <a:t>par le chemin complet de votre dépôt et celui de projects/.</a:t>
            </a:r>
          </a:p>
        </p:txBody>
      </p:sp>
      <p:sp>
        <p:nvSpPr>
          <p:cNvPr id="6" name="TextBox 5"/>
          <p:cNvSpPr txBox="1"/>
          <p:nvPr/>
        </p:nvSpPr>
        <p:spPr>
          <a:xfrm>
            <a:off x="612648" y="2779776"/>
            <a:ext cx="10972800" cy="393192"/>
          </a:xfrm>
          <a:prstGeom prst="rect">
            <a:avLst/>
          </a:prstGeom>
          <a:noFill/>
        </p:spPr>
        <p:txBody>
          <a:bodyPr wrap="square" lIns="18288" rIns="18288" tIns="18288" bIns="18288">
            <a:spAutoFit/>
          </a:bodyPr>
          <a:lstStyle/>
          <a:p>
            <a:pPr>
              <a:lnSpc>
                <a:spcPct val="105000"/>
              </a:lnSpc>
              <a:spcAft>
                <a:spcPts val="500"/>
              </a:spcAft>
              <a:defRPr sz="2200" b="1">
                <a:solidFill>
                  <a:srgbClr val="087F8C"/>
                </a:solidFill>
                <a:latin typeface="Aptos"/>
              </a:defRPr>
            </a:pPr>
            <a:r>
              <a:t>Linux / macOS · terminal : pwd · séparateur « : »</a:t>
            </a:r>
          </a:p>
        </p:txBody>
      </p:sp>
      <p:sp>
        <p:nvSpPr>
          <p:cNvPr id="7" name="Rectangle 6"/>
          <p:cNvSpPr/>
          <p:nvPr/>
        </p:nvSpPr>
        <p:spPr>
          <a:xfrm>
            <a:off x="594360" y="3319272"/>
            <a:ext cx="11000232" cy="658368"/>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77240" y="3438144"/>
            <a:ext cx="10634472" cy="448056"/>
          </a:xfrm>
          <a:prstGeom prst="rect">
            <a:avLst/>
          </a:prstGeom>
          <a:noFill/>
        </p:spPr>
        <p:txBody>
          <a:bodyPr wrap="none" lIns="18288" rIns="18288" tIns="18288" bIns="18288">
            <a:spAutoFit/>
          </a:bodyPr>
          <a:lstStyle/>
          <a:p>
            <a:pPr>
              <a:lnSpc>
                <a:spcPct val="105000"/>
              </a:lnSpc>
              <a:spcAft>
                <a:spcPts val="300"/>
              </a:spcAft>
              <a:defRPr sz="2000" b="0">
                <a:solidFill>
                  <a:srgbClr val="FFFFFF"/>
                </a:solidFill>
                <a:latin typeface="DejaVu Sans Mono"/>
              </a:defRPr>
            </a:pPr>
            <a:r>
              <a:t>PYTHONPATH=/home/alex/atelier-git:/home/alex/atelier-git/projects</a:t>
            </a:r>
          </a:p>
        </p:txBody>
      </p:sp>
      <p:sp>
        <p:nvSpPr>
          <p:cNvPr id="9" name="TextBox 8"/>
          <p:cNvSpPr txBox="1"/>
          <p:nvPr/>
        </p:nvSpPr>
        <p:spPr>
          <a:xfrm>
            <a:off x="612648" y="4215384"/>
            <a:ext cx="10972800" cy="393192"/>
          </a:xfrm>
          <a:prstGeom prst="rect">
            <a:avLst/>
          </a:prstGeom>
          <a:noFill/>
        </p:spPr>
        <p:txBody>
          <a:bodyPr wrap="square" lIns="18288" rIns="18288" tIns="18288" bIns="18288">
            <a:spAutoFit/>
          </a:bodyPr>
          <a:lstStyle/>
          <a:p>
            <a:pPr>
              <a:lnSpc>
                <a:spcPct val="105000"/>
              </a:lnSpc>
              <a:spcAft>
                <a:spcPts val="500"/>
              </a:spcAft>
              <a:defRPr sz="2200" b="1">
                <a:solidFill>
                  <a:srgbClr val="087F8C"/>
                </a:solidFill>
                <a:latin typeface="Aptos"/>
              </a:defRPr>
            </a:pPr>
            <a:r>
              <a:t>Windows · PowerShell : (Get-Location).Path · séparateur « ; »</a:t>
            </a:r>
          </a:p>
        </p:txBody>
      </p:sp>
      <p:sp>
        <p:nvSpPr>
          <p:cNvPr id="10" name="Rectangle 9"/>
          <p:cNvSpPr/>
          <p:nvPr/>
        </p:nvSpPr>
        <p:spPr>
          <a:xfrm>
            <a:off x="594360" y="4754880"/>
            <a:ext cx="11000232" cy="658368"/>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7240" y="4873752"/>
            <a:ext cx="10634472" cy="448056"/>
          </a:xfrm>
          <a:prstGeom prst="rect">
            <a:avLst/>
          </a:prstGeom>
          <a:noFill/>
        </p:spPr>
        <p:txBody>
          <a:bodyPr wrap="none" lIns="18288" rIns="18288" tIns="18288" bIns="18288">
            <a:spAutoFit/>
          </a:bodyPr>
          <a:lstStyle/>
          <a:p>
            <a:pPr>
              <a:lnSpc>
                <a:spcPct val="105000"/>
              </a:lnSpc>
              <a:spcAft>
                <a:spcPts val="300"/>
              </a:spcAft>
              <a:defRPr sz="2000" b="0">
                <a:solidFill>
                  <a:srgbClr val="FFFFFF"/>
                </a:solidFill>
                <a:latin typeface="DejaVu Sans Mono"/>
              </a:defRPr>
            </a:pPr>
            <a:r>
              <a:t>PYTHONPATH=C:/cours/atelier-git;C:/cours/atelier-git/projects</a:t>
            </a:r>
          </a:p>
        </p:txBody>
      </p:sp>
      <p:sp>
        <p:nvSpPr>
          <p:cNvPr id="12" name="Rectangle 11"/>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Dans .env : garder une seule ligne PYTHONPATH active, puis enregistrer.</a:t>
            </a:r>
          </a:p>
        </p:txBody>
      </p:sp>
      <p:sp>
        <p:nvSpPr>
          <p:cNvPr id="14" name="TextBox 13"/>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15" name="TextBox 14"/>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3/4 — LANCER ET TESTER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Ouvrir un nouveau terminal Python</a:t>
            </a:r>
          </a:p>
        </p:txBody>
      </p:sp>
      <p:sp>
        <p:nvSpPr>
          <p:cNvPr id="5" name="TextBox 4"/>
          <p:cNvSpPr txBox="1"/>
          <p:nvPr/>
        </p:nvSpPr>
        <p:spPr>
          <a:xfrm>
            <a:off x="612648" y="1847088"/>
            <a:ext cx="10972800" cy="530352"/>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Après avoir enregistré les réglages, ouvrir la palette de commandes :</a:t>
            </a:r>
          </a:p>
        </p:txBody>
      </p:sp>
      <p:sp>
        <p:nvSpPr>
          <p:cNvPr id="6" name="TextBox 5"/>
          <p:cNvSpPr txBox="1"/>
          <p:nvPr/>
        </p:nvSpPr>
        <p:spPr>
          <a:xfrm>
            <a:off x="612648" y="2560320"/>
            <a:ext cx="10972800" cy="521207"/>
          </a:xfrm>
          <a:prstGeom prst="rect">
            <a:avLst/>
          </a:prstGeom>
          <a:noFill/>
        </p:spPr>
        <p:txBody>
          <a:bodyPr wrap="square" lIns="18288" rIns="18288" tIns="18288" bIns="18288">
            <a:spAutoFit/>
          </a:bodyPr>
          <a:lstStyle/>
          <a:p>
            <a:pPr>
              <a:lnSpc>
                <a:spcPct val="105000"/>
              </a:lnSpc>
              <a:spcAft>
                <a:spcPts val="500"/>
              </a:spcAft>
              <a:defRPr sz="2700" b="1">
                <a:solidFill>
                  <a:srgbClr val="142D4E"/>
                </a:solidFill>
                <a:latin typeface="Aptos"/>
              </a:defRPr>
            </a:pPr>
            <a:r>
              <a:t>Ctrl + Shift + P  ·  macOS : Cmd + Shift + P</a:t>
            </a:r>
          </a:p>
        </p:txBody>
      </p:sp>
      <p:sp>
        <p:nvSpPr>
          <p:cNvPr id="7" name="Rectangle 6"/>
          <p:cNvSpPr/>
          <p:nvPr/>
        </p:nvSpPr>
        <p:spPr>
          <a:xfrm>
            <a:off x="594360" y="3227832"/>
            <a:ext cx="11000232" cy="704088"/>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3227832"/>
            <a:ext cx="54864" cy="704088"/>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3392424"/>
            <a:ext cx="10634472" cy="411480"/>
          </a:xfrm>
          <a:prstGeom prst="rect">
            <a:avLst/>
          </a:prstGeom>
          <a:noFill/>
        </p:spPr>
        <p:txBody>
          <a:bodyPr wrap="square" lIns="18288" rIns="18288" tIns="18288" bIns="18288">
            <a:spAutoFit/>
          </a:bodyPr>
          <a:lstStyle/>
          <a:p>
            <a:pPr>
              <a:lnSpc>
                <a:spcPct val="105000"/>
              </a:lnSpc>
              <a:spcAft>
                <a:spcPts val="500"/>
              </a:spcAft>
              <a:defRPr sz="2500" b="1">
                <a:solidFill>
                  <a:srgbClr val="087F8C"/>
                </a:solidFill>
                <a:latin typeface="Aptos"/>
              </a:defRPr>
            </a:pPr>
            <a:r>
              <a:t>Python: Create Terminal</a:t>
            </a:r>
          </a:p>
        </p:txBody>
      </p:sp>
      <p:sp>
        <p:nvSpPr>
          <p:cNvPr id="10" name="TextBox 9"/>
          <p:cNvSpPr txBox="1"/>
          <p:nvPr/>
        </p:nvSpPr>
        <p:spPr>
          <a:xfrm>
            <a:off x="612648" y="4261104"/>
            <a:ext cx="10972800" cy="484632"/>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Dans ce nouveau terminal, vérifier le Python utilisé :</a:t>
            </a:r>
          </a:p>
        </p:txBody>
      </p:sp>
      <p:sp>
        <p:nvSpPr>
          <p:cNvPr id="11" name="Rectangle 10"/>
          <p:cNvSpPr/>
          <p:nvPr/>
        </p:nvSpPr>
        <p:spPr>
          <a:xfrm>
            <a:off x="594360" y="4846320"/>
            <a:ext cx="11000232" cy="685800"/>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7240" y="4965192"/>
            <a:ext cx="10634472" cy="475488"/>
          </a:xfrm>
          <a:prstGeom prst="rect">
            <a:avLst/>
          </a:prstGeom>
          <a:noFill/>
        </p:spPr>
        <p:txBody>
          <a:bodyPr wrap="none" lIns="18288" rIns="18288" tIns="18288" bIns="18288">
            <a:spAutoFit/>
          </a:bodyPr>
          <a:lstStyle/>
          <a:p>
            <a:pPr>
              <a:lnSpc>
                <a:spcPct val="105000"/>
              </a:lnSpc>
              <a:spcAft>
                <a:spcPts val="300"/>
              </a:spcAft>
              <a:defRPr sz="2300" b="0">
                <a:solidFill>
                  <a:srgbClr val="FFFFFF"/>
                </a:solidFill>
                <a:latin typeface="DejaVu Sans Mono"/>
              </a:defRPr>
            </a:pPr>
            <a:r>
              <a:t>python -c "import sys; print(sys.executable)"</a:t>
            </a:r>
          </a:p>
        </p:txBody>
      </p:sp>
      <p:sp>
        <p:nvSpPr>
          <p:cNvPr id="13" name="Rectangle 12"/>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Résultat attendu : un chemin vers le Python de .venv.</a:t>
            </a:r>
          </a:p>
        </p:txBody>
      </p:sp>
      <p:sp>
        <p:nvSpPr>
          <p:cNvPr id="15" name="TextBox 14"/>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16" name="TextBox 15"/>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3/4 — LANCER ET TESTER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Lancer run.py : obtenir dix valeurs</a:t>
            </a:r>
          </a:p>
        </p:txBody>
      </p:sp>
      <p:sp>
        <p:nvSpPr>
          <p:cNvPr id="5" name="TextBox 4"/>
          <p:cNvSpPr txBox="1"/>
          <p:nvPr/>
        </p:nvSpPr>
        <p:spPr>
          <a:xfrm>
            <a:off x="612648" y="1847088"/>
            <a:ext cx="10972800" cy="512064"/>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Ouvrir ce fichier et garder son onglet actif :</a:t>
            </a:r>
          </a:p>
        </p:txBody>
      </p:sp>
      <p:sp>
        <p:nvSpPr>
          <p:cNvPr id="6" name="TextBox 5"/>
          <p:cNvSpPr txBox="1"/>
          <p:nvPr/>
        </p:nvSpPr>
        <p:spPr>
          <a:xfrm>
            <a:off x="758952" y="2542032"/>
            <a:ext cx="10671048" cy="603504"/>
          </a:xfrm>
          <a:prstGeom prst="rect">
            <a:avLst/>
          </a:prstGeom>
          <a:noFill/>
        </p:spPr>
        <p:txBody>
          <a:bodyPr wrap="square" lIns="18288" rIns="18288" tIns="18288" bIns="18288">
            <a:spAutoFit/>
          </a:bodyPr>
          <a:lstStyle/>
          <a:p>
            <a:pPr>
              <a:lnSpc>
                <a:spcPct val="105000"/>
              </a:lnSpc>
              <a:spcAft>
                <a:spcPts val="500"/>
              </a:spcAft>
              <a:defRPr sz="2700" b="1">
                <a:solidFill>
                  <a:srgbClr val="142D4E"/>
                </a:solidFill>
                <a:latin typeface="DejaVu Sans Mono"/>
              </a:defRPr>
            </a:pPr>
            <a:r>
              <a:t>projects/p010_test_hello/run.py</a:t>
            </a:r>
          </a:p>
        </p:txBody>
      </p:sp>
      <p:sp>
        <p:nvSpPr>
          <p:cNvPr id="7" name="TextBox 6"/>
          <p:cNvSpPr txBox="1"/>
          <p:nvPr/>
        </p:nvSpPr>
        <p:spPr>
          <a:xfrm>
            <a:off x="612648" y="3246120"/>
            <a:ext cx="10972800" cy="539496"/>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Dans la palette : Tasks: Run Task, puis choisir :</a:t>
            </a:r>
          </a:p>
        </p:txBody>
      </p:sp>
      <p:sp>
        <p:nvSpPr>
          <p:cNvPr id="8" name="Rectangle 7"/>
          <p:cNvSpPr/>
          <p:nvPr/>
        </p:nvSpPr>
        <p:spPr>
          <a:xfrm>
            <a:off x="594360" y="3886200"/>
            <a:ext cx="11000232" cy="704088"/>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594360" y="3886200"/>
            <a:ext cx="54864" cy="704088"/>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77240" y="4050791"/>
            <a:ext cx="10634472" cy="411480"/>
          </a:xfrm>
          <a:prstGeom prst="rect">
            <a:avLst/>
          </a:prstGeom>
          <a:noFill/>
        </p:spPr>
        <p:txBody>
          <a:bodyPr wrap="square" lIns="18288" rIns="18288" tIns="18288" bIns="18288">
            <a:spAutoFit/>
          </a:bodyPr>
          <a:lstStyle/>
          <a:p>
            <a:pPr>
              <a:lnSpc>
                <a:spcPct val="105000"/>
              </a:lnSpc>
              <a:spcAft>
                <a:spcPts val="500"/>
              </a:spcAft>
              <a:defRPr sz="2500" b="1">
                <a:solidFill>
                  <a:srgbClr val="087F8C"/>
                </a:solidFill>
                <a:latin typeface="Aptos"/>
              </a:defRPr>
            </a:pPr>
            <a:r>
              <a:t>Python: Run current file</a:t>
            </a:r>
          </a:p>
        </p:txBody>
      </p:sp>
      <p:sp>
        <p:nvSpPr>
          <p:cNvPr id="11" name="TextBox 10"/>
          <p:cNvSpPr txBox="1"/>
          <p:nvPr/>
        </p:nvSpPr>
        <p:spPr>
          <a:xfrm>
            <a:off x="612648" y="4809744"/>
            <a:ext cx="10972800" cy="868680"/>
          </a:xfrm>
          <a:prstGeom prst="rect">
            <a:avLst/>
          </a:prstGeom>
          <a:noFill/>
        </p:spPr>
        <p:txBody>
          <a:bodyPr wrap="square" lIns="18288" rIns="18288" tIns="18288" bIns="18288">
            <a:spAutoFit/>
          </a:bodyPr>
          <a:lstStyle/>
          <a:p>
            <a:pPr>
              <a:lnSpc>
                <a:spcPct val="105000"/>
              </a:lnSpc>
              <a:spcAft>
                <a:spcPts val="500"/>
              </a:spcAft>
              <a:defRPr sz="2300" b="0">
                <a:solidFill>
                  <a:srgbClr val="22364C"/>
                </a:solidFill>
                <a:latin typeface="Aptos"/>
              </a:defRPr>
            </a:pPr>
            <a:r>
              <a:t>Le terminal de la tâche affiche un tableau NumPy de 10 nombres.</a:t>
            </a:r>
          </a:p>
          <a:p>
            <a:pPr>
              <a:lnSpc>
                <a:spcPct val="105000"/>
              </a:lnSpc>
              <a:spcAft>
                <a:spcPts val="500"/>
              </a:spcAft>
              <a:defRPr sz="2300" b="0">
                <a:solidFill>
                  <a:srgbClr val="22364C"/>
                </a:solidFill>
                <a:latin typeface="Aptos"/>
              </a:defRPr>
            </a:pPr>
            <a:r>
              <a:t>Les valeurs changent d’un lancement à l’autre.</a:t>
            </a:r>
          </a:p>
        </p:txBody>
      </p:sp>
      <p:sp>
        <p:nvSpPr>
          <p:cNvPr id="12" name="Rectangle 11"/>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La tâche lance directement Python dans .venv.</a:t>
            </a:r>
          </a:p>
        </p:txBody>
      </p:sp>
      <p:sp>
        <p:nvSpPr>
          <p:cNvPr id="14" name="TextBox 13"/>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15" name="TextBox 14"/>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3/4 — LANCER ET TESTER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Vérifier que les trois tests passent</a:t>
            </a:r>
          </a:p>
        </p:txBody>
      </p:sp>
      <p:sp>
        <p:nvSpPr>
          <p:cNvPr id="5" name="TextBox 4"/>
          <p:cNvSpPr txBox="1"/>
          <p:nvPr/>
        </p:nvSpPr>
        <p:spPr>
          <a:xfrm>
            <a:off x="612648" y="1847088"/>
            <a:ext cx="10972800" cy="521207"/>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Dans la palette : Tasks: Run Task, puis choisir :</a:t>
            </a:r>
          </a:p>
        </p:txBody>
      </p:sp>
      <p:sp>
        <p:nvSpPr>
          <p:cNvPr id="6" name="Rectangle 5"/>
          <p:cNvSpPr/>
          <p:nvPr/>
        </p:nvSpPr>
        <p:spPr>
          <a:xfrm>
            <a:off x="594360" y="2596896"/>
            <a:ext cx="11000232" cy="704088"/>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94360" y="2596896"/>
            <a:ext cx="54864" cy="704088"/>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77240" y="2761488"/>
            <a:ext cx="10634472" cy="411480"/>
          </a:xfrm>
          <a:prstGeom prst="rect">
            <a:avLst/>
          </a:prstGeom>
          <a:noFill/>
        </p:spPr>
        <p:txBody>
          <a:bodyPr wrap="square" lIns="18288" rIns="18288" tIns="18288" bIns="18288">
            <a:spAutoFit/>
          </a:bodyPr>
          <a:lstStyle/>
          <a:p>
            <a:pPr>
              <a:lnSpc>
                <a:spcPct val="105000"/>
              </a:lnSpc>
              <a:spcAft>
                <a:spcPts val="500"/>
              </a:spcAft>
              <a:defRPr sz="2500" b="1">
                <a:solidFill>
                  <a:srgbClr val="087F8C"/>
                </a:solidFill>
                <a:latin typeface="Aptos"/>
              </a:defRPr>
            </a:pPr>
            <a:r>
              <a:t>Python: Test p010_test_hello</a:t>
            </a:r>
          </a:p>
        </p:txBody>
      </p:sp>
      <p:sp>
        <p:nvSpPr>
          <p:cNvPr id="9" name="TextBox 8"/>
          <p:cNvSpPr txBox="1"/>
          <p:nvPr/>
        </p:nvSpPr>
        <p:spPr>
          <a:xfrm>
            <a:off x="612648" y="3685032"/>
            <a:ext cx="5669280" cy="530352"/>
          </a:xfrm>
          <a:prstGeom prst="rect">
            <a:avLst/>
          </a:prstGeom>
          <a:noFill/>
        </p:spPr>
        <p:txBody>
          <a:bodyPr wrap="square" lIns="18288" rIns="18288" tIns="18288" bIns="18288">
            <a:spAutoFit/>
          </a:bodyPr>
          <a:lstStyle/>
          <a:p>
            <a:pPr>
              <a:lnSpc>
                <a:spcPct val="105000"/>
              </a:lnSpc>
              <a:spcAft>
                <a:spcPts val="500"/>
              </a:spcAft>
              <a:defRPr sz="2400" b="1">
                <a:solidFill>
                  <a:srgbClr val="087F8C"/>
                </a:solidFill>
                <a:latin typeface="Aptos"/>
              </a:defRPr>
            </a:pPr>
            <a:r>
              <a:t>À lire dans le terminal de la tâche</a:t>
            </a:r>
          </a:p>
        </p:txBody>
      </p:sp>
      <p:sp>
        <p:nvSpPr>
          <p:cNvPr id="10" name="Rectangle 9"/>
          <p:cNvSpPr/>
          <p:nvPr/>
        </p:nvSpPr>
        <p:spPr>
          <a:xfrm>
            <a:off x="594360" y="4416552"/>
            <a:ext cx="3886200" cy="1014984"/>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7240" y="4535424"/>
            <a:ext cx="3520440" cy="804672"/>
          </a:xfrm>
          <a:prstGeom prst="rect">
            <a:avLst/>
          </a:prstGeom>
          <a:noFill/>
        </p:spPr>
        <p:txBody>
          <a:bodyPr wrap="none" lIns="18288" rIns="18288" tIns="18288" bIns="18288">
            <a:spAutoFit/>
          </a:bodyPr>
          <a:lstStyle/>
          <a:p>
            <a:pPr>
              <a:lnSpc>
                <a:spcPct val="105000"/>
              </a:lnSpc>
              <a:spcAft>
                <a:spcPts val="300"/>
              </a:spcAft>
              <a:defRPr sz="2500" b="0">
                <a:solidFill>
                  <a:srgbClr val="FFFFFF"/>
                </a:solidFill>
                <a:latin typeface="DejaVu Sans Mono"/>
              </a:defRPr>
            </a:pPr>
            <a:r>
              <a:t>Ran 3 tests</a:t>
            </a:r>
          </a:p>
          <a:p>
            <a:pPr>
              <a:lnSpc>
                <a:spcPct val="105000"/>
              </a:lnSpc>
              <a:spcAft>
                <a:spcPts val="300"/>
              </a:spcAft>
              <a:defRPr sz="2500" b="0">
                <a:solidFill>
                  <a:srgbClr val="FFFFFF"/>
                </a:solidFill>
                <a:latin typeface="DejaVu Sans Mono"/>
              </a:defRPr>
            </a:pPr>
            <a:r>
              <a:t>OK</a:t>
            </a:r>
          </a:p>
        </p:txBody>
      </p:sp>
      <p:sp>
        <p:nvSpPr>
          <p:cNvPr id="12" name="TextBox 11"/>
          <p:cNvSpPr txBox="1"/>
          <p:nvPr/>
        </p:nvSpPr>
        <p:spPr>
          <a:xfrm>
            <a:off x="4919472" y="4133087"/>
            <a:ext cx="6492240" cy="1371600"/>
          </a:xfrm>
          <a:prstGeom prst="rect">
            <a:avLst/>
          </a:prstGeom>
          <a:noFill/>
        </p:spPr>
        <p:txBody>
          <a:bodyPr wrap="square" lIns="18288" rIns="18288" tIns="18288" bIns="18288">
            <a:spAutoFit/>
          </a:bodyPr>
          <a:lstStyle/>
          <a:p>
            <a:pPr>
              <a:lnSpc>
                <a:spcPct val="105000"/>
              </a:lnSpc>
              <a:spcAft>
                <a:spcPts val="500"/>
              </a:spcAft>
              <a:defRPr sz="2300" b="0">
                <a:solidFill>
                  <a:srgbClr val="22364C"/>
                </a:solidFill>
                <a:latin typeface="Aptos"/>
              </a:defRPr>
            </a:pPr>
            <a:r>
              <a:t>Les tests vérifient le format du résultat,</a:t>
            </a:r>
          </a:p>
          <a:p>
            <a:pPr>
              <a:lnSpc>
                <a:spcPct val="105000"/>
              </a:lnSpc>
              <a:spcAft>
                <a:spcPts val="500"/>
              </a:spcAft>
              <a:defRPr sz="2300" b="0">
                <a:solidFill>
                  <a:srgbClr val="22364C"/>
                </a:solidFill>
                <a:latin typeface="Aptos"/>
              </a:defRPr>
            </a:pPr>
            <a:r>
              <a:t>sa répétition avec une même graine</a:t>
            </a:r>
          </a:p>
          <a:p>
            <a:pPr>
              <a:lnSpc>
                <a:spcPct val="105000"/>
              </a:lnSpc>
              <a:spcAft>
                <a:spcPts val="500"/>
              </a:spcAft>
              <a:defRPr sz="2300" b="0">
                <a:solidFill>
                  <a:srgbClr val="22364C"/>
                </a:solidFill>
                <a:latin typeface="Aptos"/>
              </a:defRPr>
            </a:pPr>
            <a:r>
              <a:t>et ses propriétés sur un grand échantillon.</a:t>
            </a:r>
          </a:p>
        </p:txBody>
      </p:sp>
      <p:sp>
        <p:nvSpPr>
          <p:cNvPr id="13" name="Rectangle 12"/>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Vérifier les deux informations : 3 tests exécutés et OK.</a:t>
            </a:r>
          </a:p>
        </p:txBody>
      </p:sp>
      <p:sp>
        <p:nvSpPr>
          <p:cNvPr id="15" name="TextBox 14"/>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16" name="TextBox 15"/>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3/4 — LANCER ET TESTER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Vérifier l’import depuis le terminal Python</a:t>
            </a:r>
          </a:p>
        </p:txBody>
      </p:sp>
      <p:sp>
        <p:nvSpPr>
          <p:cNvPr id="5" name="TextBox 4"/>
          <p:cNvSpPr txBox="1"/>
          <p:nvPr/>
        </p:nvSpPr>
        <p:spPr>
          <a:xfrm>
            <a:off x="612648" y="1810512"/>
            <a:ext cx="10972800" cy="896112"/>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Dans la liste des terminaux de VS Code, sélectionner le terminal Python</a:t>
            </a:r>
          </a:p>
          <a:p>
            <a:pPr>
              <a:lnSpc>
                <a:spcPct val="105000"/>
              </a:lnSpc>
              <a:spcAft>
                <a:spcPts val="500"/>
              </a:spcAft>
              <a:defRPr sz="2400" b="0">
                <a:solidFill>
                  <a:srgbClr val="22364C"/>
                </a:solidFill>
                <a:latin typeface="Aptos"/>
              </a:defRPr>
            </a:pPr>
            <a:r>
              <a:t>créé précédemment. Rester à la racine du dépôt.</a:t>
            </a:r>
          </a:p>
        </p:txBody>
      </p:sp>
      <p:sp>
        <p:nvSpPr>
          <p:cNvPr id="6" name="Rectangle 5"/>
          <p:cNvSpPr/>
          <p:nvPr/>
        </p:nvSpPr>
        <p:spPr>
          <a:xfrm>
            <a:off x="594360" y="2926080"/>
            <a:ext cx="11000232" cy="685800"/>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7240" y="3044952"/>
            <a:ext cx="10634472" cy="475488"/>
          </a:xfrm>
          <a:prstGeom prst="rect">
            <a:avLst/>
          </a:prstGeom>
          <a:noFill/>
        </p:spPr>
        <p:txBody>
          <a:bodyPr wrap="none" lIns="18288" rIns="18288" tIns="18288" bIns="18288">
            <a:spAutoFit/>
          </a:bodyPr>
          <a:lstStyle/>
          <a:p>
            <a:pPr>
              <a:lnSpc>
                <a:spcPct val="105000"/>
              </a:lnSpc>
              <a:spcAft>
                <a:spcPts val="300"/>
              </a:spcAft>
              <a:defRPr sz="2400" b="0">
                <a:solidFill>
                  <a:srgbClr val="FFFFFF"/>
                </a:solidFill>
                <a:latin typeface="DejaVu Sans Mono"/>
              </a:defRPr>
            </a:pPr>
            <a:r>
              <a:t>python -m p010_test_hello --help</a:t>
            </a:r>
          </a:p>
        </p:txBody>
      </p:sp>
      <p:sp>
        <p:nvSpPr>
          <p:cNvPr id="8" name="TextBox 7"/>
          <p:cNvSpPr txBox="1"/>
          <p:nvPr/>
        </p:nvSpPr>
        <p:spPr>
          <a:xfrm>
            <a:off x="612648" y="3776472"/>
            <a:ext cx="10972800" cy="521207"/>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L’aide doit s’afficher : Python trouve le projet p010_test_hello.</a:t>
            </a:r>
          </a:p>
        </p:txBody>
      </p:sp>
      <p:sp>
        <p:nvSpPr>
          <p:cNvPr id="9" name="TextBox 8"/>
          <p:cNvSpPr txBox="1"/>
          <p:nvPr/>
        </p:nvSpPr>
        <p:spPr>
          <a:xfrm>
            <a:off x="612648" y="4581144"/>
            <a:ext cx="10972800" cy="466344"/>
          </a:xfrm>
          <a:prstGeom prst="rect">
            <a:avLst/>
          </a:prstGeom>
          <a:noFill/>
        </p:spPr>
        <p:txBody>
          <a:bodyPr wrap="square" lIns="18288" rIns="18288" tIns="18288" bIns="18288">
            <a:spAutoFit/>
          </a:bodyPr>
          <a:lstStyle/>
          <a:p>
            <a:pPr>
              <a:lnSpc>
                <a:spcPct val="105000"/>
              </a:lnSpc>
              <a:spcAft>
                <a:spcPts val="500"/>
              </a:spcAft>
              <a:defRPr sz="2200" b="0">
                <a:solidFill>
                  <a:srgbClr val="56697B"/>
                </a:solidFill>
                <a:latin typeface="Aptos"/>
              </a:defRPr>
            </a:pPr>
            <a:r>
              <a:t>Pour explorer (facultatif) : produire 10 valeurs avec une graine fixée.</a:t>
            </a:r>
          </a:p>
        </p:txBody>
      </p:sp>
      <p:sp>
        <p:nvSpPr>
          <p:cNvPr id="10" name="Rectangle 9"/>
          <p:cNvSpPr/>
          <p:nvPr/>
        </p:nvSpPr>
        <p:spPr>
          <a:xfrm>
            <a:off x="594360" y="5093208"/>
            <a:ext cx="11000232" cy="621792"/>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7240" y="5212080"/>
            <a:ext cx="10634472" cy="411480"/>
          </a:xfrm>
          <a:prstGeom prst="rect">
            <a:avLst/>
          </a:prstGeom>
          <a:noFill/>
        </p:spPr>
        <p:txBody>
          <a:bodyPr wrap="none" lIns="18288" rIns="18288" tIns="18288" bIns="18288">
            <a:spAutoFit/>
          </a:bodyPr>
          <a:lstStyle/>
          <a:p>
            <a:pPr>
              <a:lnSpc>
                <a:spcPct val="105000"/>
              </a:lnSpc>
              <a:spcAft>
                <a:spcPts val="300"/>
              </a:spcAft>
              <a:defRPr sz="2200" b="0">
                <a:solidFill>
                  <a:srgbClr val="FFFFFF"/>
                </a:solidFill>
                <a:latin typeface="DejaVu Sans Mono"/>
              </a:defRPr>
            </a:pPr>
            <a:r>
              <a:t>python -m p010_test_hello --size 10 --seed 42</a:t>
            </a:r>
          </a:p>
        </p:txBody>
      </p:sp>
      <p:sp>
        <p:nvSpPr>
          <p:cNvPr id="12" name="Rectangle 11"/>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--help vérifie les imports du terminal ; les tâches ont leur propre PYTHONPATH.</a:t>
            </a:r>
          </a:p>
        </p:txBody>
      </p:sp>
      <p:sp>
        <p:nvSpPr>
          <p:cNvPr id="14" name="TextBox 13"/>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15" name="TextBox 14"/>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4/4 — RÉUTILISER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Réutiliser le code dans votre dossier</a:t>
            </a:r>
          </a:p>
        </p:txBody>
      </p:sp>
      <p:sp>
        <p:nvSpPr>
          <p:cNvPr id="5" name="TextBox 4"/>
          <p:cNvSpPr txBox="1"/>
          <p:nvPr/>
        </p:nvSpPr>
        <p:spPr>
          <a:xfrm>
            <a:off x="612648" y="1801368"/>
            <a:ext cx="10972800" cy="896112"/>
          </a:xfrm>
          <a:prstGeom prst="rect">
            <a:avLst/>
          </a:prstGeom>
          <a:noFill/>
        </p:spPr>
        <p:txBody>
          <a:bodyPr wrap="square" lIns="18288" rIns="18288" tIns="18288" bIns="18288">
            <a:spAutoFit/>
          </a:bodyPr>
          <a:lstStyle/>
          <a:p>
            <a:pPr>
              <a:lnSpc>
                <a:spcPct val="105000"/>
              </a:lnSpc>
              <a:spcAft>
                <a:spcPts val="500"/>
              </a:spcAft>
              <a:defRPr sz="2400" b="0">
                <a:solidFill>
                  <a:srgbClr val="22364C"/>
                </a:solidFill>
                <a:latin typeface="Aptos"/>
              </a:defRPr>
            </a:pPr>
            <a:r>
              <a:t>Créer work/votre_nom/test.py (remplacer votre_nom).</a:t>
            </a:r>
          </a:p>
          <a:p>
            <a:pPr>
              <a:lnSpc>
                <a:spcPct val="105000"/>
              </a:lnSpc>
              <a:spcAft>
                <a:spcPts val="500"/>
              </a:spcAft>
              <a:defRPr sz="2400" b="0">
                <a:solidFill>
                  <a:srgbClr val="22364C"/>
                </a:solidFill>
                <a:latin typeface="Aptos"/>
              </a:defRPr>
            </a:pPr>
            <a:r>
              <a:t>Y copier cet exemple complet :</a:t>
            </a:r>
          </a:p>
        </p:txBody>
      </p:sp>
      <p:sp>
        <p:nvSpPr>
          <p:cNvPr id="6" name="Rectangle 5"/>
          <p:cNvSpPr/>
          <p:nvPr/>
        </p:nvSpPr>
        <p:spPr>
          <a:xfrm>
            <a:off x="594360" y="2770632"/>
            <a:ext cx="11000232" cy="1920240"/>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77240" y="2889503"/>
            <a:ext cx="10634472" cy="1709928"/>
          </a:xfrm>
          <a:prstGeom prst="rect">
            <a:avLst/>
          </a:prstGeom>
          <a:noFill/>
        </p:spPr>
        <p:txBody>
          <a:bodyPr wrap="none" lIns="18288" rIns="18288" tIns="18288" bIns="18288">
            <a:spAutoFit/>
          </a:bodyPr>
          <a:lstStyle/>
          <a:p>
            <a:pPr>
              <a:lnSpc>
                <a:spcPct val="105000"/>
              </a:lnSpc>
              <a:spcAft>
                <a:spcPts val="300"/>
              </a:spcAft>
              <a:defRPr sz="2400" b="0">
                <a:solidFill>
                  <a:srgbClr val="FFFFFF"/>
                </a:solidFill>
                <a:latin typeface="DejaVu Sans Mono"/>
              </a:defRPr>
            </a:pPr>
            <a:r>
              <a:t>from p010_test_hello.run import gaussian_sample</a:t>
            </a:r>
          </a:p>
          <a:p>
            <a:pPr>
              <a:lnSpc>
                <a:spcPct val="105000"/>
              </a:lnSpc>
              <a:spcAft>
                <a:spcPts val="300"/>
              </a:spcAft>
              <a:defRPr sz="2400" b="0">
                <a:solidFill>
                  <a:srgbClr val="FFFFFF"/>
                </a:solidFill>
                <a:latin typeface="DejaVu Sans Mono"/>
              </a:defRPr>
            </a:pPr>
          </a:p>
          <a:p>
            <a:pPr>
              <a:lnSpc>
                <a:spcPct val="105000"/>
              </a:lnSpc>
              <a:spcAft>
                <a:spcPts val="300"/>
              </a:spcAft>
              <a:defRPr sz="2400" b="0">
                <a:solidFill>
                  <a:srgbClr val="FFFFFF"/>
                </a:solidFill>
                <a:latin typeface="DejaVu Sans Mono"/>
              </a:defRPr>
            </a:pPr>
            <a:r>
              <a:t>gs = gaussian_sample(size=5, seed=42)</a:t>
            </a:r>
          </a:p>
          <a:p>
            <a:pPr>
              <a:lnSpc>
                <a:spcPct val="105000"/>
              </a:lnSpc>
              <a:spcAft>
                <a:spcPts val="300"/>
              </a:spcAft>
              <a:defRPr sz="2400" b="0">
                <a:solidFill>
                  <a:srgbClr val="FFFFFF"/>
                </a:solidFill>
                <a:latin typeface="DejaVu Sans Mono"/>
              </a:defRPr>
            </a:pPr>
            <a:r>
              <a:t>print(gs)</a:t>
            </a:r>
          </a:p>
        </p:txBody>
      </p:sp>
      <p:sp>
        <p:nvSpPr>
          <p:cNvPr id="8" name="TextBox 7"/>
          <p:cNvSpPr txBox="1"/>
          <p:nvPr/>
        </p:nvSpPr>
        <p:spPr>
          <a:xfrm>
            <a:off x="612648" y="4864608"/>
            <a:ext cx="10972800" cy="832104"/>
          </a:xfrm>
          <a:prstGeom prst="rect">
            <a:avLst/>
          </a:prstGeom>
          <a:noFill/>
        </p:spPr>
        <p:txBody>
          <a:bodyPr wrap="square" lIns="18288" rIns="18288" tIns="18288" bIns="18288">
            <a:spAutoFit/>
          </a:bodyPr>
          <a:lstStyle/>
          <a:p>
            <a:pPr>
              <a:lnSpc>
                <a:spcPct val="105000"/>
              </a:lnSpc>
              <a:spcAft>
                <a:spcPts val="500"/>
              </a:spcAft>
              <a:defRPr sz="2300" b="0">
                <a:solidFill>
                  <a:srgbClr val="22364C"/>
                </a:solidFill>
                <a:latin typeface="Aptos"/>
              </a:defRPr>
            </a:pPr>
            <a:r>
              <a:t>Enregistrer, garder test.py actif, puis dans la palette :</a:t>
            </a:r>
          </a:p>
          <a:p>
            <a:pPr>
              <a:lnSpc>
                <a:spcPct val="105000"/>
              </a:lnSpc>
              <a:spcAft>
                <a:spcPts val="500"/>
              </a:spcAft>
              <a:defRPr sz="2300" b="0">
                <a:solidFill>
                  <a:srgbClr val="22364C"/>
                </a:solidFill>
                <a:latin typeface="Aptos"/>
              </a:defRPr>
            </a:pPr>
            <a:r>
              <a:t>Tasks: Run Task → Python: Run current file.</a:t>
            </a:r>
          </a:p>
        </p:txBody>
      </p:sp>
      <p:sp>
        <p:nvSpPr>
          <p:cNvPr id="9" name="Rectangle 8"/>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Résultat : 5 nombres. L’import réutilise la fonction placée dans projects/.</a:t>
            </a:r>
          </a:p>
        </p:txBody>
      </p:sp>
      <p:sp>
        <p:nvSpPr>
          <p:cNvPr id="11" name="TextBox 10"/>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12" name="TextBox 11"/>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09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README · ÉTAPE 4/4 — RÉUTILISER</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Garder vos nouveaux scripts hors des commits</a:t>
            </a:r>
          </a:p>
        </p:txBody>
      </p:sp>
      <p:sp>
        <p:nvSpPr>
          <p:cNvPr id="5" name="TextBox 4"/>
          <p:cNvSpPr txBox="1"/>
          <p:nvPr/>
        </p:nvSpPr>
        <p:spPr>
          <a:xfrm>
            <a:off x="612648" y="1847088"/>
            <a:ext cx="10972800" cy="557784"/>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Facultatif · créer ce fichier dans votre dossier personnel :</a:t>
            </a:r>
          </a:p>
        </p:txBody>
      </p:sp>
      <p:sp>
        <p:nvSpPr>
          <p:cNvPr id="6" name="TextBox 5"/>
          <p:cNvSpPr txBox="1"/>
          <p:nvPr/>
        </p:nvSpPr>
        <p:spPr>
          <a:xfrm>
            <a:off x="758952" y="2651760"/>
            <a:ext cx="10698480" cy="594360"/>
          </a:xfrm>
          <a:prstGeom prst="rect">
            <a:avLst/>
          </a:prstGeom>
          <a:noFill/>
        </p:spPr>
        <p:txBody>
          <a:bodyPr wrap="square" lIns="18288" rIns="18288" tIns="18288" bIns="18288">
            <a:spAutoFit/>
          </a:bodyPr>
          <a:lstStyle/>
          <a:p>
            <a:pPr>
              <a:lnSpc>
                <a:spcPct val="105000"/>
              </a:lnSpc>
              <a:spcAft>
                <a:spcPts val="500"/>
              </a:spcAft>
              <a:defRPr sz="2900" b="1">
                <a:solidFill>
                  <a:srgbClr val="142D4E"/>
                </a:solidFill>
                <a:latin typeface="DejaVu Sans Mono"/>
              </a:defRPr>
            </a:pPr>
            <a:r>
              <a:t>work/votre_nom/.gitignore</a:t>
            </a:r>
          </a:p>
        </p:txBody>
      </p:sp>
      <p:sp>
        <p:nvSpPr>
          <p:cNvPr id="7" name="TextBox 6"/>
          <p:cNvSpPr txBox="1"/>
          <p:nvPr/>
        </p:nvSpPr>
        <p:spPr>
          <a:xfrm>
            <a:off x="612648" y="3602736"/>
            <a:ext cx="10972800" cy="539496"/>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Y écrire cette ligne, puis enregistrer :</a:t>
            </a:r>
          </a:p>
        </p:txBody>
      </p:sp>
      <p:sp>
        <p:nvSpPr>
          <p:cNvPr id="8" name="Rectangle 7"/>
          <p:cNvSpPr/>
          <p:nvPr/>
        </p:nvSpPr>
        <p:spPr>
          <a:xfrm>
            <a:off x="594360" y="4297680"/>
            <a:ext cx="11000232" cy="813816"/>
          </a:xfrm>
          <a:prstGeom prst="rect">
            <a:avLst/>
          </a:prstGeom>
          <a:solidFill>
            <a:srgbClr val="142D4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4416552"/>
            <a:ext cx="10634472" cy="603504"/>
          </a:xfrm>
          <a:prstGeom prst="rect">
            <a:avLst/>
          </a:prstGeom>
          <a:noFill/>
        </p:spPr>
        <p:txBody>
          <a:bodyPr wrap="none" lIns="18288" rIns="18288" tIns="18288" bIns="18288">
            <a:spAutoFit/>
          </a:bodyPr>
          <a:lstStyle/>
          <a:p>
            <a:pPr>
              <a:lnSpc>
                <a:spcPct val="105000"/>
              </a:lnSpc>
              <a:spcAft>
                <a:spcPts val="300"/>
              </a:spcAft>
              <a:defRPr sz="2900" b="0">
                <a:solidFill>
                  <a:srgbClr val="FFFFFF"/>
                </a:solidFill>
                <a:latin typeface="DejaVu Sans Mono"/>
              </a:defRPr>
            </a:pPr>
            <a:r>
              <a:t>*.py</a:t>
            </a:r>
          </a:p>
        </p:txBody>
      </p:sp>
      <p:sp>
        <p:nvSpPr>
          <p:cNvPr id="10" name="TextBox 9"/>
          <p:cNvSpPr txBox="1"/>
          <p:nvPr/>
        </p:nvSpPr>
        <p:spPr>
          <a:xfrm>
            <a:off x="612648" y="5294376"/>
            <a:ext cx="10972800" cy="466344"/>
          </a:xfrm>
          <a:prstGeom prst="rect">
            <a:avLst/>
          </a:prstGeom>
          <a:noFill/>
        </p:spPr>
        <p:txBody>
          <a:bodyPr wrap="square" lIns="18288" rIns="18288" tIns="18288" bIns="18288">
            <a:spAutoFit/>
          </a:bodyPr>
          <a:lstStyle/>
          <a:p>
            <a:pPr>
              <a:lnSpc>
                <a:spcPct val="105000"/>
              </a:lnSpc>
              <a:spcAft>
                <a:spcPts val="500"/>
              </a:spcAft>
              <a:defRPr sz="2300" b="0">
                <a:solidFill>
                  <a:srgbClr val="22364C"/>
                </a:solidFill>
                <a:latin typeface="Aptos"/>
              </a:defRPr>
            </a:pPr>
            <a:r>
              <a:t>Les nouveaux fichiers Python de ce dossier seront ignorés par Git.</a:t>
            </a:r>
          </a:p>
        </p:txBody>
      </p:sp>
      <p:sp>
        <p:nvSpPr>
          <p:cNvPr id="11" name="Rectangle 10"/>
          <p:cNvSpPr/>
          <p:nvPr/>
        </p:nvSpPr>
        <p:spPr>
          <a:xfrm>
            <a:off x="594360" y="5751576"/>
            <a:ext cx="11000232" cy="576072"/>
          </a:xfrm>
          <a:prstGeom prst="rect">
            <a:avLst/>
          </a:prstGeom>
          <a:solidFill>
            <a:srgbClr val="EFF4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7240" y="5888736"/>
            <a:ext cx="10634472" cy="347472"/>
          </a:xfrm>
          <a:prstGeom prst="rect">
            <a:avLst/>
          </a:prstGeom>
          <a:noFill/>
        </p:spPr>
        <p:txBody>
          <a:bodyPr wrap="square" lIns="18288" rIns="18288" tIns="18288" bIns="18288">
            <a:spAutoFit/>
          </a:bodyPr>
          <a:lstStyle/>
          <a:p>
            <a:pPr>
              <a:lnSpc>
                <a:spcPct val="105000"/>
              </a:lnSpc>
              <a:spcAft>
                <a:spcPts val="500"/>
              </a:spcAft>
              <a:defRPr sz="2000" b="1">
                <a:solidFill>
                  <a:srgbClr val="087F8C"/>
                </a:solidFill>
                <a:latin typeface="Aptos"/>
              </a:defRPr>
            </a:pPr>
            <a:r>
              <a:t>Les fichiers déjà suivis par Git restent suivis.</a:t>
            </a:r>
          </a:p>
        </p:txBody>
      </p:sp>
      <p:sp>
        <p:nvSpPr>
          <p:cNvPr id="13" name="TextBox 12"/>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14" name="TextBox 13"/>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914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347472"/>
            <a:ext cx="10972800" cy="329184"/>
          </a:xfrm>
          <a:prstGeom prst="rect">
            <a:avLst/>
          </a:prstGeom>
          <a:noFill/>
        </p:spPr>
        <p:txBody>
          <a:bodyPr wrap="square" lIns="18288" rIns="18288" tIns="18288" bIns="18288">
            <a:spAutoFit/>
          </a:bodyPr>
          <a:lstStyle/>
          <a:p>
            <a:pPr>
              <a:lnSpc>
                <a:spcPct val="105000"/>
              </a:lnSpc>
              <a:spcAft>
                <a:spcPts val="500"/>
              </a:spcAft>
              <a:defRPr sz="1500" b="1">
                <a:solidFill>
                  <a:srgbClr val="087F8C"/>
                </a:solidFill>
                <a:latin typeface="Aptos"/>
              </a:defRPr>
            </a:pPr>
            <a:r>
              <a:t>ATELIER PYTHON · PARCOURS GUIDÉ</a:t>
            </a:r>
          </a:p>
        </p:txBody>
      </p:sp>
      <p:sp>
        <p:nvSpPr>
          <p:cNvPr id="4" name="TextBox 3"/>
          <p:cNvSpPr txBox="1"/>
          <p:nvPr/>
        </p:nvSpPr>
        <p:spPr>
          <a:xfrm>
            <a:off x="594360" y="923544"/>
            <a:ext cx="11000232" cy="694944"/>
          </a:xfrm>
          <a:prstGeom prst="rect">
            <a:avLst/>
          </a:prstGeom>
          <a:noFill/>
        </p:spPr>
        <p:txBody>
          <a:bodyPr wrap="square" lIns="18288" rIns="18288" tIns="18288" bIns="18288">
            <a:spAutoFit/>
          </a:bodyPr>
          <a:lstStyle/>
          <a:p>
            <a:pPr>
              <a:lnSpc>
                <a:spcPct val="105000"/>
              </a:lnSpc>
              <a:spcAft>
                <a:spcPts val="500"/>
              </a:spcAft>
              <a:defRPr sz="3300" b="1">
                <a:solidFill>
                  <a:srgbClr val="142D4E"/>
                </a:solidFill>
                <a:latin typeface="Aptos"/>
              </a:defRPr>
            </a:pPr>
            <a:r>
              <a:t>Votre installation est-elle prête ?</a:t>
            </a:r>
          </a:p>
        </p:txBody>
      </p:sp>
      <p:sp>
        <p:nvSpPr>
          <p:cNvPr id="5" name="Rectangle 4"/>
          <p:cNvSpPr/>
          <p:nvPr/>
        </p:nvSpPr>
        <p:spPr>
          <a:xfrm>
            <a:off x="658368" y="1956816"/>
            <a:ext cx="118872" cy="118872"/>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41832" y="1810512"/>
            <a:ext cx="10497312" cy="484632"/>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Le terminal utilise le Python de .venv.</a:t>
            </a:r>
          </a:p>
        </p:txBody>
      </p:sp>
      <p:sp>
        <p:nvSpPr>
          <p:cNvPr id="7" name="Rectangle 6"/>
          <p:cNvSpPr/>
          <p:nvPr/>
        </p:nvSpPr>
        <p:spPr>
          <a:xfrm>
            <a:off x="658368" y="2532888"/>
            <a:ext cx="118872" cy="118872"/>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41832" y="2386584"/>
            <a:ext cx="10497312" cy="484632"/>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run.py affiche 10 valeurs ; les 3 tests passent.</a:t>
            </a:r>
          </a:p>
        </p:txBody>
      </p:sp>
      <p:sp>
        <p:nvSpPr>
          <p:cNvPr id="9" name="Rectangle 8"/>
          <p:cNvSpPr/>
          <p:nvPr/>
        </p:nvSpPr>
        <p:spPr>
          <a:xfrm>
            <a:off x="658368" y="3108960"/>
            <a:ext cx="118872" cy="118872"/>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41832" y="2962656"/>
            <a:ext cx="10497312" cy="484632"/>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--help fonctionne dans le terminal Python.</a:t>
            </a:r>
          </a:p>
        </p:txBody>
      </p:sp>
      <p:sp>
        <p:nvSpPr>
          <p:cNvPr id="11" name="Rectangle 10"/>
          <p:cNvSpPr/>
          <p:nvPr/>
        </p:nvSpPr>
        <p:spPr>
          <a:xfrm>
            <a:off x="658368" y="3685032"/>
            <a:ext cx="118872" cy="118872"/>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41832" y="3538728"/>
            <a:ext cx="10497312" cy="484632"/>
          </a:xfrm>
          <a:prstGeom prst="rect">
            <a:avLst/>
          </a:prstGeom>
          <a:noFill/>
        </p:spPr>
        <p:txBody>
          <a:bodyPr wrap="square" lIns="18288" rIns="18288" tIns="18288" bIns="18288">
            <a:spAutoFit/>
          </a:bodyPr>
          <a:lstStyle/>
          <a:p>
            <a:pPr>
              <a:lnSpc>
                <a:spcPct val="105000"/>
              </a:lnSpc>
              <a:spcAft>
                <a:spcPts val="500"/>
              </a:spcAft>
              <a:defRPr sz="2500" b="0">
                <a:solidFill>
                  <a:srgbClr val="22364C"/>
                </a:solidFill>
                <a:latin typeface="Aptos"/>
              </a:defRPr>
            </a:pPr>
            <a:r>
              <a:t>Votre script personnel affiche 5 valeurs.</a:t>
            </a:r>
          </a:p>
        </p:txBody>
      </p:sp>
      <p:sp>
        <p:nvSpPr>
          <p:cNvPr id="13" name="TextBox 12"/>
          <p:cNvSpPr txBox="1"/>
          <p:nvPr/>
        </p:nvSpPr>
        <p:spPr>
          <a:xfrm>
            <a:off x="612648" y="4389120"/>
            <a:ext cx="10972800" cy="877824"/>
          </a:xfrm>
          <a:prstGeom prst="rect">
            <a:avLst/>
          </a:prstGeom>
          <a:noFill/>
        </p:spPr>
        <p:txBody>
          <a:bodyPr wrap="square" lIns="18288" rIns="18288" tIns="18288" bIns="18288">
            <a:spAutoFit/>
          </a:bodyPr>
          <a:lstStyle/>
          <a:p>
            <a:pPr>
              <a:lnSpc>
                <a:spcPct val="105000"/>
              </a:lnSpc>
              <a:spcAft>
                <a:spcPts val="500"/>
              </a:spcAft>
              <a:defRPr sz="2600" b="1">
                <a:solidFill>
                  <a:srgbClr val="142D4E"/>
                </a:solidFill>
                <a:latin typeface="Aptos"/>
              </a:defRPr>
            </a:pPr>
            <a:r>
              <a:t>Avant de changer size=5 en size=3 :</a:t>
            </a:r>
          </a:p>
          <a:p>
            <a:pPr>
              <a:lnSpc>
                <a:spcPct val="105000"/>
              </a:lnSpc>
              <a:spcAft>
                <a:spcPts val="500"/>
              </a:spcAft>
              <a:defRPr sz="2600" b="1">
                <a:solidFill>
                  <a:srgbClr val="142D4E"/>
                </a:solidFill>
                <a:latin typeface="Aptos"/>
              </a:defRPr>
            </a:pPr>
            <a:r>
              <a:t>prévoyez le résultat, puis vérifiez.</a:t>
            </a:r>
          </a:p>
        </p:txBody>
      </p:sp>
      <p:sp>
        <p:nvSpPr>
          <p:cNvPr id="14" name="Rectangle 13">
            <a:hlinkClick r:id="rId2"/>
          </p:cNvPr>
          <p:cNvSpPr/>
          <p:nvPr/>
        </p:nvSpPr>
        <p:spPr>
          <a:xfrm>
            <a:off x="612648" y="5650992"/>
            <a:ext cx="3502152" cy="512064"/>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a:hlinkClick r:id="rId2"/>
          </p:cNvPr>
          <p:cNvSpPr txBox="1"/>
          <p:nvPr/>
        </p:nvSpPr>
        <p:spPr>
          <a:xfrm>
            <a:off x="731520" y="5751576"/>
            <a:ext cx="3264408" cy="320040"/>
          </a:xfrm>
          <a:prstGeom prst="rect">
            <a:avLst/>
          </a:prstGeom>
          <a:noFill/>
        </p:spPr>
        <p:txBody>
          <a:bodyPr wrap="square" lIns="18288" rIns="18288" tIns="18288" bIns="18288">
            <a:spAutoFit/>
          </a:bodyPr>
          <a:lstStyle/>
          <a:p>
            <a:pPr>
              <a:lnSpc>
                <a:spcPct val="105000"/>
              </a:lnSpc>
              <a:spcAft>
                <a:spcPts val="500"/>
              </a:spcAft>
              <a:defRPr sz="1800" b="1">
                <a:solidFill>
                  <a:srgbClr val="FFFFFF"/>
                </a:solidFill>
                <a:latin typeface="Aptos"/>
              </a:defRPr>
            </a:pPr>
            <a:r>
              <a:t>README : les 4 étapes</a:t>
            </a:r>
          </a:p>
        </p:txBody>
      </p:sp>
      <p:sp>
        <p:nvSpPr>
          <p:cNvPr id="16" name="Rectangle 15">
            <a:hlinkClick r:id="rId3"/>
          </p:cNvPr>
          <p:cNvSpPr/>
          <p:nvPr/>
        </p:nvSpPr>
        <p:spPr>
          <a:xfrm>
            <a:off x="4389120" y="5650992"/>
            <a:ext cx="2468880" cy="512064"/>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r:id="rId3"/>
          </p:cNvPr>
          <p:cNvSpPr txBox="1"/>
          <p:nvPr/>
        </p:nvSpPr>
        <p:spPr>
          <a:xfrm>
            <a:off x="4507992" y="5751576"/>
            <a:ext cx="2231136" cy="320040"/>
          </a:xfrm>
          <a:prstGeom prst="rect">
            <a:avLst/>
          </a:prstGeom>
          <a:noFill/>
        </p:spPr>
        <p:txBody>
          <a:bodyPr wrap="square" lIns="18288" rIns="18288" tIns="18288" bIns="18288">
            <a:spAutoFit/>
          </a:bodyPr>
          <a:lstStyle/>
          <a:p>
            <a:pPr>
              <a:lnSpc>
                <a:spcPct val="105000"/>
              </a:lnSpc>
              <a:spcAft>
                <a:spcPts val="500"/>
              </a:spcAft>
              <a:defRPr sz="1800" b="1">
                <a:solidFill>
                  <a:srgbClr val="FFFFFF"/>
                </a:solidFill>
                <a:latin typeface="Aptos"/>
              </a:defRPr>
            </a:pPr>
            <a:r>
              <a:t>Dépannage</a:t>
            </a:r>
          </a:p>
        </p:txBody>
      </p:sp>
      <p:sp>
        <p:nvSpPr>
          <p:cNvPr id="18" name="TextBox 17"/>
          <p:cNvSpPr txBox="1"/>
          <p:nvPr/>
        </p:nvSpPr>
        <p:spPr>
          <a:xfrm>
            <a:off x="7178040" y="5586984"/>
            <a:ext cx="4370832" cy="731520"/>
          </a:xfrm>
          <a:prstGeom prst="rect">
            <a:avLst/>
          </a:prstGeom>
          <a:noFill/>
        </p:spPr>
        <p:txBody>
          <a:bodyPr wrap="square" lIns="18288" rIns="18288" tIns="18288" bIns="18288">
            <a:spAutoFit/>
          </a:bodyPr>
          <a:lstStyle/>
          <a:p>
            <a:pPr>
              <a:lnSpc>
                <a:spcPct val="105000"/>
              </a:lnSpc>
              <a:spcAft>
                <a:spcPts val="500"/>
              </a:spcAft>
              <a:defRPr sz="2100" b="0">
                <a:solidFill>
                  <a:srgbClr val="56697B"/>
                </a:solidFill>
                <a:latin typeface="Aptos"/>
              </a:defRPr>
            </a:pPr>
            <a:r>
              <a:t>En cas de blocage, garder</a:t>
            </a:r>
          </a:p>
          <a:p>
            <a:pPr>
              <a:lnSpc>
                <a:spcPct val="105000"/>
              </a:lnSpc>
              <a:spcAft>
                <a:spcPts val="500"/>
              </a:spcAft>
              <a:defRPr sz="2100" b="0">
                <a:solidFill>
                  <a:srgbClr val="56697B"/>
                </a:solidFill>
                <a:latin typeface="Aptos"/>
              </a:defRPr>
            </a:pPr>
            <a:r>
              <a:t>le message d’erreur.</a:t>
            </a:r>
          </a:p>
        </p:txBody>
      </p:sp>
      <p:sp>
        <p:nvSpPr>
          <p:cNvPr id="19" name="TextBox 18"/>
          <p:cNvSpPr txBox="1"/>
          <p:nvPr/>
        </p:nvSpPr>
        <p:spPr>
          <a:xfrm>
            <a:off x="594360" y="6547104"/>
            <a:ext cx="9144000" cy="192024"/>
          </a:xfrm>
          <a:prstGeom prst="rect">
            <a:avLst/>
          </a:prstGeom>
          <a:noFill/>
        </p:spPr>
        <p:txBody>
          <a:bodyPr wrap="square" lIns="18288" rIns="18288" tIns="18288" bIns="18288">
            <a:spAutoFit/>
          </a:bodyPr>
          <a:lstStyle/>
          <a:p>
            <a:pPr>
              <a:lnSpc>
                <a:spcPct val="105000"/>
              </a:lnSpc>
              <a:spcAft>
                <a:spcPts val="500"/>
              </a:spcAft>
              <a:defRPr sz="1100" b="0">
                <a:solidFill>
                  <a:srgbClr val="56697B"/>
                </a:solidFill>
                <a:latin typeface="Aptos"/>
              </a:defRPr>
            </a:pPr>
            <a:r>
              <a:t>13 OCTOBRE 2026 · ATELIER PYTHON</a:t>
            </a:r>
          </a:p>
        </p:txBody>
      </p:sp>
      <p:sp>
        <p:nvSpPr>
          <p:cNvPr id="20" name="TextBox 19"/>
          <p:cNvSpPr txBox="1"/>
          <p:nvPr/>
        </p:nvSpPr>
        <p:spPr>
          <a:xfrm>
            <a:off x="10744200" y="6519672"/>
            <a:ext cx="841248" cy="237744"/>
          </a:xfrm>
          <a:prstGeom prst="rect">
            <a:avLst/>
          </a:prstGeom>
          <a:noFill/>
        </p:spPr>
        <p:txBody>
          <a:bodyPr wrap="square" lIns="18288" rIns="18288" tIns="18288" bIns="18288">
            <a:spAutoFit/>
          </a:bodyPr>
          <a:lstStyle/>
          <a:p>
            <a:pPr>
              <a:lnSpc>
                <a:spcPct val="105000"/>
              </a:lnSpc>
              <a:spcAft>
                <a:spcPts val="500"/>
              </a:spcAft>
              <a:defRPr sz="1200" b="0">
                <a:solidFill>
                  <a:srgbClr val="56697B"/>
                </a:solidFill>
                <a:latin typeface="Aptos"/>
              </a:defRPr>
            </a:pPr>
            <a: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Préparer Python et VS Code — atelier-git</dc:title>
  <dc:subject>Les quatre étapes du README : installer, configurer, lancer, réutiliser</dc:subject>
  <dc:creator>Olivier Delrieu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