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réel, vérifié dans le clone atelier-git à 4a463a1. Ne pas donner encore la réponse. La comparaison 7da6b93/8012d20 montre seulement M du générateur ; da7c04a/03357db montre A et deux D. Les quatre laboratoires sont synthétiques. Source : reference/git/SITUATIONS.md#deleted-templates.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 est guidé et réactive les contributions à main déjà pratiquées. S2 à S4 sont des exercices indépendants. Les résolutions complètes restent dans staff/TEACHER_GUIDE.md.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LAB.md#preparer. Git 2.28+ et Bash, Git Bash sous Windows. Le script crée un nouveau dossier à chaque appel et deux identités fictives locales. origin est un nom ; son adresse est shared.git. Un terminal suffit pour jouer les deux rôles. Pour les actions graphiques, ouvrir le clone choisi dans sa propre fenêtre VS Code : cd ne change pas Source Control. https://git-scm.com/docs/init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de Joe : seul son historique local avance. Push : branche partagée et normalement sa référence de suivi avancent. Mary n’est pas synchronisée automatiquement. Fetch de Mary actualise sa référence locale origin/main, sans intégrer les fichiers. https://git-scm.com/docs/fetch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 désigne ici le commit courant via la branche active. add enregistre dans l’index les contenus sélectionnés ; les modifications ultérieures ne sont pas automatiquement ajoutées. Le commit décrit un instantané complet, pas seulement une liste de fichiers. Le diff indexé montre les différences prévues. Contrôler aussi les suppressions. https://git-scm.com/docs/add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complète à suivre, reprise dans LAB.md S1. Le dossier notes existe dans le laboratoire. Une action Stage All pourrait aussi sélectionner des suppressions ailleurs. Ne pas utiliser l’interface Source Control du dépôt du cours pour ces opérations. https://git-scm.com/docs/commit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distant décrit le rôle du dépôt, même sur le même ordinateur. Une référence origin/main peut être périmée jusqu’au prochain fetch. Elle n’est pas la branche directement sur le serveur. Dans cet exemple, le serveur est le dossier bare. https://git-scm.com/docs/fetch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Fast-forward : la branche peut rejoindre le nouveau commit sans perdre de commit local. --ff-only refuse lorsque les historiques divergent. Le guide demande d’observer aussi avant fetch. Éviter Sync Changes pendant la démonstration : il combine pull et push. https://git-scm.com/docs/merge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s2 puis copier sa nouvelle ligne LAB. Avant fetch, Joe ne voit pas encore Mary dans origin/main. Le schéma représente l’état après fetch. Les segments relient parents et enfants : l’historique se lit de gauche à droite. Les lettres sont des repères, pas des hashs. https://git-scm.com/docs/push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Comparer à un refus d’authentification : les causes diffèrent. Le scénario produit un refus non-fast-forward. Une divergence ne signifie pas encore conflit : les deux fichiers sont différents ici. Les configurations globales ne sont pas modifiées. https://git-scm.com/docs/log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donner la résolution qu’après la proposition des étudiants. Référence disponible dans la boîte à outils. La stratégie retenue est un merge, pas une réécriture de commits partagés. Le diff indexé montrera la note de Mary, celle de Joe étant déjà dans son HEAD.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Débrief après l’exercice. Un merge compatible peut réussir sans conflit. Avec --no-ff --no-commit, Git prépare l’index et les fichiers mais laisse le commit à faire ; --no-commit seul n’arrête pas une avance rapide. Après vérification, le merge est commité et publié, puis Mary fait une avance rapide. https://git-scm.com/docs/merge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s3. Ce sont des données synthétiques, pas un calcul à exécuter. Le choix de 0.8 est une exigence de l’exercice, non une vérité déduite par Git. On pourrait garder une version ou écrire un troisième résultat selon le besoin réel. https://git-scm.com/docs/merge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LAB.md S3 : étudiants choisissent la commande de fusion dans la boîte à outils. Les chemins U restent non fusionnés. Montrer Current=Joe destination, Incoming=Mary source, Result=fichier choisi en fusion ordinaire. Le nom et les couleurs d’une interface ne remplacent pas le résultat demandé. https://git-scm.com/docs/status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script commence propre ; abort peut alors rétablir l’état attendu. Avec du travail non commité avant le merge, la reconstruction peut être impossible. Exécuter abort avant de créer une résolution utile dans cet exercice. Après résolution : git add chemin, U vide, diff complet, test du contenu, merge --continue, puis push. https://git-scm.com/docs/merge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Débrief : l’outil assiste l’édition, il ne valide pas le comportement. Les autres chemins fusionnés automatiquement doivent aussi être revus. Source : reference/git/SITUATIONS.md#conflict.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s4. Joe et Mary sont déjà sur data/linear-v1 avec un main local conservé. Tags : start désigne le main initial ; before-pull le départ de Joe sur data. Le laboratoire reproduit la différence de comparaison, pas les noms complets du projet.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Exemples à lire : git switch origin/data/linear-v1 refuse normalement la référence distante car une branche locale est attendue. origin est l’alias du remote. Un nom local commençant accidentellement par origin/ peut tromper : inspecter branch -vv. https://git-scm.com/docs/switch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diff montre M model.txt (seed=42). Le second montre D des deux templates et A model.txt. Git diff A B compare les états ; A...B compare merge-base(A,B) à B, pas une simulation de merge. Faire relier chaque liste au point de départ. https://git-scm.com/docs/diff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séquence S4 reproduit un état historique à réparer. Sur un vrai projet, corriger les suppressions indésirables détectées avant publication. Commiter la fusion du lab, restaurer les chemins depuis start, examiner, ajouter, commiter la réparation, pousser main puis mettre le main de Mary à jour. Le guide précise toutes les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Exemples à adapter : les antislashs prolongent la commande restore sur trois lignes Bash. Le guide donne aussi la syntaxe sur une ligne. Il faut une source contenant le fichier, pas HEAD s’il ne le contient plus. Les fichiers récupérés peuvent apparaître non suivis : status, lecture, add explicite, puis diff indexé. https://git-scm.com/docs/restore ; https://git-scm.com/docs/revert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Débrief de la question initiale. b298f18 restaure les templates byte-identiques à da7c04a. Ces hashs sont historiques : ne pas les exécuter dans le laboratoire. Source locale atelier-git/docs/git/FR/SITUATIONS.md, commit4a463a1 ; preuves dans staff/PLAN.md.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Revert du commit de création tente d’annuler la création, pas de revenir à son contenu. Il peut rencontrer des conflits si le fichier a changé depuis. Distinguer une réparation Git et une validation numérique. Source : reference/git/SITUATIONS.md#old-version.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l’inspection locale4a463a1, main a encore les stubs analyse et pas reporting ; les branches d’équipe portent du travail supplémentaire. Ne pas présenter ce constat comme l’état GitHub actuel. Une PR est une demande de revue/fusion sur GitHub : le bare local ne reproduit pas son interface, les permissions ou la protection de branche. Rester sur le projet linéaire minimal, sans relancer Python/VSCode débutant. Références : reference/git/SITUATIONS.md#integrate et #missing-code.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Un pull montre un fichier. Le merge en supprime deux.</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GIT · 16 OCTOBRE 2026</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Le 15 octobre : comment expliquer ces deux résultats ?</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Après le pull</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Le générateur a changé.</a:t>
            </a:r>
          </a:p>
          <a:p>
            <a:pPr algn="l">
              <a:lnSpc>
                <a:spcPts val="2760"/>
              </a:lnSpc>
              <a:spcAft>
                <a:spcPts val="400"/>
              </a:spcAft>
              <a:defRPr sz="2400" b="0">
                <a:solidFill>
                  <a:srgbClr val="24364A"/>
                </a:solidFill>
                <a:latin typeface="DejaVu Sans"/>
              </a:defRPr>
            </a:pPr>
            <a:r>
              <a:t>Les modèles VS Code ne figurent</a:t>
            </a:r>
          </a:p>
          <a:p>
            <a:pPr algn="l">
              <a:lnSpc>
                <a:spcPts val="2760"/>
              </a:lnSpc>
              <a:spcAft>
                <a:spcPts val="400"/>
              </a:spcAft>
              <a:defRPr sz="2400" b="0">
                <a:solidFill>
                  <a:srgbClr val="24364A"/>
                </a:solidFill>
                <a:latin typeface="DejaVu Sans"/>
              </a:defRPr>
            </a:pPr>
            <a:r>
              <a:t>pas dans le résumé.</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Après le merge</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Le générateur arrive</a:t>
            </a:r>
          </a:p>
          <a:p>
            <a:pPr algn="l">
              <a:lnSpc>
                <a:spcPts val="2760"/>
              </a:lnSpc>
              <a:spcAft>
                <a:spcPts val="400"/>
              </a:spcAft>
              <a:defRPr sz="2400" b="0">
                <a:solidFill>
                  <a:srgbClr val="24364A"/>
                </a:solidFill>
                <a:latin typeface="DejaVu Sans"/>
              </a:defRPr>
            </a:pPr>
            <a:r>
              <a:t>sur main. Deux modèles</a:t>
            </a:r>
          </a:p>
          <a:p>
            <a:pPr algn="l">
              <a:lnSpc>
                <a:spcPts val="2760"/>
              </a:lnSpc>
              <a:spcAft>
                <a:spcPts val="400"/>
              </a:spcAft>
              <a:defRPr sz="2400" b="0">
                <a:solidFill>
                  <a:srgbClr val="24364A"/>
                </a:solidFill>
                <a:latin typeface="DejaVu Sans"/>
              </a:defRPr>
            </a:pPr>
            <a:r>
              <a:t>VS Code disparaissent.</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Question de départ : depuis quel état chaque opération compare-t-elle les fichiers ?</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Quatre situations, une même méthode</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PARCOURS</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Observer → prévoir → choisir → agir → vérifier.</a:t>
            </a:r>
          </a:p>
        </p:txBody>
      </p:sp>
      <p:sp>
        <p:nvSpPr>
          <p:cNvPr id="5" name="Rectangle 4"/>
          <p:cNvSpPr/>
          <p:nvPr/>
        </p:nvSpPr>
        <p:spPr>
          <a:xfrm>
            <a:off x="594360" y="2788920"/>
            <a:ext cx="5358384" cy="1389888"/>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58952" y="2880360"/>
            <a:ext cx="5029200" cy="45720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S1 · À tour de rôle</a:t>
            </a:r>
          </a:p>
        </p:txBody>
      </p:sp>
      <p:sp>
        <p:nvSpPr>
          <p:cNvPr id="7" name="TextBox 6"/>
          <p:cNvSpPr txBox="1"/>
          <p:nvPr/>
        </p:nvSpPr>
        <p:spPr>
          <a:xfrm>
            <a:off x="758952" y="3401568"/>
            <a:ext cx="5029200" cy="740664"/>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Suivre un commit d’un clone à l’autre.</a:t>
            </a:r>
          </a:p>
        </p:txBody>
      </p:sp>
      <p:sp>
        <p:nvSpPr>
          <p:cNvPr id="8" name="Rectangle 7"/>
          <p:cNvSpPr/>
          <p:nvPr/>
        </p:nvSpPr>
        <p:spPr>
          <a:xfrm>
            <a:off x="6227064" y="2788920"/>
            <a:ext cx="5358384" cy="1389888"/>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91656" y="2880360"/>
            <a:ext cx="5029200" cy="45720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S2 · Deux historiques</a:t>
            </a:r>
          </a:p>
        </p:txBody>
      </p:sp>
      <p:sp>
        <p:nvSpPr>
          <p:cNvPr id="10" name="TextBox 9"/>
          <p:cNvSpPr txBox="1"/>
          <p:nvPr/>
        </p:nvSpPr>
        <p:spPr>
          <a:xfrm>
            <a:off x="6391656" y="3401568"/>
            <a:ext cx="5029200" cy="740664"/>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Conserver les deux contributions.</a:t>
            </a:r>
          </a:p>
        </p:txBody>
      </p:sp>
      <p:sp>
        <p:nvSpPr>
          <p:cNvPr id="11" name="Rectangle 10"/>
          <p:cNvSpPr/>
          <p:nvPr/>
        </p:nvSpPr>
        <p:spPr>
          <a:xfrm>
            <a:off x="594360" y="4343400"/>
            <a:ext cx="5358384" cy="1389888"/>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58952" y="4434840"/>
            <a:ext cx="5029200" cy="45720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S3 · Un conflit</a:t>
            </a:r>
          </a:p>
        </p:txBody>
      </p:sp>
      <p:sp>
        <p:nvSpPr>
          <p:cNvPr id="13" name="TextBox 12"/>
          <p:cNvSpPr txBox="1"/>
          <p:nvPr/>
        </p:nvSpPr>
        <p:spPr>
          <a:xfrm>
            <a:off x="758952" y="4956048"/>
            <a:ext cx="5029200" cy="740664"/>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Choisir et vérifier le contenu final.</a:t>
            </a:r>
          </a:p>
        </p:txBody>
      </p:sp>
      <p:sp>
        <p:nvSpPr>
          <p:cNvPr id="14" name="Rectangle 13"/>
          <p:cNvSpPr/>
          <p:nvPr/>
        </p:nvSpPr>
        <p:spPr>
          <a:xfrm>
            <a:off x="6227064" y="4343400"/>
            <a:ext cx="5358384" cy="1389888"/>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391656" y="4434840"/>
            <a:ext cx="5029200" cy="45720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S4 · Des suppressions</a:t>
            </a:r>
          </a:p>
        </p:txBody>
      </p:sp>
      <p:sp>
        <p:nvSpPr>
          <p:cNvPr id="16" name="TextBox 15"/>
          <p:cNvSpPr txBox="1"/>
          <p:nvPr/>
        </p:nvSpPr>
        <p:spPr>
          <a:xfrm>
            <a:off x="6391656" y="4956048"/>
            <a:ext cx="5029200" cy="740664"/>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Expliquer les écarts et récupérer les fichiers.</a:t>
            </a:r>
          </a:p>
        </p:txBody>
      </p:sp>
      <p:sp>
        <p:nvSpPr>
          <p:cNvPr id="17" name="TextBox 1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Diaporama : raisonner ensemble. LAB.md : commandes, exercices et contrôles.</a:t>
            </a:r>
          </a:p>
        </p:txBody>
      </p:sp>
      <p:sp>
        <p:nvSpPr>
          <p:cNvPr id="18" name="TextBox 1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Deux clones, un dépôt partagé sur le même ordinateur</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LABORATOIRE</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Un dépôt bare conserve l’historique partagé, sans fichiers de travail.</a:t>
            </a:r>
          </a:p>
        </p:txBody>
      </p:sp>
      <p:sp>
        <p:nvSpPr>
          <p:cNvPr id="5" name="Rectangle 4"/>
          <p:cNvSpPr/>
          <p:nvPr/>
        </p:nvSpPr>
        <p:spPr>
          <a:xfrm>
            <a:off x="594360" y="2834640"/>
            <a:ext cx="3383280" cy="242316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34640"/>
            <a:ext cx="45720" cy="242316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80944"/>
            <a:ext cx="305409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Joe</a:t>
            </a:r>
          </a:p>
        </p:txBody>
      </p:sp>
      <p:sp>
        <p:nvSpPr>
          <p:cNvPr id="8" name="TextBox 7"/>
          <p:cNvSpPr txBox="1"/>
          <p:nvPr/>
        </p:nvSpPr>
        <p:spPr>
          <a:xfrm>
            <a:off x="758952" y="3858768"/>
            <a:ext cx="3054096" cy="1298448"/>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Fichiers, index,</a:t>
            </a:r>
          </a:p>
          <a:p>
            <a:pPr algn="l">
              <a:lnSpc>
                <a:spcPts val="2529"/>
              </a:lnSpc>
              <a:spcAft>
                <a:spcPts val="400"/>
              </a:spcAft>
              <a:defRPr sz="2200" b="0">
                <a:solidFill>
                  <a:srgbClr val="24364A"/>
                </a:solidFill>
                <a:latin typeface="DejaVu Sans"/>
              </a:defRPr>
            </a:pPr>
            <a:r>
              <a:t>commits locaux</a:t>
            </a:r>
          </a:p>
        </p:txBody>
      </p:sp>
      <p:sp>
        <p:nvSpPr>
          <p:cNvPr id="9" name="Rectangle 8"/>
          <p:cNvSpPr/>
          <p:nvPr/>
        </p:nvSpPr>
        <p:spPr>
          <a:xfrm>
            <a:off x="4407408" y="2834640"/>
            <a:ext cx="3383280" cy="242316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407408" y="2834640"/>
            <a:ext cx="45720" cy="242316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72000" y="2980944"/>
            <a:ext cx="305409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shared.git</a:t>
            </a:r>
          </a:p>
        </p:txBody>
      </p:sp>
      <p:sp>
        <p:nvSpPr>
          <p:cNvPr id="12" name="TextBox 11"/>
          <p:cNvSpPr txBox="1"/>
          <p:nvPr/>
        </p:nvSpPr>
        <p:spPr>
          <a:xfrm>
            <a:off x="4572000" y="3858768"/>
            <a:ext cx="3054096" cy="1298448"/>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Historique partagé</a:t>
            </a:r>
          </a:p>
          <a:p>
            <a:pPr algn="l">
              <a:lnSpc>
                <a:spcPts val="2529"/>
              </a:lnSpc>
              <a:spcAft>
                <a:spcPts val="400"/>
              </a:spcAft>
              <a:defRPr sz="2200" b="0">
                <a:solidFill>
                  <a:srgbClr val="24364A"/>
                </a:solidFill>
                <a:latin typeface="DejaVu Sans"/>
              </a:defRPr>
            </a:pPr>
            <a:r>
              <a:t>Dépôt bare</a:t>
            </a:r>
          </a:p>
        </p:txBody>
      </p:sp>
      <p:sp>
        <p:nvSpPr>
          <p:cNvPr id="13" name="Rectangle 12"/>
          <p:cNvSpPr/>
          <p:nvPr/>
        </p:nvSpPr>
        <p:spPr>
          <a:xfrm>
            <a:off x="8220456" y="2834640"/>
            <a:ext cx="3383280" cy="242316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220456" y="2834640"/>
            <a:ext cx="45720" cy="242316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85048" y="2980944"/>
            <a:ext cx="305409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Mary</a:t>
            </a:r>
          </a:p>
        </p:txBody>
      </p:sp>
      <p:sp>
        <p:nvSpPr>
          <p:cNvPr id="16" name="TextBox 15"/>
          <p:cNvSpPr txBox="1"/>
          <p:nvPr/>
        </p:nvSpPr>
        <p:spPr>
          <a:xfrm>
            <a:off x="8385048" y="3858768"/>
            <a:ext cx="3054096" cy="1298448"/>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Fichiers, index,</a:t>
            </a:r>
          </a:p>
          <a:p>
            <a:pPr algn="l">
              <a:lnSpc>
                <a:spcPts val="2529"/>
              </a:lnSpc>
              <a:spcAft>
                <a:spcPts val="400"/>
              </a:spcAft>
              <a:defRPr sz="2200" b="0">
                <a:solidFill>
                  <a:srgbClr val="24364A"/>
                </a:solidFill>
                <a:latin typeface="DejaVu Sans"/>
              </a:defRPr>
            </a:pPr>
            <a:r>
              <a:t>commits locaux</a:t>
            </a:r>
          </a:p>
        </p:txBody>
      </p:sp>
      <p:sp>
        <p:nvSpPr>
          <p:cNvPr id="17" name="TextBox 16"/>
          <p:cNvSpPr txBox="1"/>
          <p:nvPr/>
        </p:nvSpPr>
        <p:spPr>
          <a:xfrm>
            <a:off x="1371600" y="5486400"/>
            <a:ext cx="4023360" cy="457200"/>
          </a:xfrm>
          <a:prstGeom prst="rect">
            <a:avLst/>
          </a:prstGeom>
          <a:noFill/>
        </p:spPr>
        <p:txBody>
          <a:bodyPr wrap="square" lIns="18288" rIns="18288" tIns="18288" bIns="18288">
            <a:spAutoFit/>
          </a:bodyPr>
          <a:lstStyle/>
          <a:p>
            <a:pPr algn="l">
              <a:lnSpc>
                <a:spcPts val="2300"/>
              </a:lnSpc>
              <a:spcAft>
                <a:spcPts val="400"/>
              </a:spcAft>
              <a:defRPr sz="2000" b="1">
                <a:solidFill>
                  <a:srgbClr val="087F8C"/>
                </a:solidFill>
                <a:latin typeface="DejaVu Sans"/>
              </a:defRPr>
            </a:pPr>
            <a:r>
              <a:t>push →   ← fetch</a:t>
            </a:r>
          </a:p>
        </p:txBody>
      </p:sp>
      <p:sp>
        <p:nvSpPr>
          <p:cNvPr id="18" name="TextBox 17"/>
          <p:cNvSpPr txBox="1"/>
          <p:nvPr/>
        </p:nvSpPr>
        <p:spPr>
          <a:xfrm>
            <a:off x="7132320" y="5486400"/>
            <a:ext cx="4023360" cy="457200"/>
          </a:xfrm>
          <a:prstGeom prst="rect">
            <a:avLst/>
          </a:prstGeom>
          <a:noFill/>
        </p:spPr>
        <p:txBody>
          <a:bodyPr wrap="square" lIns="18288" rIns="18288" tIns="18288" bIns="18288">
            <a:spAutoFit/>
          </a:bodyPr>
          <a:lstStyle/>
          <a:p>
            <a:pPr algn="l">
              <a:lnSpc>
                <a:spcPts val="2300"/>
              </a:lnSpc>
              <a:spcAft>
                <a:spcPts val="400"/>
              </a:spcAft>
              <a:defRPr sz="2000" b="1">
                <a:solidFill>
                  <a:srgbClr val="087F8C"/>
                </a:solidFill>
                <a:latin typeface="DejaVu Sans"/>
              </a:defRPr>
            </a:pPr>
            <a:r>
              <a:t>fetch →   ← push</a:t>
            </a:r>
          </a:p>
        </p:txBody>
      </p:sp>
      <p:sp>
        <p:nvSpPr>
          <p:cNvPr id="19" name="TextBox 18"/>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Préparer S1 depuis le dossier du cours : bash lab/create_lab.sh s1 ; puis copier la ligne LAB=…</a:t>
            </a:r>
          </a:p>
        </p:txBody>
      </p:sp>
      <p:sp>
        <p:nvSpPr>
          <p:cNvPr id="20" name="TextBox 19"/>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Joe pousse un commit. Que voit Mary ?</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S1 · TRAVAILLER À TOUR DE RÔLE</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Au départ, les deux clones et le dépôt partagé pointent sur le même commit.</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Prévoir</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Après le commit de Joe ?</a:t>
            </a:r>
          </a:p>
          <a:p>
            <a:pPr algn="l">
              <a:lnSpc>
                <a:spcPts val="2760"/>
              </a:lnSpc>
              <a:spcAft>
                <a:spcPts val="400"/>
              </a:spcAft>
              <a:defRPr sz="2400" b="0">
                <a:solidFill>
                  <a:srgbClr val="24364A"/>
                </a:solidFill>
                <a:latin typeface="DejaVu Sans"/>
              </a:defRPr>
            </a:pPr>
            <a:r>
              <a:t>Après son push ?</a:t>
            </a:r>
          </a:p>
          <a:p>
            <a:pPr algn="l">
              <a:lnSpc>
                <a:spcPts val="2760"/>
              </a:lnSpc>
              <a:spcAft>
                <a:spcPts val="400"/>
              </a:spcAft>
              <a:defRPr sz="2400" b="0">
                <a:solidFill>
                  <a:srgbClr val="24364A"/>
                </a:solidFill>
                <a:latin typeface="DejaVu Sans"/>
              </a:defRPr>
            </a:pPr>
            <a:r>
              <a:t>Après le fetch de Mary ?</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Observer</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Le fichier de travail.</a:t>
            </a:r>
          </a:p>
          <a:p>
            <a:pPr algn="l">
              <a:lnSpc>
                <a:spcPts val="2760"/>
              </a:lnSpc>
              <a:spcAft>
                <a:spcPts val="400"/>
              </a:spcAft>
              <a:defRPr sz="2400" b="0">
                <a:solidFill>
                  <a:srgbClr val="24364A"/>
                </a:solidFill>
                <a:latin typeface="DejaVu Sans"/>
              </a:defRPr>
            </a:pPr>
            <a:r>
              <a:t>Le main local de Mary.</a:t>
            </a:r>
          </a:p>
          <a:p>
            <a:pPr algn="l">
              <a:lnSpc>
                <a:spcPts val="2760"/>
              </a:lnSpc>
              <a:spcAft>
                <a:spcPts val="400"/>
              </a:spcAft>
              <a:defRPr sz="2400" b="0">
                <a:solidFill>
                  <a:srgbClr val="24364A"/>
                </a:solidFill>
                <a:latin typeface="DejaVu Sans"/>
              </a:defRPr>
            </a:pPr>
            <a:r>
              <a:t>Sa référence origin/main.</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Nommer l’état qui change avant de lancer la commande suivante. LAB.md · S1.</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Quel contenu entrera dans le prochain commit ?</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S1 · PRÉPARER UN COMMIT</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L’index prépare le prochain instantané. HEAD désigne ici le commit courant.</a:t>
            </a:r>
          </a:p>
        </p:txBody>
      </p:sp>
      <p:sp>
        <p:nvSpPr>
          <p:cNvPr id="5" name="Rectangle 4"/>
          <p:cNvSpPr/>
          <p:nvPr/>
        </p:nvSpPr>
        <p:spPr>
          <a:xfrm>
            <a:off x="594360" y="3108960"/>
            <a:ext cx="2560320" cy="20574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13232" y="3273552"/>
            <a:ext cx="23225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Fichiers de travail</a:t>
            </a:r>
          </a:p>
        </p:txBody>
      </p:sp>
      <p:sp>
        <p:nvSpPr>
          <p:cNvPr id="7" name="TextBox 6"/>
          <p:cNvSpPr txBox="1"/>
          <p:nvPr/>
        </p:nvSpPr>
        <p:spPr>
          <a:xfrm>
            <a:off x="713232" y="4206240"/>
            <a:ext cx="2322576" cy="822960"/>
          </a:xfrm>
          <a:prstGeom prst="rect">
            <a:avLst/>
          </a:prstGeom>
          <a:noFill/>
        </p:spPr>
        <p:txBody>
          <a:bodyPr wrap="square" lIns="18288" rIns="18288" tIns="18288" bIns="18288">
            <a:spAutoFit/>
          </a:bodyPr>
          <a:lstStyle/>
          <a:p>
            <a:pPr algn="l">
              <a:lnSpc>
                <a:spcPts val="2300"/>
              </a:lnSpc>
              <a:spcAft>
                <a:spcPts val="400"/>
              </a:spcAft>
              <a:defRPr sz="2000" b="0">
                <a:solidFill>
                  <a:srgbClr val="24364A"/>
                </a:solidFill>
                <a:latin typeface="DejaVu Sans"/>
              </a:defRPr>
            </a:pPr>
            <a:r>
              <a:t>Ce que vous modifiez.</a:t>
            </a:r>
          </a:p>
        </p:txBody>
      </p:sp>
      <p:sp>
        <p:nvSpPr>
          <p:cNvPr id="8" name="Rectangle 7"/>
          <p:cNvSpPr/>
          <p:nvPr/>
        </p:nvSpPr>
        <p:spPr>
          <a:xfrm>
            <a:off x="3410712" y="3108960"/>
            <a:ext cx="2560320" cy="20574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3529584" y="3273552"/>
            <a:ext cx="23225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Index</a:t>
            </a:r>
          </a:p>
        </p:txBody>
      </p:sp>
      <p:sp>
        <p:nvSpPr>
          <p:cNvPr id="10" name="TextBox 9"/>
          <p:cNvSpPr txBox="1"/>
          <p:nvPr/>
        </p:nvSpPr>
        <p:spPr>
          <a:xfrm>
            <a:off x="3529584" y="4206240"/>
            <a:ext cx="2322576" cy="822960"/>
          </a:xfrm>
          <a:prstGeom prst="rect">
            <a:avLst/>
          </a:prstGeom>
          <a:noFill/>
        </p:spPr>
        <p:txBody>
          <a:bodyPr wrap="square" lIns="18288" rIns="18288" tIns="18288" bIns="18288">
            <a:spAutoFit/>
          </a:bodyPr>
          <a:lstStyle/>
          <a:p>
            <a:pPr algn="l">
              <a:lnSpc>
                <a:spcPts val="2300"/>
              </a:lnSpc>
              <a:spcAft>
                <a:spcPts val="400"/>
              </a:spcAft>
              <a:defRPr sz="2000" b="0">
                <a:solidFill>
                  <a:srgbClr val="24364A"/>
                </a:solidFill>
                <a:latin typeface="DejaVu Sans"/>
              </a:defRPr>
            </a:pPr>
            <a:r>
              <a:t>Le prochain instantané.</a:t>
            </a:r>
          </a:p>
        </p:txBody>
      </p:sp>
      <p:sp>
        <p:nvSpPr>
          <p:cNvPr id="11" name="Rectangle 10"/>
          <p:cNvSpPr/>
          <p:nvPr/>
        </p:nvSpPr>
        <p:spPr>
          <a:xfrm>
            <a:off x="6227064" y="3108960"/>
            <a:ext cx="2560320" cy="20574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345936" y="3273552"/>
            <a:ext cx="23225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Dépôt local</a:t>
            </a:r>
          </a:p>
        </p:txBody>
      </p:sp>
      <p:sp>
        <p:nvSpPr>
          <p:cNvPr id="13" name="TextBox 12"/>
          <p:cNvSpPr txBox="1"/>
          <p:nvPr/>
        </p:nvSpPr>
        <p:spPr>
          <a:xfrm>
            <a:off x="6345936" y="4206240"/>
            <a:ext cx="2322576" cy="822960"/>
          </a:xfrm>
          <a:prstGeom prst="rect">
            <a:avLst/>
          </a:prstGeom>
          <a:noFill/>
        </p:spPr>
        <p:txBody>
          <a:bodyPr wrap="square" lIns="18288" rIns="18288" tIns="18288" bIns="18288">
            <a:spAutoFit/>
          </a:bodyPr>
          <a:lstStyle/>
          <a:p>
            <a:pPr algn="l">
              <a:lnSpc>
                <a:spcPts val="2300"/>
              </a:lnSpc>
              <a:spcAft>
                <a:spcPts val="400"/>
              </a:spcAft>
              <a:defRPr sz="2000" b="0">
                <a:solidFill>
                  <a:srgbClr val="24364A"/>
                </a:solidFill>
                <a:latin typeface="DejaVu Sans"/>
              </a:defRPr>
            </a:pPr>
            <a:r>
              <a:t>Les commits enregistrés.</a:t>
            </a:r>
          </a:p>
        </p:txBody>
      </p:sp>
      <p:sp>
        <p:nvSpPr>
          <p:cNvPr id="14" name="Rectangle 13"/>
          <p:cNvSpPr/>
          <p:nvPr/>
        </p:nvSpPr>
        <p:spPr>
          <a:xfrm>
            <a:off x="9043416" y="3108960"/>
            <a:ext cx="2560320" cy="20574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162288" y="3273552"/>
            <a:ext cx="23225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Dépôt partagé</a:t>
            </a:r>
          </a:p>
        </p:txBody>
      </p:sp>
      <p:sp>
        <p:nvSpPr>
          <p:cNvPr id="16" name="TextBox 15"/>
          <p:cNvSpPr txBox="1"/>
          <p:nvPr/>
        </p:nvSpPr>
        <p:spPr>
          <a:xfrm>
            <a:off x="9162288" y="4206240"/>
            <a:ext cx="2322576" cy="822960"/>
          </a:xfrm>
          <a:prstGeom prst="rect">
            <a:avLst/>
          </a:prstGeom>
          <a:noFill/>
        </p:spPr>
        <p:txBody>
          <a:bodyPr wrap="square" lIns="18288" rIns="18288" tIns="18288" bIns="18288">
            <a:spAutoFit/>
          </a:bodyPr>
          <a:lstStyle/>
          <a:p>
            <a:pPr algn="l">
              <a:lnSpc>
                <a:spcPts val="2300"/>
              </a:lnSpc>
              <a:spcAft>
                <a:spcPts val="400"/>
              </a:spcAft>
              <a:defRPr sz="2000" b="0">
                <a:solidFill>
                  <a:srgbClr val="24364A"/>
                </a:solidFill>
                <a:latin typeface="DejaVu Sans"/>
              </a:defRPr>
            </a:pPr>
            <a:r>
              <a:t>Les commits reçus.</a:t>
            </a:r>
          </a:p>
        </p:txBody>
      </p:sp>
      <p:sp>
        <p:nvSpPr>
          <p:cNvPr id="17" name="TextBox 16"/>
          <p:cNvSpPr txBox="1"/>
          <p:nvPr/>
        </p:nvSpPr>
        <p:spPr>
          <a:xfrm>
            <a:off x="2468880" y="5394960"/>
            <a:ext cx="1828800" cy="502920"/>
          </a:xfrm>
          <a:prstGeom prst="rect">
            <a:avLst/>
          </a:prstGeom>
          <a:noFill/>
        </p:spPr>
        <p:txBody>
          <a:bodyPr wrap="square" lIns="18288" rIns="18288" tIns="18288" bIns="18288">
            <a:spAutoFit/>
          </a:bodyPr>
          <a:lstStyle/>
          <a:p>
            <a:pPr algn="l">
              <a:lnSpc>
                <a:spcPts val="2529"/>
              </a:lnSpc>
              <a:spcAft>
                <a:spcPts val="400"/>
              </a:spcAft>
              <a:defRPr sz="2200" b="1">
                <a:solidFill>
                  <a:srgbClr val="087F8C"/>
                </a:solidFill>
                <a:latin typeface="DejaVu Sans"/>
              </a:defRPr>
            </a:pPr>
            <a:r>
              <a:t>add →</a:t>
            </a:r>
          </a:p>
        </p:txBody>
      </p:sp>
      <p:sp>
        <p:nvSpPr>
          <p:cNvPr id="18" name="TextBox 17"/>
          <p:cNvSpPr txBox="1"/>
          <p:nvPr/>
        </p:nvSpPr>
        <p:spPr>
          <a:xfrm>
            <a:off x="5285232" y="5394960"/>
            <a:ext cx="1828800" cy="502920"/>
          </a:xfrm>
          <a:prstGeom prst="rect">
            <a:avLst/>
          </a:prstGeom>
          <a:noFill/>
        </p:spPr>
        <p:txBody>
          <a:bodyPr wrap="square" lIns="18288" rIns="18288" tIns="18288" bIns="18288">
            <a:spAutoFit/>
          </a:bodyPr>
          <a:lstStyle/>
          <a:p>
            <a:pPr algn="l">
              <a:lnSpc>
                <a:spcPts val="2529"/>
              </a:lnSpc>
              <a:spcAft>
                <a:spcPts val="400"/>
              </a:spcAft>
              <a:defRPr sz="2200" b="1">
                <a:solidFill>
                  <a:srgbClr val="087F8C"/>
                </a:solidFill>
                <a:latin typeface="DejaVu Sans"/>
              </a:defRPr>
            </a:pPr>
            <a:r>
              <a:t>commit →</a:t>
            </a:r>
          </a:p>
        </p:txBody>
      </p:sp>
      <p:sp>
        <p:nvSpPr>
          <p:cNvPr id="19" name="TextBox 18"/>
          <p:cNvSpPr txBox="1"/>
          <p:nvPr/>
        </p:nvSpPr>
        <p:spPr>
          <a:xfrm>
            <a:off x="8101583" y="5394960"/>
            <a:ext cx="1828800" cy="502920"/>
          </a:xfrm>
          <a:prstGeom prst="rect">
            <a:avLst/>
          </a:prstGeom>
          <a:noFill/>
        </p:spPr>
        <p:txBody>
          <a:bodyPr wrap="square" lIns="18288" rIns="18288" tIns="18288" bIns="18288">
            <a:spAutoFit/>
          </a:bodyPr>
          <a:lstStyle/>
          <a:p>
            <a:pPr algn="l">
              <a:lnSpc>
                <a:spcPts val="2529"/>
              </a:lnSpc>
              <a:spcAft>
                <a:spcPts val="400"/>
              </a:spcAft>
              <a:defRPr sz="2200" b="1">
                <a:solidFill>
                  <a:srgbClr val="087F8C"/>
                </a:solidFill>
                <a:latin typeface="DejaVu Sans"/>
              </a:defRPr>
            </a:pPr>
            <a:r>
              <a:t>push →</a:t>
            </a:r>
          </a:p>
        </p:txBody>
      </p:sp>
      <p:sp>
        <p:nvSpPr>
          <p:cNvPr id="20" name="TextBox 19"/>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git diff : travail ↔ index.   git diff --staged : index ↔ HEAD.</a:t>
            </a:r>
          </a:p>
        </p:txBody>
      </p:sp>
      <p:sp>
        <p:nvSpPr>
          <p:cNvPr id="21" name="TextBox 20"/>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Joe vérifie sa note avant de la publier</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S1 · DÉMONSTRATION GUIDÉE</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Dans Joe : ne commiter qu’après avoir lu le diff indexé.</a:t>
            </a:r>
          </a:p>
        </p:txBody>
      </p:sp>
      <p:sp>
        <p:nvSpPr>
          <p:cNvPr id="5" name="Rectangle 4"/>
          <p:cNvSpPr/>
          <p:nvPr/>
        </p:nvSpPr>
        <p:spPr>
          <a:xfrm>
            <a:off x="594360" y="2743200"/>
            <a:ext cx="11018520" cy="3172968"/>
          </a:xfrm>
          <a:prstGeom prst="rect">
            <a:avLst/>
          </a:prstGeom>
          <a:solidFill>
            <a:srgbClr val="172E4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880360"/>
            <a:ext cx="10607040" cy="2926080"/>
          </a:xfrm>
          <a:prstGeom prst="rect">
            <a:avLst/>
          </a:prstGeom>
          <a:noFill/>
        </p:spPr>
        <p:txBody>
          <a:bodyPr wrap="none" lIns="18288" rIns="18288" tIns="18288" bIns="18288">
            <a:spAutoFit/>
          </a:bodyPr>
          <a:lstStyle/>
          <a:p>
            <a:pPr algn="l">
              <a:lnSpc>
                <a:spcPts val="2529"/>
              </a:lnSpc>
              <a:spcAft>
                <a:spcPts val="400"/>
              </a:spcAft>
              <a:defRPr sz="2200" b="0">
                <a:solidFill>
                  <a:srgbClr val="FFFFFF"/>
                </a:solidFill>
                <a:latin typeface="DejaVu Sans Mono"/>
              </a:defRPr>
            </a:pPr>
            <a:r>
              <a:t>cd "$LAB/joe"</a:t>
            </a:r>
          </a:p>
          <a:p>
            <a:pPr algn="l">
              <a:lnSpc>
                <a:spcPts val="2529"/>
              </a:lnSpc>
              <a:spcAft>
                <a:spcPts val="400"/>
              </a:spcAft>
              <a:defRPr sz="2200" b="0">
                <a:solidFill>
                  <a:srgbClr val="FFFFFF"/>
                </a:solidFill>
                <a:latin typeface="DejaVu Sans Mono"/>
              </a:defRPr>
            </a:pPr>
            <a:r>
              <a:t>printf "Joe checked the input.\n" &gt; notes/joe.txt</a:t>
            </a:r>
          </a:p>
          <a:p>
            <a:pPr algn="l">
              <a:lnSpc>
                <a:spcPts val="2529"/>
              </a:lnSpc>
              <a:spcAft>
                <a:spcPts val="400"/>
              </a:spcAft>
              <a:defRPr sz="2200" b="0">
                <a:solidFill>
                  <a:srgbClr val="FFFFFF"/>
                </a:solidFill>
                <a:latin typeface="DejaVu Sans Mono"/>
              </a:defRPr>
            </a:pPr>
            <a:r>
              <a:t>git add -- notes/joe.txt</a:t>
            </a:r>
          </a:p>
          <a:p>
            <a:pPr algn="l">
              <a:lnSpc>
                <a:spcPts val="2529"/>
              </a:lnSpc>
              <a:spcAft>
                <a:spcPts val="400"/>
              </a:spcAft>
              <a:defRPr sz="2200" b="0">
                <a:solidFill>
                  <a:srgbClr val="FFFFFF"/>
                </a:solidFill>
                <a:latin typeface="DejaVu Sans Mono"/>
              </a:defRPr>
            </a:pPr>
            <a:r>
              <a:t>git diff --staged</a:t>
            </a:r>
          </a:p>
          <a:p>
            <a:pPr algn="l">
              <a:lnSpc>
                <a:spcPts val="2529"/>
              </a:lnSpc>
              <a:spcAft>
                <a:spcPts val="400"/>
              </a:spcAft>
              <a:defRPr sz="2200" b="0">
                <a:solidFill>
                  <a:srgbClr val="FFFFFF"/>
                </a:solidFill>
                <a:latin typeface="DejaVu Sans Mono"/>
              </a:defRPr>
            </a:pPr>
            <a:r>
              <a:t>git commit -m "Record Joe's check"</a:t>
            </a:r>
          </a:p>
          <a:p>
            <a:pPr algn="l">
              <a:lnSpc>
                <a:spcPts val="2529"/>
              </a:lnSpc>
              <a:spcAft>
                <a:spcPts val="400"/>
              </a:spcAft>
              <a:defRPr sz="2200" b="0">
                <a:solidFill>
                  <a:srgbClr val="FFFFFF"/>
                </a:solidFill>
                <a:latin typeface="DejaVu Sans Mono"/>
              </a:defRPr>
            </a:pPr>
            <a:r>
              <a:t>git push</a:t>
            </a:r>
          </a:p>
        </p:txBody>
      </p:sp>
      <p:sp>
        <p:nvSpPr>
          <p:cNvPr id="7" name="TextBox 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VS Code : Changes → sélectionner le fichier → Staged Changes → Commit → Push.</a:t>
            </a:r>
          </a:p>
        </p:txBody>
      </p:sp>
      <p:sp>
        <p:nvSpPr>
          <p:cNvPr id="8" name="TextBox 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Trois noms ne désignent pas un seul état</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S1 · APRÈS FETCH CHEZ MARY</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Fetch actualise la connaissance locale du dépôt partagé.</a:t>
            </a:r>
          </a:p>
        </p:txBody>
      </p:sp>
      <p:sp>
        <p:nvSpPr>
          <p:cNvPr id="5" name="Rectangle 4"/>
          <p:cNvSpPr/>
          <p:nvPr/>
        </p:nvSpPr>
        <p:spPr>
          <a:xfrm>
            <a:off x="59436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main</a:t>
            </a:r>
          </a:p>
        </p:txBody>
      </p:sp>
      <p:sp>
        <p:nvSpPr>
          <p:cNvPr id="8" name="TextBox 7"/>
          <p:cNvSpPr txBox="1"/>
          <p:nvPr/>
        </p:nvSpPr>
        <p:spPr>
          <a:xfrm>
            <a:off x="75895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La branche locale</a:t>
            </a:r>
          </a:p>
          <a:p>
            <a:pPr algn="l">
              <a:lnSpc>
                <a:spcPts val="2415"/>
              </a:lnSpc>
              <a:spcAft>
                <a:spcPts val="400"/>
              </a:spcAft>
              <a:defRPr sz="2100" b="0">
                <a:solidFill>
                  <a:srgbClr val="24364A"/>
                </a:solidFill>
                <a:latin typeface="DejaVu Sans"/>
              </a:defRPr>
            </a:pPr>
            <a:r>
              <a:t>de Mary.</a:t>
            </a:r>
          </a:p>
          <a:p>
            <a:pPr algn="l">
              <a:lnSpc>
                <a:spcPts val="2415"/>
              </a:lnSpc>
              <a:spcAft>
                <a:spcPts val="400"/>
              </a:spcAft>
              <a:defRPr sz="2100" b="0">
                <a:solidFill>
                  <a:srgbClr val="24364A"/>
                </a:solidFill>
                <a:latin typeface="DejaVu Sans"/>
              </a:defRPr>
            </a:pPr>
            <a:r>
              <a:t>Elle n’a pas avancé.</a:t>
            </a:r>
          </a:p>
        </p:txBody>
      </p:sp>
      <p:sp>
        <p:nvSpPr>
          <p:cNvPr id="9" name="Rectangle 8"/>
          <p:cNvSpPr/>
          <p:nvPr/>
        </p:nvSpPr>
        <p:spPr>
          <a:xfrm>
            <a:off x="434340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34340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0799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origin/main</a:t>
            </a:r>
          </a:p>
        </p:txBody>
      </p:sp>
      <p:sp>
        <p:nvSpPr>
          <p:cNvPr id="12" name="TextBox 11"/>
          <p:cNvSpPr txBox="1"/>
          <p:nvPr/>
        </p:nvSpPr>
        <p:spPr>
          <a:xfrm>
            <a:off x="450799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Référence locale chez Mary.</a:t>
            </a:r>
          </a:p>
          <a:p>
            <a:pPr algn="l">
              <a:lnSpc>
                <a:spcPts val="2415"/>
              </a:lnSpc>
              <a:spcAft>
                <a:spcPts val="400"/>
              </a:spcAft>
              <a:defRPr sz="2100" b="0">
                <a:solidFill>
                  <a:srgbClr val="24364A"/>
                </a:solidFill>
                <a:latin typeface="DejaVu Sans"/>
              </a:defRPr>
            </a:pPr>
            <a:r>
              <a:t>Pointe sur le commit</a:t>
            </a:r>
          </a:p>
          <a:p>
            <a:pPr algn="l">
              <a:lnSpc>
                <a:spcPts val="2415"/>
              </a:lnSpc>
              <a:spcAft>
                <a:spcPts val="400"/>
              </a:spcAft>
              <a:defRPr sz="2100" b="0">
                <a:solidFill>
                  <a:srgbClr val="24364A"/>
                </a:solidFill>
                <a:latin typeface="DejaVu Sans"/>
              </a:defRPr>
            </a:pPr>
            <a:r>
              <a:t>reçu de Joe.</a:t>
            </a:r>
          </a:p>
        </p:txBody>
      </p:sp>
      <p:sp>
        <p:nvSpPr>
          <p:cNvPr id="13" name="Rectangle 12"/>
          <p:cNvSpPr/>
          <p:nvPr/>
        </p:nvSpPr>
        <p:spPr>
          <a:xfrm>
            <a:off x="809244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09244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57031"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main dans shared.git</a:t>
            </a:r>
          </a:p>
        </p:txBody>
      </p:sp>
      <p:sp>
        <p:nvSpPr>
          <p:cNvPr id="16" name="TextBox 15"/>
          <p:cNvSpPr txBox="1"/>
          <p:nvPr/>
        </p:nvSpPr>
        <p:spPr>
          <a:xfrm>
            <a:off x="8257031"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La branche partagée.</a:t>
            </a:r>
          </a:p>
          <a:p>
            <a:pPr algn="l">
              <a:lnSpc>
                <a:spcPts val="2415"/>
              </a:lnSpc>
              <a:spcAft>
                <a:spcPts val="400"/>
              </a:spcAft>
              <a:defRPr sz="2100" b="0">
                <a:solidFill>
                  <a:srgbClr val="24364A"/>
                </a:solidFill>
                <a:latin typeface="DejaVu Sans"/>
              </a:defRPr>
            </a:pPr>
            <a:r>
              <a:t>Elle a reçu</a:t>
            </a:r>
          </a:p>
          <a:p>
            <a:pPr algn="l">
              <a:lnSpc>
                <a:spcPts val="2415"/>
              </a:lnSpc>
              <a:spcAft>
                <a:spcPts val="400"/>
              </a:spcAft>
              <a:defRPr sz="2100" b="0">
                <a:solidFill>
                  <a:srgbClr val="24364A"/>
                </a:solidFill>
                <a:latin typeface="DejaVu Sans"/>
              </a:defRPr>
            </a:pPr>
            <a:r>
              <a:t>le push de Joe.</a:t>
            </a:r>
          </a:p>
        </p:txBody>
      </p:sp>
      <p:sp>
        <p:nvSpPr>
          <p:cNvPr id="17" name="TextBox 1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origin est le nom du dépôt distant ; origin/main est une référence stockée dans le clone.</a:t>
            </a:r>
          </a:p>
        </p:txBody>
      </p:sp>
      <p:sp>
        <p:nvSpPr>
          <p:cNvPr id="18" name="TextBox 1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Mary observe, puis fait avancer sa branche</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S1 · DÉMONSTRATION GUIDÉE</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Dans Mary : comparer le graphe après fetch, puis les fichiers après intégration.</a:t>
            </a:r>
          </a:p>
        </p:txBody>
      </p:sp>
      <p:sp>
        <p:nvSpPr>
          <p:cNvPr id="5" name="Rectangle 4"/>
          <p:cNvSpPr/>
          <p:nvPr/>
        </p:nvSpPr>
        <p:spPr>
          <a:xfrm>
            <a:off x="594360" y="2743200"/>
            <a:ext cx="11018520" cy="3172968"/>
          </a:xfrm>
          <a:prstGeom prst="rect">
            <a:avLst/>
          </a:prstGeom>
          <a:solidFill>
            <a:srgbClr val="172E4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880360"/>
            <a:ext cx="10607040" cy="2926080"/>
          </a:xfrm>
          <a:prstGeom prst="rect">
            <a:avLst/>
          </a:prstGeom>
          <a:noFill/>
        </p:spPr>
        <p:txBody>
          <a:bodyPr wrap="none" lIns="18288" rIns="18288" tIns="18288" bIns="18288">
            <a:spAutoFit/>
          </a:bodyPr>
          <a:lstStyle/>
          <a:p>
            <a:pPr algn="l">
              <a:lnSpc>
                <a:spcPts val="2529"/>
              </a:lnSpc>
              <a:spcAft>
                <a:spcPts val="400"/>
              </a:spcAft>
              <a:defRPr sz="2200" b="0">
                <a:solidFill>
                  <a:srgbClr val="FFFFFF"/>
                </a:solidFill>
                <a:latin typeface="DejaVu Sans Mono"/>
              </a:defRPr>
            </a:pPr>
            <a:r>
              <a:t>cd "$LAB/mary"</a:t>
            </a:r>
          </a:p>
          <a:p>
            <a:pPr algn="l">
              <a:lnSpc>
                <a:spcPts val="2529"/>
              </a:lnSpc>
              <a:spcAft>
                <a:spcPts val="400"/>
              </a:spcAft>
              <a:defRPr sz="2200" b="0">
                <a:solidFill>
                  <a:srgbClr val="FFFFFF"/>
                </a:solidFill>
                <a:latin typeface="DejaVu Sans Mono"/>
              </a:defRPr>
            </a:pPr>
            <a:r>
              <a:t>git fetch origin</a:t>
            </a:r>
          </a:p>
          <a:p>
            <a:pPr algn="l">
              <a:lnSpc>
                <a:spcPts val="2529"/>
              </a:lnSpc>
              <a:spcAft>
                <a:spcPts val="400"/>
              </a:spcAft>
              <a:defRPr sz="2200" b="0">
                <a:solidFill>
                  <a:srgbClr val="FFFFFF"/>
                </a:solidFill>
                <a:latin typeface="DejaVu Sans Mono"/>
              </a:defRPr>
            </a:pPr>
            <a:r>
              <a:t>git log --graph --oneline --decorate --all -8</a:t>
            </a:r>
          </a:p>
          <a:p>
            <a:pPr algn="l">
              <a:lnSpc>
                <a:spcPts val="2529"/>
              </a:lnSpc>
              <a:spcAft>
                <a:spcPts val="400"/>
              </a:spcAft>
              <a:defRPr sz="2200" b="0">
                <a:solidFill>
                  <a:srgbClr val="FFFFFF"/>
                </a:solidFill>
                <a:latin typeface="DejaVu Sans Mono"/>
              </a:defRPr>
            </a:pPr>
            <a:r>
              <a:t>git merge --ff-only origin/main</a:t>
            </a:r>
          </a:p>
          <a:p>
            <a:pPr algn="l">
              <a:lnSpc>
                <a:spcPts val="2529"/>
              </a:lnSpc>
              <a:spcAft>
                <a:spcPts val="400"/>
              </a:spcAft>
              <a:defRPr sz="2200" b="0">
                <a:solidFill>
                  <a:srgbClr val="FFFFFF"/>
                </a:solidFill>
                <a:latin typeface="DejaVu Sans Mono"/>
              </a:defRPr>
            </a:pPr>
            <a:r>
              <a:t>cat notes/joe.txt</a:t>
            </a:r>
          </a:p>
        </p:txBody>
      </p:sp>
      <p:sp>
        <p:nvSpPr>
          <p:cNvPr id="7" name="TextBox 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À vous : Mary publie sa note ; Joe la récupère. Les trois main doivent ensuite coïncider.</a:t>
            </a:r>
          </a:p>
        </p:txBody>
      </p:sp>
      <p:sp>
        <p:nvSpPr>
          <p:cNvPr id="8" name="TextBox 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Deux contributions partent du même ancêtre</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S2 · RÉCONCILIER DEUX HISTORIQUES</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Joe a commité sa note. Mary a commité la sienne et l’a poussée.</a:t>
            </a:r>
          </a:p>
        </p:txBody>
      </p:sp>
      <p:cxnSp>
        <p:nvCxnSpPr>
          <p:cNvPr id="5" name="Connector 4"/>
          <p:cNvCxnSpPr/>
          <p:nvPr/>
        </p:nvCxnSpPr>
        <p:spPr>
          <a:xfrm flipV="1">
            <a:off x="1325880" y="3063240"/>
            <a:ext cx="2880360" cy="1005840"/>
          </a:xfrm>
          <a:prstGeom prst="line">
            <a:avLst/>
          </a:prstGeom>
          <a:ln w="31750">
            <a:solidFill>
              <a:srgbClr val="5364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325880" y="4069080"/>
            <a:ext cx="2880360" cy="960120"/>
          </a:xfrm>
          <a:prstGeom prst="line">
            <a:avLst/>
          </a:prstGeom>
          <a:ln w="31750">
            <a:solidFill>
              <a:srgbClr val="53647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54880" y="2834640"/>
            <a:ext cx="5486400" cy="457200"/>
          </a:xfrm>
          <a:prstGeom prst="rect">
            <a:avLst/>
          </a:prstGeom>
          <a:noFill/>
        </p:spPr>
        <p:txBody>
          <a:bodyPr wrap="square" lIns="18288" rIns="18288" tIns="18288" bIns="18288">
            <a:spAutoFit/>
          </a:bodyPr>
          <a:lstStyle/>
          <a:p>
            <a:pPr algn="l">
              <a:lnSpc>
                <a:spcPts val="2645"/>
              </a:lnSpc>
              <a:spcAft>
                <a:spcPts val="400"/>
              </a:spcAft>
              <a:defRPr sz="2300" b="0">
                <a:solidFill>
                  <a:srgbClr val="24364A"/>
                </a:solidFill>
                <a:latin typeface="DejaVu Sans"/>
              </a:defRPr>
            </a:pPr>
            <a:r>
              <a:t>main local de Joe</a:t>
            </a:r>
          </a:p>
        </p:txBody>
      </p:sp>
      <p:sp>
        <p:nvSpPr>
          <p:cNvPr id="8" name="TextBox 7"/>
          <p:cNvSpPr txBox="1"/>
          <p:nvPr/>
        </p:nvSpPr>
        <p:spPr>
          <a:xfrm>
            <a:off x="4754880" y="4617720"/>
            <a:ext cx="5486400" cy="960120"/>
          </a:xfrm>
          <a:prstGeom prst="rect">
            <a:avLst/>
          </a:prstGeom>
          <a:noFill/>
        </p:spPr>
        <p:txBody>
          <a:bodyPr wrap="square" lIns="18288" rIns="18288" tIns="18288" bIns="18288">
            <a:spAutoFit/>
          </a:bodyPr>
          <a:lstStyle/>
          <a:p>
            <a:pPr algn="l">
              <a:lnSpc>
                <a:spcPts val="2645"/>
              </a:lnSpc>
              <a:spcAft>
                <a:spcPts val="400"/>
              </a:spcAft>
              <a:defRPr sz="2300" b="0">
                <a:solidFill>
                  <a:srgbClr val="24364A"/>
                </a:solidFill>
                <a:latin typeface="DejaVu Sans"/>
              </a:defRPr>
            </a:pPr>
            <a:r>
              <a:t>origin/main après fetch</a:t>
            </a:r>
          </a:p>
          <a:p>
            <a:pPr algn="l">
              <a:lnSpc>
                <a:spcPts val="2645"/>
              </a:lnSpc>
              <a:spcAft>
                <a:spcPts val="400"/>
              </a:spcAft>
              <a:defRPr sz="2300" b="0">
                <a:solidFill>
                  <a:srgbClr val="24364A"/>
                </a:solidFill>
                <a:latin typeface="DejaVu Sans"/>
              </a:defRPr>
            </a:pPr>
            <a:r>
              <a:t>Mary + dépôt partagé</a:t>
            </a:r>
          </a:p>
        </p:txBody>
      </p:sp>
      <p:sp>
        <p:nvSpPr>
          <p:cNvPr id="9" name="Oval 8"/>
          <p:cNvSpPr/>
          <p:nvPr/>
        </p:nvSpPr>
        <p:spPr>
          <a:xfrm>
            <a:off x="1051560" y="379476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386791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A</a:t>
            </a:r>
          </a:p>
        </p:txBody>
      </p:sp>
      <p:sp>
        <p:nvSpPr>
          <p:cNvPr id="11" name="Oval 10"/>
          <p:cNvSpPr/>
          <p:nvPr/>
        </p:nvSpPr>
        <p:spPr>
          <a:xfrm>
            <a:off x="3931920" y="278892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59352" y="286207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J</a:t>
            </a:r>
          </a:p>
        </p:txBody>
      </p:sp>
      <p:sp>
        <p:nvSpPr>
          <p:cNvPr id="13" name="Oval 12"/>
          <p:cNvSpPr/>
          <p:nvPr/>
        </p:nvSpPr>
        <p:spPr>
          <a:xfrm>
            <a:off x="3931920" y="475488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9352" y="482803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M</a:t>
            </a:r>
          </a:p>
        </p:txBody>
      </p:sp>
      <p:sp>
        <p:nvSpPr>
          <p:cNvPr id="15" name="TextBox 14"/>
          <p:cNvSpPr txBox="1"/>
          <p:nvPr/>
        </p:nvSpPr>
        <p:spPr>
          <a:xfrm>
            <a:off x="640080" y="4663440"/>
            <a:ext cx="1828800" cy="457200"/>
          </a:xfrm>
          <a:prstGeom prst="rect">
            <a:avLst/>
          </a:prstGeom>
          <a:noFill/>
        </p:spPr>
        <p:txBody>
          <a:bodyPr wrap="square" lIns="18288" rIns="18288" tIns="18288" bIns="18288">
            <a:spAutoFit/>
          </a:bodyPr>
          <a:lstStyle/>
          <a:p>
            <a:pPr algn="l">
              <a:lnSpc>
                <a:spcPts val="2300"/>
              </a:lnSpc>
              <a:spcAft>
                <a:spcPts val="400"/>
              </a:spcAft>
              <a:defRPr sz="2000" b="0">
                <a:solidFill>
                  <a:srgbClr val="536476"/>
                </a:solidFill>
                <a:latin typeface="DejaVu Sans"/>
              </a:defRPr>
            </a:pPr>
            <a:r>
              <a:t>Ancêtre</a:t>
            </a:r>
          </a:p>
        </p:txBody>
      </p:sp>
      <p:sp>
        <p:nvSpPr>
          <p:cNvPr id="16" name="TextBox 15"/>
          <p:cNvSpPr txBox="1"/>
          <p:nvPr/>
        </p:nvSpPr>
        <p:spPr>
          <a:xfrm>
            <a:off x="685800" y="5943600"/>
            <a:ext cx="10789920" cy="411480"/>
          </a:xfrm>
          <a:prstGeom prst="rect">
            <a:avLst/>
          </a:prstGeom>
          <a:noFill/>
        </p:spPr>
        <p:txBody>
          <a:bodyPr wrap="square" lIns="18288" rIns="18288" tIns="18288" bIns="18288">
            <a:spAutoFit/>
          </a:bodyPr>
          <a:lstStyle/>
          <a:p>
            <a:pPr algn="l">
              <a:lnSpc>
                <a:spcPts val="2070"/>
              </a:lnSpc>
              <a:spcAft>
                <a:spcPts val="400"/>
              </a:spcAft>
              <a:defRPr sz="1800" b="0">
                <a:solidFill>
                  <a:srgbClr val="536476"/>
                </a:solidFill>
                <a:latin typeface="DejaVu Sans"/>
              </a:defRPr>
            </a:pPr>
            <a:r>
              <a:t>Chaque trait relie un parent au commit suivant.</a:t>
            </a:r>
          </a:p>
        </p:txBody>
      </p:sp>
      <p:sp>
        <p:nvSpPr>
          <p:cNvPr id="17" name="TextBox 1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Pourquoi le push de Joe ne peut-il pas simplement avancer le main partagé ?</a:t>
            </a:r>
          </a:p>
        </p:txBody>
      </p:sp>
      <p:sp>
        <p:nvSpPr>
          <p:cNvPr id="18" name="TextBox 1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Quels commits n’existent que d’un côté ?</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S2 · OBSERVER</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Dans Joe : le refus du push est attendu dans ce laboratoire.</a:t>
            </a:r>
          </a:p>
        </p:txBody>
      </p:sp>
      <p:sp>
        <p:nvSpPr>
          <p:cNvPr id="5" name="Rectangle 4"/>
          <p:cNvSpPr/>
          <p:nvPr/>
        </p:nvSpPr>
        <p:spPr>
          <a:xfrm>
            <a:off x="594360" y="2743200"/>
            <a:ext cx="11018520" cy="3172968"/>
          </a:xfrm>
          <a:prstGeom prst="rect">
            <a:avLst/>
          </a:prstGeom>
          <a:solidFill>
            <a:srgbClr val="172E4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880360"/>
            <a:ext cx="10607040" cy="2926080"/>
          </a:xfrm>
          <a:prstGeom prst="rect">
            <a:avLst/>
          </a:prstGeom>
          <a:noFill/>
        </p:spPr>
        <p:txBody>
          <a:bodyPr wrap="none" lIns="18288" rIns="18288" tIns="18288" bIns="18288">
            <a:spAutoFit/>
          </a:bodyPr>
          <a:lstStyle/>
          <a:p>
            <a:pPr algn="l">
              <a:lnSpc>
                <a:spcPts val="2529"/>
              </a:lnSpc>
              <a:spcAft>
                <a:spcPts val="400"/>
              </a:spcAft>
              <a:defRPr sz="2200" b="0">
                <a:solidFill>
                  <a:srgbClr val="FFFFFF"/>
                </a:solidFill>
                <a:latin typeface="DejaVu Sans Mono"/>
              </a:defRPr>
            </a:pPr>
            <a:r>
              <a:t>cd "$LAB/joe"</a:t>
            </a:r>
          </a:p>
          <a:p>
            <a:pPr algn="l">
              <a:lnSpc>
                <a:spcPts val="2529"/>
              </a:lnSpc>
              <a:spcAft>
                <a:spcPts val="400"/>
              </a:spcAft>
              <a:defRPr sz="2200" b="0">
                <a:solidFill>
                  <a:srgbClr val="FFFFFF"/>
                </a:solidFill>
                <a:latin typeface="DejaVu Sans Mono"/>
              </a:defRPr>
            </a:pPr>
            <a:r>
              <a:t>git push</a:t>
            </a:r>
          </a:p>
          <a:p>
            <a:pPr algn="l">
              <a:lnSpc>
                <a:spcPts val="2529"/>
              </a:lnSpc>
              <a:spcAft>
                <a:spcPts val="400"/>
              </a:spcAft>
              <a:defRPr sz="2200" b="0">
                <a:solidFill>
                  <a:srgbClr val="FFFFFF"/>
                </a:solidFill>
                <a:latin typeface="DejaVu Sans Mono"/>
              </a:defRPr>
            </a:pPr>
            <a:r>
              <a:t>git fetch origin</a:t>
            </a:r>
          </a:p>
          <a:p>
            <a:pPr algn="l">
              <a:lnSpc>
                <a:spcPts val="2529"/>
              </a:lnSpc>
              <a:spcAft>
                <a:spcPts val="400"/>
              </a:spcAft>
              <a:defRPr sz="2200" b="0">
                <a:solidFill>
                  <a:srgbClr val="FFFFFF"/>
                </a:solidFill>
                <a:latin typeface="DejaVu Sans Mono"/>
              </a:defRPr>
            </a:pPr>
            <a:r>
              <a:t>git log --left-right --oneline HEAD...origin/main</a:t>
            </a:r>
          </a:p>
          <a:p>
            <a:pPr algn="l">
              <a:lnSpc>
                <a:spcPts val="2529"/>
              </a:lnSpc>
              <a:spcAft>
                <a:spcPts val="400"/>
              </a:spcAft>
              <a:defRPr sz="2200" b="0">
                <a:solidFill>
                  <a:srgbClr val="FFFFFF"/>
                </a:solidFill>
                <a:latin typeface="DejaVu Sans Mono"/>
              </a:defRPr>
            </a:pPr>
            <a:r>
              <a:t>git log --graph --oneline --decorate --all -10</a:t>
            </a:r>
          </a:p>
        </p:txBody>
      </p:sp>
      <p:sp>
        <p:nvSpPr>
          <p:cNvPr id="7" name="TextBox 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&lt; : propre à HEAD.   &gt; : propre à origin/main.   Des deux côtés : divergence.</a:t>
            </a:r>
          </a:p>
        </p:txBody>
      </p:sp>
      <p:sp>
        <p:nvSpPr>
          <p:cNvPr id="8" name="TextBox 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Conserver les deux notes et les deux contributions</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S2 · À RÉALISER</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Choisir une opération, annoncer sa destination et sa source, puis la vérifier.</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Décider</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Une avance rapide</a:t>
            </a:r>
          </a:p>
          <a:p>
            <a:pPr algn="l">
              <a:lnSpc>
                <a:spcPts val="2760"/>
              </a:lnSpc>
              <a:spcAft>
                <a:spcPts val="400"/>
              </a:spcAft>
              <a:defRPr sz="2400" b="0">
                <a:solidFill>
                  <a:srgbClr val="24364A"/>
                </a:solidFill>
                <a:latin typeface="DejaVu Sans"/>
              </a:defRPr>
            </a:pPr>
            <a:r>
              <a:t>est-elle possible ?</a:t>
            </a:r>
          </a:p>
          <a:p>
            <a:pPr algn="l">
              <a:lnSpc>
                <a:spcPts val="2760"/>
              </a:lnSpc>
              <a:spcAft>
                <a:spcPts val="400"/>
              </a:spcAft>
              <a:defRPr sz="2400" b="0">
                <a:solidFill>
                  <a:srgbClr val="24364A"/>
                </a:solidFill>
                <a:latin typeface="DejaVu Sans"/>
              </a:defRPr>
            </a:pPr>
            <a:r>
              <a:t>Que doit relier la fusion ?</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Prouver</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Les deux notes existent.</a:t>
            </a:r>
          </a:p>
          <a:p>
            <a:pPr algn="l">
              <a:lnSpc>
                <a:spcPts val="2760"/>
              </a:lnSpc>
              <a:spcAft>
                <a:spcPts val="400"/>
              </a:spcAft>
              <a:defRPr sz="2400" b="0">
                <a:solidFill>
                  <a:srgbClr val="24364A"/>
                </a:solidFill>
                <a:latin typeface="DejaVu Sans"/>
              </a:defRPr>
            </a:pPr>
            <a:r>
              <a:t>Les commits sont conservés.</a:t>
            </a:r>
          </a:p>
          <a:p>
            <a:pPr algn="l">
              <a:lnSpc>
                <a:spcPts val="2760"/>
              </a:lnSpc>
              <a:spcAft>
                <a:spcPts val="400"/>
              </a:spcAft>
              <a:defRPr sz="2400" b="0">
                <a:solidFill>
                  <a:srgbClr val="24364A"/>
                </a:solidFill>
                <a:latin typeface="DejaVu Sans"/>
              </a:defRPr>
            </a:pPr>
            <a:r>
              <a:t>Les trois main coïncident.</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Faire une pause avant le commit de fusion pour lire tous les changements. LAB.md · S2.</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Un commit de fusion relie deux parents</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S2 · COMPRENDRE LE RÉSULTAT</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La fusion conserve les deux chemins de l’historique.</a:t>
            </a:r>
          </a:p>
        </p:txBody>
      </p:sp>
      <p:cxnSp>
        <p:nvCxnSpPr>
          <p:cNvPr id="5" name="Connector 4"/>
          <p:cNvCxnSpPr/>
          <p:nvPr/>
        </p:nvCxnSpPr>
        <p:spPr>
          <a:xfrm flipV="1">
            <a:off x="1325880" y="3063240"/>
            <a:ext cx="2880360" cy="1005840"/>
          </a:xfrm>
          <a:prstGeom prst="line">
            <a:avLst/>
          </a:prstGeom>
          <a:ln w="31750">
            <a:solidFill>
              <a:srgbClr val="53647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325880" y="4069080"/>
            <a:ext cx="2880360" cy="960120"/>
          </a:xfrm>
          <a:prstGeom prst="line">
            <a:avLst/>
          </a:prstGeom>
          <a:ln w="31750">
            <a:solidFill>
              <a:srgbClr val="53647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206240" y="3063240"/>
            <a:ext cx="3337560" cy="1005840"/>
          </a:xfrm>
          <a:prstGeom prst="line">
            <a:avLst/>
          </a:prstGeom>
          <a:ln w="31750">
            <a:solidFill>
              <a:srgbClr val="53647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206240" y="4069080"/>
            <a:ext cx="3337560" cy="960120"/>
          </a:xfrm>
          <a:prstGeom prst="line">
            <a:avLst/>
          </a:prstGeom>
          <a:ln w="31750">
            <a:solidFill>
              <a:srgbClr val="53647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269480" y="379476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96912" y="386791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F</a:t>
            </a:r>
          </a:p>
        </p:txBody>
      </p:sp>
      <p:sp>
        <p:nvSpPr>
          <p:cNvPr id="11" name="TextBox 10"/>
          <p:cNvSpPr txBox="1"/>
          <p:nvPr/>
        </p:nvSpPr>
        <p:spPr>
          <a:xfrm>
            <a:off x="8229600" y="3611880"/>
            <a:ext cx="2743200" cy="1143000"/>
          </a:xfrm>
          <a:prstGeom prst="rect">
            <a:avLst/>
          </a:prstGeom>
          <a:noFill/>
        </p:spPr>
        <p:txBody>
          <a:bodyPr wrap="square" lIns="18288" rIns="18288" tIns="18288" bIns="18288">
            <a:spAutoFit/>
          </a:bodyPr>
          <a:lstStyle/>
          <a:p>
            <a:pPr algn="l">
              <a:lnSpc>
                <a:spcPts val="2645"/>
              </a:lnSpc>
              <a:spcAft>
                <a:spcPts val="400"/>
              </a:spcAft>
              <a:defRPr sz="2300" b="0">
                <a:solidFill>
                  <a:srgbClr val="24364A"/>
                </a:solidFill>
                <a:latin typeface="DejaVu Sans"/>
              </a:defRPr>
            </a:pPr>
            <a:r>
              <a:t>Fusion</a:t>
            </a:r>
          </a:p>
          <a:p>
            <a:pPr algn="l">
              <a:lnSpc>
                <a:spcPts val="2645"/>
              </a:lnSpc>
              <a:spcAft>
                <a:spcPts val="400"/>
              </a:spcAft>
              <a:defRPr sz="2300" b="0">
                <a:solidFill>
                  <a:srgbClr val="24364A"/>
                </a:solidFill>
                <a:latin typeface="DejaVu Sans"/>
              </a:defRPr>
            </a:pPr>
            <a:r>
              <a:t>parents : J et M</a:t>
            </a:r>
          </a:p>
        </p:txBody>
      </p:sp>
      <p:sp>
        <p:nvSpPr>
          <p:cNvPr id="12" name="Oval 11"/>
          <p:cNvSpPr/>
          <p:nvPr/>
        </p:nvSpPr>
        <p:spPr>
          <a:xfrm>
            <a:off x="1051560" y="379476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86791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A</a:t>
            </a:r>
          </a:p>
        </p:txBody>
      </p:sp>
      <p:sp>
        <p:nvSpPr>
          <p:cNvPr id="14" name="Oval 13"/>
          <p:cNvSpPr/>
          <p:nvPr/>
        </p:nvSpPr>
        <p:spPr>
          <a:xfrm>
            <a:off x="3931920" y="278892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59352" y="286207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J</a:t>
            </a:r>
          </a:p>
        </p:txBody>
      </p:sp>
      <p:sp>
        <p:nvSpPr>
          <p:cNvPr id="16" name="Oval 15"/>
          <p:cNvSpPr/>
          <p:nvPr/>
        </p:nvSpPr>
        <p:spPr>
          <a:xfrm>
            <a:off x="3931920" y="4754880"/>
            <a:ext cx="548640" cy="54864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59352" y="4828032"/>
            <a:ext cx="493776" cy="429768"/>
          </a:xfrm>
          <a:prstGeom prst="rect">
            <a:avLst/>
          </a:prstGeom>
          <a:noFill/>
        </p:spPr>
        <p:txBody>
          <a:bodyPr wrap="square" lIns="18288" rIns="18288" tIns="18288" bIns="18288">
            <a:spAutoFit/>
          </a:bodyPr>
          <a:lstStyle/>
          <a:p>
            <a:pPr algn="ctr">
              <a:lnSpc>
                <a:spcPts val="2529"/>
              </a:lnSpc>
              <a:spcAft>
                <a:spcPts val="400"/>
              </a:spcAft>
              <a:defRPr sz="2200" b="1">
                <a:solidFill>
                  <a:srgbClr val="FFFFFF"/>
                </a:solidFill>
                <a:latin typeface="DejaVu Sans"/>
              </a:defRPr>
            </a:pPr>
            <a:r>
              <a:t>M</a:t>
            </a:r>
          </a:p>
        </p:txBody>
      </p:sp>
      <p:sp>
        <p:nvSpPr>
          <p:cNvPr id="18" name="TextBox 17"/>
          <p:cNvSpPr txBox="1"/>
          <p:nvPr/>
        </p:nvSpPr>
        <p:spPr>
          <a:xfrm>
            <a:off x="640080" y="4663440"/>
            <a:ext cx="1828800" cy="457200"/>
          </a:xfrm>
          <a:prstGeom prst="rect">
            <a:avLst/>
          </a:prstGeom>
          <a:noFill/>
        </p:spPr>
        <p:txBody>
          <a:bodyPr wrap="square" lIns="18288" rIns="18288" tIns="18288" bIns="18288">
            <a:spAutoFit/>
          </a:bodyPr>
          <a:lstStyle/>
          <a:p>
            <a:pPr algn="l">
              <a:lnSpc>
                <a:spcPts val="2300"/>
              </a:lnSpc>
              <a:spcAft>
                <a:spcPts val="400"/>
              </a:spcAft>
              <a:defRPr sz="2000" b="0">
                <a:solidFill>
                  <a:srgbClr val="536476"/>
                </a:solidFill>
                <a:latin typeface="DejaVu Sans"/>
              </a:defRPr>
            </a:pPr>
            <a:r>
              <a:t>Ancêtre</a:t>
            </a:r>
          </a:p>
        </p:txBody>
      </p:sp>
      <p:sp>
        <p:nvSpPr>
          <p:cNvPr id="19" name="TextBox 18"/>
          <p:cNvSpPr txBox="1"/>
          <p:nvPr/>
        </p:nvSpPr>
        <p:spPr>
          <a:xfrm>
            <a:off x="3794760" y="2523744"/>
            <a:ext cx="1280160" cy="411480"/>
          </a:xfrm>
          <a:prstGeom prst="rect">
            <a:avLst/>
          </a:prstGeom>
          <a:noFill/>
        </p:spPr>
        <p:txBody>
          <a:bodyPr wrap="square" lIns="18288" rIns="18288" tIns="18288" bIns="18288">
            <a:spAutoFit/>
          </a:bodyPr>
          <a:lstStyle/>
          <a:p>
            <a:pPr algn="l">
              <a:lnSpc>
                <a:spcPts val="2185"/>
              </a:lnSpc>
              <a:spcAft>
                <a:spcPts val="400"/>
              </a:spcAft>
              <a:defRPr sz="1900" b="0">
                <a:solidFill>
                  <a:srgbClr val="536476"/>
                </a:solidFill>
                <a:latin typeface="DejaVu Sans"/>
              </a:defRPr>
            </a:pPr>
            <a:r>
              <a:t>Joe</a:t>
            </a:r>
          </a:p>
        </p:txBody>
      </p:sp>
      <p:sp>
        <p:nvSpPr>
          <p:cNvPr id="20" name="TextBox 19"/>
          <p:cNvSpPr txBox="1"/>
          <p:nvPr/>
        </p:nvSpPr>
        <p:spPr>
          <a:xfrm>
            <a:off x="3776472" y="5532120"/>
            <a:ext cx="1280160" cy="411480"/>
          </a:xfrm>
          <a:prstGeom prst="rect">
            <a:avLst/>
          </a:prstGeom>
          <a:noFill/>
        </p:spPr>
        <p:txBody>
          <a:bodyPr wrap="square" lIns="18288" rIns="18288" tIns="18288" bIns="18288">
            <a:spAutoFit/>
          </a:bodyPr>
          <a:lstStyle/>
          <a:p>
            <a:pPr algn="l">
              <a:lnSpc>
                <a:spcPts val="2185"/>
              </a:lnSpc>
              <a:spcAft>
                <a:spcPts val="400"/>
              </a:spcAft>
              <a:defRPr sz="1900" b="0">
                <a:solidFill>
                  <a:srgbClr val="536476"/>
                </a:solidFill>
                <a:latin typeface="DejaVu Sans"/>
              </a:defRPr>
            </a:pPr>
            <a:r>
              <a:t>Mary</a:t>
            </a:r>
          </a:p>
        </p:txBody>
      </p:sp>
      <p:sp>
        <p:nvSpPr>
          <p:cNvPr id="21" name="TextBox 20"/>
          <p:cNvSpPr txBox="1"/>
          <p:nvPr/>
        </p:nvSpPr>
        <p:spPr>
          <a:xfrm>
            <a:off x="685800" y="5943600"/>
            <a:ext cx="10789920" cy="411480"/>
          </a:xfrm>
          <a:prstGeom prst="rect">
            <a:avLst/>
          </a:prstGeom>
          <a:noFill/>
        </p:spPr>
        <p:txBody>
          <a:bodyPr wrap="square" lIns="18288" rIns="18288" tIns="18288" bIns="18288">
            <a:spAutoFit/>
          </a:bodyPr>
          <a:lstStyle/>
          <a:p>
            <a:pPr algn="l">
              <a:lnSpc>
                <a:spcPts val="2070"/>
              </a:lnSpc>
              <a:spcAft>
                <a:spcPts val="400"/>
              </a:spcAft>
              <a:defRPr sz="1800" b="0">
                <a:solidFill>
                  <a:srgbClr val="536476"/>
                </a:solidFill>
                <a:latin typeface="DejaVu Sans"/>
              </a:defRPr>
            </a:pPr>
            <a:r>
              <a:t>Chaque trait relie un parent au commit suivant.</a:t>
            </a:r>
          </a:p>
        </p:txBody>
      </p:sp>
      <p:sp>
        <p:nvSpPr>
          <p:cNvPr id="22" name="TextBox 21"/>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Divergence : deux chemins. Conflit : Git ne peut pas choisir seul le contenu d’un fichier.</a:t>
            </a:r>
          </a:p>
        </p:txBody>
      </p:sp>
      <p:sp>
        <p:nvSpPr>
          <p:cNvPr id="23" name="TextBox 22"/>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Même ligne, deux choix : que faut-il garder ?</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S3 · RÉSOUDRE UN CONFLIT</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Dans generation/model.txt, les trois versions diffèrent sur noise_sd.</a:t>
            </a:r>
          </a:p>
        </p:txBody>
      </p:sp>
      <p:sp>
        <p:nvSpPr>
          <p:cNvPr id="5" name="Rectangle 4"/>
          <p:cNvSpPr/>
          <p:nvPr/>
        </p:nvSpPr>
        <p:spPr>
          <a:xfrm>
            <a:off x="59436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Ancêtre commun</a:t>
            </a:r>
          </a:p>
        </p:txBody>
      </p:sp>
      <p:sp>
        <p:nvSpPr>
          <p:cNvPr id="8" name="TextBox 7"/>
          <p:cNvSpPr txBox="1"/>
          <p:nvPr/>
        </p:nvSpPr>
        <p:spPr>
          <a:xfrm>
            <a:off x="75895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noise_sd=0.5</a:t>
            </a:r>
          </a:p>
        </p:txBody>
      </p:sp>
      <p:sp>
        <p:nvSpPr>
          <p:cNvPr id="9" name="Rectangle 8"/>
          <p:cNvSpPr/>
          <p:nvPr/>
        </p:nvSpPr>
        <p:spPr>
          <a:xfrm>
            <a:off x="434340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34340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0799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Joe · courant</a:t>
            </a:r>
          </a:p>
        </p:txBody>
      </p:sp>
      <p:sp>
        <p:nvSpPr>
          <p:cNvPr id="12" name="TextBox 11"/>
          <p:cNvSpPr txBox="1"/>
          <p:nvPr/>
        </p:nvSpPr>
        <p:spPr>
          <a:xfrm>
            <a:off x="450799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noise_sd=1</a:t>
            </a:r>
          </a:p>
        </p:txBody>
      </p:sp>
      <p:sp>
        <p:nvSpPr>
          <p:cNvPr id="13" name="Rectangle 12"/>
          <p:cNvSpPr/>
          <p:nvPr/>
        </p:nvSpPr>
        <p:spPr>
          <a:xfrm>
            <a:off x="809244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09244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57031"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Mary · entrant</a:t>
            </a:r>
          </a:p>
        </p:txBody>
      </p:sp>
      <p:sp>
        <p:nvSpPr>
          <p:cNvPr id="16" name="TextBox 15"/>
          <p:cNvSpPr txBox="1"/>
          <p:nvPr/>
        </p:nvSpPr>
        <p:spPr>
          <a:xfrm>
            <a:off x="8257031"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noise_sd=0.8</a:t>
            </a:r>
          </a:p>
        </p:txBody>
      </p:sp>
      <p:sp>
        <p:nvSpPr>
          <p:cNvPr id="17" name="TextBox 1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Résultat demandé : slope=2, intercept=1, noise_sd=0.8 ; chaque ligne une seule fois.</a:t>
            </a:r>
          </a:p>
        </p:txBody>
      </p:sp>
      <p:sp>
        <p:nvSpPr>
          <p:cNvPr id="18" name="TextBox 1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Le conflit laisse une fusion en cours</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S3 · OBSERVER ET CHOISIR</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Après avoir démarré la fusion dans Joe, examiner les chemins non résolus.</a:t>
            </a:r>
          </a:p>
        </p:txBody>
      </p:sp>
      <p:sp>
        <p:nvSpPr>
          <p:cNvPr id="5" name="Rectangle 4"/>
          <p:cNvSpPr/>
          <p:nvPr/>
        </p:nvSpPr>
        <p:spPr>
          <a:xfrm>
            <a:off x="594360" y="2743200"/>
            <a:ext cx="11018520" cy="3172968"/>
          </a:xfrm>
          <a:prstGeom prst="rect">
            <a:avLst/>
          </a:prstGeom>
          <a:solidFill>
            <a:srgbClr val="172E4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880360"/>
            <a:ext cx="10607040" cy="2926080"/>
          </a:xfrm>
          <a:prstGeom prst="rect">
            <a:avLst/>
          </a:prstGeom>
          <a:noFill/>
        </p:spPr>
        <p:txBody>
          <a:bodyPr wrap="none" lIns="18288" rIns="18288" tIns="18288" bIns="18288">
            <a:spAutoFit/>
          </a:bodyPr>
          <a:lstStyle/>
          <a:p>
            <a:pPr algn="l">
              <a:lnSpc>
                <a:spcPts val="2529"/>
              </a:lnSpc>
              <a:spcAft>
                <a:spcPts val="400"/>
              </a:spcAft>
              <a:defRPr sz="2200" b="0">
                <a:solidFill>
                  <a:srgbClr val="FFFFFF"/>
                </a:solidFill>
                <a:latin typeface="DejaVu Sans Mono"/>
              </a:defRPr>
            </a:pPr>
            <a:r>
              <a:t>git status</a:t>
            </a:r>
          </a:p>
          <a:p>
            <a:pPr algn="l">
              <a:lnSpc>
                <a:spcPts val="2529"/>
              </a:lnSpc>
              <a:spcAft>
                <a:spcPts val="400"/>
              </a:spcAft>
              <a:defRPr sz="2200" b="0">
                <a:solidFill>
                  <a:srgbClr val="FFFFFF"/>
                </a:solidFill>
                <a:latin typeface="DejaVu Sans Mono"/>
              </a:defRPr>
            </a:pPr>
            <a:r>
              <a:t>git diff --name-only --diff-filter=U</a:t>
            </a:r>
          </a:p>
          <a:p>
            <a:pPr algn="l">
              <a:lnSpc>
                <a:spcPts val="2529"/>
              </a:lnSpc>
              <a:spcAft>
                <a:spcPts val="400"/>
              </a:spcAft>
              <a:defRPr sz="2200" b="0">
                <a:solidFill>
                  <a:srgbClr val="FFFFFF"/>
                </a:solidFill>
                <a:latin typeface="DejaVu Sans Mono"/>
              </a:defRPr>
            </a:pPr>
            <a:r>
              <a:t>git diff --staged</a:t>
            </a:r>
          </a:p>
          <a:p>
            <a:pPr algn="l">
              <a:lnSpc>
                <a:spcPts val="2529"/>
              </a:lnSpc>
              <a:spcAft>
                <a:spcPts val="400"/>
              </a:spcAft>
              <a:defRPr sz="2200" b="0">
                <a:solidFill>
                  <a:srgbClr val="FFFFFF"/>
                </a:solidFill>
                <a:latin typeface="DejaVu Sans Mono"/>
              </a:defRPr>
            </a:pPr>
            <a:r>
              <a:t>cat generation/model.txt</a:t>
            </a:r>
          </a:p>
        </p:txBody>
      </p:sp>
      <p:sp>
        <p:nvSpPr>
          <p:cNvPr id="7" name="TextBox 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Avant résolution, lire les marqueurs dans le fichier ; le diff indexé seul ne suffit pas.</a:t>
            </a:r>
          </a:p>
        </p:txBody>
      </p:sp>
      <p:sp>
        <p:nvSpPr>
          <p:cNvPr id="8" name="TextBox 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Abandonner la tentative ou terminer la fusion</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S3 · DEUX ISSUES</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S3 fait pratiquer les deux routes, depuis un état initial propre.</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Abandonner</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git merge --abort</a:t>
            </a:r>
          </a:p>
          <a:p>
            <a:pPr algn="l">
              <a:lnSpc>
                <a:spcPts val="2760"/>
              </a:lnSpc>
              <a:spcAft>
                <a:spcPts val="400"/>
              </a:spcAft>
              <a:defRPr sz="2400" b="0">
                <a:solidFill>
                  <a:srgbClr val="24364A"/>
                </a:solidFill>
                <a:latin typeface="DejaVu Sans"/>
              </a:defRPr>
            </a:pPr>
            <a:r>
              <a:t>Retrouver l’état de Joe</a:t>
            </a:r>
          </a:p>
          <a:p>
            <a:pPr algn="l">
              <a:lnSpc>
                <a:spcPts val="2760"/>
              </a:lnSpc>
              <a:spcAft>
                <a:spcPts val="400"/>
              </a:spcAft>
              <a:defRPr sz="2400" b="0">
                <a:solidFill>
                  <a:srgbClr val="24364A"/>
                </a:solidFill>
                <a:latin typeface="DejaVu Sans"/>
              </a:defRPr>
            </a:pPr>
            <a:r>
              <a:t>avant cette fusion.</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Terminer</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Choisir le contenu.</a:t>
            </a:r>
          </a:p>
          <a:p>
            <a:pPr algn="l">
              <a:lnSpc>
                <a:spcPts val="2760"/>
              </a:lnSpc>
              <a:spcAft>
                <a:spcPts val="400"/>
              </a:spcAft>
              <a:defRPr sz="2400" b="0">
                <a:solidFill>
                  <a:srgbClr val="24364A"/>
                </a:solidFill>
                <a:latin typeface="DejaVu Sans"/>
              </a:defRPr>
            </a:pPr>
            <a:r>
              <a:t>Indexer les fichiers résolus.</a:t>
            </a:r>
          </a:p>
          <a:p>
            <a:pPr algn="l">
              <a:lnSpc>
                <a:spcPts val="2760"/>
              </a:lnSpc>
              <a:spcAft>
                <a:spcPts val="400"/>
              </a:spcAft>
              <a:defRPr sz="2400" b="0">
                <a:solidFill>
                  <a:srgbClr val="24364A"/>
                </a:solidFill>
                <a:latin typeface="DejaVu Sans"/>
              </a:defRPr>
            </a:pPr>
            <a:r>
              <a:t>Relire, puis continuer.</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L’abandon n’est pas un retour à n’importe quelle ancienne version. LAB.md · S3.</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 Accept Both » ne décide pas ce qui est correct</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S3 · VÉRIFIER LE RÉSULTAT</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Deux lignes noise_sd peuvent être conservées alors qu’une seule est attendue.</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Vérifier le fichier</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Trois paramètres.</a:t>
            </a:r>
          </a:p>
          <a:p>
            <a:pPr algn="l">
              <a:lnSpc>
                <a:spcPts val="2760"/>
              </a:lnSpc>
              <a:spcAft>
                <a:spcPts val="400"/>
              </a:spcAft>
              <a:defRPr sz="2400" b="0">
                <a:solidFill>
                  <a:srgbClr val="24364A"/>
                </a:solidFill>
                <a:latin typeface="DejaVu Sans"/>
              </a:defRPr>
            </a:pPr>
            <a:r>
              <a:t>La valeur convenue.</a:t>
            </a:r>
          </a:p>
          <a:p>
            <a:pPr algn="l">
              <a:lnSpc>
                <a:spcPts val="2760"/>
              </a:lnSpc>
              <a:spcAft>
                <a:spcPts val="400"/>
              </a:spcAft>
              <a:defRPr sz="2400" b="0">
                <a:solidFill>
                  <a:srgbClr val="24364A"/>
                </a:solidFill>
                <a:latin typeface="DejaVu Sans"/>
              </a:defRPr>
            </a:pPr>
            <a:r>
              <a:t>Aucun marqueur de conflit.</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Vérifier Git</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Aucun chemin non fusionné.</a:t>
            </a:r>
          </a:p>
          <a:p>
            <a:pPr algn="l">
              <a:lnSpc>
                <a:spcPts val="2760"/>
              </a:lnSpc>
              <a:spcAft>
                <a:spcPts val="400"/>
              </a:spcAft>
              <a:defRPr sz="2400" b="0">
                <a:solidFill>
                  <a:srgbClr val="24364A"/>
                </a:solidFill>
                <a:latin typeface="DejaVu Sans"/>
              </a:defRPr>
            </a:pPr>
            <a:r>
              <a:t>Un commit de fusion.</a:t>
            </a:r>
          </a:p>
          <a:p>
            <a:pPr algn="l">
              <a:lnSpc>
                <a:spcPts val="2760"/>
              </a:lnSpc>
              <a:spcAft>
                <a:spcPts val="400"/>
              </a:spcAft>
              <a:defRPr sz="2400" b="0">
                <a:solidFill>
                  <a:srgbClr val="24364A"/>
                </a:solidFill>
                <a:latin typeface="DejaVu Sans"/>
              </a:defRPr>
            </a:pPr>
            <a:r>
              <a:t>Les deux clones à jour.</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Une résolution dans l’éditeur reste à indexer, commiter et publier.</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Une branche d’équipe couvre tout le dépôt</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S4 · RETROUVER DES FICHIERS SUPPRIMÉS</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La branche data peut aussi contenir des suppressions dans .vscode/.</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main</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Deux modèles VS Code.</a:t>
            </a:r>
          </a:p>
          <a:p>
            <a:pPr algn="l">
              <a:lnSpc>
                <a:spcPts val="2760"/>
              </a:lnSpc>
              <a:spcAft>
                <a:spcPts val="400"/>
              </a:spcAft>
              <a:defRPr sz="2400" b="0">
                <a:solidFill>
                  <a:srgbClr val="24364A"/>
                </a:solidFill>
                <a:latin typeface="DejaVu Sans"/>
              </a:defRPr>
            </a:pPr>
            <a:r>
              <a:t>Pas encore de</a:t>
            </a:r>
          </a:p>
          <a:p>
            <a:pPr algn="l">
              <a:lnSpc>
                <a:spcPts val="2760"/>
              </a:lnSpc>
              <a:spcAft>
                <a:spcPts val="400"/>
              </a:spcAft>
              <a:defRPr sz="2400" b="0">
                <a:solidFill>
                  <a:srgbClr val="24364A"/>
                </a:solidFill>
                <a:latin typeface="DejaVu Sans"/>
              </a:defRPr>
            </a:pPr>
            <a:r>
              <a:t>generation/model.txt.</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data/linear-v1</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Un fichier de génération.</a:t>
            </a:r>
          </a:p>
          <a:p>
            <a:pPr algn="l">
              <a:lnSpc>
                <a:spcPts val="2760"/>
              </a:lnSpc>
              <a:spcAft>
                <a:spcPts val="400"/>
              </a:spcAft>
              <a:defRPr sz="2400" b="0">
                <a:solidFill>
                  <a:srgbClr val="24364A"/>
                </a:solidFill>
                <a:latin typeface="DejaVu Sans"/>
              </a:defRPr>
            </a:pPr>
            <a:r>
              <a:t>Deux modèles supprimés.</a:t>
            </a:r>
          </a:p>
          <a:p>
            <a:pPr algn="l">
              <a:lnSpc>
                <a:spcPts val="2760"/>
              </a:lnSpc>
              <a:spcAft>
                <a:spcPts val="400"/>
              </a:spcAft>
              <a:defRPr sz="2400" b="0">
                <a:solidFill>
                  <a:srgbClr val="24364A"/>
                </a:solidFill>
                <a:latin typeface="DejaVu Sans"/>
              </a:defRPr>
            </a:pPr>
            <a:r>
              <a:t>Un ajout récent : seed=42.</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Les responsabilités d’équipe sont un accord humain ; Git enregistre tous les chemins suivis.</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Sur quelle branche peut-on travailler ?</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S4 · BRANCHE LOCALE OU RÉFÉRENCE ?</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Après fetch : choisir selon l’existence de la branche locale.</a:t>
            </a:r>
          </a:p>
        </p:txBody>
      </p:sp>
      <p:sp>
        <p:nvSpPr>
          <p:cNvPr id="5" name="Rectangle 4"/>
          <p:cNvSpPr/>
          <p:nvPr/>
        </p:nvSpPr>
        <p:spPr>
          <a:xfrm>
            <a:off x="594360" y="2743200"/>
            <a:ext cx="11018520" cy="3172968"/>
          </a:xfrm>
          <a:prstGeom prst="rect">
            <a:avLst/>
          </a:prstGeom>
          <a:solidFill>
            <a:srgbClr val="172E4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880360"/>
            <a:ext cx="10607040" cy="2926080"/>
          </a:xfrm>
          <a:prstGeom prst="rect">
            <a:avLst/>
          </a:prstGeom>
          <a:noFill/>
        </p:spPr>
        <p:txBody>
          <a:bodyPr wrap="none" lIns="18288" rIns="18288" tIns="18288" bIns="18288">
            <a:spAutoFit/>
          </a:bodyPr>
          <a:lstStyle/>
          <a:p>
            <a:pPr algn="l">
              <a:lnSpc>
                <a:spcPts val="2300"/>
              </a:lnSpc>
              <a:spcAft>
                <a:spcPts val="400"/>
              </a:spcAft>
              <a:defRPr sz="2000" b="0">
                <a:solidFill>
                  <a:srgbClr val="FFFFFF"/>
                </a:solidFill>
                <a:latin typeface="DejaVu Sans Mono"/>
              </a:defRPr>
            </a:pPr>
            <a:r>
              <a:t>git branch -vv</a:t>
            </a:r>
          </a:p>
          <a:p>
            <a:pPr algn="l">
              <a:lnSpc>
                <a:spcPts val="2300"/>
              </a:lnSpc>
              <a:spcAft>
                <a:spcPts val="400"/>
              </a:spcAft>
              <a:defRPr sz="2000" b="0">
                <a:solidFill>
                  <a:srgbClr val="FFFFFF"/>
                </a:solidFill>
                <a:latin typeface="DejaVu Sans Mono"/>
              </a:defRPr>
            </a:pPr>
            <a:r>
              <a:t>git branch -r</a:t>
            </a:r>
          </a:p>
          <a:p>
            <a:pPr algn="l">
              <a:lnSpc>
                <a:spcPts val="2300"/>
              </a:lnSpc>
              <a:spcAft>
                <a:spcPts val="400"/>
              </a:spcAft>
              <a:defRPr sz="2000" b="0">
                <a:solidFill>
                  <a:srgbClr val="FFFFFF"/>
                </a:solidFill>
                <a:latin typeface="DejaVu Sans Mono"/>
              </a:defRPr>
            </a:pPr>
          </a:p>
          <a:p>
            <a:pPr algn="l">
              <a:lnSpc>
                <a:spcPts val="2300"/>
              </a:lnSpc>
              <a:spcAft>
                <a:spcPts val="400"/>
              </a:spcAft>
              <a:defRPr sz="2000" b="0">
                <a:solidFill>
                  <a:srgbClr val="FFFFFF"/>
                </a:solidFill>
                <a:latin typeface="DejaVu Sans Mono"/>
              </a:defRPr>
            </a:pPr>
            <a:r>
              <a:t># Existing local branch</a:t>
            </a:r>
          </a:p>
          <a:p>
            <a:pPr algn="l">
              <a:lnSpc>
                <a:spcPts val="2300"/>
              </a:lnSpc>
              <a:spcAft>
                <a:spcPts val="400"/>
              </a:spcAft>
              <a:defRPr sz="2000" b="0">
                <a:solidFill>
                  <a:srgbClr val="FFFFFF"/>
                </a:solidFill>
                <a:latin typeface="DejaVu Sans Mono"/>
              </a:defRPr>
            </a:pPr>
            <a:r>
              <a:t>git switch data/linear-v1</a:t>
            </a:r>
          </a:p>
          <a:p>
            <a:pPr algn="l">
              <a:lnSpc>
                <a:spcPts val="2300"/>
              </a:lnSpc>
              <a:spcAft>
                <a:spcPts val="400"/>
              </a:spcAft>
              <a:defRPr sz="2000" b="0">
                <a:solidFill>
                  <a:srgbClr val="FFFFFF"/>
                </a:solidFill>
                <a:latin typeface="DejaVu Sans Mono"/>
              </a:defRPr>
            </a:pPr>
          </a:p>
          <a:p>
            <a:pPr algn="l">
              <a:lnSpc>
                <a:spcPts val="2300"/>
              </a:lnSpc>
              <a:spcAft>
                <a:spcPts val="400"/>
              </a:spcAft>
              <a:defRPr sz="2000" b="0">
                <a:solidFill>
                  <a:srgbClr val="FFFFFF"/>
                </a:solidFill>
                <a:latin typeface="DejaVu Sans Mono"/>
              </a:defRPr>
            </a:pPr>
            <a:r>
              <a:t># Alternative: local branch does not exist yet</a:t>
            </a:r>
          </a:p>
          <a:p>
            <a:pPr algn="l">
              <a:lnSpc>
                <a:spcPts val="2300"/>
              </a:lnSpc>
              <a:spcAft>
                <a:spcPts val="400"/>
              </a:spcAft>
              <a:defRPr sz="2000" b="0">
                <a:solidFill>
                  <a:srgbClr val="FFFFFF"/>
                </a:solidFill>
                <a:latin typeface="DejaVu Sans Mono"/>
              </a:defRPr>
            </a:pPr>
            <a:r>
              <a:t>git switch --track origin/data/linear-v1</a:t>
            </a:r>
          </a:p>
        </p:txBody>
      </p:sp>
      <p:sp>
        <p:nvSpPr>
          <p:cNvPr id="7" name="TextBox 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Deux alternatives, pas deux commandes à enchaîner. Dans S4, la branche locale existe déjà.</a:t>
            </a:r>
          </a:p>
        </p:txBody>
      </p:sp>
      <p:sp>
        <p:nvSpPr>
          <p:cNvPr id="8" name="TextBox 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Deux comparaisons, deux points de départ</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S4 · OBSERVER</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Dans Joe, sur data/linear-v1 : prévoir les listes avant de les afficher.</a:t>
            </a:r>
          </a:p>
        </p:txBody>
      </p:sp>
      <p:sp>
        <p:nvSpPr>
          <p:cNvPr id="5" name="Rectangle 4"/>
          <p:cNvSpPr/>
          <p:nvPr/>
        </p:nvSpPr>
        <p:spPr>
          <a:xfrm>
            <a:off x="594360" y="2743200"/>
            <a:ext cx="11018520" cy="3172968"/>
          </a:xfrm>
          <a:prstGeom prst="rect">
            <a:avLst/>
          </a:prstGeom>
          <a:solidFill>
            <a:srgbClr val="172E4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95528" y="2880360"/>
            <a:ext cx="10607040" cy="2926080"/>
          </a:xfrm>
          <a:prstGeom prst="rect">
            <a:avLst/>
          </a:prstGeom>
          <a:noFill/>
        </p:spPr>
        <p:txBody>
          <a:bodyPr wrap="none" lIns="18288" rIns="18288" tIns="18288" bIns="18288">
            <a:spAutoFit/>
          </a:bodyPr>
          <a:lstStyle/>
          <a:p>
            <a:pPr algn="l">
              <a:lnSpc>
                <a:spcPts val="2529"/>
              </a:lnSpc>
              <a:spcAft>
                <a:spcPts val="400"/>
              </a:spcAft>
              <a:defRPr sz="2200" b="0">
                <a:solidFill>
                  <a:srgbClr val="FFFFFF"/>
                </a:solidFill>
                <a:latin typeface="DejaVu Sans Mono"/>
              </a:defRPr>
            </a:pPr>
            <a:r>
              <a:t>git pull --ff-only</a:t>
            </a:r>
          </a:p>
          <a:p>
            <a:pPr algn="l">
              <a:lnSpc>
                <a:spcPts val="2529"/>
              </a:lnSpc>
              <a:spcAft>
                <a:spcPts val="400"/>
              </a:spcAft>
              <a:defRPr sz="2200" b="0">
                <a:solidFill>
                  <a:srgbClr val="FFFFFF"/>
                </a:solidFill>
                <a:latin typeface="DejaVu Sans Mono"/>
              </a:defRPr>
            </a:pPr>
            <a:r>
              <a:t>git diff --name-status before-pull HEAD</a:t>
            </a:r>
          </a:p>
          <a:p>
            <a:pPr algn="l">
              <a:lnSpc>
                <a:spcPts val="2529"/>
              </a:lnSpc>
              <a:spcAft>
                <a:spcPts val="400"/>
              </a:spcAft>
              <a:defRPr sz="2200" b="0">
                <a:solidFill>
                  <a:srgbClr val="FFFFFF"/>
                </a:solidFill>
                <a:latin typeface="DejaVu Sans Mono"/>
              </a:defRPr>
            </a:pPr>
            <a:r>
              <a:t>git diff --name-status main...data/linear-v1</a:t>
            </a:r>
          </a:p>
        </p:txBody>
      </p:sp>
      <p:sp>
        <p:nvSpPr>
          <p:cNvPr id="7" name="TextBox 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A : ajouté.   M : modifié.   D : supprimé.   La seconde commande diff part de l’ancêtre commun.</a:t>
            </a:r>
          </a:p>
        </p:txBody>
      </p:sp>
      <p:sp>
        <p:nvSpPr>
          <p:cNvPr id="8" name="TextBox 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Récupérer les modèles et conserver la génération</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S4 · À RÉALISER</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Dans Joe : intégrer data dans main, puis réparer les suppressions enregistrées.</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Avant le commit</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Nommer la destination.</a:t>
            </a:r>
          </a:p>
          <a:p>
            <a:pPr algn="l">
              <a:lnSpc>
                <a:spcPts val="2760"/>
              </a:lnSpc>
              <a:spcAft>
                <a:spcPts val="400"/>
              </a:spcAft>
              <a:defRPr sz="2400" b="0">
                <a:solidFill>
                  <a:srgbClr val="24364A"/>
                </a:solidFill>
                <a:latin typeface="DejaVu Sans"/>
              </a:defRPr>
            </a:pPr>
            <a:r>
              <a:t>Examiner tous les chemins.</a:t>
            </a:r>
          </a:p>
          <a:p>
            <a:pPr algn="l">
              <a:lnSpc>
                <a:spcPts val="2760"/>
              </a:lnSpc>
              <a:spcAft>
                <a:spcPts val="400"/>
              </a:spcAft>
              <a:defRPr sz="2400" b="0">
                <a:solidFill>
                  <a:srgbClr val="24364A"/>
                </a:solidFill>
                <a:latin typeface="DejaVu Sans"/>
              </a:defRPr>
            </a:pPr>
            <a:r>
              <a:t>Expliquer les deux D.</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Après réparation</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Modèles identiques à start.</a:t>
            </a:r>
          </a:p>
          <a:p>
            <a:pPr algn="l">
              <a:lnSpc>
                <a:spcPts val="2760"/>
              </a:lnSpc>
              <a:spcAft>
                <a:spcPts val="400"/>
              </a:spcAft>
              <a:defRPr sz="2400" b="0">
                <a:solidFill>
                  <a:srgbClr val="24364A"/>
                </a:solidFill>
                <a:latin typeface="DejaVu Sans"/>
              </a:defRPr>
            </a:pPr>
            <a:r>
              <a:t>seed=42 toujours présent.</a:t>
            </a:r>
          </a:p>
          <a:p>
            <a:pPr algn="l">
              <a:lnSpc>
                <a:spcPts val="2760"/>
              </a:lnSpc>
              <a:spcAft>
                <a:spcPts val="400"/>
              </a:spcAft>
              <a:defRPr sz="2400" b="0">
                <a:solidFill>
                  <a:srgbClr val="24364A"/>
                </a:solidFill>
                <a:latin typeface="DejaVu Sans"/>
              </a:defRPr>
            </a:pPr>
            <a:r>
              <a:t>Historique conservé.</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La suppression est commitée volontairement dans ce laboratoire. Voir LAB.md · S4.</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Lire, restaurer et annuler répondent à trois besoins</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S4 · CHOISIR LA RÉCUPÉRATION</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Choisir d’abord le résultat voulu, puis la commande.</a:t>
            </a:r>
          </a:p>
        </p:txBody>
      </p:sp>
      <p:sp>
        <p:nvSpPr>
          <p:cNvPr id="5" name="Rectangle 4"/>
          <p:cNvSpPr/>
          <p:nvPr/>
        </p:nvSpPr>
        <p:spPr>
          <a:xfrm>
            <a:off x="59436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Lire un ancien fichier</a:t>
            </a:r>
          </a:p>
        </p:txBody>
      </p:sp>
      <p:sp>
        <p:nvSpPr>
          <p:cNvPr id="8" name="TextBox 7"/>
          <p:cNvSpPr txBox="1"/>
          <p:nvPr/>
        </p:nvSpPr>
        <p:spPr>
          <a:xfrm>
            <a:off x="75895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git show SOURCE:FILE</a:t>
            </a:r>
          </a:p>
          <a:p>
            <a:pPr algn="l">
              <a:lnSpc>
                <a:spcPts val="2415"/>
              </a:lnSpc>
              <a:spcAft>
                <a:spcPts val="400"/>
              </a:spcAft>
              <a:defRPr sz="2100" b="0">
                <a:solidFill>
                  <a:srgbClr val="24364A"/>
                </a:solidFill>
                <a:latin typeface="DejaVu Sans"/>
              </a:defRPr>
            </a:pPr>
            <a:r>
              <a:t>Affiche son contenu.</a:t>
            </a:r>
          </a:p>
          <a:p>
            <a:pPr algn="l">
              <a:lnSpc>
                <a:spcPts val="2415"/>
              </a:lnSpc>
              <a:spcAft>
                <a:spcPts val="400"/>
              </a:spcAft>
              <a:defRPr sz="2100" b="0">
                <a:solidFill>
                  <a:srgbClr val="24364A"/>
                </a:solidFill>
                <a:latin typeface="DejaVu Sans"/>
              </a:defRPr>
            </a:pPr>
            <a:r>
              <a:t>Ne le restaure pas.</a:t>
            </a:r>
          </a:p>
        </p:txBody>
      </p:sp>
      <p:sp>
        <p:nvSpPr>
          <p:cNvPr id="9" name="Rectangle 8"/>
          <p:cNvSpPr/>
          <p:nvPr/>
        </p:nvSpPr>
        <p:spPr>
          <a:xfrm>
            <a:off x="434340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34340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0799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Retrouver son contenu</a:t>
            </a:r>
          </a:p>
        </p:txBody>
      </p:sp>
      <p:sp>
        <p:nvSpPr>
          <p:cNvPr id="12" name="TextBox 11"/>
          <p:cNvSpPr txBox="1"/>
          <p:nvPr/>
        </p:nvSpPr>
        <p:spPr>
          <a:xfrm>
            <a:off x="450799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git restore \</a:t>
            </a:r>
          </a:p>
          <a:p>
            <a:pPr algn="l">
              <a:lnSpc>
                <a:spcPts val="2415"/>
              </a:lnSpc>
              <a:spcAft>
                <a:spcPts val="400"/>
              </a:spcAft>
              <a:defRPr sz="2100" b="0">
                <a:solidFill>
                  <a:srgbClr val="24364A"/>
                </a:solidFill>
                <a:latin typeface="DejaVu Sans"/>
              </a:defRPr>
            </a:pPr>
            <a:r>
              <a:t>--source=SOURCE \</a:t>
            </a:r>
          </a:p>
          <a:p>
            <a:pPr algn="l">
              <a:lnSpc>
                <a:spcPts val="2415"/>
              </a:lnSpc>
              <a:spcAft>
                <a:spcPts val="400"/>
              </a:spcAft>
              <a:defRPr sz="2100" b="0">
                <a:solidFill>
                  <a:srgbClr val="24364A"/>
                </a:solidFill>
                <a:latin typeface="DejaVu Sans"/>
              </a:defRPr>
            </a:pPr>
            <a:r>
              <a:t>-- FILE</a:t>
            </a:r>
          </a:p>
          <a:p>
            <a:pPr algn="l">
              <a:lnSpc>
                <a:spcPts val="2415"/>
              </a:lnSpc>
              <a:spcAft>
                <a:spcPts val="400"/>
              </a:spcAft>
              <a:defRPr sz="2100" b="0">
                <a:solidFill>
                  <a:srgbClr val="24364A"/>
                </a:solidFill>
                <a:latin typeface="DejaVu Sans"/>
              </a:defRPr>
            </a:pPr>
            <a:r>
              <a:t>Modifie le fichier de travail.</a:t>
            </a:r>
          </a:p>
        </p:txBody>
      </p:sp>
      <p:sp>
        <p:nvSpPr>
          <p:cNvPr id="13" name="Rectangle 12"/>
          <p:cNvSpPr/>
          <p:nvPr/>
        </p:nvSpPr>
        <p:spPr>
          <a:xfrm>
            <a:off x="809244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09244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57031"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Annuler un changement</a:t>
            </a:r>
          </a:p>
        </p:txBody>
      </p:sp>
      <p:sp>
        <p:nvSpPr>
          <p:cNvPr id="16" name="TextBox 15"/>
          <p:cNvSpPr txBox="1"/>
          <p:nvPr/>
        </p:nvSpPr>
        <p:spPr>
          <a:xfrm>
            <a:off x="8257031"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git revert COMMIT_ID</a:t>
            </a:r>
          </a:p>
          <a:p>
            <a:pPr algn="l">
              <a:lnSpc>
                <a:spcPts val="2415"/>
              </a:lnSpc>
              <a:spcAft>
                <a:spcPts val="400"/>
              </a:spcAft>
              <a:defRPr sz="2100" b="0">
                <a:solidFill>
                  <a:srgbClr val="24364A"/>
                </a:solidFill>
                <a:latin typeface="DejaVu Sans"/>
              </a:defRPr>
            </a:pPr>
            <a:r>
              <a:t>Crée un commit inverse.</a:t>
            </a:r>
          </a:p>
          <a:p>
            <a:pPr algn="l">
              <a:lnSpc>
                <a:spcPts val="2415"/>
              </a:lnSpc>
              <a:spcAft>
                <a:spcPts val="400"/>
              </a:spcAft>
              <a:defRPr sz="2100" b="0">
                <a:solidFill>
                  <a:srgbClr val="24364A"/>
                </a:solidFill>
                <a:latin typeface="DejaVu Sans"/>
              </a:defRPr>
            </a:pPr>
            <a:r>
              <a:t>Peut avoir des conflits.</a:t>
            </a:r>
          </a:p>
        </p:txBody>
      </p:sp>
      <p:sp>
        <p:nvSpPr>
          <p:cNvPr id="17" name="TextBox 1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Exemples à adapter : remplacer SOURCE, FILE, COMMIT_ID. Restaurer peut écraser des modifications locales.</a:t>
            </a:r>
          </a:p>
        </p:txBody>
      </p:sp>
      <p:sp>
        <p:nvSpPr>
          <p:cNvPr id="18" name="TextBox 1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Les modèles avaient déjà disparu de la branche data</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RETOUR AU 15 OCTOBRE</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Le résumé du pull et celui du merge étaient tous les deux cohérents.</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7da6b93 → 8012d20</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Générateur modifié.</a:t>
            </a:r>
          </a:p>
          <a:p>
            <a:pPr algn="l">
              <a:lnSpc>
                <a:spcPts val="2760"/>
              </a:lnSpc>
              <a:spcAft>
                <a:spcPts val="400"/>
              </a:spcAft>
              <a:defRPr sz="2400" b="0">
                <a:solidFill>
                  <a:srgbClr val="24364A"/>
                </a:solidFill>
                <a:latin typeface="DejaVu Sans"/>
              </a:defRPr>
            </a:pPr>
            <a:r>
              <a:t>Modèles déjà absents</a:t>
            </a:r>
          </a:p>
          <a:p>
            <a:pPr algn="l">
              <a:lnSpc>
                <a:spcPts val="2760"/>
              </a:lnSpc>
              <a:spcAft>
                <a:spcPts val="400"/>
              </a:spcAft>
              <a:defRPr sz="2400" b="0">
                <a:solidFill>
                  <a:srgbClr val="24364A"/>
                </a:solidFill>
                <a:latin typeface="DejaVu Sans"/>
              </a:defRPr>
            </a:pPr>
            <a:r>
              <a:t>au départ.</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da7c04a → 03357db</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Générateur ajouté.</a:t>
            </a:r>
          </a:p>
          <a:p>
            <a:pPr algn="l">
              <a:lnSpc>
                <a:spcPts val="2760"/>
              </a:lnSpc>
              <a:spcAft>
                <a:spcPts val="400"/>
              </a:spcAft>
              <a:defRPr sz="2400" b="0">
                <a:solidFill>
                  <a:srgbClr val="24364A"/>
                </a:solidFill>
                <a:latin typeface="DejaVu Sans"/>
              </a:defRPr>
            </a:pPr>
            <a:r>
              <a:t>Deux modèles supprimés</a:t>
            </a:r>
          </a:p>
          <a:p>
            <a:pPr algn="l">
              <a:lnSpc>
                <a:spcPts val="2760"/>
              </a:lnSpc>
              <a:spcAft>
                <a:spcPts val="400"/>
              </a:spcAft>
              <a:defRPr sz="2400" b="0">
                <a:solidFill>
                  <a:srgbClr val="24364A"/>
                </a:solidFill>
                <a:latin typeface="DejaVu Sans"/>
              </a:defRPr>
            </a:pPr>
            <a:r>
              <a:t>par rapport à main.</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Le message de 7da6b93 parle du générateur ; son patch contient seulement les deux suppressions.</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Retrouver la version de 12 h 47 : pour quel résultat ?</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RÉCUPÉRATION · TRANSFERT</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Le commit a8b77a7 a créé le générateur. Que ferait son revert ?</a:t>
            </a:r>
          </a:p>
        </p:txBody>
      </p:sp>
      <p:sp>
        <p:nvSpPr>
          <p:cNvPr id="5" name="Rectangle 4"/>
          <p:cNvSpPr/>
          <p:nvPr/>
        </p:nvSpPr>
        <p:spPr>
          <a:xfrm>
            <a:off x="59436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Retrouver le fichier</a:t>
            </a:r>
          </a:p>
        </p:txBody>
      </p:sp>
      <p:sp>
        <p:nvSpPr>
          <p:cNvPr id="8" name="TextBox 7"/>
          <p:cNvSpPr txBox="1"/>
          <p:nvPr/>
        </p:nvSpPr>
        <p:spPr>
          <a:xfrm>
            <a:off x="75895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Lire l’ancien contenu.</a:t>
            </a:r>
          </a:p>
          <a:p>
            <a:pPr algn="l">
              <a:lnSpc>
                <a:spcPts val="2760"/>
              </a:lnSpc>
              <a:spcAft>
                <a:spcPts val="400"/>
              </a:spcAft>
              <a:defRPr sz="2400" b="0">
                <a:solidFill>
                  <a:srgbClr val="24364A"/>
                </a:solidFill>
                <a:latin typeface="DejaVu Sans"/>
              </a:defRPr>
            </a:pPr>
            <a:r>
              <a:t>Choisir ce qui reste utile.</a:t>
            </a:r>
          </a:p>
          <a:p>
            <a:pPr algn="l">
              <a:lnSpc>
                <a:spcPts val="2760"/>
              </a:lnSpc>
              <a:spcAft>
                <a:spcPts val="400"/>
              </a:spcAft>
              <a:defRPr sz="2400" b="0">
                <a:solidFill>
                  <a:srgbClr val="24364A"/>
                </a:solidFill>
                <a:latin typeface="DejaVu Sans"/>
              </a:defRPr>
            </a:pPr>
            <a:r>
              <a:t>Restaurer les chemins voulus.</a:t>
            </a:r>
          </a:p>
        </p:txBody>
      </p:sp>
      <p:sp>
        <p:nvSpPr>
          <p:cNvPr id="9" name="Rectangle 8"/>
          <p:cNvSpPr/>
          <p:nvPr/>
        </p:nvSpPr>
        <p:spPr>
          <a:xfrm>
            <a:off x="6217920" y="2816352"/>
            <a:ext cx="539496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21792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2962656"/>
            <a:ext cx="506577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Vérifier le programme</a:t>
            </a:r>
          </a:p>
        </p:txBody>
      </p:sp>
      <p:sp>
        <p:nvSpPr>
          <p:cNvPr id="12" name="TextBox 11"/>
          <p:cNvSpPr txBox="1"/>
          <p:nvPr/>
        </p:nvSpPr>
        <p:spPr>
          <a:xfrm>
            <a:off x="6382512" y="3840480"/>
            <a:ext cx="5065776" cy="1847088"/>
          </a:xfrm>
          <a:prstGeom prst="rect">
            <a:avLst/>
          </a:prstGeom>
          <a:noFill/>
        </p:spPr>
        <p:txBody>
          <a:bodyPr wrap="square" lIns="18288" rIns="18288" tIns="18288" bIns="18288">
            <a:spAutoFit/>
          </a:bodyPr>
          <a:lstStyle/>
          <a:p>
            <a:pPr algn="l">
              <a:lnSpc>
                <a:spcPts val="2760"/>
              </a:lnSpc>
              <a:spcAft>
                <a:spcPts val="400"/>
              </a:spcAft>
              <a:defRPr sz="2400" b="0">
                <a:solidFill>
                  <a:srgbClr val="24364A"/>
                </a:solidFill>
                <a:latin typeface="DejaVu Sans"/>
              </a:defRPr>
            </a:pPr>
            <a:r>
              <a:t>Cette version ajoutait</a:t>
            </a:r>
          </a:p>
          <a:p>
            <a:pPr algn="l">
              <a:lnSpc>
                <a:spcPts val="2760"/>
              </a:lnSpc>
              <a:spcAft>
                <a:spcPts val="400"/>
              </a:spcAft>
              <a:defRPr sz="2400" b="0">
                <a:solidFill>
                  <a:srgbClr val="24364A"/>
                </a:solidFill>
                <a:latin typeface="DejaVu Sans"/>
              </a:defRPr>
            </a:pPr>
            <a:r>
              <a:t>une constante noise_sd.</a:t>
            </a:r>
          </a:p>
          <a:p>
            <a:pPr algn="l">
              <a:lnSpc>
                <a:spcPts val="2760"/>
              </a:lnSpc>
              <a:spcAft>
                <a:spcPts val="400"/>
              </a:spcAft>
              <a:defRPr sz="2400" b="0">
                <a:solidFill>
                  <a:srgbClr val="24364A"/>
                </a:solidFill>
                <a:latin typeface="DejaVu Sans"/>
              </a:defRPr>
            </a:pPr>
            <a:r>
              <a:t>Elle ne créait pas le bruit attendu.</a:t>
            </a:r>
          </a:p>
        </p:txBody>
      </p:sp>
      <p:sp>
        <p:nvSpPr>
          <p:cNvPr id="13" name="TextBox 12"/>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Un fichier retrouvé n’est pas nécessairement une implémentation correcte.</a:t>
            </a:r>
          </a:p>
        </p:txBody>
      </p:sp>
      <p:sp>
        <p:nvSpPr>
          <p:cNvPr id="14" name="TextBox 13"/>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94360" y="740664"/>
            <a:ext cx="11018520" cy="1024128"/>
          </a:xfrm>
        </p:spPr>
        <p:txBody>
          <a:bodyPr wrap="square" lIns="18288" rIns="18288" tIns="18288" bIns="18288"/>
          <a:lstStyle/>
          <a:p>
            <a:pPr algn="l">
              <a:lnSpc>
                <a:spcPts val="3450"/>
              </a:lnSpc>
              <a:spcAft>
                <a:spcPts val="400"/>
              </a:spcAft>
              <a:defRPr sz="3000" b="1">
                <a:solidFill>
                  <a:srgbClr val="172E49"/>
                </a:solidFill>
                <a:latin typeface="DejaVu Sans"/>
              </a:defRPr>
            </a:pPr>
            <a:r>
              <a:t>Une fusion réussie ne termine pas l’intégration</a:t>
            </a:r>
          </a:p>
        </p:txBody>
      </p:sp>
      <p:sp>
        <p:nvSpPr>
          <p:cNvPr id="3" name="TextBox 2"/>
          <p:cNvSpPr txBox="1"/>
          <p:nvPr/>
        </p:nvSpPr>
        <p:spPr>
          <a:xfrm>
            <a:off x="594360" y="228600"/>
            <a:ext cx="10972800" cy="365760"/>
          </a:xfrm>
          <a:prstGeom prst="rect">
            <a:avLst/>
          </a:prstGeom>
          <a:noFill/>
        </p:spPr>
        <p:txBody>
          <a:bodyPr wrap="square" lIns="18288" rIns="18288" tIns="18288" bIns="18288">
            <a:spAutoFit/>
          </a:bodyPr>
          <a:lstStyle/>
          <a:p>
            <a:pPr algn="l">
              <a:lnSpc>
                <a:spcPts val="1609"/>
              </a:lnSpc>
              <a:spcAft>
                <a:spcPts val="400"/>
              </a:spcAft>
              <a:defRPr sz="1400" b="1">
                <a:solidFill>
                  <a:srgbClr val="087F8C"/>
                </a:solidFill>
                <a:latin typeface="DejaVu Sans"/>
              </a:defRPr>
            </a:pPr>
            <a:r>
              <a:t>RETOUR AU PROJET COLLECTIF</a:t>
            </a:r>
          </a:p>
        </p:txBody>
      </p:sp>
      <p:sp>
        <p:nvSpPr>
          <p:cNvPr id="4" name="TextBox 3"/>
          <p:cNvSpPr txBox="1"/>
          <p:nvPr/>
        </p:nvSpPr>
        <p:spPr>
          <a:xfrm>
            <a:off x="594360" y="1828800"/>
            <a:ext cx="11018520" cy="777240"/>
          </a:xfrm>
          <a:prstGeom prst="rect">
            <a:avLst/>
          </a:prstGeom>
          <a:noFill/>
        </p:spPr>
        <p:txBody>
          <a:bodyPr wrap="square" lIns="18288" rIns="18288" tIns="18288" bIns="18288">
            <a:spAutoFit/>
          </a:bodyPr>
          <a:lstStyle/>
          <a:p>
            <a:pPr algn="l">
              <a:lnSpc>
                <a:spcPts val="2529"/>
              </a:lnSpc>
              <a:spcAft>
                <a:spcPts val="400"/>
              </a:spcAft>
              <a:defRPr sz="2200" b="0">
                <a:solidFill>
                  <a:srgbClr val="24364A"/>
                </a:solidFill>
                <a:latin typeface="DejaVu Sans"/>
              </a:defRPr>
            </a:pPr>
            <a:r>
              <a:t>Identifier la bonne branche, examiner sa contribution, puis vérifier le programme.</a:t>
            </a:r>
          </a:p>
        </p:txBody>
      </p:sp>
      <p:sp>
        <p:nvSpPr>
          <p:cNvPr id="5" name="Rectangle 4"/>
          <p:cNvSpPr/>
          <p:nvPr/>
        </p:nvSpPr>
        <p:spPr>
          <a:xfrm>
            <a:off x="59436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9436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Localiser</a:t>
            </a:r>
          </a:p>
        </p:txBody>
      </p:sp>
      <p:sp>
        <p:nvSpPr>
          <p:cNvPr id="8" name="TextBox 7"/>
          <p:cNvSpPr txBox="1"/>
          <p:nvPr/>
        </p:nvSpPr>
        <p:spPr>
          <a:xfrm>
            <a:off x="75895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Le code existe-t-il</a:t>
            </a:r>
          </a:p>
          <a:p>
            <a:pPr algn="l">
              <a:lnSpc>
                <a:spcPts val="2415"/>
              </a:lnSpc>
              <a:spcAft>
                <a:spcPts val="400"/>
              </a:spcAft>
              <a:defRPr sz="2100" b="0">
                <a:solidFill>
                  <a:srgbClr val="24364A"/>
                </a:solidFill>
                <a:latin typeface="DejaVu Sans"/>
              </a:defRPr>
            </a:pPr>
            <a:r>
              <a:t>sur main ou seulement</a:t>
            </a:r>
          </a:p>
          <a:p>
            <a:pPr algn="l">
              <a:lnSpc>
                <a:spcPts val="2415"/>
              </a:lnSpc>
              <a:spcAft>
                <a:spcPts val="400"/>
              </a:spcAft>
              <a:defRPr sz="2100" b="0">
                <a:solidFill>
                  <a:srgbClr val="24364A"/>
                </a:solidFill>
                <a:latin typeface="DejaVu Sans"/>
              </a:defRPr>
            </a:pPr>
            <a:r>
              <a:t>sur une branche d’équipe ?</a:t>
            </a:r>
          </a:p>
        </p:txBody>
      </p:sp>
      <p:sp>
        <p:nvSpPr>
          <p:cNvPr id="9" name="Rectangle 8"/>
          <p:cNvSpPr/>
          <p:nvPr/>
        </p:nvSpPr>
        <p:spPr>
          <a:xfrm>
            <a:off x="434340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34340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07992"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Examiner</a:t>
            </a:r>
          </a:p>
        </p:txBody>
      </p:sp>
      <p:sp>
        <p:nvSpPr>
          <p:cNvPr id="12" name="TextBox 11"/>
          <p:cNvSpPr txBox="1"/>
          <p:nvPr/>
        </p:nvSpPr>
        <p:spPr>
          <a:xfrm>
            <a:off x="4507992"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Source et destination.</a:t>
            </a:r>
          </a:p>
          <a:p>
            <a:pPr algn="l">
              <a:lnSpc>
                <a:spcPts val="2415"/>
              </a:lnSpc>
              <a:spcAft>
                <a:spcPts val="400"/>
              </a:spcAft>
              <a:defRPr sz="2100" b="0">
                <a:solidFill>
                  <a:srgbClr val="24364A"/>
                </a:solidFill>
                <a:latin typeface="DejaVu Sans"/>
              </a:defRPr>
            </a:pPr>
            <a:r>
              <a:t>Tous les fichiers du diff.</a:t>
            </a:r>
          </a:p>
          <a:p>
            <a:pPr algn="l">
              <a:lnSpc>
                <a:spcPts val="2415"/>
              </a:lnSpc>
              <a:spcAft>
                <a:spcPts val="400"/>
              </a:spcAft>
              <a:defRPr sz="2100" b="0">
                <a:solidFill>
                  <a:srgbClr val="24364A"/>
                </a:solidFill>
                <a:latin typeface="DejaVu Sans"/>
              </a:defRPr>
            </a:pPr>
            <a:r>
              <a:t>PR (pull request) :</a:t>
            </a:r>
          </a:p>
          <a:p>
            <a:pPr algn="l">
              <a:lnSpc>
                <a:spcPts val="2415"/>
              </a:lnSpc>
              <a:spcAft>
                <a:spcPts val="400"/>
              </a:spcAft>
              <a:defRPr sz="2100" b="0">
                <a:solidFill>
                  <a:srgbClr val="24364A"/>
                </a:solidFill>
                <a:latin typeface="DejaVu Sans"/>
              </a:defRPr>
            </a:pPr>
            <a:r>
              <a:t>demande de revue/fusion.</a:t>
            </a:r>
          </a:p>
        </p:txBody>
      </p:sp>
      <p:sp>
        <p:nvSpPr>
          <p:cNvPr id="13" name="Rectangle 12"/>
          <p:cNvSpPr/>
          <p:nvPr/>
        </p:nvSpPr>
        <p:spPr>
          <a:xfrm>
            <a:off x="8092440" y="2816352"/>
            <a:ext cx="3520440" cy="2971800"/>
          </a:xfrm>
          <a:prstGeom prst="rect">
            <a:avLst/>
          </a:prstGeom>
          <a:solidFill>
            <a:srgbClr val="EFF4F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092440" y="2816352"/>
            <a:ext cx="45720" cy="2971800"/>
          </a:xfrm>
          <a:prstGeom prst="rect">
            <a:avLst/>
          </a:prstGeom>
          <a:solidFill>
            <a:srgbClr val="087F8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57031" y="2962656"/>
            <a:ext cx="3191256" cy="777240"/>
          </a:xfrm>
          <a:prstGeom prst="rect">
            <a:avLst/>
          </a:prstGeom>
          <a:noFill/>
        </p:spPr>
        <p:txBody>
          <a:bodyPr wrap="square" lIns="18288" rIns="18288" tIns="18288" bIns="18288">
            <a:spAutoFit/>
          </a:bodyPr>
          <a:lstStyle/>
          <a:p>
            <a:pPr algn="l">
              <a:lnSpc>
                <a:spcPts val="2415"/>
              </a:lnSpc>
              <a:spcAft>
                <a:spcPts val="400"/>
              </a:spcAft>
              <a:defRPr sz="2100" b="1">
                <a:solidFill>
                  <a:srgbClr val="087F8C"/>
                </a:solidFill>
                <a:latin typeface="DejaVu Sans"/>
              </a:defRPr>
            </a:pPr>
            <a:r>
              <a:t>Exécuter les contrôles</a:t>
            </a:r>
          </a:p>
        </p:txBody>
      </p:sp>
      <p:sp>
        <p:nvSpPr>
          <p:cNvPr id="16" name="TextBox 15"/>
          <p:cNvSpPr txBox="1"/>
          <p:nvPr/>
        </p:nvSpPr>
        <p:spPr>
          <a:xfrm>
            <a:off x="8257031" y="3840480"/>
            <a:ext cx="3191256" cy="1847088"/>
          </a:xfrm>
          <a:prstGeom prst="rect">
            <a:avLst/>
          </a:prstGeom>
          <a:noFill/>
        </p:spPr>
        <p:txBody>
          <a:bodyPr wrap="square" lIns="18288" rIns="18288" tIns="18288" bIns="18288">
            <a:spAutoFit/>
          </a:bodyPr>
          <a:lstStyle/>
          <a:p>
            <a:pPr algn="l">
              <a:lnSpc>
                <a:spcPts val="2415"/>
              </a:lnSpc>
              <a:spcAft>
                <a:spcPts val="400"/>
              </a:spcAft>
              <a:defRPr sz="2100" b="0">
                <a:solidFill>
                  <a:srgbClr val="24364A"/>
                </a:solidFill>
                <a:latin typeface="DejaVu Sans"/>
              </a:defRPr>
            </a:pPr>
            <a:r>
              <a:t>Imports et formes des données.</a:t>
            </a:r>
          </a:p>
          <a:p>
            <a:pPr algn="l">
              <a:lnSpc>
                <a:spcPts val="2415"/>
              </a:lnSpc>
              <a:spcAft>
                <a:spcPts val="400"/>
              </a:spcAft>
              <a:defRPr sz="2100" b="0">
                <a:solidFill>
                  <a:srgbClr val="24364A"/>
                </a:solidFill>
                <a:latin typeface="DejaVu Sans"/>
              </a:defRPr>
            </a:pPr>
            <a:r>
              <a:t>Clés des résultats.</a:t>
            </a:r>
          </a:p>
          <a:p>
            <a:pPr algn="l">
              <a:lnSpc>
                <a:spcPts val="2415"/>
              </a:lnSpc>
              <a:spcAft>
                <a:spcPts val="400"/>
              </a:spcAft>
              <a:defRPr sz="2100" b="0">
                <a:solidFill>
                  <a:srgbClr val="24364A"/>
                </a:solidFill>
                <a:latin typeface="DejaVu Sans"/>
              </a:defRPr>
            </a:pPr>
            <a:r>
              <a:t>Rapport attendu.</a:t>
            </a:r>
          </a:p>
        </p:txBody>
      </p:sp>
      <p:sp>
        <p:nvSpPr>
          <p:cNvPr id="17" name="TextBox 16"/>
          <p:cNvSpPr txBox="1"/>
          <p:nvPr/>
        </p:nvSpPr>
        <p:spPr>
          <a:xfrm>
            <a:off x="594360" y="6355080"/>
            <a:ext cx="10607040" cy="411480"/>
          </a:xfrm>
          <a:prstGeom prst="rect">
            <a:avLst/>
          </a:prstGeom>
          <a:noFill/>
        </p:spPr>
        <p:txBody>
          <a:bodyPr wrap="square" lIns="18288" rIns="18288" tIns="18288" bIns="18288">
            <a:spAutoFit/>
          </a:bodyPr>
          <a:lstStyle/>
          <a:p>
            <a:pPr algn="l">
              <a:lnSpc>
                <a:spcPts val="1725"/>
              </a:lnSpc>
              <a:spcAft>
                <a:spcPts val="400"/>
              </a:spcAft>
              <a:defRPr sz="1500" b="0">
                <a:solidFill>
                  <a:srgbClr val="536476"/>
                </a:solidFill>
                <a:latin typeface="DejaVu Sans"/>
              </a:defRPr>
            </a:pPr>
            <a:r>
              <a:t>Pour les autres incidents : LAB.md → fiches Git (mauvaise branche, ignore, stash, éditeur, reflog).</a:t>
            </a:r>
          </a:p>
        </p:txBody>
      </p:sp>
      <p:sp>
        <p:nvSpPr>
          <p:cNvPr id="18" name="TextBox 17"/>
          <p:cNvSpPr txBox="1"/>
          <p:nvPr/>
        </p:nvSpPr>
        <p:spPr>
          <a:xfrm>
            <a:off x="11201400" y="6355080"/>
            <a:ext cx="457200" cy="411480"/>
          </a:xfrm>
          <a:prstGeom prst="rect">
            <a:avLst/>
          </a:prstGeom>
          <a:noFill/>
        </p:spPr>
        <p:txBody>
          <a:bodyPr wrap="square" lIns="18288" rIns="18288" tIns="18288" bIns="18288">
            <a:spAutoFit/>
          </a:bodyPr>
          <a:lstStyle/>
          <a:p>
            <a:pPr algn="r">
              <a:lnSpc>
                <a:spcPts val="1725"/>
              </a:lnSpc>
              <a:spcAft>
                <a:spcPts val="400"/>
              </a:spcAft>
              <a:defRPr sz="1500" b="0">
                <a:solidFill>
                  <a:srgbClr val="536476"/>
                </a:solidFill>
                <a:latin typeface="DejaVu Sans"/>
              </a:defRPr>
            </a:pPr>
            <a: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 diagnostiquer, intégrer, retrouver</dc:title>
  <dc:subject>Laboratoire local Git — 16 octobre 2026</dc:subject>
  <dc:creator>Olivier Delrieu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