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3" r:id="rId16"/>
    <p:sldId id="270" r:id="rId17"/>
    <p:sldId id="286" r:id="rId18"/>
    <p:sldId id="284" r:id="rId19"/>
    <p:sldId id="285" r:id="rId20"/>
    <p:sldId id="272" r:id="rId21"/>
    <p:sldId id="271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10"/>
  </p:normalViewPr>
  <p:slideViewPr>
    <p:cSldViewPr snapToGrid="0" snapToObjects="1">
      <p:cViewPr>
        <p:scale>
          <a:sx n="58" d="100"/>
          <a:sy n="58" d="100"/>
        </p:scale>
        <p:origin x="12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 (K€)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1D9-4981-B7EE-641A1A1038FE}"/>
              </c:ext>
            </c:extLst>
          </c:dPt>
          <c:dPt>
            <c:idx val="1"/>
            <c:invertIfNegative val="0"/>
            <c:bubble3D val="0"/>
            <c:spPr>
              <a:solidFill>
                <a:srgbClr val="5B77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D9-4981-B7EE-641A1A1038FE}"/>
              </c:ext>
            </c:extLst>
          </c:dPt>
          <c:dPt>
            <c:idx val="2"/>
            <c:invertIfNegative val="0"/>
            <c:bubble3D val="0"/>
            <c:spPr>
              <a:solidFill>
                <a:srgbClr val="8FA6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D9-4981-B7EE-641A1A1038FE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D9-4981-B7EE-641A1A1038FE}"/>
              </c:ext>
            </c:extLst>
          </c:dPt>
          <c:dPt>
            <c:idx val="4"/>
            <c:invertIfNegative val="0"/>
            <c:bubble3D val="0"/>
            <c:spPr>
              <a:solidFill>
                <a:srgbClr val="3A4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1D9-4981-B7EE-641A1A1038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Nord</c:v>
                </c:pt>
                <c:pt idx="1">
                  <c:v>Sud</c:v>
                </c:pt>
                <c:pt idx="2">
                  <c:v>Est</c:v>
                </c:pt>
                <c:pt idx="3">
                  <c:v>Ouest</c:v>
                </c:pt>
                <c:pt idx="4">
                  <c:v>Centre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</c:v>
                </c:pt>
                <c:pt idx="1">
                  <c:v>120</c:v>
                </c:pt>
                <c:pt idx="2">
                  <c:v>108</c:v>
                </c:pt>
                <c:pt idx="3">
                  <c:v>95</c:v>
                </c:pt>
                <c:pt idx="4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1D9-4981-B7EE-641A1A1038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D2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(K€)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Aoû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210</c:v>
                </c:pt>
                <c:pt idx="1">
                  <c:v>205</c:v>
                </c:pt>
                <c:pt idx="2">
                  <c:v>215</c:v>
                </c:pt>
                <c:pt idx="3">
                  <c:v>230</c:v>
                </c:pt>
                <c:pt idx="4">
                  <c:v>225</c:v>
                </c:pt>
                <c:pt idx="5">
                  <c:v>240</c:v>
                </c:pt>
                <c:pt idx="6">
                  <c:v>260</c:v>
                </c:pt>
                <c:pt idx="7">
                  <c:v>255</c:v>
                </c:pt>
                <c:pt idx="8">
                  <c:v>270</c:v>
                </c:pt>
                <c:pt idx="9">
                  <c:v>290</c:v>
                </c:pt>
                <c:pt idx="10">
                  <c:v>285</c:v>
                </c:pt>
                <c:pt idx="11">
                  <c:v>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7-4777-B82C-F78B2A36F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D2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5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64A-4994-BA06-3E24A51E2668}"/>
              </c:ext>
            </c:extLst>
          </c:dPt>
          <c:dPt>
            <c:idx val="1"/>
            <c:bubble3D val="0"/>
            <c:spPr>
              <a:solidFill>
                <a:srgbClr val="5B77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4A-4994-BA06-3E24A51E2668}"/>
              </c:ext>
            </c:extLst>
          </c:dPt>
          <c:dPt>
            <c:idx val="2"/>
            <c:bubble3D val="0"/>
            <c:spPr>
              <a:solidFill>
                <a:srgbClr val="8FA6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4A-4994-BA06-3E24A51E2668}"/>
              </c:ext>
            </c:extLst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64A-4994-BA06-3E24A51E266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4A-4994-BA06-3E24A51E266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64A-4994-BA06-3E24A51E266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64A-4994-BA06-3E24A51E266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64A-4994-BA06-3E24A51E266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Web</c:v>
                </c:pt>
                <c:pt idx="1">
                  <c:v>Magasin</c:v>
                </c:pt>
                <c:pt idx="2">
                  <c:v>Partenaires</c:v>
                </c:pt>
                <c:pt idx="3">
                  <c:v>Téléphone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17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64A-4994-BA06-3E24A51E26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3341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C1-41C4-881F-292A9C989C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Magasin</c:v>
                </c:pt>
              </c:strCache>
            </c:strRef>
          </c:tx>
          <c:spPr>
            <a:solidFill>
              <a:srgbClr val="5B77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32</c:v>
                </c:pt>
                <c:pt idx="2">
                  <c:v>30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C1-41C4-881F-292A9C989C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Partenaires</c:v>
                </c:pt>
              </c:strCache>
            </c:strRef>
          </c:tx>
          <c:spPr>
            <a:solidFill>
              <a:srgbClr val="8FA6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</c:v>
                </c:pt>
                <c:pt idx="1">
                  <c:v>18</c:v>
                </c:pt>
                <c:pt idx="2">
                  <c:v>20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C1-41C4-881F-292A9C989C3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D2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341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 (unités)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5</c:v>
                </c:pt>
                <c:pt idx="1">
                  <c:v>8</c:v>
                </c:pt>
                <c:pt idx="2">
                  <c:v>10</c:v>
                </c:pt>
                <c:pt idx="3">
                  <c:v>12</c:v>
                </c:pt>
                <c:pt idx="4">
                  <c:v>15</c:v>
                </c:pt>
                <c:pt idx="5">
                  <c:v>18</c:v>
                </c:pt>
                <c:pt idx="6">
                  <c:v>20</c:v>
                </c:pt>
                <c:pt idx="7">
                  <c:v>22</c:v>
                </c:pt>
                <c:pt idx="8">
                  <c:v>25</c:v>
                </c:pt>
                <c:pt idx="9">
                  <c:v>28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80</c:v>
                </c:pt>
                <c:pt idx="1">
                  <c:v>95</c:v>
                </c:pt>
                <c:pt idx="2">
                  <c:v>105</c:v>
                </c:pt>
                <c:pt idx="3">
                  <c:v>110</c:v>
                </c:pt>
                <c:pt idx="4">
                  <c:v>130</c:v>
                </c:pt>
                <c:pt idx="5">
                  <c:v>150</c:v>
                </c:pt>
                <c:pt idx="6">
                  <c:v>148</c:v>
                </c:pt>
                <c:pt idx="7">
                  <c:v>170</c:v>
                </c:pt>
                <c:pt idx="8">
                  <c:v>185</c:v>
                </c:pt>
                <c:pt idx="9">
                  <c:v>205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AC1-4C2C-8392-934C7A037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fr-FR" b="0" i="0" u="none" strike="noStrike">
                    <a:solidFill>
                      <a:srgbClr val="000000"/>
                    </a:solidFill>
                    <a:latin typeface="Arial"/>
                  </a:rPr>
                  <a:t>Budget marketing (K€)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C7D2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fr-FR" b="0" i="0" u="none" strike="noStrike">
                    <a:solidFill>
                      <a:srgbClr val="000000"/>
                    </a:solidFill>
                    <a:latin typeface="Arial"/>
                  </a:rPr>
                  <a:t>Ventes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083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SMART comme une aide à la formulation de l’objectif : spécifique, mesurable, atteignable, réaliste et temporellement défini, selon les termes employés dans les supports. Pour le calcul lui-même, ajouter les contrôles de formule, de périmètre et de qualité des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Une même mesure peut jouer plusieurs rôles. Par exemple, un stock de réclamations anciennes peut servir au diagnostic quotidien et déclencher une alerte lorsqu’il franchit un seuil.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469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141B49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875520" y="5120640"/>
            <a:ext cx="2743200" cy="27432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Graphiques et KPI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bonne visualisation, définir les bons indicateurs de performance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Gestion de données  -  Apprentis Data Analyst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de la séance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88920" y="1691640"/>
            <a:ext cx="8762695" cy="786384"/>
          </a:xfrm>
          <a:prstGeom prst="roundRect">
            <a:avLst>
              <a:gd name="adj" fmla="val 9302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017520" y="1764792"/>
            <a:ext cx="8305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bon graphique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017520" y="2112264"/>
            <a:ext cx="8305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type de donnée, quelle lecture, quel piège éviter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587752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88920" y="2587752"/>
            <a:ext cx="8762695" cy="786384"/>
          </a:xfrm>
          <a:prstGeom prst="roundRect">
            <a:avLst>
              <a:gd name="adj" fmla="val 9302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017520" y="2660904"/>
            <a:ext cx="8305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indicateurs aux KPI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17520" y="3008376"/>
            <a:ext cx="8305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Définition, qualités, exemples de scénarios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83864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3483864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88920" y="3483864"/>
            <a:ext cx="8762695" cy="786384"/>
          </a:xfrm>
          <a:prstGeom prst="roundRect">
            <a:avLst>
              <a:gd name="adj" fmla="val 9302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017520" y="3557016"/>
            <a:ext cx="8305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opérations du COMEX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017520" y="3904488"/>
            <a:ext cx="8305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parmi des indicateurs bruts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79976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4379976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88920" y="4379976"/>
            <a:ext cx="8762695" cy="786384"/>
          </a:xfrm>
          <a:prstGeom prst="roundRect">
            <a:avLst>
              <a:gd name="adj" fmla="val 9302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017520" y="4453128"/>
            <a:ext cx="8305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d'un déploiement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017520" y="4800600"/>
            <a:ext cx="8305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soi-même les KPI d'un projet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276088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5276088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88920" y="5276088"/>
            <a:ext cx="8762695" cy="786384"/>
          </a:xfrm>
          <a:prstGeom prst="roundRect">
            <a:avLst>
              <a:gd name="adj" fmla="val 9302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017520" y="5349240"/>
            <a:ext cx="8305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de portefeuille client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017520" y="5696712"/>
            <a:ext cx="8305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bonne illustration pour chaque KPI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bon graphique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question, un type de graphique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3950208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 posée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Graphique adapté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Comparer des catégories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Ventes par région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Suivre une évolution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Chiffre d'affaires mensuel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Voir une composition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Camembert / barres empilées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Ventes par canal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Étudier une relation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Nuage de points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marketing vs ventes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Voir une distribution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Histogramme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 de satisfaction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150876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part de la question, jamais du graphique qu'on préfère dessiner.</a:t>
            </a:r>
            <a:endParaRPr lang="en-US" sz="1400" dirty="0"/>
          </a:p>
        </p:txBody>
      </p:sp>
      <p:sp>
        <p:nvSpPr>
          <p:cNvPr id="3" name="Text 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1 - Graphiques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des catégories : les barres</a:t>
            </a:r>
            <a:endParaRPr lang="en-US" sz="33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7040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91640"/>
            <a:ext cx="3596335" cy="42976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229600" y="1965960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2468880"/>
            <a:ext cx="30476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les hauteurs, pas les couleurs. Trier les catégories par ordre décroissant fait ressortir le meilleur et le pire en un coup d'œil.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1 - Graphiques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une évolution : la courbe</a:t>
            </a:r>
            <a:endParaRPr lang="en-US" sz="33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7040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91640"/>
            <a:ext cx="3596335" cy="42976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229600" y="1965960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2468880"/>
            <a:ext cx="30476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pente indique la direction du changement. Un seul point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isolé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une hausse en octobre par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ne suffit pas à conclure à une tendance durable.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1 - Graphiques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une composition : le camembert</a:t>
            </a:r>
            <a:endParaRPr lang="en-US" sz="33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7040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91640"/>
            <a:ext cx="3596335" cy="42976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229600" y="1965960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2468880"/>
            <a:ext cx="30476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parts doivent totaliser 100 %. Au-delà de 5 à 6 catégories, le camembert devient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illisible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mieux vaut alors des barres triées.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1 - Graphiques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une composition dans le temps : les barres empilées</a:t>
            </a:r>
            <a:endParaRPr lang="en-US" sz="33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7040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91640"/>
            <a:ext cx="3596335" cy="42976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229600" y="1965960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2468880"/>
            <a:ext cx="30476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hauteur totale montre le volume global ; les segments montrent comment il se compose. Pratique pour suivre le total ET la répartition en une seule image.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1 - Graphiques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Étudier une relation : le nuage de points</a:t>
            </a:r>
            <a:endParaRPr lang="en-US" sz="33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7040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91640"/>
            <a:ext cx="3596335" cy="42976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229600" y="1965960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2468880"/>
            <a:ext cx="30476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nuage qui monte suggère une corrélation positive, pas une causalité. D'autres facteurs (saisonnalité, concurrence) peuvent expliquer la hausse des ventes.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1 - Graphiques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une distribution : l'histogramme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955280" y="1691640"/>
            <a:ext cx="3596335" cy="42976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229600" y="1965960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2468880"/>
            <a:ext cx="30476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forme de la distribution - centrée, étalée,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asymétrique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en dit souvent plus que la seule moyenne. C'est le prolongement direct du rappel sur la dispersion.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1 - Graphiques</a:t>
            </a:r>
            <a:endParaRPr lang="en-US" sz="13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D52BE19-40D2-4A04-5838-4BB958AD7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42" y="1965960"/>
            <a:ext cx="6467475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B2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ÉVITER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pièges qui trahissent un graphique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Tronquer l'axe des valeurs pour faire paraître une variation plus grande qu'elle ne l'est.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camembert à plus de 6 catégories, ou en 3D, qui déforme la lecture des proportions.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échelles différentes sur un même graphique sans le signaler clairement au lecteur.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3035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141B49"/>
          </a:solidFill>
          <a:ln w="15875">
            <a:solidFill>
              <a:srgbClr val="B23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60120" y="530352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chiffre juste avec un mauvais graphique reste un mauvais message.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1 - Graphiques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indicateurs aux KPI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et KPI : pas synonymes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60120" y="2103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indicateur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mesure suivie pour éclairer une décision, à n'importe quel niveau de l'organisation.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KPI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indicateur sélectionné parce qu'il est directement relié à un objectif stratégique, porté par un décideur identifié, et suivi à intervalle régulier au bon niveau de pilotage.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2 - KPI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fait qu'un indicateur devient un KPI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27752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477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Aligné à un objectif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50008"/>
            <a:ext cx="4779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mesure explicitement un objectif stratégique ou opérationnel déclaré.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23864" y="1691640"/>
            <a:ext cx="5327752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98184" y="1892808"/>
            <a:ext cx="477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Porté par un décideur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8184" y="2350008"/>
            <a:ext cx="4779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Quelqu'un est responsable de sa valeur et peut agir dessus.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36822"/>
            <a:ext cx="5327752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14400" y="4037990"/>
            <a:ext cx="477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au bon niveau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95190"/>
            <a:ext cx="4779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direction, département ou équipe : tout le monde ne regarde pas le même KPI.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23864" y="3836822"/>
            <a:ext cx="5327752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98184" y="4037990"/>
            <a:ext cx="477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Régulier et comparable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8184" y="4495190"/>
            <a:ext cx="4779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définition, même période, pour pouvoir comparer dans le temps.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2 - KPI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4B92FF8-2512-5D52-DD6F-532DF39AE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09570"/>
              </p:ext>
            </p:extLst>
          </p:nvPr>
        </p:nvGraphicFramePr>
        <p:xfrm>
          <a:off x="1263578" y="1502853"/>
          <a:ext cx="9664847" cy="3674113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991341">
                  <a:extLst>
                    <a:ext uri="{9D8B030D-6E8A-4147-A177-3AD203B41FA5}">
                      <a16:colId xmlns:a16="http://schemas.microsoft.com/office/drawing/2014/main" val="297765204"/>
                    </a:ext>
                  </a:extLst>
                </a:gridCol>
                <a:gridCol w="3800654">
                  <a:extLst>
                    <a:ext uri="{9D8B030D-6E8A-4147-A177-3AD203B41FA5}">
                      <a16:colId xmlns:a16="http://schemas.microsoft.com/office/drawing/2014/main" val="226015213"/>
                    </a:ext>
                  </a:extLst>
                </a:gridCol>
                <a:gridCol w="3872852">
                  <a:extLst>
                    <a:ext uri="{9D8B030D-6E8A-4147-A177-3AD203B41FA5}">
                      <a16:colId xmlns:a16="http://schemas.microsoft.com/office/drawing/2014/main" val="1450625415"/>
                    </a:ext>
                  </a:extLst>
                </a:gridCol>
              </a:tblGrid>
              <a:tr h="5824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Niveau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Question à poser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Application aux réclamations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extLst>
                  <a:ext uri="{0D108BD9-81ED-4DB2-BD59-A6C34878D82A}">
                    <a16:rowId xmlns:a16="http://schemas.microsoft.com/office/drawing/2014/main" val="750287846"/>
                  </a:ext>
                </a:extLst>
              </a:tr>
              <a:tr h="9185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Finalités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 dirty="0">
                          <a:solidFill>
                            <a:schemeClr val="tx1"/>
                          </a:solidFill>
                          <a:effectLst/>
                        </a:rPr>
                        <a:t>Pourquoi mesurer ?</a:t>
                      </a:r>
                      <a:endParaRPr lang="fr-FR" sz="220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Améliorer la qualité du traitement des réclamations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extLst>
                  <a:ext uri="{0D108BD9-81ED-4DB2-BD59-A6C34878D82A}">
                    <a16:rowId xmlns:a16="http://schemas.microsoft.com/office/drawing/2014/main" val="3192178440"/>
                  </a:ext>
                </a:extLst>
              </a:tr>
              <a:tr h="1254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Méthodologie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Que mesurer et comment ?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Définir un délai, une population, une formule et une source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extLst>
                  <a:ext uri="{0D108BD9-81ED-4DB2-BD59-A6C34878D82A}">
                    <a16:rowId xmlns:a16="http://schemas.microsoft.com/office/drawing/2014/main" val="3115149925"/>
                  </a:ext>
                </a:extLst>
              </a:tr>
              <a:tr h="9185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Management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>
                          <a:solidFill>
                            <a:schemeClr val="tx1"/>
                          </a:solidFill>
                          <a:effectLst/>
                        </a:rPr>
                        <a:t>Qui utilise la mesure et pour quelle suite ?</a:t>
                      </a:r>
                      <a:endParaRPr lang="fr-FR" sz="2200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2200" cap="none" spc="0" dirty="0">
                          <a:solidFill>
                            <a:schemeClr val="tx1"/>
                          </a:solidFill>
                          <a:effectLst/>
                        </a:rPr>
                        <a:t>Le responsable examine les retards et organise le travail</a:t>
                      </a:r>
                      <a:endParaRPr lang="fr-FR" sz="220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10" marR="70010" marT="70010" marB="126018" anchor="ctr"/>
                </a:tc>
                <a:extLst>
                  <a:ext uri="{0D108BD9-81ED-4DB2-BD59-A6C34878D82A}">
                    <a16:rowId xmlns:a16="http://schemas.microsoft.com/office/drawing/2014/main" val="155996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519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qualités d'un bon KPI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6649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2917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Spécifique</a:t>
            </a: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en-US" sz="16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50008"/>
            <a:ext cx="2917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 une seule chose, clairement </a:t>
            </a:r>
            <a:r>
              <a:rPr lang="en-US" sz="135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nommée</a:t>
            </a: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35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S’appuyer</a:t>
            </a: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 des données controlees 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62602" y="1691640"/>
            <a:ext cx="346649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636922" y="1892808"/>
            <a:ext cx="2917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Actionnable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6922" y="2350008"/>
            <a:ext cx="2917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variation appelle une action possible, pas juste un constat. </a:t>
            </a:r>
            <a:r>
              <a:rPr lang="fr-FR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permettre une comparaison, un diagnostic ou un arbitrage.</a:t>
            </a:r>
          </a:p>
          <a:p>
            <a:endParaRPr lang="fr-FR" sz="1350" dirty="0">
              <a:solidFill>
                <a:srgbClr val="33415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85125" y="1691640"/>
            <a:ext cx="346649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359445" y="1892808"/>
            <a:ext cx="2917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cs typeface="Arial" pitchFamily="34" charset="-120"/>
              </a:rPr>
              <a:t>Reproductible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59445" y="2350008"/>
            <a:ext cx="2917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 le même résultat avec les mêmes données et règles </a:t>
            </a:r>
          </a:p>
          <a:p>
            <a:pPr marL="0" indent="0">
              <a:buNone/>
            </a:pPr>
            <a:endParaRPr lang="fr-FR" sz="1350" dirty="0">
              <a:solidFill>
                <a:srgbClr val="33415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836822"/>
            <a:ext cx="346649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4037990"/>
            <a:ext cx="2917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Compréhensible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495190"/>
            <a:ext cx="2917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Lisible sans explication technique par celui qui le consulte.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62602" y="3836822"/>
            <a:ext cx="346649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36922" y="4037990"/>
            <a:ext cx="2917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et disponible dans le temps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6922" y="4495190"/>
            <a:ext cx="2917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définition ne change pas d'un mois à </a:t>
            </a:r>
            <a:r>
              <a:rPr lang="en-US" sz="135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l'autre</a:t>
            </a: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sans consideration </a:t>
            </a:r>
            <a:r>
              <a:rPr lang="en-US" sz="135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scientifique</a:t>
            </a: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en-US" sz="135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collégiale</a:t>
            </a: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sinon la comparaison perd son </a:t>
            </a:r>
            <a:r>
              <a:rPr lang="en-US" sz="135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sens.</a:t>
            </a: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Produit au </a:t>
            </a:r>
            <a:r>
              <a:rPr lang="en-US" sz="135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rythme</a:t>
            </a: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utile à </a:t>
            </a:r>
            <a:r>
              <a:rPr lang="en-US" sz="135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2 - KPI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365541-DB49-0A88-9465-F2AD8209E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314247"/>
              </p:ext>
            </p:extLst>
          </p:nvPr>
        </p:nvGraphicFramePr>
        <p:xfrm>
          <a:off x="643467" y="1023365"/>
          <a:ext cx="10905067" cy="4811276"/>
        </p:xfrm>
        <a:graphic>
          <a:graphicData uri="http://schemas.openxmlformats.org/drawingml/2006/table">
            <a:tbl>
              <a:tblPr/>
              <a:tblGrid>
                <a:gridCol w="3587250">
                  <a:extLst>
                    <a:ext uri="{9D8B030D-6E8A-4147-A177-3AD203B41FA5}">
                      <a16:colId xmlns:a16="http://schemas.microsoft.com/office/drawing/2014/main" val="3700419177"/>
                    </a:ext>
                  </a:extLst>
                </a:gridCol>
                <a:gridCol w="3637164">
                  <a:extLst>
                    <a:ext uri="{9D8B030D-6E8A-4147-A177-3AD203B41FA5}">
                      <a16:colId xmlns:a16="http://schemas.microsoft.com/office/drawing/2014/main" val="4073902722"/>
                    </a:ext>
                  </a:extLst>
                </a:gridCol>
                <a:gridCol w="3680653">
                  <a:extLst>
                    <a:ext uri="{9D8B030D-6E8A-4147-A177-3AD203B41FA5}">
                      <a16:colId xmlns:a16="http://schemas.microsoft.com/office/drawing/2014/main" val="1243834571"/>
                    </a:ext>
                  </a:extLst>
                </a:gridCol>
              </a:tblGrid>
              <a:tr h="4248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Catégorie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Question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Exemple pédagogique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157406"/>
                  </a:ext>
                </a:extLst>
              </a:tr>
              <a:tr h="4248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Activité ou processus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 travail réalise-t-on ?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Nombre de réclamations traitées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033014"/>
                  </a:ext>
                </a:extLst>
              </a:tr>
              <a:tr h="4248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Résultat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 résultat obtient-on ?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Délai moyen de traitement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456543"/>
                  </a:ext>
                </a:extLst>
              </a:tr>
              <a:tr h="7073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Efficacité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Atteint-on le niveau recherché ?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Part des réclamations traitées dans le délai cible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415881"/>
                  </a:ext>
                </a:extLst>
              </a:tr>
              <a:tr h="7073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Efficience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Quels résultats obtient-on avec quelles ressources ?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Coût moyen par réclamation traitée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805998"/>
                  </a:ext>
                </a:extLst>
              </a:tr>
              <a:tr h="7073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Quels effets observe-t-on sur les bénéficiaires ?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Évolution de la satisfaction après une amélioration du service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383844"/>
                  </a:ext>
                </a:extLst>
              </a:tr>
              <a:tr h="7073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Anticipation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 dirty="0">
                          <a:effectLst/>
                          <a:latin typeface="Arial" panose="020B0604020202020204" pitchFamily="34" charset="0"/>
                        </a:rPr>
                        <a:t>Quel signal peut annoncer une difficulté ?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Croissance du nombre de dossiers en attente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05633"/>
                  </a:ext>
                </a:extLst>
              </a:tr>
              <a:tr h="7073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Alerte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Une limite justifie-t-elle une intervention ?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dossiers anciens dépassant le seuil convenu</a:t>
                      </a:r>
                    </a:p>
                  </a:txBody>
                  <a:tcPr marL="52319" marR="52319" marT="52319" marB="5231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777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495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9D408A0-76CE-5AFF-924A-3323DAF7F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547985"/>
              </p:ext>
            </p:extLst>
          </p:nvPr>
        </p:nvGraphicFramePr>
        <p:xfrm>
          <a:off x="1166558" y="1267571"/>
          <a:ext cx="9664847" cy="3555398"/>
        </p:xfrm>
        <a:graphic>
          <a:graphicData uri="http://schemas.openxmlformats.org/drawingml/2006/table">
            <a:tbl>
              <a:tblPr/>
              <a:tblGrid>
                <a:gridCol w="3752518">
                  <a:extLst>
                    <a:ext uri="{9D8B030D-6E8A-4147-A177-3AD203B41FA5}">
                      <a16:colId xmlns:a16="http://schemas.microsoft.com/office/drawing/2014/main" val="603821750"/>
                    </a:ext>
                  </a:extLst>
                </a:gridCol>
                <a:gridCol w="5912329">
                  <a:extLst>
                    <a:ext uri="{9D8B030D-6E8A-4147-A177-3AD203B41FA5}">
                      <a16:colId xmlns:a16="http://schemas.microsoft.com/office/drawing/2014/main" val="2649946824"/>
                    </a:ext>
                  </a:extLst>
                </a:gridCol>
              </a:tblGrid>
              <a:tr h="4638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Élément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Exemple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88571"/>
                  </a:ext>
                </a:extLst>
              </a:tr>
              <a:tr h="4638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Objectif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Réduire les délais de traitement des réclamations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822336"/>
                  </a:ext>
                </a:extLst>
              </a:tr>
              <a:tr h="4638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KPI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Délai moyen de traitement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87512"/>
                  </a:ext>
                </a:extLst>
              </a:tr>
              <a:tr h="4638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Valeur observée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28 heures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226823"/>
                  </a:ext>
                </a:extLst>
              </a:tr>
              <a:tr h="4638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Cible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24 heures au maximum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533828"/>
                  </a:ext>
                </a:extLst>
              </a:tr>
              <a:tr h="4638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Écart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4 heures au-dessus de la cible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020839"/>
                  </a:ext>
                </a:extLst>
              </a:tr>
              <a:tr h="7723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>
                          <a:effectLst/>
                          <a:latin typeface="Arial" panose="020B0604020202020204" pitchFamily="34" charset="0"/>
                        </a:rPr>
                        <a:t>Action à examiner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2000" b="0" i="0" u="none" strike="noStrike" dirty="0">
                          <a:effectLst/>
                          <a:latin typeface="Arial" panose="020B0604020202020204" pitchFamily="34" charset="0"/>
                        </a:rPr>
                        <a:t>Identifier les étapes d’attente puis adapter l’organisation</a:t>
                      </a:r>
                    </a:p>
                  </a:txBody>
                  <a:tcPr marL="57124" marR="57124" marT="57124" marB="5712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104158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956AD52A-5EB9-5A0A-C930-ADDAC225B70C}"/>
              </a:ext>
            </a:extLst>
          </p:cNvPr>
          <p:cNvSpPr txBox="1"/>
          <p:nvPr/>
        </p:nvSpPr>
        <p:spPr>
          <a:xfrm>
            <a:off x="1016000" y="5115087"/>
            <a:ext cx="760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 Rounded MT Bold" panose="020F0704030504030204" pitchFamily="34" charset="0"/>
              </a:rPr>
              <a:t>Pourquoi la mesure est prioritaire et comment elle sera utilisée ?</a:t>
            </a:r>
          </a:p>
        </p:txBody>
      </p:sp>
    </p:spTree>
    <p:extLst>
      <p:ext uri="{BB962C8B-B14F-4D97-AF65-F5344CB8AC3E}">
        <p14:creationId xmlns:p14="http://schemas.microsoft.com/office/powerpoint/2010/main" val="329318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49912ABC-D8D0-F119-5D13-659708C3D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357874"/>
              </p:ext>
            </p:extLst>
          </p:nvPr>
        </p:nvGraphicFramePr>
        <p:xfrm>
          <a:off x="444747" y="228600"/>
          <a:ext cx="11226308" cy="4953006"/>
        </p:xfrm>
        <a:graphic>
          <a:graphicData uri="http://schemas.openxmlformats.org/drawingml/2006/table">
            <a:tbl>
              <a:tblPr/>
              <a:tblGrid>
                <a:gridCol w="3692923">
                  <a:extLst>
                    <a:ext uri="{9D8B030D-6E8A-4147-A177-3AD203B41FA5}">
                      <a16:colId xmlns:a16="http://schemas.microsoft.com/office/drawing/2014/main" val="22898191"/>
                    </a:ext>
                  </a:extLst>
                </a:gridCol>
                <a:gridCol w="3744307">
                  <a:extLst>
                    <a:ext uri="{9D8B030D-6E8A-4147-A177-3AD203B41FA5}">
                      <a16:colId xmlns:a16="http://schemas.microsoft.com/office/drawing/2014/main" val="2819917143"/>
                    </a:ext>
                  </a:extLst>
                </a:gridCol>
                <a:gridCol w="3789078">
                  <a:extLst>
                    <a:ext uri="{9D8B030D-6E8A-4147-A177-3AD203B41FA5}">
                      <a16:colId xmlns:a16="http://schemas.microsoft.com/office/drawing/2014/main" val="1340549844"/>
                    </a:ext>
                  </a:extLst>
                </a:gridCol>
              </a:tblGrid>
              <a:tr h="437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Catégorie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Question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Exemple pédagogique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811430"/>
                  </a:ext>
                </a:extLst>
              </a:tr>
              <a:tr h="437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Activité ou processus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 travail réalise-t-on ?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Nombre de réclamations traitées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70829"/>
                  </a:ext>
                </a:extLst>
              </a:tr>
              <a:tr h="437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Résultat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 résultat obtient-on ?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Délai moyen de traitement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695506"/>
                  </a:ext>
                </a:extLst>
              </a:tr>
              <a:tr h="728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Efficacité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Atteint-on le niveau recherché ?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Part des réclamations traitées dans le délai cible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537770"/>
                  </a:ext>
                </a:extLst>
              </a:tr>
              <a:tr h="728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Efficience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Quels résultats obtient-on avec quelles ressources ?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Coût moyen par réclamation traitée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592601"/>
                  </a:ext>
                </a:extLst>
              </a:tr>
              <a:tr h="728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Quels effets observe-t-on sur les bénéficiaires ?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Évolution de la satisfaction après une amélioration du service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493610"/>
                  </a:ext>
                </a:extLst>
              </a:tr>
              <a:tr h="728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Anticipation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Quel signal peut annoncer une difficulté ?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Croissance du nombre de dossiers en attente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404278"/>
                  </a:ext>
                </a:extLst>
              </a:tr>
              <a:tr h="728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Alerte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Une limite justifie-t-elle une intervention ?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900" b="0" i="0" u="none" strike="noStrike">
                          <a:effectLst/>
                          <a:latin typeface="Arial" panose="020B0604020202020204" pitchFamily="34" charset="0"/>
                        </a:rPr>
                        <a:t>Nombre de dossiers anciens dépassant le seuil convenu</a:t>
                      </a:r>
                    </a:p>
                  </a:txBody>
                  <a:tcPr marL="53860" marR="53860" marT="53860" marB="5386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392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4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Exemples de scénarios</a:t>
            </a:r>
            <a:endParaRPr lang="en-US" sz="3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395020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Développer le chiffre d'affaires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Taux de conversion des prospects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client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Fidéliser les clients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Taux de résolution au premier contact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Garantir la disponibilité produit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Taux de rupture de stock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Sécuriser la trésorerie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Délai moyen de paiement clients (DSO)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Stabiliser les équipes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Taux de turnover annuel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2 - KPI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B2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L'ENJEU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 de KPI tue le KPI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comité qui suit 40 indicateurs ne pilote rien : l'attention se disperse et aucun chiffre ne déclenche d'action.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comité qui suit 5 à 7 KPI bien choisis peut réellement changer de décision selon leur valeur.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un KPI est donc un acte de renoncement autant que de sélection.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3035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141B49"/>
          </a:solidFill>
          <a:ln w="15875">
            <a:solidFill>
              <a:srgbClr val="B23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60120" y="530352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KPI qui ne change jamais aucune décision n'est qu'un indicateur de plus sur un écran.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2 - KPI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1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opérations du COMEX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: 14 indicateurs remontés au COMEX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Chaque mois, les directions métier envoient leurs chiffres au COMEX. 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2271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 d'affaires mensuel </a:t>
            </a:r>
            <a:r>
              <a:rPr lang="en-US" sz="14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consolidé</a:t>
            </a: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Finance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 brute par famille de </a:t>
            </a:r>
            <a:r>
              <a:rPr lang="en-US" sz="14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</a:t>
            </a: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Finance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Trésorerie disponible en fin de </a:t>
            </a:r>
            <a:r>
              <a:rPr lang="en-US" sz="14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</a:t>
            </a: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Finance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service (livraisons à temps) - Supply chain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rupture de stock - Supply chain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churn clients - Ventes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conversion des prospects - Ventes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24448" y="2103120"/>
            <a:ext cx="52271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tickets support </a:t>
            </a:r>
            <a:r>
              <a:rPr lang="en-US" sz="14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ouverts</a:t>
            </a: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Service client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 moyenne d'un appel support - Service client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</a:t>
            </a:r>
            <a:r>
              <a:rPr lang="en-US" sz="1400" dirty="0" err="1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d'absentéisme</a:t>
            </a: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RH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turnover cadres - RH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posts publiés sur Instagram - Marketing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nouveaux followers LinkedIn - Marketing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clics sur la newsletter - Marketing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1 - COMEX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</a:t>
            </a: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sélectionner les KPI COMEX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ne garder que ce qui mérite l'attention du comité de direction.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21488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468880" y="2148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2148840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Parmi les 14 indicateurs, repérer les 5 à 7 qui mériteraient de devenir des KPI COMEX.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89864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2898648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68880" y="2898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Binôme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09160" y="2898648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937760" y="2898648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Confronter les sélections ; argumenter avec les critères vus (aligné, porté, régulier, actionnable).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48456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6484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40280" y="364845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68880" y="36484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09160" y="3648456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3648456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binôme présente sa sélection ; la classe challenge les choix contestables.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443984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60120" y="4443984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: liste de 5 à 7 KPI COMEX retenus, avec une phrase de justification pour chacun.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1 - COMEX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d'un déploiement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</a:t>
            </a: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définir les KPI d'un déploiement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Une entreprise déploie un nouvel outil de prise de commande dans ses 40 agences, sur 6 mois. 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21488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468880" y="2148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2148840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Lister les questions qu'un directeur de programme se poserait pendant ce déploiement.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89864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2898648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68880" y="2898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Binôme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09160" y="2898648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937760" y="2898648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3 KPI complets (objectif, calcul, population, fréquence, seuil) avec les 4 questions vues en partie 4 du cours précédent.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48456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6484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40280" y="364845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68880" y="36484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09160" y="3648456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3648456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avec un autre binôme ; vérifier qu'un vrai seuil d'action a été fixé pour chaque KPI.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443984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60120" y="4443984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: 3 fiches KPI complètes pour piloter le déploiement.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2 - Déploiement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21945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383280" y="2880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de portefeuille client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: diagnostic du portefeuille clients B2B</a:t>
            </a:r>
            <a:endParaRPr lang="en-US" sz="3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371246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fourni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qu'il mesure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Répartition du portefeuille par segment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 clients par taille ou secteur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Évolution du CA par client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Tendance mensuelle sur 12 mois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Taux de churn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de clients perdus sur la période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Concentration du risque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du CA portée par les 10 plus gros clients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Ancienneté moyenne des clients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Durée moyenne de la relation commerciale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Taux de clients à risque de départ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de clients avec signaux d'alerte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3 - Portefeuille client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</a:t>
            </a:r>
            <a:r>
              <a:rPr lang="en-US" sz="3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choisir la bonne illustration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KPI de la liste, s'appuyer sur le vocabulaire de la partie 1.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21488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468880" y="2148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Binôme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2148840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KPI, choisir le type de visualisation le plus adapté (graphique ou tableau) et le justifier.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89864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2898648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68880" y="2898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Croisement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09160" y="2898648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937760" y="2898648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Échanger avec un autre binôme ; repérer les choix différents et en débattre.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48456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64845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40280" y="364845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68880" y="36484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09160" y="3648456"/>
            <a:ext cx="6842455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3648456"/>
            <a:ext cx="6385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binôme présente un choix contesté ; la classe tranche collectivement.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443984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60120" y="4443984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: pour chaque KPI, le type de visualisation choisi et une phrase de justification.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3 - Portefeuille client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réflexes à garder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juste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474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graphique dépend du type de donnée et de la question posée, pas du goût du moment.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210312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2628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262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juste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6280" y="3474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KPI n'est pas un indicateur de plus : il est aligné, porté, actionnable et suivi au bon niveau.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55280" y="210312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18388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838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83880" y="3474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Sélectionner, définir et illustrer un KPI sont trois exercices </a:t>
            </a:r>
            <a:r>
              <a:rPr lang="en-US" sz="135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différents</a:t>
            </a: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les trois ateliers l'ont montré.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1928</Words>
  <Application>Microsoft Office PowerPoint</Application>
  <PresentationFormat>Grand écran</PresentationFormat>
  <Paragraphs>354</Paragraphs>
  <Slides>30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3" baseType="lpstr">
      <vt:lpstr>Arial</vt:lpstr>
      <vt:lpstr>Arial Rounded MT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Klaus KUEKOU</cp:lastModifiedBy>
  <cp:revision>3</cp:revision>
  <dcterms:created xsi:type="dcterms:W3CDTF">2026-09-08T19:55:24Z</dcterms:created>
  <dcterms:modified xsi:type="dcterms:W3CDTF">2026-09-10T07:02:47Z</dcterms:modified>
</cp:coreProperties>
</file>