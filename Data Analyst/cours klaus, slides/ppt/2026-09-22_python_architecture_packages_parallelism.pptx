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7" roundtripDataSignature="AMtx7mjyvnlO7NTMXr++aHkYZqPirSHJ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7" Type="http://customschemas.google.com/relationships/presentationmetadata" Target="metadata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3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3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3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4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4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4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4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4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4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4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4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4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4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4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4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4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4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4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5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5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5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5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5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5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5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5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5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5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5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5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5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5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5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5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5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5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5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6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6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6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6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6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6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 type="blank">
  <p:cSld name="BLANK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64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64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64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64"/>
          <p:cNvSpPr txBox="1"/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64"/>
          <p:cNvSpPr txBox="1"/>
          <p:nvPr>
            <p:ph idx="1"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5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65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65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65"/>
          <p:cNvSpPr txBox="1"/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65"/>
          <p:cNvSpPr txBox="1"/>
          <p:nvPr>
            <p:ph idx="1"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x">
  <p:cSld name="TITLE_AND_BODY"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6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66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66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66"/>
          <p:cNvSpPr txBox="1"/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" name="Google Shape;23;p66"/>
          <p:cNvSpPr txBox="1"/>
          <p:nvPr>
            <p:ph idx="1"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7"/>
          <p:cNvSpPr txBox="1"/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67"/>
          <p:cNvSpPr txBox="1"/>
          <p:nvPr>
            <p:ph idx="1"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" name="Google Shape;27;p67"/>
          <p:cNvSpPr txBox="1"/>
          <p:nvPr>
            <p:ph idx="2"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67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Google Shape;29;p67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" name="Google Shape;30;p67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8"/>
          <p:cNvSpPr txBox="1"/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" name="Google Shape;33;p68"/>
          <p:cNvSpPr txBox="1"/>
          <p:nvPr>
            <p:ph idx="1"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68"/>
          <p:cNvSpPr txBox="1"/>
          <p:nvPr>
            <p:ph idx="2"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5" name="Google Shape;35;p68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" name="Google Shape;36;p68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68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9"/>
          <p:cNvSpPr txBox="1"/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69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69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2" name="Google Shape;42;p69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0"/>
          <p:cNvSpPr txBox="1"/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70"/>
          <p:cNvSpPr txBox="1"/>
          <p:nvPr>
            <p:ph idx="1" type="body"/>
          </p:nvPr>
        </p:nvSpPr>
        <p:spPr>
          <a:xfrm rot="5400000">
            <a:off x="2309040" y="-251640"/>
            <a:ext cx="4524480" cy="822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" name="Google Shape;46;p70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" name="Google Shape;47;p70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8" name="Google Shape;48;p70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1"/>
          <p:cNvSpPr txBox="1"/>
          <p:nvPr>
            <p:ph type="title"/>
          </p:nvPr>
        </p:nvSpPr>
        <p:spPr>
          <a:xfrm rot="5400000">
            <a:off x="4732380" y="2171700"/>
            <a:ext cx="5850000" cy="205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1" name="Google Shape;51;p71"/>
          <p:cNvSpPr txBox="1"/>
          <p:nvPr>
            <p:ph idx="1" type="body"/>
          </p:nvPr>
        </p:nvSpPr>
        <p:spPr>
          <a:xfrm rot="5400000">
            <a:off x="541440" y="190440"/>
            <a:ext cx="5850000" cy="6018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" name="Google Shape;52;p71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71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" name="Google Shape;54;p71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2"/>
          <p:cNvSpPr txBox="1"/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7" name="Google Shape;57;p72"/>
          <p:cNvSpPr txBox="1"/>
          <p:nvPr>
            <p:ph idx="1"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72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72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72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3"/>
          <p:cNvSpPr txBox="1"/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73"/>
          <p:cNvSpPr txBox="1"/>
          <p:nvPr>
            <p:ph idx="1"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73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73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73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4"/>
          <p:cNvSpPr txBox="1"/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9" name="Google Shape;69;p74"/>
          <p:cNvSpPr txBox="1"/>
          <p:nvPr>
            <p:ph idx="1"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74"/>
          <p:cNvSpPr txBox="1"/>
          <p:nvPr>
            <p:ph idx="2"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74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74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74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5"/>
          <p:cNvSpPr txBox="1"/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6" name="Google Shape;76;p75"/>
          <p:cNvSpPr txBox="1"/>
          <p:nvPr>
            <p:ph idx="1"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7" name="Google Shape;77;p75"/>
          <p:cNvSpPr txBox="1"/>
          <p:nvPr>
            <p:ph idx="2"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8" name="Google Shape;78;p75"/>
          <p:cNvSpPr txBox="1"/>
          <p:nvPr>
            <p:ph idx="3"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9" name="Google Shape;79;p75"/>
          <p:cNvSpPr txBox="1"/>
          <p:nvPr>
            <p:ph idx="4"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0" name="Google Shape;80;p75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1" name="Google Shape;81;p75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2" name="Google Shape;82;p75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6"/>
          <p:cNvSpPr txBox="1"/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5" name="Google Shape;85;p76"/>
          <p:cNvSpPr txBox="1"/>
          <p:nvPr>
            <p:ph idx="10" type="dt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6" name="Google Shape;86;p76"/>
          <p:cNvSpPr txBox="1"/>
          <p:nvPr>
            <p:ph idx="11" type="ftr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7" name="Google Shape;87;p76"/>
          <p:cNvSpPr txBox="1"/>
          <p:nvPr>
            <p:ph idx="12" type="sldNum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www.tiobe.com/tiobe-index/programminglanguages_definition/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658440" y="246960"/>
            <a:ext cx="9874080" cy="29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22 SEPTEMBRE 2026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658440" y="667440"/>
            <a:ext cx="10898280" cy="75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Python : architecture et fonctions utiles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58440" y="1508760"/>
            <a:ext cx="1087092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704160" y="1874520"/>
            <a:ext cx="10788480" cy="82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Du calcul exploratoire à un module réutilisable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704160" y="2953440"/>
            <a:ext cx="10697040" cy="50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Fonctions · objets · imports   |   NumPy · pandas · lecture CSV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704160" y="4096440"/>
            <a:ext cx="10788480" cy="12330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951120" y="4270320"/>
            <a:ext cx="484488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Matin : atelier accompagné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5970960" y="4270320"/>
            <a:ext cx="513756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Après-midi : TP individuel autonome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951120" y="4736520"/>
            <a:ext cx="4753440" cy="34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Construire et vérifier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5970960" y="4736520"/>
            <a:ext cx="5119200" cy="34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Transférer l'architecture aux tickets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658440" y="6382440"/>
            <a:ext cx="10861560" cy="151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667440" y="6446520"/>
            <a:ext cx="8593920" cy="22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0625400" y="6437520"/>
            <a:ext cx="8946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01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>
            <a:off x="658440" y="246960"/>
            <a:ext cx="987480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PARCOURS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58440" y="667440"/>
            <a:ext cx="10899000" cy="758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Quatre étapes, un fil conducteur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658440" y="1508760"/>
            <a:ext cx="10871640" cy="2232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722520" y="1847160"/>
            <a:ext cx="5165640" cy="15354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722520" y="1847160"/>
            <a:ext cx="49680" cy="153540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905400" y="1984320"/>
            <a:ext cx="479988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I · ORIENTÉ OBJET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905400" y="2505600"/>
            <a:ext cx="4799880" cy="758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Fonction, puis classe et objet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Attribut, méthode et deux instances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144840" y="1847160"/>
            <a:ext cx="5165640" cy="15354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6144840" y="1847160"/>
            <a:ext cx="49680" cy="153540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6327720" y="1984320"/>
            <a:ext cx="479988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II · ARCHITECTURE DU PROJET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6327720" y="2505600"/>
            <a:ext cx="4799880" cy="758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Script, notebook, noyau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Modules, imports et environnement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722520" y="3657600"/>
            <a:ext cx="5165640" cy="15354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722520" y="3657600"/>
            <a:ext cx="49680" cy="153540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905400" y="3794760"/>
            <a:ext cx="479988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III · EXÉCUTION ET PERFORMANCE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905400" y="4316040"/>
            <a:ext cx="4799880" cy="758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Compilation et interprétation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C++, Python, NumPy, CPU et GPU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6144840" y="3657600"/>
            <a:ext cx="5165640" cy="15354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6144840" y="3657600"/>
            <a:ext cx="49680" cy="153540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6327720" y="3794760"/>
            <a:ext cx="479988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IV · EXEMPLES DE CODE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6327720" y="4316040"/>
            <a:ext cx="4799880" cy="758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Mélange gaussien : fonction → classe → module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CSV, types, NA et lambda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704160" y="5623560"/>
            <a:ext cx="49680" cy="62100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896040" y="5623560"/>
            <a:ext cx="105606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Fil conducteur : comprendre les objets, organiser le code, puis construire une analyse.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658440" y="6382440"/>
            <a:ext cx="10862280" cy="1584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667440" y="6446520"/>
            <a:ext cx="85946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10625400" y="6437520"/>
            <a:ext cx="895320" cy="24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02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/>
          <p:nvPr/>
        </p:nvSpPr>
        <p:spPr>
          <a:xfrm>
            <a:off x="749880" y="777240"/>
            <a:ext cx="996624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PARTIE I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749880" y="1508760"/>
            <a:ext cx="749160" cy="5868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14400" lIns="90000" spcFirstLastPara="1" rIns="90000" wrap="square" tIns="14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749880" y="1828800"/>
            <a:ext cx="10697760" cy="123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Programmation orientée objet</a:t>
            </a:r>
            <a:endParaRPr b="0" i="0" sz="4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749880" y="4023360"/>
            <a:ext cx="10514880" cy="1096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Partir d’une fonction, puis construire une classe et ses instances.</a:t>
            </a:r>
            <a:endParaRPr b="0" i="0" sz="2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658440" y="6382440"/>
            <a:ext cx="10862280" cy="15840"/>
          </a:xfrm>
          <a:prstGeom prst="rect">
            <a:avLst/>
          </a:prstGeom>
          <a:solidFill>
            <a:srgbClr val="557086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667440" y="6446520"/>
            <a:ext cx="85946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10625400" y="6437520"/>
            <a:ext cx="895320" cy="24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03 / 62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>
            <a:off x="658440" y="246960"/>
            <a:ext cx="987480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ORIENTÉ OBJET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58440" y="667440"/>
            <a:ext cx="10899000" cy="758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Avant les objets : définir une fonction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58440" y="1508760"/>
            <a:ext cx="10871640" cy="2232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777240" y="1901880"/>
            <a:ext cx="10560600" cy="29710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969120" y="2020680"/>
            <a:ext cx="10176480" cy="272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def hello(i: int) -&gt; str: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f"Hello, {i}!"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if __name__ == "__main__":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print(hello(5))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896040" y="5184720"/>
            <a:ext cx="30168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2678A"/>
                </a:solidFill>
                <a:latin typeface="Courier New"/>
                <a:ea typeface="Courier New"/>
                <a:cs typeface="Courier New"/>
                <a:sym typeface="Courier New"/>
              </a:rPr>
              <a:t>hello(5)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087440" y="5184720"/>
            <a:ext cx="59364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4800600" y="5184720"/>
            <a:ext cx="566856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"Hello, 5!"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704160" y="5678280"/>
            <a:ext cx="49680" cy="62100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896040" y="5678280"/>
            <a:ext cx="105606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i: int et -&gt; str indiquent les types ; return renvoie la chaîne.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658440" y="6382440"/>
            <a:ext cx="10862280" cy="1584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67440" y="6446520"/>
            <a:ext cx="85946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10625400" y="6437520"/>
            <a:ext cx="895320" cy="24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04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/>
          <p:nvPr/>
        </p:nvSpPr>
        <p:spPr>
          <a:xfrm>
            <a:off x="658440" y="246960"/>
            <a:ext cx="987480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ORIENTÉ OBJET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58440" y="667440"/>
            <a:ext cx="10899000" cy="758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Un objet associe un état à des méthodes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58440" y="1508760"/>
            <a:ext cx="10871640" cy="2232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777240" y="1865520"/>
            <a:ext cx="10514880" cy="59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Exemple : un objet Duration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777240" y="2834640"/>
            <a:ext cx="5074200" cy="16909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777240" y="2834640"/>
            <a:ext cx="49680" cy="169092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960120" y="2971800"/>
            <a:ext cx="470844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ÉTAT · ATTRIBUT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960120" y="3493080"/>
            <a:ext cx="4708440" cy="91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minutes = 30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099120" y="2834640"/>
            <a:ext cx="5074200" cy="16909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099120" y="2834640"/>
            <a:ext cx="49680" cy="169092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282000" y="2971800"/>
            <a:ext cx="470844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COMPORTEMENT · MÉTHODE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282000" y="3493080"/>
            <a:ext cx="4708440" cy="91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get_minutes() renvoie 30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704160" y="5431680"/>
            <a:ext cx="49680" cy="62100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896040" y="5431680"/>
            <a:ext cx="105606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La classe définit cette structure ; chaque instance possède son propre état.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658440" y="6382440"/>
            <a:ext cx="10862280" cy="1584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67440" y="6446520"/>
            <a:ext cx="85946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0625400" y="6437520"/>
            <a:ext cx="895320" cy="24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05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658440" y="246960"/>
            <a:ext cx="987480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ORIENTÉ OBJET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58440" y="667440"/>
            <a:ext cx="10899000" cy="758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Une classe simple : mémoriser une durée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58440" y="1508760"/>
            <a:ext cx="10871640" cy="2232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777240" y="1764720"/>
            <a:ext cx="1051488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2678A"/>
                </a:solidFill>
                <a:latin typeface="Courier New"/>
                <a:ea typeface="Courier New"/>
                <a:cs typeface="Courier New"/>
                <a:sym typeface="Courier New"/>
              </a:rPr>
              <a:t>00_Objects_Duration.py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694800" y="2313360"/>
            <a:ext cx="10789200" cy="29620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87040" y="2432160"/>
            <a:ext cx="10405080" cy="2715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class Duration: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__init__(self, minutes):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self.minutes = minutes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def get_minutes(self):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self.minutes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704160" y="5614560"/>
            <a:ext cx="49680" cy="62100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896040" y="5614560"/>
            <a:ext cx="105606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__init__ initialise minutes ; get_minutes() renvoie sa valeur.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58440" y="6382440"/>
            <a:ext cx="10862280" cy="1584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67440" y="6446520"/>
            <a:ext cx="85946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0625400" y="6437520"/>
            <a:ext cx="895320" cy="24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06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/>
          <p:nvPr/>
        </p:nvSpPr>
        <p:spPr>
          <a:xfrm>
            <a:off x="658440" y="246960"/>
            <a:ext cx="987480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ORIENTÉ OBJET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58440" y="667440"/>
            <a:ext cx="10899000" cy="758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Une classe, deux objets distincts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58440" y="1508760"/>
            <a:ext cx="10871640" cy="2232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94800" y="1947600"/>
            <a:ext cx="10789200" cy="1197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887040" y="2066400"/>
            <a:ext cx="10405080" cy="9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first = Duration(30)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second = Duration(90)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77240" y="3657600"/>
            <a:ext cx="5074200" cy="173664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777240" y="3657600"/>
            <a:ext cx="49680" cy="173664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960120" y="3794760"/>
            <a:ext cx="470844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960120" y="4316040"/>
            <a:ext cx="4708440" cy="9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minutes = 30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get_minutes() → 30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099120" y="3657600"/>
            <a:ext cx="5074200" cy="173664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6099120" y="3657600"/>
            <a:ext cx="49680" cy="173664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6282000" y="3794760"/>
            <a:ext cx="470844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SECOND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6282000" y="4316040"/>
            <a:ext cx="4708440" cy="9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minutes = 90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get_minutes() → 90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704160" y="5724000"/>
            <a:ext cx="49680" cy="62100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896040" y="5724000"/>
            <a:ext cx="105606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Les deux objets utilisent la même définition et conservent des valeurs distinctes.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58440" y="6382440"/>
            <a:ext cx="10862280" cy="1584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667440" y="6446520"/>
            <a:ext cx="85946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10625400" y="6437520"/>
            <a:ext cx="895320" cy="24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07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>
            <a:off x="658440" y="246960"/>
            <a:ext cx="987480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ORIENTÉ OBJET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58440" y="667440"/>
            <a:ext cx="10899000" cy="758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self désigne l’instance qui reçoit l’appel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658440" y="1508760"/>
            <a:ext cx="10871640" cy="2232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777240" y="1965960"/>
            <a:ext cx="5074200" cy="14349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777240" y="1965960"/>
            <a:ext cx="49680" cy="143496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960120" y="2103120"/>
            <a:ext cx="470844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APPEL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960120" y="2624400"/>
            <a:ext cx="47084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first.get_minutes()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6099120" y="1965960"/>
            <a:ext cx="5074200" cy="14349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6099120" y="1965960"/>
            <a:ext cx="49680" cy="143496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6282000" y="2103120"/>
            <a:ext cx="470844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DANS LA MÉTHODE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6282000" y="2624400"/>
            <a:ext cx="47084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self désigne first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94800" y="3849480"/>
            <a:ext cx="10789200" cy="118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887040" y="3968640"/>
            <a:ext cx="10405080" cy="941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def get_minutes(self):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self.minutes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704160" y="5477400"/>
            <a:ext cx="49680" cy="62100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896040" y="5477400"/>
            <a:ext cx="105606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Duration(30) appelle aussi __init__ avec l’instance dans self et 30 dans minutes.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58440" y="6382440"/>
            <a:ext cx="10862280" cy="1584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67440" y="6446520"/>
            <a:ext cx="85946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10625400" y="6437520"/>
            <a:ext cx="895320" cy="24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08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"/>
          <p:cNvSpPr/>
          <p:nvPr/>
        </p:nvSpPr>
        <p:spPr>
          <a:xfrm>
            <a:off x="658440" y="246960"/>
            <a:ext cx="987480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ORIENTÉ OBJET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658440" y="667440"/>
            <a:ext cx="10899000" cy="758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Ajouter une méthode qui utilise le même état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658440" y="1508760"/>
            <a:ext cx="10871640" cy="2232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777240" y="1764720"/>
            <a:ext cx="1051488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Méthode ajoutée dans la classe Duration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94800" y="2395800"/>
            <a:ext cx="10789200" cy="118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887040" y="2514600"/>
            <a:ext cx="10405080" cy="941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def in_hours(self):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self.minutes / 60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94800" y="4050720"/>
            <a:ext cx="10789200" cy="118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887040" y="4169520"/>
            <a:ext cx="10405080" cy="941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first.in_hours()   # 0.5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second.in_hours()  # 1.5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704160" y="5614560"/>
            <a:ext cx="49680" cy="62100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896040" y="5614560"/>
            <a:ext cx="105606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Une même méthode calcule à partir de l’état de chaque instance.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58440" y="6382440"/>
            <a:ext cx="10862280" cy="1584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667440" y="6446520"/>
            <a:ext cx="85946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0625400" y="6437520"/>
            <a:ext cx="895320" cy="24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09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PROGRAMMATION ORIENTÉE OBJET · EXERCICE</a:t>
            </a:r>
            <a:endParaRPr/>
          </a:p>
        </p:txBody>
      </p:sp>
      <p:sp>
        <p:nvSpPr>
          <p:cNvPr id="263" name="Google Shape;263;p10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Exercice : organiser un programme</a:t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65" name="Google Shape;265;p10"/>
          <p:cNvSpPr txBox="1"/>
          <p:nvPr/>
        </p:nvSpPr>
        <p:spPr>
          <a:xfrm>
            <a:off x="731520" y="1728216"/>
            <a:ext cx="10744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Produire Area: 12 en séparant trois responsabilités.</a:t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731520" y="2450592"/>
            <a:ext cx="3172968" cy="2167128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67" name="Google Shape;267;p10"/>
          <p:cNvSpPr/>
          <p:nvPr/>
        </p:nvSpPr>
        <p:spPr>
          <a:xfrm>
            <a:off x="731520" y="2450592"/>
            <a:ext cx="50292" cy="2167128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68" name="Google Shape;268;p10"/>
          <p:cNvSpPr txBox="1"/>
          <p:nvPr/>
        </p:nvSpPr>
        <p:spPr>
          <a:xfrm>
            <a:off x="914400" y="2587752"/>
            <a:ext cx="28072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CLASSE</a:t>
            </a:r>
            <a:endParaRPr/>
          </a:p>
        </p:txBody>
      </p:sp>
      <p:sp>
        <p:nvSpPr>
          <p:cNvPr id="269" name="Google Shape;269;p10"/>
          <p:cNvSpPr txBox="1"/>
          <p:nvPr/>
        </p:nvSpPr>
        <p:spPr>
          <a:xfrm>
            <a:off x="914400" y="3108960"/>
            <a:ext cx="2807208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Conserver width et height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Calculer area()</a:t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4032504" y="3246120"/>
            <a:ext cx="256032" cy="420624"/>
          </a:xfrm>
          <a:prstGeom prst="chevron">
            <a:avLst>
              <a:gd fmla="val 50000" name="adj"/>
            </a:avLst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71" name="Google Shape;271;p10"/>
          <p:cNvSpPr/>
          <p:nvPr/>
        </p:nvSpPr>
        <p:spPr>
          <a:xfrm>
            <a:off x="4407407" y="2450592"/>
            <a:ext cx="3172968" cy="2167128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72" name="Google Shape;272;p10"/>
          <p:cNvSpPr/>
          <p:nvPr/>
        </p:nvSpPr>
        <p:spPr>
          <a:xfrm>
            <a:off x="4407407" y="2450592"/>
            <a:ext cx="50292" cy="2167128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73" name="Google Shape;273;p10"/>
          <p:cNvSpPr txBox="1"/>
          <p:nvPr/>
        </p:nvSpPr>
        <p:spPr>
          <a:xfrm>
            <a:off x="4590288" y="2587752"/>
            <a:ext cx="28072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FONCTION</a:t>
            </a:r>
            <a:endParaRPr/>
          </a:p>
        </p:txBody>
      </p:sp>
      <p:sp>
        <p:nvSpPr>
          <p:cNvPr id="274" name="Google Shape;274;p10"/>
          <p:cNvSpPr txBox="1"/>
          <p:nvPr/>
        </p:nvSpPr>
        <p:spPr>
          <a:xfrm>
            <a:off x="4590288" y="3108960"/>
            <a:ext cx="2807208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Recevoir un Rectangle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Renvoyer une chaîne</a:t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7708392" y="3246120"/>
            <a:ext cx="256032" cy="420624"/>
          </a:xfrm>
          <a:prstGeom prst="chevron">
            <a:avLst>
              <a:gd fmla="val 50000" name="adj"/>
            </a:avLst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76" name="Google Shape;276;p10"/>
          <p:cNvSpPr/>
          <p:nvPr/>
        </p:nvSpPr>
        <p:spPr>
          <a:xfrm>
            <a:off x="8083296" y="2450592"/>
            <a:ext cx="3172968" cy="2167128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77" name="Google Shape;277;p10"/>
          <p:cNvSpPr/>
          <p:nvPr/>
        </p:nvSpPr>
        <p:spPr>
          <a:xfrm>
            <a:off x="8083296" y="2450592"/>
            <a:ext cx="50292" cy="2167128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78" name="Google Shape;278;p10"/>
          <p:cNvSpPr txBox="1"/>
          <p:nvPr/>
        </p:nvSpPr>
        <p:spPr>
          <a:xfrm>
            <a:off x="8266175" y="2587752"/>
            <a:ext cx="28072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279" name="Google Shape;279;p10"/>
          <p:cNvSpPr txBox="1"/>
          <p:nvPr/>
        </p:nvSpPr>
        <p:spPr>
          <a:xfrm>
            <a:off x="8266175" y="3108960"/>
            <a:ext cx="2807208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Créer l’objet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Afficher le résultat</a:t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704088" y="5266944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81" name="Google Shape;281;p10"/>
          <p:cNvSpPr txBox="1"/>
          <p:nvPr/>
        </p:nvSpPr>
        <p:spPr>
          <a:xfrm>
            <a:off x="896112" y="5266944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Support au choix : trois cellules de notebook ou un seul script.</a:t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83" name="Google Shape;283;p10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284" name="Google Shape;284;p10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10 / 62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EXERCICE · CLASSE</a:t>
            </a:r>
            <a:endParaRPr/>
          </a:p>
        </p:txBody>
      </p:sp>
      <p:sp>
        <p:nvSpPr>
          <p:cNvPr id="290" name="Google Shape;290;p11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Étape 1 : définir Rectangle</a:t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92" name="Google Shape;292;p11"/>
          <p:cNvSpPr txBox="1"/>
          <p:nvPr/>
        </p:nvSpPr>
        <p:spPr>
          <a:xfrm>
            <a:off x="731520" y="1746504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Définition</a:t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731520" y="2185416"/>
            <a:ext cx="6473952" cy="299923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94" name="Google Shape;294;p11"/>
          <p:cNvSpPr txBox="1"/>
          <p:nvPr/>
        </p:nvSpPr>
        <p:spPr>
          <a:xfrm>
            <a:off x="923544" y="2304288"/>
            <a:ext cx="6089904" cy="2752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class Rectangle: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def __init__(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self, width: float, height: float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# TODO: store both values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def area(self) -&gt; float: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# TODO: return the area</a:t>
            </a:r>
            <a:endParaRPr/>
          </a:p>
        </p:txBody>
      </p:sp>
      <p:sp>
        <p:nvSpPr>
          <p:cNvPr id="295" name="Google Shape;295;p11"/>
          <p:cNvSpPr txBox="1"/>
          <p:nvPr/>
        </p:nvSpPr>
        <p:spPr>
          <a:xfrm>
            <a:off x="7507224" y="1746504"/>
            <a:ext cx="3749039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Contrôles</a:t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7507224" y="2185416"/>
            <a:ext cx="3749039" cy="299923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97" name="Google Shape;297;p11"/>
          <p:cNvSpPr txBox="1"/>
          <p:nvPr/>
        </p:nvSpPr>
        <p:spPr>
          <a:xfrm>
            <a:off x="7699248" y="2304288"/>
            <a:ext cx="3365100" cy="27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rectangle = Rectangle(4, 3)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rectangle.width == 4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rectangle.height == 3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rectangle.area() == 12</a:t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704088" y="5458968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299" name="Google Shape;299;p11"/>
          <p:cNvSpPr txBox="1"/>
          <p:nvPr/>
        </p:nvSpPr>
        <p:spPr>
          <a:xfrm>
            <a:off x="896112" y="5458968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Réussite : les trois contrôles renvoient True.</a:t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01" name="Google Shape;301;p11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302" name="Google Shape;302;p11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11 / 62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EXERCICE · FONCTION ET MAIN</a:t>
            </a:r>
            <a:endParaRPr/>
          </a:p>
        </p:txBody>
      </p:sp>
      <p:sp>
        <p:nvSpPr>
          <p:cNvPr id="308" name="Google Shape;308;p12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Étape 2 : connecter la fonction et main</a:t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10" name="Google Shape;310;p12"/>
          <p:cNvSpPr txBox="1"/>
          <p:nvPr/>
        </p:nvSpPr>
        <p:spPr>
          <a:xfrm>
            <a:off x="731520" y="1737360"/>
            <a:ext cx="5230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FONCTION</a:t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731520" y="2148840"/>
            <a:ext cx="5230368" cy="13441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12" name="Google Shape;312;p12"/>
          <p:cNvSpPr txBox="1"/>
          <p:nvPr/>
        </p:nvSpPr>
        <p:spPr>
          <a:xfrm>
            <a:off x="923544" y="2267712"/>
            <a:ext cx="4846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def describe(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rectangle: Rectangle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) -&gt; str: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# TODO: return "Area: 12"</a:t>
            </a:r>
            <a:endParaRPr/>
          </a:p>
        </p:txBody>
      </p:sp>
      <p:sp>
        <p:nvSpPr>
          <p:cNvPr id="313" name="Google Shape;313;p12"/>
          <p:cNvSpPr txBox="1"/>
          <p:nvPr/>
        </p:nvSpPr>
        <p:spPr>
          <a:xfrm>
            <a:off x="6208776" y="1737360"/>
            <a:ext cx="50474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6208776" y="2148840"/>
            <a:ext cx="5047488" cy="13441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15" name="Google Shape;315;p12"/>
          <p:cNvSpPr txBox="1"/>
          <p:nvPr/>
        </p:nvSpPr>
        <p:spPr>
          <a:xfrm>
            <a:off x="6400800" y="2267712"/>
            <a:ext cx="4663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def main() -&gt; None: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rectangle = Rectangle(4, 3)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# TODO: print(describe(rectangle))</a:t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731520" y="3840480"/>
            <a:ext cx="5230368" cy="1261872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17" name="Google Shape;317;p12"/>
          <p:cNvSpPr/>
          <p:nvPr/>
        </p:nvSpPr>
        <p:spPr>
          <a:xfrm>
            <a:off x="731520" y="3840480"/>
            <a:ext cx="50292" cy="1261872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18" name="Google Shape;318;p12"/>
          <p:cNvSpPr txBox="1"/>
          <p:nvPr/>
        </p:nvSpPr>
        <p:spPr>
          <a:xfrm>
            <a:off x="914400" y="3977640"/>
            <a:ext cx="4864607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/>
          </a:p>
        </p:txBody>
      </p:sp>
      <p:sp>
        <p:nvSpPr>
          <p:cNvPr id="319" name="Google Shape;319;p12"/>
          <p:cNvSpPr txBox="1"/>
          <p:nvPr/>
        </p:nvSpPr>
        <p:spPr>
          <a:xfrm>
            <a:off x="914400" y="4498848"/>
            <a:ext cx="4864607" cy="484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Appeler main() dans la dernière cellule.</a:t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6208776" y="3840480"/>
            <a:ext cx="5047488" cy="1261872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21" name="Google Shape;321;p12"/>
          <p:cNvSpPr/>
          <p:nvPr/>
        </p:nvSpPr>
        <p:spPr>
          <a:xfrm>
            <a:off x="6208776" y="3840480"/>
            <a:ext cx="50292" cy="126187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22" name="Google Shape;322;p12"/>
          <p:cNvSpPr txBox="1"/>
          <p:nvPr/>
        </p:nvSpPr>
        <p:spPr>
          <a:xfrm>
            <a:off x="6391656" y="3977640"/>
            <a:ext cx="4681727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SCRIPT</a:t>
            </a:r>
            <a:endParaRPr/>
          </a:p>
        </p:txBody>
      </p:sp>
      <p:sp>
        <p:nvSpPr>
          <p:cNvPr id="323" name="Google Shape;323;p12"/>
          <p:cNvSpPr txBox="1"/>
          <p:nvPr/>
        </p:nvSpPr>
        <p:spPr>
          <a:xfrm>
            <a:off x="6391656" y="4498848"/>
            <a:ext cx="4681727" cy="484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if __name__ == "__main__":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    main()</a:t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704088" y="5440680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25" name="Google Shape;325;p12"/>
          <p:cNvSpPr txBox="1"/>
          <p:nvPr/>
        </p:nvSpPr>
        <p:spPr>
          <a:xfrm>
            <a:off x="896112" y="5440680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Résultat attendu : Area: 12</a:t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327" name="Google Shape;327;p12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328" name="Google Shape;328;p12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12 / 62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"/>
          <p:cNvSpPr/>
          <p:nvPr/>
        </p:nvSpPr>
        <p:spPr>
          <a:xfrm>
            <a:off x="749880" y="777240"/>
            <a:ext cx="996624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PARTIE II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749880" y="1508760"/>
            <a:ext cx="749160" cy="5868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14400" lIns="90000" spcFirstLastPara="1" rIns="90000" wrap="square" tIns="14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749880" y="1828800"/>
            <a:ext cx="10697760" cy="123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Architecture du projet</a:t>
            </a:r>
            <a:endParaRPr b="0" i="0" sz="4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749880" y="4023360"/>
            <a:ext cx="10514880" cy="1096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Organiser les fichiers, les imports et l’environnement Python.</a:t>
            </a:r>
            <a:endParaRPr b="0" i="0" sz="2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658440" y="6382440"/>
            <a:ext cx="10862280" cy="15840"/>
          </a:xfrm>
          <a:prstGeom prst="rect">
            <a:avLst/>
          </a:prstGeom>
          <a:solidFill>
            <a:srgbClr val="557086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667440" y="6446520"/>
            <a:ext cx="85946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10625400" y="6437520"/>
            <a:ext cx="895320" cy="24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13 / 62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/>
          <p:nvPr/>
        </p:nvSpPr>
        <p:spPr>
          <a:xfrm>
            <a:off x="658440" y="299520"/>
            <a:ext cx="9874080" cy="18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ARCHITECTURE DU PROJET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658440" y="800640"/>
            <a:ext cx="10898280" cy="49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Anatomie d’un projet Python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658440" y="1508760"/>
            <a:ext cx="1087092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722520" y="1801440"/>
            <a:ext cx="6719400" cy="40766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978480" y="1951560"/>
            <a:ext cx="6170760" cy="338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python_project/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978480" y="2337480"/>
            <a:ext cx="6170760" cy="30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B8DCE8"/>
                </a:solidFill>
                <a:latin typeface="Courier New"/>
                <a:ea typeface="Courier New"/>
                <a:cs typeface="Courier New"/>
                <a:sym typeface="Courier New"/>
              </a:rPr>
              <a:t>├── .venv/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978480" y="2707560"/>
            <a:ext cx="6170760" cy="30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B8DCE8"/>
                </a:solidFill>
                <a:latin typeface="Courier New"/>
                <a:ea typeface="Courier New"/>
                <a:cs typeface="Courier New"/>
                <a:sym typeface="Courier New"/>
              </a:rPr>
              <a:t>├── random_tools/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978480" y="3078000"/>
            <a:ext cx="6170760" cy="30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B8DCE8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__init__.py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978480" y="3448440"/>
            <a:ext cx="6170760" cy="30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dice.py</a:t>
            </a:r>
            <a:br>
              <a:rPr b="0" i="0" lang="en-US" sz="19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9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cards.py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978480" y="3818520"/>
            <a:ext cx="6170760" cy="30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B8DCE8"/>
                </a:solidFill>
                <a:latin typeface="Courier New"/>
                <a:ea typeface="Courier New"/>
                <a:cs typeface="Courier New"/>
                <a:sym typeface="Courier New"/>
              </a:rPr>
              <a:t>├── analyses/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978480" y="4188960"/>
            <a:ext cx="6170760" cy="30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random_demo.ipynb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978480" y="4559400"/>
            <a:ext cx="6170760" cy="30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B8DCE8"/>
                </a:solidFill>
                <a:latin typeface="Courier New"/>
                <a:ea typeface="Courier New"/>
                <a:cs typeface="Courier New"/>
                <a:sym typeface="Courier New"/>
              </a:rPr>
              <a:t>├── tests/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978480" y="4929480"/>
            <a:ext cx="6170760" cy="30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test_random_tools.py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978480" y="5299920"/>
            <a:ext cx="6170760" cy="30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EBC6A8"/>
                </a:solidFill>
                <a:latin typeface="Courier New"/>
                <a:ea typeface="Courier New"/>
                <a:cs typeface="Courier New"/>
                <a:sym typeface="Courier New"/>
              </a:rPr>
              <a:t>└── requirements.txt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7726680" y="1828800"/>
            <a:ext cx="3701880" cy="620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7726680" y="1828800"/>
            <a:ext cx="48960" cy="6202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7909560" y="1838160"/>
            <a:ext cx="336348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678A"/>
                </a:solidFill>
                <a:latin typeface="Courier New"/>
                <a:ea typeface="Courier New"/>
                <a:cs typeface="Courier New"/>
                <a:sym typeface="Courier New"/>
              </a:rPr>
              <a:t>.venv/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7909560" y="2133720"/>
            <a:ext cx="3363480" cy="27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Python + paquets locaux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7726680" y="2496240"/>
            <a:ext cx="3701880" cy="620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7726680" y="2496240"/>
            <a:ext cx="48960" cy="6202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7909560" y="2505600"/>
            <a:ext cx="336348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678A"/>
                </a:solidFill>
                <a:latin typeface="Courier New"/>
                <a:ea typeface="Courier New"/>
                <a:cs typeface="Courier New"/>
                <a:sym typeface="Courier New"/>
              </a:rPr>
              <a:t>random_tools/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7909560" y="2801520"/>
            <a:ext cx="3363480" cy="27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modules réutilisables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7955280" y="3163680"/>
            <a:ext cx="3473280" cy="620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7955280" y="3163680"/>
            <a:ext cx="48960" cy="6202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8138160" y="3173040"/>
            <a:ext cx="313488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678A"/>
                </a:solidFill>
                <a:latin typeface="Courier New"/>
                <a:ea typeface="Courier New"/>
                <a:cs typeface="Courier New"/>
                <a:sym typeface="Courier New"/>
              </a:rPr>
              <a:t>__init__.py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8138160" y="3476520"/>
            <a:ext cx="31348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Code exécuté à l’import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7726680" y="3831480"/>
            <a:ext cx="3701880" cy="620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7726680" y="3831480"/>
            <a:ext cx="48960" cy="62028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7909560" y="3840480"/>
            <a:ext cx="336348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66D3A"/>
                </a:solidFill>
                <a:latin typeface="Courier New"/>
                <a:ea typeface="Courier New"/>
                <a:cs typeface="Courier New"/>
                <a:sym typeface="Courier New"/>
              </a:rPr>
              <a:t>analyses/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7909560" y="4136400"/>
            <a:ext cx="3363480" cy="27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notebooks et résultats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7726680" y="4498920"/>
            <a:ext cx="3701880" cy="620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7726680" y="4498920"/>
            <a:ext cx="48960" cy="62028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7909560" y="4508280"/>
            <a:ext cx="336348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66D3A"/>
                </a:solidFill>
                <a:latin typeface="Courier New"/>
                <a:ea typeface="Courier New"/>
                <a:cs typeface="Courier New"/>
                <a:sym typeface="Courier New"/>
              </a:rPr>
              <a:t>tests/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7909560" y="4803840"/>
            <a:ext cx="3363480" cy="27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tests unitaires du code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7726680" y="5166360"/>
            <a:ext cx="3701880" cy="6202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7726680" y="5166360"/>
            <a:ext cx="48960" cy="6202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7909560" y="5175720"/>
            <a:ext cx="336348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678A"/>
                </a:solidFill>
                <a:latin typeface="Courier New"/>
                <a:ea typeface="Courier New"/>
                <a:cs typeface="Courier New"/>
                <a:sym typeface="Courier New"/>
              </a:rPr>
              <a:t>requirements.txt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7909560" y="5471280"/>
            <a:ext cx="3363480" cy="27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dépendances déclarées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740520" y="5976720"/>
            <a:ext cx="10697040" cy="26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Depuis la racine du projet : analyses/ et tests/ importent random_tools/.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658440" y="6382440"/>
            <a:ext cx="10861560" cy="151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667440" y="6474600"/>
            <a:ext cx="8593920" cy="17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10625400" y="6467400"/>
            <a:ext cx="894600" cy="18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14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"/>
          <p:cNvSpPr/>
          <p:nvPr/>
        </p:nvSpPr>
        <p:spPr>
          <a:xfrm>
            <a:off x="658440" y="299880"/>
            <a:ext cx="9874440" cy="18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ARCHITECTURE DU PROJET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658440" y="801000"/>
            <a:ext cx="10898640" cy="49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Script et notebook : deux façons d’exécuter Python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777240" y="2221920"/>
            <a:ext cx="5073840" cy="255024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777240" y="2221920"/>
            <a:ext cx="49320" cy="255024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960120" y="2418120"/>
            <a:ext cx="470808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SCRIPT .py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960120" y="2921400"/>
            <a:ext cx="4708080" cy="1690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 fichier, lancé du début à la fin.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 processus neuf à chaque lancement.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6099120" y="2221920"/>
            <a:ext cx="5073840" cy="255024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6099120" y="2221920"/>
            <a:ext cx="49320" cy="255024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6282000" y="2418120"/>
            <a:ext cx="470808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NOTEBOOK .ipynb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6282000" y="2921400"/>
            <a:ext cx="4708080" cy="1690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Des cellules, exécutées par un noyau.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Les objets persistent entre les appels.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704160" y="5532120"/>
            <a:ext cx="49320" cy="62064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896040" y="5627520"/>
            <a:ext cx="10560240" cy="429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Les deux utilisent le même langage.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667440" y="6474960"/>
            <a:ext cx="8594280" cy="17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10625400" y="6467400"/>
            <a:ext cx="894960" cy="18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15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"/>
          <p:cNvSpPr/>
          <p:nvPr/>
        </p:nvSpPr>
        <p:spPr>
          <a:xfrm>
            <a:off x="658440" y="299880"/>
            <a:ext cx="9874440" cy="18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ARCHITECTURE DU PROJET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658440" y="801000"/>
            <a:ext cx="10898640" cy="49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Un environnement virtuel isole les paquets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786240" y="2468160"/>
            <a:ext cx="182772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Projet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2743200" y="232272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2834640" y="2553840"/>
            <a:ext cx="2403720" cy="36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Python installé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5394960" y="2560320"/>
            <a:ext cx="227520" cy="337320"/>
          </a:xfrm>
          <a:prstGeom prst="chevron">
            <a:avLst>
              <a:gd fmla="val 50000" name="adj"/>
            </a:avLst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5678280" y="232272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5769720" y="2553840"/>
            <a:ext cx="2403720" cy="36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création du venv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8330040" y="2560320"/>
            <a:ext cx="227520" cy="337320"/>
          </a:xfrm>
          <a:prstGeom prst="chevron">
            <a:avLst>
              <a:gd fmla="val 50000" name="adj"/>
            </a:avLst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8613720" y="232272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8705160" y="2553840"/>
            <a:ext cx="2403720" cy="36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.venv/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694800" y="3840480"/>
            <a:ext cx="10788840" cy="95904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887040" y="4085280"/>
            <a:ext cx="10404720" cy="46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python3.12 -m venv .venv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704160" y="5513760"/>
            <a:ext cx="49320" cy="62064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896040" y="5617080"/>
            <a:ext cx="10560240" cy="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 Python choisi à la création détermine celui du venv.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667440" y="6474960"/>
            <a:ext cx="8594280" cy="17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10625400" y="6467400"/>
            <a:ext cx="894960" cy="18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16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"/>
          <p:cNvSpPr/>
          <p:nvPr/>
        </p:nvSpPr>
        <p:spPr>
          <a:xfrm>
            <a:off x="658440" y="246960"/>
            <a:ext cx="987516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ARCHITECTURE DU PROJET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658440" y="667440"/>
            <a:ext cx="10899360" cy="75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Activer .venv dans Bash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658440" y="1508760"/>
            <a:ext cx="10872000" cy="22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777240" y="1746360"/>
            <a:ext cx="10515240" cy="41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Depuis la racine du projet · exemple de terminal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777240" y="2249280"/>
            <a:ext cx="10579320" cy="27975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969120" y="2368440"/>
            <a:ext cx="10195200" cy="255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$ source .venv/bin/activate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(.venv) $ command -v python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/home/student/python_project/.venv/bin/python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(.venv) $ echo "$VIRTUAL_ENV"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/home/student/python_project/.venv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841320" y="5330880"/>
            <a:ext cx="1051524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(.venv) indique l’activation ; le chemin confirme quel Python sera lancé.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704160" y="5687640"/>
            <a:ext cx="50040" cy="62136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896040" y="5687640"/>
            <a:ext cx="1056096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 terminal est activé ; le noyau du notebook se choisit séparément.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658440" y="6382440"/>
            <a:ext cx="10862640" cy="1620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667440" y="6446520"/>
            <a:ext cx="859500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10625400" y="6437520"/>
            <a:ext cx="89568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17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8"/>
          <p:cNvSpPr/>
          <p:nvPr/>
        </p:nvSpPr>
        <p:spPr>
          <a:xfrm>
            <a:off x="658440" y="299880"/>
            <a:ext cx="9874440" cy="18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ARCHITECTURE DU PROJET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658440" y="801000"/>
            <a:ext cx="10898640" cy="49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Installer et déclarer les dépendances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795600" y="1819080"/>
            <a:ext cx="1060596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678A"/>
                </a:solidFill>
                <a:latin typeface="Courier New"/>
                <a:ea typeface="Courier New"/>
                <a:cs typeface="Courier New"/>
                <a:sym typeface="Courier New"/>
              </a:rPr>
              <a:t>requirements.txt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694800" y="2404800"/>
            <a:ext cx="10788840" cy="1215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887040" y="2574000"/>
            <a:ext cx="10404720" cy="86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numpy==2.5.3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pandas==3.0.5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694800" y="4087440"/>
            <a:ext cx="10788840" cy="931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887040" y="4333680"/>
            <a:ext cx="10404720" cy="429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python -m pip install -r requirements.txt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704160" y="5523120"/>
            <a:ext cx="49320" cy="62064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896040" y="5649120"/>
            <a:ext cx="10560240" cy="36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Venv activé : pip installe ses paquets. Git conserve requirements.txt.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667440" y="6474960"/>
            <a:ext cx="8594280" cy="17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10625400" y="6467400"/>
            <a:ext cx="894960" cy="18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18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9"/>
          <p:cNvSpPr/>
          <p:nvPr/>
        </p:nvSpPr>
        <p:spPr>
          <a:xfrm>
            <a:off x="658440" y="299880"/>
            <a:ext cx="9874440" cy="18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ARCHITECTURE DU PROJET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658440" y="801000"/>
            <a:ext cx="10898640" cy="49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Le noyau est le Python du notebook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786240" y="2523240"/>
            <a:ext cx="182772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Notebook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2743200" y="237744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2834640" y="2608560"/>
            <a:ext cx="2403720" cy="36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cellules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5394960" y="2615040"/>
            <a:ext cx="227520" cy="337320"/>
          </a:xfrm>
          <a:prstGeom prst="chevron">
            <a:avLst>
              <a:gd fmla="val 50000" name="adj"/>
            </a:avLst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5678280" y="237744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5769720" y="2608560"/>
            <a:ext cx="2403720" cy="36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noyau Python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8330040" y="2615040"/>
            <a:ext cx="227520" cy="337320"/>
          </a:xfrm>
          <a:prstGeom prst="chevron">
            <a:avLst>
              <a:gd fmla="val 50000" name="adj"/>
            </a:avLst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8613720" y="237744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8705160" y="2608560"/>
            <a:ext cx="2403720" cy="36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.venv/bin/python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694800" y="3950280"/>
            <a:ext cx="10788840" cy="1206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887040" y="4099680"/>
            <a:ext cx="10404720" cy="8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import sys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print(sys.executable)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704160" y="5568840"/>
            <a:ext cx="49320" cy="62064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896040" y="5687280"/>
            <a:ext cx="1056024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Sélectionner le noyau du projet, puis vérifier son exécutable.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667440" y="6474960"/>
            <a:ext cx="8594280" cy="17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10625400" y="6467400"/>
            <a:ext cx="894960" cy="18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19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0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ARCHITECTURE DU PROJET</a:t>
            </a:r>
            <a:endParaRPr/>
          </a:p>
        </p:txBody>
      </p:sp>
      <p:sp>
        <p:nvSpPr>
          <p:cNvPr id="490" name="Google Shape;490;p20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__init__.py définit une constante commune</a:t>
            </a:r>
            <a:endParaRPr/>
          </a:p>
        </p:txBody>
      </p:sp>
      <p:sp>
        <p:nvSpPr>
          <p:cNvPr id="491" name="Google Shape;491;p20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92" name="Google Shape;492;p20"/>
          <p:cNvSpPr txBox="1"/>
          <p:nvPr/>
        </p:nvSpPr>
        <p:spPr>
          <a:xfrm>
            <a:off x="777240" y="178308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Un paquet, deux modules</a:t>
            </a:r>
            <a:endParaRPr/>
          </a:p>
        </p:txBody>
      </p:sp>
      <p:sp>
        <p:nvSpPr>
          <p:cNvPr id="493" name="Google Shape;493;p20"/>
          <p:cNvSpPr/>
          <p:nvPr/>
        </p:nvSpPr>
        <p:spPr>
          <a:xfrm>
            <a:off x="777240" y="2267712"/>
            <a:ext cx="4800600" cy="244144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94" name="Google Shape;494;p20"/>
          <p:cNvSpPr txBox="1"/>
          <p:nvPr/>
        </p:nvSpPr>
        <p:spPr>
          <a:xfrm>
            <a:off x="969264" y="2386584"/>
            <a:ext cx="4416552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random_tools/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├── __init__.py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├── dice.py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└── cards.py</a:t>
            </a:r>
            <a:endParaRPr/>
          </a:p>
        </p:txBody>
      </p:sp>
      <p:sp>
        <p:nvSpPr>
          <p:cNvPr id="495" name="Google Shape;495;p20"/>
          <p:cNvSpPr txBox="1"/>
          <p:nvPr/>
        </p:nvSpPr>
        <p:spPr>
          <a:xfrm>
            <a:off x="5925312" y="17830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random_tools/__init__.py</a:t>
            </a:r>
            <a:endParaRPr/>
          </a:p>
        </p:txBody>
      </p:sp>
      <p:sp>
        <p:nvSpPr>
          <p:cNvPr id="496" name="Google Shape;496;p20"/>
          <p:cNvSpPr/>
          <p:nvPr/>
        </p:nvSpPr>
        <p:spPr>
          <a:xfrm>
            <a:off x="5925312" y="2267712"/>
            <a:ext cx="5257800" cy="10241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97" name="Google Shape;497;p20"/>
          <p:cNvSpPr txBox="1"/>
          <p:nvPr/>
        </p:nvSpPr>
        <p:spPr>
          <a:xfrm>
            <a:off x="6117336" y="2386584"/>
            <a:ext cx="48737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DEFAULT_SEED = 404</a:t>
            </a:r>
            <a:endParaRPr/>
          </a:p>
        </p:txBody>
      </p:sp>
      <p:sp>
        <p:nvSpPr>
          <p:cNvPr id="498" name="Google Shape;498;p20"/>
          <p:cNvSpPr/>
          <p:nvPr/>
        </p:nvSpPr>
        <p:spPr>
          <a:xfrm>
            <a:off x="704088" y="5157216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499" name="Google Shape;499;p20"/>
          <p:cNvSpPr txBox="1"/>
          <p:nvPr/>
        </p:nvSpPr>
        <p:spPr>
          <a:xfrm>
            <a:off x="896112" y="5157216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__init__.py ne fait ici qu’une chose : définir la valeur commune.</a:t>
            </a:r>
            <a:endParaRPr/>
          </a:p>
        </p:txBody>
      </p:sp>
      <p:sp>
        <p:nvSpPr>
          <p:cNvPr id="500" name="Google Shape;500;p20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01" name="Google Shape;501;p20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502" name="Google Shape;502;p20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20 / 62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1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ARCHITECTURE DU PROJET</a:t>
            </a:r>
            <a:endParaRPr/>
          </a:p>
        </p:txBody>
      </p:sp>
      <p:sp>
        <p:nvSpPr>
          <p:cNvPr id="508" name="Google Shape;508;p21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Deux classes réutilisent la même constante</a:t>
            </a:r>
            <a:endParaRPr/>
          </a:p>
        </p:txBody>
      </p:sp>
      <p:sp>
        <p:nvSpPr>
          <p:cNvPr id="509" name="Google Shape;509;p21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10" name="Google Shape;510;p21"/>
          <p:cNvSpPr txBox="1"/>
          <p:nvPr/>
        </p:nvSpPr>
        <p:spPr>
          <a:xfrm>
            <a:off x="777240" y="1755648"/>
            <a:ext cx="50932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random_tools/dice.py</a:t>
            </a:r>
            <a:endParaRPr/>
          </a:p>
        </p:txBody>
      </p:sp>
      <p:sp>
        <p:nvSpPr>
          <p:cNvPr id="511" name="Google Shape;511;p21"/>
          <p:cNvSpPr/>
          <p:nvPr/>
        </p:nvSpPr>
        <p:spPr>
          <a:xfrm>
            <a:off x="777240" y="2194560"/>
            <a:ext cx="5093208" cy="2240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12" name="Google Shape;512;p21"/>
          <p:cNvSpPr txBox="1"/>
          <p:nvPr/>
        </p:nvSpPr>
        <p:spPr>
          <a:xfrm>
            <a:off x="969264" y="2313432"/>
            <a:ext cx="470916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from . import DEFAULT_SEED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class Dice: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seed = DEFAULT_SEED</a:t>
            </a:r>
            <a:endParaRPr/>
          </a:p>
        </p:txBody>
      </p:sp>
      <p:sp>
        <p:nvSpPr>
          <p:cNvPr id="513" name="Google Shape;513;p21"/>
          <p:cNvSpPr txBox="1"/>
          <p:nvPr/>
        </p:nvSpPr>
        <p:spPr>
          <a:xfrm>
            <a:off x="6099048" y="1755648"/>
            <a:ext cx="50932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random_tools/cards.py</a:t>
            </a:r>
            <a:endParaRPr/>
          </a:p>
        </p:txBody>
      </p:sp>
      <p:sp>
        <p:nvSpPr>
          <p:cNvPr id="514" name="Google Shape;514;p21"/>
          <p:cNvSpPr/>
          <p:nvPr/>
        </p:nvSpPr>
        <p:spPr>
          <a:xfrm>
            <a:off x="6099048" y="2194560"/>
            <a:ext cx="5093208" cy="2240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15" name="Google Shape;515;p21"/>
          <p:cNvSpPr txBox="1"/>
          <p:nvPr/>
        </p:nvSpPr>
        <p:spPr>
          <a:xfrm>
            <a:off x="6291072" y="2313432"/>
            <a:ext cx="470916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from . import DEFAULT_SEED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class Deck: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seed = DEFAULT_SEED</a:t>
            </a:r>
            <a:endParaRPr/>
          </a:p>
        </p:txBody>
      </p:sp>
      <p:sp>
        <p:nvSpPr>
          <p:cNvPr id="516" name="Google Shape;516;p21"/>
          <p:cNvSpPr/>
          <p:nvPr/>
        </p:nvSpPr>
        <p:spPr>
          <a:xfrm>
            <a:off x="704088" y="4937760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17" name="Google Shape;517;p21"/>
          <p:cNvSpPr txBox="1"/>
          <p:nvPr/>
        </p:nvSpPr>
        <p:spPr>
          <a:xfrm>
            <a:off x="896112" y="4937760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 point signifie « depuis le paquet courant » ; Dice.seed et Deck.seed valent 404.</a:t>
            </a:r>
            <a:endParaRPr/>
          </a:p>
        </p:txBody>
      </p:sp>
      <p:sp>
        <p:nvSpPr>
          <p:cNvPr id="518" name="Google Shape;518;p21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19" name="Google Shape;519;p21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520" name="Google Shape;520;p21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21 / 62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2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ARCHITECTURE DU PROJET · EXERCICE</a:t>
            </a:r>
            <a:endParaRPr/>
          </a:p>
        </p:txBody>
      </p:sp>
      <p:sp>
        <p:nvSpPr>
          <p:cNvPr id="526" name="Google Shape;526;p22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Exercice : construire l’architecture du projet</a:t>
            </a:r>
            <a:endParaRPr/>
          </a:p>
        </p:txBody>
      </p:sp>
      <p:sp>
        <p:nvSpPr>
          <p:cNvPr id="527" name="Google Shape;527;p22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28" name="Google Shape;528;p22"/>
          <p:cNvSpPr txBox="1"/>
          <p:nvPr/>
        </p:nvSpPr>
        <p:spPr>
          <a:xfrm>
            <a:off x="731520" y="1682496"/>
            <a:ext cx="10744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Reprendre Rectangle et répartir le code entre un paquet, un appelant et un test.</a:t>
            </a:r>
            <a:endParaRPr/>
          </a:p>
        </p:txBody>
      </p:sp>
      <p:sp>
        <p:nvSpPr>
          <p:cNvPr id="529" name="Google Shape;529;p22"/>
          <p:cNvSpPr/>
          <p:nvPr/>
        </p:nvSpPr>
        <p:spPr>
          <a:xfrm>
            <a:off x="731520" y="2304288"/>
            <a:ext cx="4892040" cy="30175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30" name="Google Shape;530;p22"/>
          <p:cNvSpPr txBox="1"/>
          <p:nvPr/>
        </p:nvSpPr>
        <p:spPr>
          <a:xfrm>
            <a:off x="923544" y="2423160"/>
            <a:ext cx="4507992" cy="2770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rectangle_project/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├── geometry/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│   ├── __init__.py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│   └── rectangle.py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├── run_rectangle.py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└── tests/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└── test_rectangle.py</a:t>
            </a:r>
            <a:endParaRPr/>
          </a:p>
        </p:txBody>
      </p:sp>
      <p:sp>
        <p:nvSpPr>
          <p:cNvPr id="531" name="Google Shape;531;p22"/>
          <p:cNvSpPr/>
          <p:nvPr/>
        </p:nvSpPr>
        <p:spPr>
          <a:xfrm>
            <a:off x="5925312" y="2011680"/>
            <a:ext cx="5340096" cy="11887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32" name="Google Shape;532;p22"/>
          <p:cNvSpPr/>
          <p:nvPr/>
        </p:nvSpPr>
        <p:spPr>
          <a:xfrm>
            <a:off x="5925312" y="2011680"/>
            <a:ext cx="50292" cy="118872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33" name="Google Shape;533;p22"/>
          <p:cNvSpPr txBox="1"/>
          <p:nvPr/>
        </p:nvSpPr>
        <p:spPr>
          <a:xfrm>
            <a:off x="6108192" y="2148840"/>
            <a:ext cx="49743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PAQUET</a:t>
            </a:r>
            <a:endParaRPr/>
          </a:p>
        </p:txBody>
      </p:sp>
      <p:sp>
        <p:nvSpPr>
          <p:cNvPr id="534" name="Google Shape;534;p22"/>
          <p:cNvSpPr txBox="1"/>
          <p:nvPr/>
        </p:nvSpPr>
        <p:spPr>
          <a:xfrm>
            <a:off x="6108192" y="2670048"/>
            <a:ext cx="49743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Définitions réutilisables ; aucun appel de démonstration.</a:t>
            </a:r>
            <a:endParaRPr/>
          </a:p>
        </p:txBody>
      </p:sp>
      <p:sp>
        <p:nvSpPr>
          <p:cNvPr id="535" name="Google Shape;535;p22"/>
          <p:cNvSpPr/>
          <p:nvPr/>
        </p:nvSpPr>
        <p:spPr>
          <a:xfrm>
            <a:off x="5925312" y="3273552"/>
            <a:ext cx="5340096" cy="11887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36" name="Google Shape;536;p22"/>
          <p:cNvSpPr/>
          <p:nvPr/>
        </p:nvSpPr>
        <p:spPr>
          <a:xfrm>
            <a:off x="5925312" y="3273552"/>
            <a:ext cx="50292" cy="118872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37" name="Google Shape;537;p22"/>
          <p:cNvSpPr txBox="1"/>
          <p:nvPr/>
        </p:nvSpPr>
        <p:spPr>
          <a:xfrm>
            <a:off x="6108192" y="3410712"/>
            <a:ext cx="49743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APPELANT</a:t>
            </a:r>
            <a:endParaRPr/>
          </a:p>
        </p:txBody>
      </p:sp>
      <p:sp>
        <p:nvSpPr>
          <p:cNvPr id="538" name="Google Shape;538;p22"/>
          <p:cNvSpPr txBox="1"/>
          <p:nvPr/>
        </p:nvSpPr>
        <p:spPr>
          <a:xfrm>
            <a:off x="6108192" y="3931920"/>
            <a:ext cx="49743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Crée un objet, appelle le paquet et affiche le résultat.</a:t>
            </a:r>
            <a:endParaRPr/>
          </a:p>
        </p:txBody>
      </p:sp>
      <p:sp>
        <p:nvSpPr>
          <p:cNvPr id="539" name="Google Shape;539;p22"/>
          <p:cNvSpPr/>
          <p:nvPr/>
        </p:nvSpPr>
        <p:spPr>
          <a:xfrm>
            <a:off x="5925312" y="4535424"/>
            <a:ext cx="5340096" cy="11887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40" name="Google Shape;540;p22"/>
          <p:cNvSpPr/>
          <p:nvPr/>
        </p:nvSpPr>
        <p:spPr>
          <a:xfrm>
            <a:off x="5925312" y="4535424"/>
            <a:ext cx="50292" cy="118872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41" name="Google Shape;541;p22"/>
          <p:cNvSpPr txBox="1"/>
          <p:nvPr/>
        </p:nvSpPr>
        <p:spPr>
          <a:xfrm>
            <a:off x="6108192" y="4672584"/>
            <a:ext cx="49743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/>
          </a:p>
        </p:txBody>
      </p:sp>
      <p:sp>
        <p:nvSpPr>
          <p:cNvPr id="542" name="Google Shape;542;p22"/>
          <p:cNvSpPr txBox="1"/>
          <p:nvPr/>
        </p:nvSpPr>
        <p:spPr>
          <a:xfrm>
            <a:off x="6108192" y="5193792"/>
            <a:ext cx="49743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Importe le même module et vérifie une propriété attendue.</a:t>
            </a:r>
            <a:endParaRPr/>
          </a:p>
        </p:txBody>
      </p:sp>
      <p:sp>
        <p:nvSpPr>
          <p:cNvPr id="543" name="Google Shape;543;p22"/>
          <p:cNvSpPr/>
          <p:nvPr/>
        </p:nvSpPr>
        <p:spPr>
          <a:xfrm>
            <a:off x="704088" y="5724144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44" name="Google Shape;544;p22"/>
          <p:cNvSpPr txBox="1"/>
          <p:nvPr/>
        </p:nvSpPr>
        <p:spPr>
          <a:xfrm>
            <a:off x="896112" y="5724144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Quatre fichiers, trois responsabilités : définir, exécuter, vérifier.</a:t>
            </a:r>
            <a:endParaRPr/>
          </a:p>
        </p:txBody>
      </p:sp>
      <p:sp>
        <p:nvSpPr>
          <p:cNvPr id="545" name="Google Shape;545;p22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46" name="Google Shape;546;p22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547" name="Google Shape;547;p22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22 / 62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3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EXERCICE · PAQUET</a:t>
            </a:r>
            <a:endParaRPr/>
          </a:p>
        </p:txBody>
      </p:sp>
      <p:sp>
        <p:nvSpPr>
          <p:cNvPr id="553" name="Google Shape;553;p23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Le paquet porte les définitions réutilisables</a:t>
            </a:r>
            <a:endParaRPr/>
          </a:p>
        </p:txBody>
      </p:sp>
      <p:sp>
        <p:nvSpPr>
          <p:cNvPr id="554" name="Google Shape;554;p23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55" name="Google Shape;555;p23"/>
          <p:cNvSpPr txBox="1"/>
          <p:nvPr/>
        </p:nvSpPr>
        <p:spPr>
          <a:xfrm>
            <a:off x="731520" y="1746504"/>
            <a:ext cx="324612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geometry/__init__.py</a:t>
            </a:r>
            <a:endParaRPr/>
          </a:p>
        </p:txBody>
      </p:sp>
      <p:sp>
        <p:nvSpPr>
          <p:cNvPr id="556" name="Google Shape;556;p23"/>
          <p:cNvSpPr/>
          <p:nvPr/>
        </p:nvSpPr>
        <p:spPr>
          <a:xfrm>
            <a:off x="731520" y="2194560"/>
            <a:ext cx="3154680" cy="9144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57" name="Google Shape;557;p23"/>
          <p:cNvSpPr txBox="1"/>
          <p:nvPr/>
        </p:nvSpPr>
        <p:spPr>
          <a:xfrm>
            <a:off x="923544" y="2313432"/>
            <a:ext cx="2770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DEFAULT_UNIT = "cm"</a:t>
            </a:r>
            <a:endParaRPr/>
          </a:p>
        </p:txBody>
      </p:sp>
      <p:sp>
        <p:nvSpPr>
          <p:cNvPr id="558" name="Google Shape;558;p23"/>
          <p:cNvSpPr/>
          <p:nvPr/>
        </p:nvSpPr>
        <p:spPr>
          <a:xfrm>
            <a:off x="731520" y="3383280"/>
            <a:ext cx="3154680" cy="1444752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59" name="Google Shape;559;p23"/>
          <p:cNvSpPr/>
          <p:nvPr/>
        </p:nvSpPr>
        <p:spPr>
          <a:xfrm>
            <a:off x="731520" y="3383280"/>
            <a:ext cx="50292" cy="1444752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60" name="Google Shape;560;p23"/>
          <p:cNvSpPr txBox="1"/>
          <p:nvPr/>
        </p:nvSpPr>
        <p:spPr>
          <a:xfrm>
            <a:off x="914400" y="3520440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RÔLE DE __init__.py</a:t>
            </a:r>
            <a:endParaRPr/>
          </a:p>
        </p:txBody>
      </p:sp>
      <p:sp>
        <p:nvSpPr>
          <p:cNvPr id="561" name="Google Shape;561;p23"/>
          <p:cNvSpPr txBox="1"/>
          <p:nvPr/>
        </p:nvSpPr>
        <p:spPr>
          <a:xfrm>
            <a:off x="914400" y="4041648"/>
            <a:ext cx="278892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Initialiser le paquet et définir la constante commune.</a:t>
            </a:r>
            <a:endParaRPr/>
          </a:p>
        </p:txBody>
      </p:sp>
      <p:sp>
        <p:nvSpPr>
          <p:cNvPr id="562" name="Google Shape;562;p23"/>
          <p:cNvSpPr txBox="1"/>
          <p:nvPr/>
        </p:nvSpPr>
        <p:spPr>
          <a:xfrm>
            <a:off x="4215384" y="1746504"/>
            <a:ext cx="705916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geometry/rectangle.py</a:t>
            </a:r>
            <a:endParaRPr/>
          </a:p>
        </p:txBody>
      </p:sp>
      <p:sp>
        <p:nvSpPr>
          <p:cNvPr id="563" name="Google Shape;563;p23"/>
          <p:cNvSpPr/>
          <p:nvPr/>
        </p:nvSpPr>
        <p:spPr>
          <a:xfrm>
            <a:off x="4215384" y="2194560"/>
            <a:ext cx="7059168" cy="3191256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64" name="Google Shape;564;p23"/>
          <p:cNvSpPr txBox="1"/>
          <p:nvPr/>
        </p:nvSpPr>
        <p:spPr>
          <a:xfrm>
            <a:off x="4407408" y="2313432"/>
            <a:ext cx="6675120" cy="2944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from . import DEFAULT_UNIT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class Rectangle: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# reprendre __init__() et area()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def describe(rectangle: Rectangle) -&gt; str: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# inclure DEFAULT_UNIT dans le texte</a:t>
            </a:r>
            <a:endParaRPr/>
          </a:p>
        </p:txBody>
      </p:sp>
      <p:sp>
        <p:nvSpPr>
          <p:cNvPr id="565" name="Google Shape;565;p23"/>
          <p:cNvSpPr/>
          <p:nvPr/>
        </p:nvSpPr>
        <p:spPr>
          <a:xfrm>
            <a:off x="704088" y="5641848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66" name="Google Shape;566;p23"/>
          <p:cNvSpPr txBox="1"/>
          <p:nvPr/>
        </p:nvSpPr>
        <p:spPr>
          <a:xfrm>
            <a:off x="896112" y="5641848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 module ne crée aucun Rectangle et n’affiche rien lors de l’import.</a:t>
            </a:r>
            <a:endParaRPr/>
          </a:p>
        </p:txBody>
      </p:sp>
      <p:sp>
        <p:nvSpPr>
          <p:cNvPr id="567" name="Google Shape;567;p23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68" name="Google Shape;568;p23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569" name="Google Shape;569;p23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23 / 62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4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EXERCICE · APPELANT ET TEST</a:t>
            </a:r>
            <a:endParaRPr/>
          </a:p>
        </p:txBody>
      </p:sp>
      <p:sp>
        <p:nvSpPr>
          <p:cNvPr id="575" name="Google Shape;575;p24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L’appelant exécute ; le test vérifie</a:t>
            </a:r>
            <a:endParaRPr/>
          </a:p>
        </p:txBody>
      </p:sp>
      <p:sp>
        <p:nvSpPr>
          <p:cNvPr id="576" name="Google Shape;576;p24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77" name="Google Shape;577;p24"/>
          <p:cNvSpPr txBox="1"/>
          <p:nvPr/>
        </p:nvSpPr>
        <p:spPr>
          <a:xfrm>
            <a:off x="713232" y="1700784"/>
            <a:ext cx="5440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run_rectangle.py</a:t>
            </a:r>
            <a:endParaRPr/>
          </a:p>
        </p:txBody>
      </p:sp>
      <p:sp>
        <p:nvSpPr>
          <p:cNvPr id="578" name="Google Shape;578;p24"/>
          <p:cNvSpPr/>
          <p:nvPr/>
        </p:nvSpPr>
        <p:spPr>
          <a:xfrm>
            <a:off x="713232" y="2112264"/>
            <a:ext cx="5468112" cy="2852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79" name="Google Shape;579;p24"/>
          <p:cNvSpPr txBox="1"/>
          <p:nvPr/>
        </p:nvSpPr>
        <p:spPr>
          <a:xfrm>
            <a:off x="905256" y="2231136"/>
            <a:ext cx="5084064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from geometry.rectangle import Rectangle, describe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def main():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rectangle = Rectangle(4, 3)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print(describe(rectangle))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if __name__ == "__main__":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main()</a:t>
            </a:r>
            <a:endParaRPr/>
          </a:p>
        </p:txBody>
      </p:sp>
      <p:sp>
        <p:nvSpPr>
          <p:cNvPr id="580" name="Google Shape;580;p24"/>
          <p:cNvSpPr txBox="1"/>
          <p:nvPr/>
        </p:nvSpPr>
        <p:spPr>
          <a:xfrm>
            <a:off x="6400800" y="1700784"/>
            <a:ext cx="50657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tests/test_rectangle.py</a:t>
            </a:r>
            <a:endParaRPr/>
          </a:p>
        </p:txBody>
      </p:sp>
      <p:sp>
        <p:nvSpPr>
          <p:cNvPr id="581" name="Google Shape;581;p24"/>
          <p:cNvSpPr/>
          <p:nvPr/>
        </p:nvSpPr>
        <p:spPr>
          <a:xfrm>
            <a:off x="6400800" y="2112264"/>
            <a:ext cx="5065776" cy="2852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82" name="Google Shape;582;p24"/>
          <p:cNvSpPr txBox="1"/>
          <p:nvPr/>
        </p:nvSpPr>
        <p:spPr>
          <a:xfrm>
            <a:off x="6592824" y="2231136"/>
            <a:ext cx="4681728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import unittest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from geometry.rectangle import Rectangle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class TestRectangle(unittest.TestCase):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def test_area(self):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self.assertEqual(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    Rectangle(4, 3).area(), 12)</a:t>
            </a:r>
            <a:endParaRPr/>
          </a:p>
        </p:txBody>
      </p:sp>
      <p:sp>
        <p:nvSpPr>
          <p:cNvPr id="583" name="Google Shape;583;p24"/>
          <p:cNvSpPr/>
          <p:nvPr/>
        </p:nvSpPr>
        <p:spPr>
          <a:xfrm>
            <a:off x="713232" y="5084064"/>
            <a:ext cx="10753344" cy="6217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84" name="Google Shape;584;p24"/>
          <p:cNvSpPr txBox="1"/>
          <p:nvPr/>
        </p:nvSpPr>
        <p:spPr>
          <a:xfrm>
            <a:off x="905256" y="5202936"/>
            <a:ext cx="10369296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$ python run_rectangle.py  →  Area: 12 cm²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$ python -m unittest discover -s tests -v  →  OK</a:t>
            </a:r>
            <a:endParaRPr/>
          </a:p>
        </p:txBody>
      </p:sp>
      <p:sp>
        <p:nvSpPr>
          <p:cNvPr id="585" name="Google Shape;585;p24"/>
          <p:cNvSpPr/>
          <p:nvPr/>
        </p:nvSpPr>
        <p:spPr>
          <a:xfrm>
            <a:off x="704088" y="5733288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86" name="Google Shape;586;p24"/>
          <p:cNvSpPr txBox="1"/>
          <p:nvPr/>
        </p:nvSpPr>
        <p:spPr>
          <a:xfrm>
            <a:off x="896112" y="5733288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Réussite : l’appelant et le test importent le module ; aucune définition n’est copiée.</a:t>
            </a:r>
            <a:endParaRPr/>
          </a:p>
        </p:txBody>
      </p:sp>
      <p:sp>
        <p:nvSpPr>
          <p:cNvPr id="587" name="Google Shape;587;p24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88" name="Google Shape;588;p24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589" name="Google Shape;589;p24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24 / 62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5"/>
          <p:cNvSpPr/>
          <p:nvPr/>
        </p:nvSpPr>
        <p:spPr>
          <a:xfrm>
            <a:off x="749880" y="777240"/>
            <a:ext cx="996624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PARTIE III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5"/>
          <p:cNvSpPr/>
          <p:nvPr/>
        </p:nvSpPr>
        <p:spPr>
          <a:xfrm>
            <a:off x="749880" y="1508760"/>
            <a:ext cx="749160" cy="5868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14400" lIns="90000" spcFirstLastPara="1" rIns="90000" wrap="square" tIns="14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5"/>
          <p:cNvSpPr/>
          <p:nvPr/>
        </p:nvSpPr>
        <p:spPr>
          <a:xfrm>
            <a:off x="749880" y="1828800"/>
            <a:ext cx="10697760" cy="123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Exécution et performance</a:t>
            </a:r>
            <a:endParaRPr b="0" i="0" sz="4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5"/>
          <p:cNvSpPr/>
          <p:nvPr/>
        </p:nvSpPr>
        <p:spPr>
          <a:xfrm>
            <a:off x="749880" y="4023360"/>
            <a:ext cx="10514880" cy="1096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Comprendre où le calcul s’exécute avant de comparer les durées.</a:t>
            </a:r>
            <a:endParaRPr b="0" i="0" sz="2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5"/>
          <p:cNvSpPr/>
          <p:nvPr/>
        </p:nvSpPr>
        <p:spPr>
          <a:xfrm>
            <a:off x="658440" y="6382440"/>
            <a:ext cx="10862280" cy="15840"/>
          </a:xfrm>
          <a:prstGeom prst="rect">
            <a:avLst/>
          </a:prstGeom>
          <a:solidFill>
            <a:srgbClr val="557086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5"/>
          <p:cNvSpPr/>
          <p:nvPr/>
        </p:nvSpPr>
        <p:spPr>
          <a:xfrm>
            <a:off x="667440" y="6446520"/>
            <a:ext cx="85946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5"/>
          <p:cNvSpPr/>
          <p:nvPr/>
        </p:nvSpPr>
        <p:spPr>
          <a:xfrm>
            <a:off x="10625400" y="6437520"/>
            <a:ext cx="895320" cy="24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25 / 62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6"/>
          <p:cNvSpPr/>
          <p:nvPr/>
        </p:nvSpPr>
        <p:spPr>
          <a:xfrm>
            <a:off x="658440" y="246960"/>
            <a:ext cx="98744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EXÉCUTION ET PERFORMANCE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6"/>
          <p:cNvSpPr/>
          <p:nvPr/>
        </p:nvSpPr>
        <p:spPr>
          <a:xfrm>
            <a:off x="658440" y="667440"/>
            <a:ext cx="1089864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Compiler ou interpréter : deux parcours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6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6"/>
          <p:cNvSpPr/>
          <p:nvPr/>
        </p:nvSpPr>
        <p:spPr>
          <a:xfrm>
            <a:off x="786240" y="2423160"/>
            <a:ext cx="1827720" cy="60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C++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6"/>
          <p:cNvSpPr/>
          <p:nvPr/>
        </p:nvSpPr>
        <p:spPr>
          <a:xfrm>
            <a:off x="2743200" y="238644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6"/>
          <p:cNvSpPr/>
          <p:nvPr/>
        </p:nvSpPr>
        <p:spPr>
          <a:xfrm>
            <a:off x="2834640" y="2441520"/>
            <a:ext cx="2403720" cy="72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source .cpp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6"/>
          <p:cNvSpPr/>
          <p:nvPr/>
        </p:nvSpPr>
        <p:spPr>
          <a:xfrm>
            <a:off x="5394960" y="2624400"/>
            <a:ext cx="227520" cy="337320"/>
          </a:xfrm>
          <a:prstGeom prst="chevron">
            <a:avLst>
              <a:gd fmla="val 50000" name="adj"/>
            </a:avLst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6"/>
          <p:cNvSpPr/>
          <p:nvPr/>
        </p:nvSpPr>
        <p:spPr>
          <a:xfrm>
            <a:off x="5678280" y="238644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6"/>
          <p:cNvSpPr/>
          <p:nvPr/>
        </p:nvSpPr>
        <p:spPr>
          <a:xfrm>
            <a:off x="5769720" y="2441520"/>
            <a:ext cx="2403720" cy="72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compilation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6"/>
          <p:cNvSpPr/>
          <p:nvPr/>
        </p:nvSpPr>
        <p:spPr>
          <a:xfrm>
            <a:off x="8330040" y="2624400"/>
            <a:ext cx="227520" cy="337320"/>
          </a:xfrm>
          <a:prstGeom prst="chevron">
            <a:avLst>
              <a:gd fmla="val 50000" name="adj"/>
            </a:avLst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6"/>
          <p:cNvSpPr/>
          <p:nvPr/>
        </p:nvSpPr>
        <p:spPr>
          <a:xfrm>
            <a:off x="8613720" y="238644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6"/>
          <p:cNvSpPr/>
          <p:nvPr/>
        </p:nvSpPr>
        <p:spPr>
          <a:xfrm>
            <a:off x="8705160" y="2441520"/>
            <a:ext cx="2403720" cy="72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code machine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6"/>
          <p:cNvSpPr/>
          <p:nvPr/>
        </p:nvSpPr>
        <p:spPr>
          <a:xfrm>
            <a:off x="786240" y="3840480"/>
            <a:ext cx="1827720" cy="60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6"/>
          <p:cNvSpPr/>
          <p:nvPr/>
        </p:nvSpPr>
        <p:spPr>
          <a:xfrm>
            <a:off x="2743200" y="380376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6"/>
          <p:cNvSpPr/>
          <p:nvPr/>
        </p:nvSpPr>
        <p:spPr>
          <a:xfrm>
            <a:off x="2834640" y="3858840"/>
            <a:ext cx="2403720" cy="72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source .py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6"/>
          <p:cNvSpPr/>
          <p:nvPr/>
        </p:nvSpPr>
        <p:spPr>
          <a:xfrm>
            <a:off x="5394960" y="4041720"/>
            <a:ext cx="227520" cy="337320"/>
          </a:xfrm>
          <a:prstGeom prst="chevron">
            <a:avLst>
              <a:gd fmla="val 50000" name="adj"/>
            </a:avLst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6"/>
          <p:cNvSpPr/>
          <p:nvPr/>
        </p:nvSpPr>
        <p:spPr>
          <a:xfrm>
            <a:off x="5678280" y="380376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6"/>
          <p:cNvSpPr/>
          <p:nvPr/>
        </p:nvSpPr>
        <p:spPr>
          <a:xfrm>
            <a:off x="5769720" y="3858840"/>
            <a:ext cx="2403720" cy="72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bytecode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6"/>
          <p:cNvSpPr/>
          <p:nvPr/>
        </p:nvSpPr>
        <p:spPr>
          <a:xfrm>
            <a:off x="8330040" y="4041720"/>
            <a:ext cx="227520" cy="337320"/>
          </a:xfrm>
          <a:prstGeom prst="chevron">
            <a:avLst>
              <a:gd fmla="val 50000" name="adj"/>
            </a:avLst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6"/>
          <p:cNvSpPr/>
          <p:nvPr/>
        </p:nvSpPr>
        <p:spPr>
          <a:xfrm>
            <a:off x="8613720" y="380376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6"/>
          <p:cNvSpPr/>
          <p:nvPr/>
        </p:nvSpPr>
        <p:spPr>
          <a:xfrm>
            <a:off x="8705160" y="3858840"/>
            <a:ext cx="2403720" cy="72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interpréteur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CPython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6"/>
          <p:cNvSpPr/>
          <p:nvPr/>
        </p:nvSpPr>
        <p:spPr>
          <a:xfrm>
            <a:off x="704160" y="5468040"/>
            <a:ext cx="49320" cy="62064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6"/>
          <p:cNvSpPr/>
          <p:nvPr/>
        </p:nvSpPr>
        <p:spPr>
          <a:xfrm>
            <a:off x="896040" y="5468040"/>
            <a:ext cx="10560240" cy="6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 bytecode est un code intermédiaire, exécuté par CPython.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6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6"/>
          <p:cNvSpPr/>
          <p:nvPr/>
        </p:nvSpPr>
        <p:spPr>
          <a:xfrm>
            <a:off x="667440" y="6446520"/>
            <a:ext cx="8594280" cy="22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6"/>
          <p:cNvSpPr/>
          <p:nvPr/>
        </p:nvSpPr>
        <p:spPr>
          <a:xfrm>
            <a:off x="10625400" y="6437520"/>
            <a:ext cx="89496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26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7"/>
          <p:cNvSpPr/>
          <p:nvPr/>
        </p:nvSpPr>
        <p:spPr>
          <a:xfrm>
            <a:off x="658440" y="246960"/>
            <a:ext cx="98744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EXÉCUTION ET PERFORMANCE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7"/>
          <p:cNvSpPr/>
          <p:nvPr/>
        </p:nvSpPr>
        <p:spPr>
          <a:xfrm>
            <a:off x="658440" y="667440"/>
            <a:ext cx="1089864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Python peut appeler du code déjà compilé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7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7"/>
          <p:cNvSpPr/>
          <p:nvPr/>
        </p:nvSpPr>
        <p:spPr>
          <a:xfrm>
            <a:off x="694800" y="2130480"/>
            <a:ext cx="10788840" cy="1050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7"/>
          <p:cNvSpPr/>
          <p:nvPr/>
        </p:nvSpPr>
        <p:spPr>
          <a:xfrm>
            <a:off x="887040" y="2249280"/>
            <a:ext cx="10404720" cy="8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hours = minutes_array / 60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7"/>
          <p:cNvSpPr/>
          <p:nvPr/>
        </p:nvSpPr>
        <p:spPr>
          <a:xfrm>
            <a:off x="786240" y="3776400"/>
            <a:ext cx="1827720" cy="60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7"/>
          <p:cNvSpPr/>
          <p:nvPr/>
        </p:nvSpPr>
        <p:spPr>
          <a:xfrm>
            <a:off x="2743200" y="374004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7"/>
          <p:cNvSpPr/>
          <p:nvPr/>
        </p:nvSpPr>
        <p:spPr>
          <a:xfrm>
            <a:off x="2834640" y="3794760"/>
            <a:ext cx="2403720" cy="72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appel Python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7"/>
          <p:cNvSpPr/>
          <p:nvPr/>
        </p:nvSpPr>
        <p:spPr>
          <a:xfrm>
            <a:off x="5394960" y="3977640"/>
            <a:ext cx="227520" cy="337320"/>
          </a:xfrm>
          <a:prstGeom prst="chevron">
            <a:avLst>
              <a:gd fmla="val 50000" name="adj"/>
            </a:avLst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7"/>
          <p:cNvSpPr/>
          <p:nvPr/>
        </p:nvSpPr>
        <p:spPr>
          <a:xfrm>
            <a:off x="5678280" y="374004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7"/>
          <p:cNvSpPr/>
          <p:nvPr/>
        </p:nvSpPr>
        <p:spPr>
          <a:xfrm>
            <a:off x="5769720" y="3794760"/>
            <a:ext cx="2403720" cy="72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routine native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7"/>
          <p:cNvSpPr/>
          <p:nvPr/>
        </p:nvSpPr>
        <p:spPr>
          <a:xfrm>
            <a:off x="8330040" y="3977640"/>
            <a:ext cx="227520" cy="337320"/>
          </a:xfrm>
          <a:prstGeom prst="chevron">
            <a:avLst>
              <a:gd fmla="val 50000" name="adj"/>
            </a:avLst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7"/>
          <p:cNvSpPr/>
          <p:nvPr/>
        </p:nvSpPr>
        <p:spPr>
          <a:xfrm>
            <a:off x="8613720" y="374004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7"/>
          <p:cNvSpPr/>
          <p:nvPr/>
        </p:nvSpPr>
        <p:spPr>
          <a:xfrm>
            <a:off x="8705160" y="3794760"/>
            <a:ext cx="2403720" cy="72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toutes les valeurs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7"/>
          <p:cNvSpPr/>
          <p:nvPr/>
        </p:nvSpPr>
        <p:spPr>
          <a:xfrm>
            <a:off x="704160" y="5468040"/>
            <a:ext cx="49320" cy="62064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7"/>
          <p:cNvSpPr/>
          <p:nvPr/>
        </p:nvSpPr>
        <p:spPr>
          <a:xfrm>
            <a:off x="896040" y="5468040"/>
            <a:ext cx="10560240" cy="6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pandas utilise aussi des routines compilées pour de nombreux calculs.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7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7"/>
          <p:cNvSpPr/>
          <p:nvPr/>
        </p:nvSpPr>
        <p:spPr>
          <a:xfrm>
            <a:off x="667440" y="6446520"/>
            <a:ext cx="8594280" cy="22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7"/>
          <p:cNvSpPr/>
          <p:nvPr/>
        </p:nvSpPr>
        <p:spPr>
          <a:xfrm>
            <a:off x="10625400" y="6437520"/>
            <a:ext cx="89496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27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8"/>
          <p:cNvSpPr/>
          <p:nvPr/>
        </p:nvSpPr>
        <p:spPr>
          <a:xfrm>
            <a:off x="658440" y="246960"/>
            <a:ext cx="98744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EXÉCUTION ET PERFORMANCE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8"/>
          <p:cNvSpPr/>
          <p:nvPr/>
        </p:nvSpPr>
        <p:spPr>
          <a:xfrm>
            <a:off x="658440" y="667440"/>
            <a:ext cx="1089864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Même calcul, durées très différentes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8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8"/>
          <p:cNvSpPr/>
          <p:nvPr/>
        </p:nvSpPr>
        <p:spPr>
          <a:xfrm>
            <a:off x="731520" y="1710000"/>
            <a:ext cx="10743120" cy="392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1 000 000 valeurs : minutes → heures, y = x / 60, sans valeur manquante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8"/>
          <p:cNvSpPr/>
          <p:nvPr/>
        </p:nvSpPr>
        <p:spPr>
          <a:xfrm>
            <a:off x="731520" y="2139840"/>
            <a:ext cx="10743120" cy="27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Rex · médiane de 11 essais · traits : minimum–maximum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8"/>
          <p:cNvSpPr/>
          <p:nvPr/>
        </p:nvSpPr>
        <p:spPr>
          <a:xfrm>
            <a:off x="3749040" y="2642760"/>
            <a:ext cx="9720" cy="27237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8"/>
          <p:cNvSpPr/>
          <p:nvPr/>
        </p:nvSpPr>
        <p:spPr>
          <a:xfrm>
            <a:off x="3456360" y="5449680"/>
            <a:ext cx="58428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0,1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8"/>
          <p:cNvSpPr/>
          <p:nvPr/>
        </p:nvSpPr>
        <p:spPr>
          <a:xfrm>
            <a:off x="5223600" y="2642760"/>
            <a:ext cx="9720" cy="27237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8"/>
          <p:cNvSpPr/>
          <p:nvPr/>
        </p:nvSpPr>
        <p:spPr>
          <a:xfrm>
            <a:off x="4930920" y="5449680"/>
            <a:ext cx="58428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8"/>
          <p:cNvSpPr/>
          <p:nvPr/>
        </p:nvSpPr>
        <p:spPr>
          <a:xfrm>
            <a:off x="6697800" y="2642760"/>
            <a:ext cx="9720" cy="27237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8"/>
          <p:cNvSpPr/>
          <p:nvPr/>
        </p:nvSpPr>
        <p:spPr>
          <a:xfrm>
            <a:off x="6405480" y="5449680"/>
            <a:ext cx="58428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8"/>
          <p:cNvSpPr/>
          <p:nvPr/>
        </p:nvSpPr>
        <p:spPr>
          <a:xfrm>
            <a:off x="8172360" y="2642760"/>
            <a:ext cx="9720" cy="27237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8"/>
          <p:cNvSpPr/>
          <p:nvPr/>
        </p:nvSpPr>
        <p:spPr>
          <a:xfrm>
            <a:off x="7879680" y="5449680"/>
            <a:ext cx="58428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8"/>
          <p:cNvSpPr/>
          <p:nvPr/>
        </p:nvSpPr>
        <p:spPr>
          <a:xfrm>
            <a:off x="9646920" y="2642760"/>
            <a:ext cx="9720" cy="27237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8"/>
          <p:cNvSpPr/>
          <p:nvPr/>
        </p:nvSpPr>
        <p:spPr>
          <a:xfrm>
            <a:off x="9354240" y="5449680"/>
            <a:ext cx="58428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8"/>
          <p:cNvSpPr/>
          <p:nvPr/>
        </p:nvSpPr>
        <p:spPr>
          <a:xfrm>
            <a:off x="731520" y="2651760"/>
            <a:ext cx="296172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C++ · boucle, -O3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8"/>
          <p:cNvSpPr/>
          <p:nvPr/>
        </p:nvSpPr>
        <p:spPr>
          <a:xfrm>
            <a:off x="5199480" y="2786040"/>
            <a:ext cx="254880" cy="3276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8"/>
          <p:cNvSpPr/>
          <p:nvPr/>
        </p:nvSpPr>
        <p:spPr>
          <a:xfrm>
            <a:off x="5199480" y="2747880"/>
            <a:ext cx="15480" cy="10872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8"/>
          <p:cNvSpPr/>
          <p:nvPr/>
        </p:nvSpPr>
        <p:spPr>
          <a:xfrm>
            <a:off x="5455080" y="2747880"/>
            <a:ext cx="15480" cy="10872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8"/>
          <p:cNvSpPr/>
          <p:nvPr/>
        </p:nvSpPr>
        <p:spPr>
          <a:xfrm>
            <a:off x="5312160" y="2724840"/>
            <a:ext cx="117720" cy="117720"/>
          </a:xfrm>
          <a:prstGeom prst="ellipse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38875" lIns="90000" spcFirstLastPara="1" rIns="90000" wrap="square" tIns="38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8"/>
          <p:cNvSpPr/>
          <p:nvPr/>
        </p:nvSpPr>
        <p:spPr>
          <a:xfrm>
            <a:off x="9957960" y="2651760"/>
            <a:ext cx="143460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1,26 ms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8"/>
          <p:cNvSpPr/>
          <p:nvPr/>
        </p:nvSpPr>
        <p:spPr>
          <a:xfrm>
            <a:off x="731520" y="3191400"/>
            <a:ext cx="296172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Python · for + append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8"/>
          <p:cNvSpPr/>
          <p:nvPr/>
        </p:nvSpPr>
        <p:spPr>
          <a:xfrm>
            <a:off x="7781400" y="3325680"/>
            <a:ext cx="252360" cy="3276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8"/>
          <p:cNvSpPr/>
          <p:nvPr/>
        </p:nvSpPr>
        <p:spPr>
          <a:xfrm>
            <a:off x="7781400" y="3287160"/>
            <a:ext cx="15480" cy="10872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8"/>
          <p:cNvSpPr/>
          <p:nvPr/>
        </p:nvSpPr>
        <p:spPr>
          <a:xfrm>
            <a:off x="8034840" y="3287160"/>
            <a:ext cx="15480" cy="10872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8"/>
          <p:cNvSpPr/>
          <p:nvPr/>
        </p:nvSpPr>
        <p:spPr>
          <a:xfrm>
            <a:off x="7892280" y="3264480"/>
            <a:ext cx="117720" cy="117720"/>
          </a:xfrm>
          <a:prstGeom prst="ellipse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38875" lIns="90000" spcFirstLastPara="1" rIns="90000" wrap="square" tIns="38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8"/>
          <p:cNvSpPr/>
          <p:nvPr/>
        </p:nvSpPr>
        <p:spPr>
          <a:xfrm>
            <a:off x="9957960" y="3191400"/>
            <a:ext cx="143460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71 ms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8"/>
          <p:cNvSpPr/>
          <p:nvPr/>
        </p:nvSpPr>
        <p:spPr>
          <a:xfrm>
            <a:off x="731520" y="3730680"/>
            <a:ext cx="296172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pandas · Series / 60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8"/>
          <p:cNvSpPr/>
          <p:nvPr/>
        </p:nvSpPr>
        <p:spPr>
          <a:xfrm>
            <a:off x="5327640" y="3865320"/>
            <a:ext cx="177840" cy="3276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8"/>
          <p:cNvSpPr/>
          <p:nvPr/>
        </p:nvSpPr>
        <p:spPr>
          <a:xfrm>
            <a:off x="5327640" y="3826800"/>
            <a:ext cx="15480" cy="10872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8"/>
          <p:cNvSpPr/>
          <p:nvPr/>
        </p:nvSpPr>
        <p:spPr>
          <a:xfrm>
            <a:off x="5506560" y="3826800"/>
            <a:ext cx="15480" cy="10872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8"/>
          <p:cNvSpPr/>
          <p:nvPr/>
        </p:nvSpPr>
        <p:spPr>
          <a:xfrm>
            <a:off x="5376240" y="3803760"/>
            <a:ext cx="117720" cy="117720"/>
          </a:xfrm>
          <a:prstGeom prst="ellipse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38875" lIns="90000" spcFirstLastPara="1" rIns="90000" wrap="square" tIns="38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8"/>
          <p:cNvSpPr/>
          <p:nvPr/>
        </p:nvSpPr>
        <p:spPr>
          <a:xfrm>
            <a:off x="9957960" y="3730680"/>
            <a:ext cx="143460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1,39 ms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8"/>
          <p:cNvSpPr/>
          <p:nvPr/>
        </p:nvSpPr>
        <p:spPr>
          <a:xfrm>
            <a:off x="731520" y="4270320"/>
            <a:ext cx="296172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NumPy · array / 60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8"/>
          <p:cNvSpPr/>
          <p:nvPr/>
        </p:nvSpPr>
        <p:spPr>
          <a:xfrm>
            <a:off x="5275800" y="4404600"/>
            <a:ext cx="438480" cy="3276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8"/>
          <p:cNvSpPr/>
          <p:nvPr/>
        </p:nvSpPr>
        <p:spPr>
          <a:xfrm>
            <a:off x="5275800" y="4366080"/>
            <a:ext cx="15480" cy="10872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8"/>
          <p:cNvSpPr/>
          <p:nvPr/>
        </p:nvSpPr>
        <p:spPr>
          <a:xfrm>
            <a:off x="5715360" y="4366080"/>
            <a:ext cx="15480" cy="10872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8"/>
          <p:cNvSpPr/>
          <p:nvPr/>
        </p:nvSpPr>
        <p:spPr>
          <a:xfrm>
            <a:off x="5292000" y="4343400"/>
            <a:ext cx="117720" cy="117720"/>
          </a:xfrm>
          <a:prstGeom prst="ellipse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38875" lIns="90000" spcFirstLastPara="1" rIns="90000" wrap="square" tIns="38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8"/>
          <p:cNvSpPr/>
          <p:nvPr/>
        </p:nvSpPr>
        <p:spPr>
          <a:xfrm>
            <a:off x="9957960" y="4270320"/>
            <a:ext cx="143460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1,22 ms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8"/>
          <p:cNvSpPr/>
          <p:nvPr/>
        </p:nvSpPr>
        <p:spPr>
          <a:xfrm>
            <a:off x="731520" y="4809600"/>
            <a:ext cx="296172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pandas · map(lambda)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8"/>
          <p:cNvSpPr/>
          <p:nvPr/>
        </p:nvSpPr>
        <p:spPr>
          <a:xfrm>
            <a:off x="8909640" y="4944240"/>
            <a:ext cx="243000" cy="3276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8"/>
          <p:cNvSpPr/>
          <p:nvPr/>
        </p:nvSpPr>
        <p:spPr>
          <a:xfrm>
            <a:off x="8909640" y="4905720"/>
            <a:ext cx="15480" cy="10872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8"/>
          <p:cNvSpPr/>
          <p:nvPr/>
        </p:nvSpPr>
        <p:spPr>
          <a:xfrm>
            <a:off x="9153720" y="4905720"/>
            <a:ext cx="15480" cy="10872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8"/>
          <p:cNvSpPr/>
          <p:nvPr/>
        </p:nvSpPr>
        <p:spPr>
          <a:xfrm>
            <a:off x="8933040" y="4883040"/>
            <a:ext cx="117720" cy="117720"/>
          </a:xfrm>
          <a:prstGeom prst="ellipse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38875" lIns="90000" spcFirstLastPara="1" rIns="90000" wrap="square" tIns="38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8"/>
          <p:cNvSpPr/>
          <p:nvPr/>
        </p:nvSpPr>
        <p:spPr>
          <a:xfrm>
            <a:off x="9957960" y="4809600"/>
            <a:ext cx="143460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360 ms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8"/>
          <p:cNvSpPr/>
          <p:nvPr/>
        </p:nvSpPr>
        <p:spPr>
          <a:xfrm>
            <a:off x="3749040" y="5760720"/>
            <a:ext cx="7039800" cy="31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Temps en ms · échelle logarithmique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8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8"/>
          <p:cNvSpPr/>
          <p:nvPr/>
        </p:nvSpPr>
        <p:spPr>
          <a:xfrm>
            <a:off x="667440" y="6446520"/>
            <a:ext cx="8594280" cy="22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8"/>
          <p:cNvSpPr/>
          <p:nvPr/>
        </p:nvSpPr>
        <p:spPr>
          <a:xfrm>
            <a:off x="10625400" y="6437520"/>
            <a:ext cx="89496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28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9"/>
          <p:cNvSpPr/>
          <p:nvPr/>
        </p:nvSpPr>
        <p:spPr>
          <a:xfrm>
            <a:off x="658440" y="246960"/>
            <a:ext cx="98744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EXÉCUTION ET PERFORMANCE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9"/>
          <p:cNvSpPr/>
          <p:nvPr/>
        </p:nvSpPr>
        <p:spPr>
          <a:xfrm>
            <a:off x="658440" y="667440"/>
            <a:ext cx="1089864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Reproduire la comparaison des durées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9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9"/>
          <p:cNvSpPr/>
          <p:nvPr/>
        </p:nvSpPr>
        <p:spPr>
          <a:xfrm>
            <a:off x="777240" y="1993320"/>
            <a:ext cx="5073840" cy="188244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9"/>
          <p:cNvSpPr/>
          <p:nvPr/>
        </p:nvSpPr>
        <p:spPr>
          <a:xfrm>
            <a:off x="777240" y="1993320"/>
            <a:ext cx="49320" cy="188244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9"/>
          <p:cNvSpPr/>
          <p:nvPr/>
        </p:nvSpPr>
        <p:spPr>
          <a:xfrm>
            <a:off x="960120" y="2130480"/>
            <a:ext cx="470808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MÊME TRAVAIL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9"/>
          <p:cNvSpPr/>
          <p:nvPr/>
        </p:nvSpPr>
        <p:spPr>
          <a:xfrm>
            <a:off x="960120" y="2651760"/>
            <a:ext cx="470808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1 000 000 de valeurs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y = x / 60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9"/>
          <p:cNvSpPr/>
          <p:nvPr/>
        </p:nvSpPr>
        <p:spPr>
          <a:xfrm>
            <a:off x="6099120" y="1993320"/>
            <a:ext cx="5073840" cy="188244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9"/>
          <p:cNvSpPr/>
          <p:nvPr/>
        </p:nvSpPr>
        <p:spPr>
          <a:xfrm>
            <a:off x="6099120" y="1993320"/>
            <a:ext cx="49320" cy="188244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9"/>
          <p:cNvSpPr/>
          <p:nvPr/>
        </p:nvSpPr>
        <p:spPr>
          <a:xfrm>
            <a:off x="6282000" y="2130480"/>
            <a:ext cx="470808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MÊME CONTRÔLE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29"/>
          <p:cNvSpPr/>
          <p:nvPr/>
        </p:nvSpPr>
        <p:spPr>
          <a:xfrm>
            <a:off x="6282000" y="2651760"/>
            <a:ext cx="470808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Vérifier les résultats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Puis comparer les temps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9"/>
          <p:cNvSpPr/>
          <p:nvPr/>
        </p:nvSpPr>
        <p:spPr>
          <a:xfrm>
            <a:off x="822960" y="4352400"/>
            <a:ext cx="10331640" cy="6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Allocation incluse. Préparation, compilation et vérification hors mesure.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9"/>
          <p:cNvSpPr/>
          <p:nvPr/>
        </p:nvSpPr>
        <p:spPr>
          <a:xfrm>
            <a:off x="777240" y="5322240"/>
            <a:ext cx="106059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Notebook 01 · C++, Python, NumPy et pandas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9"/>
          <p:cNvSpPr/>
          <p:nvPr/>
        </p:nvSpPr>
        <p:spPr>
          <a:xfrm>
            <a:off x="777240" y="5815800"/>
            <a:ext cx="106059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Script Python équivalent · local ou Colab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9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9"/>
          <p:cNvSpPr/>
          <p:nvPr/>
        </p:nvSpPr>
        <p:spPr>
          <a:xfrm>
            <a:off x="667440" y="6446520"/>
            <a:ext cx="8594280" cy="22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9"/>
          <p:cNvSpPr/>
          <p:nvPr/>
        </p:nvSpPr>
        <p:spPr>
          <a:xfrm>
            <a:off x="10625400" y="6437520"/>
            <a:ext cx="89496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29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0"/>
          <p:cNvSpPr/>
          <p:nvPr/>
        </p:nvSpPr>
        <p:spPr>
          <a:xfrm>
            <a:off x="658440" y="246960"/>
            <a:ext cx="9874080" cy="29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EXÉCUTION ET PERFORMANCE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0"/>
          <p:cNvSpPr/>
          <p:nvPr/>
        </p:nvSpPr>
        <p:spPr>
          <a:xfrm>
            <a:off x="658440" y="667440"/>
            <a:ext cx="10898280" cy="75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Performance : mesurer le travail réellement exécuté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0"/>
          <p:cNvSpPr/>
          <p:nvPr/>
        </p:nvSpPr>
        <p:spPr>
          <a:xfrm>
            <a:off x="658440" y="1508760"/>
            <a:ext cx="1087092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0"/>
          <p:cNvSpPr/>
          <p:nvPr/>
        </p:nvSpPr>
        <p:spPr>
          <a:xfrm>
            <a:off x="722520" y="1892880"/>
            <a:ext cx="3427560" cy="1900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0"/>
          <p:cNvSpPr/>
          <p:nvPr/>
        </p:nvSpPr>
        <p:spPr>
          <a:xfrm>
            <a:off x="722520" y="1892880"/>
            <a:ext cx="48960" cy="19004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0"/>
          <p:cNvSpPr/>
          <p:nvPr/>
        </p:nvSpPr>
        <p:spPr>
          <a:xfrm>
            <a:off x="905400" y="2030040"/>
            <a:ext cx="3061800" cy="41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BOUCLE PYTHON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30"/>
          <p:cNvSpPr/>
          <p:nvPr/>
        </p:nvSpPr>
        <p:spPr>
          <a:xfrm>
            <a:off x="905400" y="2551320"/>
            <a:ext cx="3061800" cy="11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Une itération de l'interpréteur par élément.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0"/>
          <p:cNvSpPr/>
          <p:nvPr/>
        </p:nvSpPr>
        <p:spPr>
          <a:xfrm>
            <a:off x="4370760" y="1892880"/>
            <a:ext cx="3427560" cy="1900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0"/>
          <p:cNvSpPr/>
          <p:nvPr/>
        </p:nvSpPr>
        <p:spPr>
          <a:xfrm>
            <a:off x="4370760" y="1892880"/>
            <a:ext cx="48960" cy="19004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0"/>
          <p:cNvSpPr/>
          <p:nvPr/>
        </p:nvSpPr>
        <p:spPr>
          <a:xfrm>
            <a:off x="4553640" y="2030040"/>
            <a:ext cx="3061800" cy="41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30"/>
          <p:cNvSpPr/>
          <p:nvPr/>
        </p:nvSpPr>
        <p:spPr>
          <a:xfrm>
            <a:off x="4553640" y="2551320"/>
            <a:ext cx="3061800" cy="11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Calcul de tableau délégué à une routine compilée.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30"/>
          <p:cNvSpPr/>
          <p:nvPr/>
        </p:nvSpPr>
        <p:spPr>
          <a:xfrm>
            <a:off x="8019360" y="1892880"/>
            <a:ext cx="3427560" cy="1900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0"/>
          <p:cNvSpPr/>
          <p:nvPr/>
        </p:nvSpPr>
        <p:spPr>
          <a:xfrm>
            <a:off x="8019360" y="1892880"/>
            <a:ext cx="48960" cy="19004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0"/>
          <p:cNvSpPr/>
          <p:nvPr/>
        </p:nvSpPr>
        <p:spPr>
          <a:xfrm>
            <a:off x="8202240" y="2030040"/>
            <a:ext cx="3061800" cy="41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30"/>
          <p:cNvSpPr/>
          <p:nvPr/>
        </p:nvSpPr>
        <p:spPr>
          <a:xfrm>
            <a:off x="8202240" y="2551320"/>
            <a:ext cx="3061800" cy="11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Vectorisation possible, avec index et règles NA.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30"/>
          <p:cNvSpPr/>
          <p:nvPr/>
        </p:nvSpPr>
        <p:spPr>
          <a:xfrm>
            <a:off x="694800" y="4187880"/>
            <a:ext cx="10788480" cy="8031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0"/>
          <p:cNvSpPr/>
          <p:nvPr/>
        </p:nvSpPr>
        <p:spPr>
          <a:xfrm>
            <a:off x="887040" y="4306680"/>
            <a:ext cx="10404360" cy="5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np_array / 60  |  series / 60  |  series.map(lambda x: x / 60)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0"/>
          <p:cNvSpPr/>
          <p:nvPr/>
        </p:nvSpPr>
        <p:spPr>
          <a:xfrm>
            <a:off x="704160" y="5459040"/>
            <a:ext cx="48960" cy="62028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0"/>
          <p:cNvSpPr/>
          <p:nvPr/>
        </p:nvSpPr>
        <p:spPr>
          <a:xfrm>
            <a:off x="896040" y="5459040"/>
            <a:ext cx="10559880" cy="62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Notebook 04 : résultats égaux avant mesure ; threads NumPy en extension.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30"/>
          <p:cNvSpPr/>
          <p:nvPr/>
        </p:nvSpPr>
        <p:spPr>
          <a:xfrm>
            <a:off x="658440" y="6382440"/>
            <a:ext cx="10861560" cy="151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0"/>
          <p:cNvSpPr/>
          <p:nvPr/>
        </p:nvSpPr>
        <p:spPr>
          <a:xfrm>
            <a:off x="667440" y="6446520"/>
            <a:ext cx="8593920" cy="22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0"/>
          <p:cNvSpPr/>
          <p:nvPr/>
        </p:nvSpPr>
        <p:spPr>
          <a:xfrm>
            <a:off x="10625400" y="6437520"/>
            <a:ext cx="8946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30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1"/>
          <p:cNvSpPr/>
          <p:nvPr/>
        </p:nvSpPr>
        <p:spPr>
          <a:xfrm>
            <a:off x="658440" y="246960"/>
            <a:ext cx="98744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EXÉCUTION ET PERFORMANCE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31"/>
          <p:cNvSpPr/>
          <p:nvPr/>
        </p:nvSpPr>
        <p:spPr>
          <a:xfrm>
            <a:off x="658440" y="667440"/>
            <a:ext cx="1089864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Threads CPU : répartir les valeurs en lots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1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1"/>
          <p:cNvSpPr/>
          <p:nvPr/>
        </p:nvSpPr>
        <p:spPr>
          <a:xfrm>
            <a:off x="777240" y="1847160"/>
            <a:ext cx="10605960" cy="68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 thread est un fil d'exécution dans un même processus.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31"/>
          <p:cNvSpPr/>
          <p:nvPr/>
        </p:nvSpPr>
        <p:spPr>
          <a:xfrm>
            <a:off x="859680" y="2962800"/>
            <a:ext cx="3254040" cy="16815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1"/>
          <p:cNvSpPr/>
          <p:nvPr/>
        </p:nvSpPr>
        <p:spPr>
          <a:xfrm>
            <a:off x="859680" y="2962800"/>
            <a:ext cx="49320" cy="168156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1"/>
          <p:cNvSpPr/>
          <p:nvPr/>
        </p:nvSpPr>
        <p:spPr>
          <a:xfrm>
            <a:off x="1042560" y="3099960"/>
            <a:ext cx="288828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THREAD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31"/>
          <p:cNvSpPr/>
          <p:nvPr/>
        </p:nvSpPr>
        <p:spPr>
          <a:xfrm>
            <a:off x="1042560" y="3620880"/>
            <a:ext cx="2888280" cy="90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lot 1 ÷ 60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31"/>
          <p:cNvSpPr/>
          <p:nvPr/>
        </p:nvSpPr>
        <p:spPr>
          <a:xfrm>
            <a:off x="4590360" y="2962800"/>
            <a:ext cx="3254040" cy="16815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1"/>
          <p:cNvSpPr/>
          <p:nvPr/>
        </p:nvSpPr>
        <p:spPr>
          <a:xfrm>
            <a:off x="4590360" y="2962800"/>
            <a:ext cx="49320" cy="168156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1"/>
          <p:cNvSpPr/>
          <p:nvPr/>
        </p:nvSpPr>
        <p:spPr>
          <a:xfrm>
            <a:off x="4773240" y="3099960"/>
            <a:ext cx="288828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THREAD 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31"/>
          <p:cNvSpPr/>
          <p:nvPr/>
        </p:nvSpPr>
        <p:spPr>
          <a:xfrm>
            <a:off x="4773240" y="3620880"/>
            <a:ext cx="2888280" cy="90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lot 2 ÷ 60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31"/>
          <p:cNvSpPr/>
          <p:nvPr/>
        </p:nvSpPr>
        <p:spPr>
          <a:xfrm>
            <a:off x="8321040" y="2962800"/>
            <a:ext cx="3254040" cy="16815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1"/>
          <p:cNvSpPr/>
          <p:nvPr/>
        </p:nvSpPr>
        <p:spPr>
          <a:xfrm>
            <a:off x="8321040" y="2962800"/>
            <a:ext cx="49320" cy="168156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1"/>
          <p:cNvSpPr/>
          <p:nvPr/>
        </p:nvSpPr>
        <p:spPr>
          <a:xfrm>
            <a:off x="8503920" y="3099960"/>
            <a:ext cx="288828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THREAD 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1"/>
          <p:cNvSpPr/>
          <p:nvPr/>
        </p:nvSpPr>
        <p:spPr>
          <a:xfrm>
            <a:off x="8503920" y="3620880"/>
            <a:ext cx="2888280" cy="90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lot 3 ÷ 60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31"/>
          <p:cNvSpPr/>
          <p:nvPr/>
        </p:nvSpPr>
        <p:spPr>
          <a:xfrm>
            <a:off x="822960" y="4965120"/>
            <a:ext cx="10514520" cy="56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ThreadPoolExecutor répartit les lots NumPy entre les threads.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31"/>
          <p:cNvSpPr/>
          <p:nvPr/>
        </p:nvSpPr>
        <p:spPr>
          <a:xfrm>
            <a:off x="822960" y="5724000"/>
            <a:ext cx="10514520" cy="37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NumPy libère ici le verrou GIL : plusieurs cœurs peuvent travailler.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31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1"/>
          <p:cNvSpPr/>
          <p:nvPr/>
        </p:nvSpPr>
        <p:spPr>
          <a:xfrm>
            <a:off x="667440" y="6446520"/>
            <a:ext cx="8594280" cy="22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31"/>
          <p:cNvSpPr/>
          <p:nvPr/>
        </p:nvSpPr>
        <p:spPr>
          <a:xfrm>
            <a:off x="10625400" y="6437520"/>
            <a:ext cx="89496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31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2"/>
          <p:cNvSpPr/>
          <p:nvPr/>
        </p:nvSpPr>
        <p:spPr>
          <a:xfrm>
            <a:off x="658440" y="246960"/>
            <a:ext cx="98744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EXÉCUTION ET PERFORMANCE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32"/>
          <p:cNvSpPr/>
          <p:nvPr/>
        </p:nvSpPr>
        <p:spPr>
          <a:xfrm>
            <a:off x="658440" y="667440"/>
            <a:ext cx="1089864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GPU : une opération sur beaucoup de valeurs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32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2"/>
          <p:cNvSpPr/>
          <p:nvPr/>
        </p:nvSpPr>
        <p:spPr>
          <a:xfrm>
            <a:off x="786240" y="2450520"/>
            <a:ext cx="1827720" cy="60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Données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2"/>
          <p:cNvSpPr/>
          <p:nvPr/>
        </p:nvSpPr>
        <p:spPr>
          <a:xfrm>
            <a:off x="2743200" y="241416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2"/>
          <p:cNvSpPr/>
          <p:nvPr/>
        </p:nvSpPr>
        <p:spPr>
          <a:xfrm>
            <a:off x="2834640" y="2468880"/>
            <a:ext cx="2403720" cy="72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mémoire CPU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32"/>
          <p:cNvSpPr/>
          <p:nvPr/>
        </p:nvSpPr>
        <p:spPr>
          <a:xfrm>
            <a:off x="5394960" y="2651760"/>
            <a:ext cx="227520" cy="337320"/>
          </a:xfrm>
          <a:prstGeom prst="chevron">
            <a:avLst>
              <a:gd fmla="val 50000" name="adj"/>
            </a:avLst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2"/>
          <p:cNvSpPr/>
          <p:nvPr/>
        </p:nvSpPr>
        <p:spPr>
          <a:xfrm>
            <a:off x="5678280" y="241416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2"/>
          <p:cNvSpPr/>
          <p:nvPr/>
        </p:nvSpPr>
        <p:spPr>
          <a:xfrm>
            <a:off x="5769720" y="2468880"/>
            <a:ext cx="2403720" cy="72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calcul GPU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2"/>
          <p:cNvSpPr/>
          <p:nvPr/>
        </p:nvSpPr>
        <p:spPr>
          <a:xfrm>
            <a:off x="8330040" y="2651760"/>
            <a:ext cx="227520" cy="337320"/>
          </a:xfrm>
          <a:prstGeom prst="chevron">
            <a:avLst>
              <a:gd fmla="val 50000" name="adj"/>
            </a:avLst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2"/>
          <p:cNvSpPr/>
          <p:nvPr/>
        </p:nvSpPr>
        <p:spPr>
          <a:xfrm>
            <a:off x="8613720" y="241416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2"/>
          <p:cNvSpPr/>
          <p:nvPr/>
        </p:nvSpPr>
        <p:spPr>
          <a:xfrm>
            <a:off x="8705160" y="2468880"/>
            <a:ext cx="2403720" cy="72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résultat CPU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32"/>
          <p:cNvSpPr/>
          <p:nvPr/>
        </p:nvSpPr>
        <p:spPr>
          <a:xfrm>
            <a:off x="5083920" y="3420000"/>
            <a:ext cx="201060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copie →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32"/>
          <p:cNvSpPr/>
          <p:nvPr/>
        </p:nvSpPr>
        <p:spPr>
          <a:xfrm>
            <a:off x="8229600" y="3420000"/>
            <a:ext cx="201060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→ copie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2"/>
          <p:cNvSpPr/>
          <p:nvPr/>
        </p:nvSpPr>
        <p:spPr>
          <a:xfrm>
            <a:off x="694800" y="4151520"/>
            <a:ext cx="10788840" cy="931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2"/>
          <p:cNvSpPr/>
          <p:nvPr/>
        </p:nvSpPr>
        <p:spPr>
          <a:xfrm>
            <a:off x="887040" y="4270320"/>
            <a:ext cx="10404720" cy="68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hours_gpu = minutes_gpu / 60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32"/>
          <p:cNvSpPr/>
          <p:nvPr/>
        </p:nvSpPr>
        <p:spPr>
          <a:xfrm>
            <a:off x="704160" y="5550480"/>
            <a:ext cx="49320" cy="62064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2"/>
          <p:cNvSpPr/>
          <p:nvPr/>
        </p:nvSpPr>
        <p:spPr>
          <a:xfrm>
            <a:off x="896040" y="5550480"/>
            <a:ext cx="10560240" cy="6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PyTorch répartit le calcul entre de nombreux threads du GPU.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32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2"/>
          <p:cNvSpPr/>
          <p:nvPr/>
        </p:nvSpPr>
        <p:spPr>
          <a:xfrm>
            <a:off x="667440" y="6446520"/>
            <a:ext cx="8594280" cy="22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32"/>
          <p:cNvSpPr/>
          <p:nvPr/>
        </p:nvSpPr>
        <p:spPr>
          <a:xfrm>
            <a:off x="10625400" y="6437520"/>
            <a:ext cx="89496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32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3"/>
          <p:cNvSpPr/>
          <p:nvPr/>
        </p:nvSpPr>
        <p:spPr>
          <a:xfrm>
            <a:off x="658440" y="246960"/>
            <a:ext cx="98744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EXÉCUTION ET PERFORMANCE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33"/>
          <p:cNvSpPr/>
          <p:nvPr/>
        </p:nvSpPr>
        <p:spPr>
          <a:xfrm>
            <a:off x="658440" y="667440"/>
            <a:ext cx="1089864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Le transfert peut coûter plus que le calcul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33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3"/>
          <p:cNvSpPr/>
          <p:nvPr/>
        </p:nvSpPr>
        <p:spPr>
          <a:xfrm>
            <a:off x="777240" y="2057400"/>
            <a:ext cx="5073840" cy="16995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3"/>
          <p:cNvSpPr/>
          <p:nvPr/>
        </p:nvSpPr>
        <p:spPr>
          <a:xfrm>
            <a:off x="777240" y="2057400"/>
            <a:ext cx="49320" cy="169956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3"/>
          <p:cNvSpPr/>
          <p:nvPr/>
        </p:nvSpPr>
        <p:spPr>
          <a:xfrm>
            <a:off x="960120" y="2194560"/>
            <a:ext cx="470808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DONNÉES DÉJÀ SUR GPU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33"/>
          <p:cNvSpPr/>
          <p:nvPr/>
        </p:nvSpPr>
        <p:spPr>
          <a:xfrm>
            <a:off x="960120" y="2715840"/>
            <a:ext cx="4708080" cy="92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calcul + attente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33"/>
          <p:cNvSpPr/>
          <p:nvPr/>
        </p:nvSpPr>
        <p:spPr>
          <a:xfrm>
            <a:off x="6099120" y="2057400"/>
            <a:ext cx="5073840" cy="16995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3"/>
          <p:cNvSpPr/>
          <p:nvPr/>
        </p:nvSpPr>
        <p:spPr>
          <a:xfrm>
            <a:off x="6099120" y="2057400"/>
            <a:ext cx="49320" cy="169956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3"/>
          <p:cNvSpPr/>
          <p:nvPr/>
        </p:nvSpPr>
        <p:spPr>
          <a:xfrm>
            <a:off x="6282000" y="2194560"/>
            <a:ext cx="470808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RÉSULTAT ATTENDU SUR CPU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33"/>
          <p:cNvSpPr/>
          <p:nvPr/>
        </p:nvSpPr>
        <p:spPr>
          <a:xfrm>
            <a:off x="6282000" y="2715840"/>
            <a:ext cx="4708080" cy="92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aller + calcul + retour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33"/>
          <p:cNvSpPr/>
          <p:nvPr/>
        </p:nvSpPr>
        <p:spPr>
          <a:xfrm>
            <a:off x="822960" y="4334400"/>
            <a:ext cx="10331640" cy="73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Pour une simple division, davantage de parallélisme peut ralentir.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33"/>
          <p:cNvSpPr/>
          <p:nvPr/>
        </p:nvSpPr>
        <p:spPr>
          <a:xfrm>
            <a:off x="777240" y="5806800"/>
            <a:ext cx="106059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Notebook 02 · comparer CPU, threads et GPU dans Colab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33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3"/>
          <p:cNvSpPr/>
          <p:nvPr/>
        </p:nvSpPr>
        <p:spPr>
          <a:xfrm>
            <a:off x="667440" y="6446520"/>
            <a:ext cx="8594280" cy="22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33"/>
          <p:cNvSpPr/>
          <p:nvPr/>
        </p:nvSpPr>
        <p:spPr>
          <a:xfrm>
            <a:off x="10625400" y="6437520"/>
            <a:ext cx="89496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33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4"/>
          <p:cNvSpPr/>
          <p:nvPr/>
        </p:nvSpPr>
        <p:spPr>
          <a:xfrm>
            <a:off x="658440" y="246960"/>
            <a:ext cx="98744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EXÉCUTION ET PERFORMANCE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34"/>
          <p:cNvSpPr/>
          <p:nvPr/>
        </p:nvSpPr>
        <p:spPr>
          <a:xfrm>
            <a:off x="658440" y="667440"/>
            <a:ext cx="1089864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Python est-il moins utilisé ?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4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2026-09-20_python_ai_tiobe_x.png" id="831" name="Google Shape;83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691640"/>
            <a:ext cx="4209480" cy="455256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34"/>
          <p:cNvSpPr/>
          <p:nvPr/>
        </p:nvSpPr>
        <p:spPr>
          <a:xfrm>
            <a:off x="5504760" y="2423160"/>
            <a:ext cx="5503680" cy="151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La courbe suffit-elle à expliquer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le rôle de l'IA ?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34"/>
          <p:cNvSpPr/>
          <p:nvPr/>
        </p:nvSpPr>
        <p:spPr>
          <a:xfrm>
            <a:off x="5504760" y="4626720"/>
            <a:ext cx="5393880" cy="82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Distinguer une observation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et son explication.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4"/>
          <p:cNvSpPr/>
          <p:nvPr/>
        </p:nvSpPr>
        <p:spPr>
          <a:xfrm>
            <a:off x="5504760" y="5769720"/>
            <a:ext cx="5494320" cy="37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Capture fournie par Olivier · @mark_k / @schteppe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34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4"/>
          <p:cNvSpPr/>
          <p:nvPr/>
        </p:nvSpPr>
        <p:spPr>
          <a:xfrm>
            <a:off x="667440" y="6446520"/>
            <a:ext cx="8594280" cy="22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4"/>
          <p:cNvSpPr/>
          <p:nvPr/>
        </p:nvSpPr>
        <p:spPr>
          <a:xfrm>
            <a:off x="10625400" y="6437520"/>
            <a:ext cx="89496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34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35"/>
          <p:cNvSpPr/>
          <p:nvPr/>
        </p:nvSpPr>
        <p:spPr>
          <a:xfrm>
            <a:off x="658440" y="246960"/>
            <a:ext cx="98744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EXÉCUTION ET PERFORMANCE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35"/>
          <p:cNvSpPr/>
          <p:nvPr/>
        </p:nvSpPr>
        <p:spPr>
          <a:xfrm>
            <a:off x="658440" y="667440"/>
            <a:ext cx="1089864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TIOBE : que mesure cet indice ?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35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5"/>
          <p:cNvSpPr/>
          <p:nvPr/>
        </p:nvSpPr>
        <p:spPr>
          <a:xfrm>
            <a:off x="777240" y="1847160"/>
            <a:ext cx="1051452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Un indice mensuel de popularité publié par TIOBE Software.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35"/>
          <p:cNvSpPr/>
          <p:nvPr/>
        </p:nvSpPr>
        <p:spPr>
          <a:xfrm>
            <a:off x="786240" y="3136320"/>
            <a:ext cx="1827720" cy="60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Méthode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35"/>
          <p:cNvSpPr/>
          <p:nvPr/>
        </p:nvSpPr>
        <p:spPr>
          <a:xfrm>
            <a:off x="2743200" y="309996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5"/>
          <p:cNvSpPr/>
          <p:nvPr/>
        </p:nvSpPr>
        <p:spPr>
          <a:xfrm>
            <a:off x="2834640" y="3154680"/>
            <a:ext cx="2403720" cy="72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recherches web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35"/>
          <p:cNvSpPr/>
          <p:nvPr/>
        </p:nvSpPr>
        <p:spPr>
          <a:xfrm>
            <a:off x="5394960" y="3337560"/>
            <a:ext cx="227520" cy="337320"/>
          </a:xfrm>
          <a:prstGeom prst="chevron">
            <a:avLst>
              <a:gd fmla="val 50000" name="adj"/>
            </a:avLst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5"/>
          <p:cNvSpPr/>
          <p:nvPr/>
        </p:nvSpPr>
        <p:spPr>
          <a:xfrm>
            <a:off x="5678280" y="309996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5"/>
          <p:cNvSpPr/>
          <p:nvPr/>
        </p:nvSpPr>
        <p:spPr>
          <a:xfrm>
            <a:off x="5769720" y="3154680"/>
            <a:ext cx="2403720" cy="72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résultats comptés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35"/>
          <p:cNvSpPr/>
          <p:nvPr/>
        </p:nvSpPr>
        <p:spPr>
          <a:xfrm>
            <a:off x="8330040" y="3337560"/>
            <a:ext cx="227520" cy="337320"/>
          </a:xfrm>
          <a:prstGeom prst="chevron">
            <a:avLst>
              <a:gd fmla="val 50000" name="adj"/>
            </a:avLst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5"/>
          <p:cNvSpPr/>
          <p:nvPr/>
        </p:nvSpPr>
        <p:spPr>
          <a:xfrm>
            <a:off x="8613720" y="3099960"/>
            <a:ext cx="2586600" cy="8586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5"/>
          <p:cNvSpPr/>
          <p:nvPr/>
        </p:nvSpPr>
        <p:spPr>
          <a:xfrm>
            <a:off x="8705160" y="3154680"/>
            <a:ext cx="2403720" cy="72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score relatif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35"/>
          <p:cNvSpPr/>
          <p:nvPr/>
        </p:nvSpPr>
        <p:spPr>
          <a:xfrm>
            <a:off x="804600" y="4956120"/>
            <a:ext cx="10560240" cy="69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Ce score ne mesure directement ni l'usage en production ni la vitesse.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35"/>
          <p:cNvSpPr/>
          <p:nvPr/>
        </p:nvSpPr>
        <p:spPr>
          <a:xfrm>
            <a:off x="804600" y="5870520"/>
            <a:ext cx="10514520" cy="27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 : définition officielle TIOBE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35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5"/>
          <p:cNvSpPr/>
          <p:nvPr/>
        </p:nvSpPr>
        <p:spPr>
          <a:xfrm>
            <a:off x="667440" y="6446520"/>
            <a:ext cx="8594280" cy="22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5"/>
          <p:cNvSpPr/>
          <p:nvPr/>
        </p:nvSpPr>
        <p:spPr>
          <a:xfrm>
            <a:off x="10625400" y="6437520"/>
            <a:ext cx="89496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35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6"/>
          <p:cNvSpPr/>
          <p:nvPr/>
        </p:nvSpPr>
        <p:spPr>
          <a:xfrm>
            <a:off x="749880" y="777240"/>
            <a:ext cx="996624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PARTIE IV · A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36"/>
          <p:cNvSpPr/>
          <p:nvPr/>
        </p:nvSpPr>
        <p:spPr>
          <a:xfrm>
            <a:off x="749880" y="1508760"/>
            <a:ext cx="749160" cy="5868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14400" lIns="90000" spcFirstLastPara="1" rIns="90000" wrap="square" tIns="14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6"/>
          <p:cNvSpPr/>
          <p:nvPr/>
        </p:nvSpPr>
        <p:spPr>
          <a:xfrm>
            <a:off x="749880" y="1828800"/>
            <a:ext cx="10697760" cy="123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Atelier : mélange gaussien</a:t>
            </a:r>
            <a:endParaRPr b="0" i="0" sz="4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36"/>
          <p:cNvSpPr/>
          <p:nvPr/>
        </p:nvSpPr>
        <p:spPr>
          <a:xfrm>
            <a:off x="749880" y="4023360"/>
            <a:ext cx="10514880" cy="1096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Atelier guidé : construire, vérifier puis extraire le code dans un module.</a:t>
            </a:r>
            <a:endParaRPr b="0" i="0" sz="2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36"/>
          <p:cNvSpPr/>
          <p:nvPr/>
        </p:nvSpPr>
        <p:spPr>
          <a:xfrm>
            <a:off x="658440" y="6382440"/>
            <a:ext cx="10862280" cy="15840"/>
          </a:xfrm>
          <a:prstGeom prst="rect">
            <a:avLst/>
          </a:prstGeom>
          <a:solidFill>
            <a:srgbClr val="557086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6"/>
          <p:cNvSpPr/>
          <p:nvPr/>
        </p:nvSpPr>
        <p:spPr>
          <a:xfrm>
            <a:off x="667440" y="6446520"/>
            <a:ext cx="85946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36"/>
          <p:cNvSpPr/>
          <p:nvPr/>
        </p:nvSpPr>
        <p:spPr>
          <a:xfrm>
            <a:off x="10625400" y="6437520"/>
            <a:ext cx="895320" cy="24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36 / 62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37"/>
          <p:cNvSpPr/>
          <p:nvPr/>
        </p:nvSpPr>
        <p:spPr>
          <a:xfrm>
            <a:off x="658440" y="246960"/>
            <a:ext cx="9874080" cy="29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ATELIER GAUSSIEN · BRIEF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37"/>
          <p:cNvSpPr/>
          <p:nvPr/>
        </p:nvSpPr>
        <p:spPr>
          <a:xfrm>
            <a:off x="658440" y="667440"/>
            <a:ext cx="10898280" cy="75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Brief : simuler un mélange de deux distributions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37"/>
          <p:cNvSpPr/>
          <p:nvPr/>
        </p:nvSpPr>
        <p:spPr>
          <a:xfrm>
            <a:off x="658440" y="1508760"/>
            <a:ext cx="1087092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8" name="Google Shape;87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160" y="1746360"/>
            <a:ext cx="7542360" cy="325836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37"/>
          <p:cNvSpPr/>
          <p:nvPr/>
        </p:nvSpPr>
        <p:spPr>
          <a:xfrm>
            <a:off x="8394120" y="1947600"/>
            <a:ext cx="3098520" cy="29246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7"/>
          <p:cNvSpPr/>
          <p:nvPr/>
        </p:nvSpPr>
        <p:spPr>
          <a:xfrm>
            <a:off x="8394120" y="1947600"/>
            <a:ext cx="48960" cy="29246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7"/>
          <p:cNvSpPr/>
          <p:nvPr/>
        </p:nvSpPr>
        <p:spPr>
          <a:xfrm>
            <a:off x="8577000" y="2084760"/>
            <a:ext cx="2732760" cy="41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INTERPRÉTATION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37"/>
          <p:cNvSpPr/>
          <p:nvPr/>
        </p:nvSpPr>
        <p:spPr>
          <a:xfrm>
            <a:off x="8577000" y="2606040"/>
            <a:ext cx="2732760" cy="21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Chaque observation vient de A ou de B.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 mélange est l'ensemble de ces observations.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37"/>
          <p:cNvSpPr/>
          <p:nvPr/>
        </p:nvSpPr>
        <p:spPr>
          <a:xfrm>
            <a:off x="704160" y="5614560"/>
            <a:ext cx="48960" cy="62028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7"/>
          <p:cNvSpPr/>
          <p:nvPr/>
        </p:nvSpPr>
        <p:spPr>
          <a:xfrm>
            <a:off x="896040" y="5614560"/>
            <a:ext cx="10559880" cy="62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Avant le code : pour n = 2 000, prédire n_a, n_b et le type de values_a.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37"/>
          <p:cNvSpPr/>
          <p:nvPr/>
        </p:nvSpPr>
        <p:spPr>
          <a:xfrm>
            <a:off x="658440" y="6382440"/>
            <a:ext cx="10861560" cy="151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7"/>
          <p:cNvSpPr/>
          <p:nvPr/>
        </p:nvSpPr>
        <p:spPr>
          <a:xfrm>
            <a:off x="667440" y="6446520"/>
            <a:ext cx="8593920" cy="22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37"/>
          <p:cNvSpPr/>
          <p:nvPr/>
        </p:nvSpPr>
        <p:spPr>
          <a:xfrm>
            <a:off x="10625400" y="6437520"/>
            <a:ext cx="8946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37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38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ATELIER GAUSSIEN · ÉTAPE 1 / 12</a:t>
            </a:r>
            <a:endParaRPr/>
          </a:p>
        </p:txBody>
      </p:sp>
      <p:sp>
        <p:nvSpPr>
          <p:cNvPr id="893" name="Google Shape;893;p38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Contrôler la simulation directe</a:t>
            </a:r>
            <a:endParaRPr/>
          </a:p>
        </p:txBody>
      </p:sp>
      <p:sp>
        <p:nvSpPr>
          <p:cNvPr id="894" name="Google Shape;894;p38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95" name="Google Shape;895;p38"/>
          <p:cNvSpPr/>
          <p:nvPr/>
        </p:nvSpPr>
        <p:spPr>
          <a:xfrm>
            <a:off x="731520" y="1847088"/>
            <a:ext cx="5705856" cy="303580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96" name="Google Shape;896;p38"/>
          <p:cNvSpPr txBox="1"/>
          <p:nvPr/>
        </p:nvSpPr>
        <p:spPr>
          <a:xfrm>
            <a:off x="923544" y="1965960"/>
            <a:ext cx="5321808" cy="278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n = 2000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weight_a = 0.6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n_a = int(n * weight_a)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n_b = n - n_a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values_a = rng.normal(..., size=n_a)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values_b = rng.normal(..., size=n_b)</a:t>
            </a:r>
            <a:endParaRPr/>
          </a:p>
        </p:txBody>
      </p:sp>
      <p:sp>
        <p:nvSpPr>
          <p:cNvPr id="897" name="Google Shape;897;p38"/>
          <p:cNvSpPr/>
          <p:nvPr/>
        </p:nvSpPr>
        <p:spPr>
          <a:xfrm>
            <a:off x="6720840" y="1847088"/>
            <a:ext cx="4544568" cy="1408176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98" name="Google Shape;898;p38"/>
          <p:cNvSpPr/>
          <p:nvPr/>
        </p:nvSpPr>
        <p:spPr>
          <a:xfrm>
            <a:off x="6720840" y="1847088"/>
            <a:ext cx="50292" cy="1408176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899" name="Google Shape;899;p38"/>
          <p:cNvSpPr txBox="1"/>
          <p:nvPr/>
        </p:nvSpPr>
        <p:spPr>
          <a:xfrm>
            <a:off x="6903720" y="1984248"/>
            <a:ext cx="4178807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AVANT D’EXÉCUTER</a:t>
            </a:r>
            <a:endParaRPr/>
          </a:p>
        </p:txBody>
      </p:sp>
      <p:sp>
        <p:nvSpPr>
          <p:cNvPr id="900" name="Google Shape;900;p38"/>
          <p:cNvSpPr txBox="1"/>
          <p:nvPr/>
        </p:nvSpPr>
        <p:spPr>
          <a:xfrm>
            <a:off x="6903720" y="2505456"/>
            <a:ext cx="4178807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Prédire n_a, n_b, le type et la forme de values_a.</a:t>
            </a:r>
            <a:endParaRPr/>
          </a:p>
        </p:txBody>
      </p:sp>
      <p:sp>
        <p:nvSpPr>
          <p:cNvPr id="901" name="Google Shape;901;p38"/>
          <p:cNvSpPr/>
          <p:nvPr/>
        </p:nvSpPr>
        <p:spPr>
          <a:xfrm>
            <a:off x="6720840" y="3520440"/>
            <a:ext cx="4544568" cy="1362456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02" name="Google Shape;902;p38"/>
          <p:cNvSpPr/>
          <p:nvPr/>
        </p:nvSpPr>
        <p:spPr>
          <a:xfrm>
            <a:off x="6720840" y="3520440"/>
            <a:ext cx="50292" cy="1362456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03" name="Google Shape;903;p38"/>
          <p:cNvSpPr txBox="1"/>
          <p:nvPr/>
        </p:nvSpPr>
        <p:spPr>
          <a:xfrm>
            <a:off x="6903720" y="3657600"/>
            <a:ext cx="4178807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CONTRÔLE</a:t>
            </a:r>
            <a:endParaRPr/>
          </a:p>
        </p:txBody>
      </p:sp>
      <p:sp>
        <p:nvSpPr>
          <p:cNvPr id="904" name="Google Shape;904;p38"/>
          <p:cNvSpPr txBox="1"/>
          <p:nvPr/>
        </p:nvSpPr>
        <p:spPr>
          <a:xfrm>
            <a:off x="6903720" y="4178808"/>
            <a:ext cx="4178807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ndarray (1200,)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DataFrame (2000, 2)</a:t>
            </a:r>
            <a:endParaRPr/>
          </a:p>
        </p:txBody>
      </p:sp>
      <p:sp>
        <p:nvSpPr>
          <p:cNvPr id="905" name="Google Shape;905;p38"/>
          <p:cNvSpPr/>
          <p:nvPr/>
        </p:nvSpPr>
        <p:spPr>
          <a:xfrm>
            <a:off x="704088" y="5559552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06" name="Google Shape;906;p38"/>
          <p:cNvSpPr txBox="1"/>
          <p:nvPr/>
        </p:nvSpPr>
        <p:spPr>
          <a:xfrm>
            <a:off x="896112" y="5559552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Notebook 03 · cellules 2–3 : expliquer les sorties avant de poursuivre.</a:t>
            </a:r>
            <a:endParaRPr/>
          </a:p>
        </p:txBody>
      </p:sp>
      <p:sp>
        <p:nvSpPr>
          <p:cNvPr id="907" name="Google Shape;907;p38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08" name="Google Shape;908;p38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909" name="Google Shape;909;p38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38 / 62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9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ATELIER GAUSSIEN · ÉTAPE 2 / 12</a:t>
            </a:r>
            <a:endParaRPr/>
          </a:p>
        </p:txBody>
      </p:sp>
      <p:sp>
        <p:nvSpPr>
          <p:cNvPr id="915" name="Google Shape;915;p39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Écrire draw_component</a:t>
            </a:r>
            <a:endParaRPr/>
          </a:p>
        </p:txBody>
      </p:sp>
      <p:sp>
        <p:nvSpPr>
          <p:cNvPr id="916" name="Google Shape;916;p39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17" name="Google Shape;917;p39"/>
          <p:cNvSpPr/>
          <p:nvPr/>
        </p:nvSpPr>
        <p:spPr>
          <a:xfrm>
            <a:off x="731520" y="1920240"/>
            <a:ext cx="6089904" cy="267004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18" name="Google Shape;918;p39"/>
          <p:cNvSpPr txBox="1"/>
          <p:nvPr/>
        </p:nvSpPr>
        <p:spPr>
          <a:xfrm>
            <a:off x="923544" y="2039112"/>
            <a:ext cx="5705856" cy="2423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def draw_component(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rng, mean, std_dev, size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# TODO: call rng.normal(...)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# TODO: return the array</a:t>
            </a:r>
            <a:endParaRPr/>
          </a:p>
        </p:txBody>
      </p:sp>
      <p:sp>
        <p:nvSpPr>
          <p:cNvPr id="919" name="Google Shape;919;p39"/>
          <p:cNvSpPr/>
          <p:nvPr/>
        </p:nvSpPr>
        <p:spPr>
          <a:xfrm>
            <a:off x="7095744" y="1920240"/>
            <a:ext cx="4169663" cy="1609344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20" name="Google Shape;920;p39"/>
          <p:cNvSpPr/>
          <p:nvPr/>
        </p:nvSpPr>
        <p:spPr>
          <a:xfrm>
            <a:off x="7095744" y="1920240"/>
            <a:ext cx="50292" cy="1609344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21" name="Google Shape;921;p39"/>
          <p:cNvSpPr txBox="1"/>
          <p:nvPr/>
        </p:nvSpPr>
        <p:spPr>
          <a:xfrm>
            <a:off x="7278624" y="2057400"/>
            <a:ext cx="380390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CONTRAT</a:t>
            </a:r>
            <a:endParaRPr/>
          </a:p>
        </p:txBody>
      </p:sp>
      <p:sp>
        <p:nvSpPr>
          <p:cNvPr id="922" name="Google Shape;922;p39"/>
          <p:cNvSpPr txBox="1"/>
          <p:nvPr/>
        </p:nvSpPr>
        <p:spPr>
          <a:xfrm>
            <a:off x="7278624" y="2578608"/>
            <a:ext cx="3803903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Entrées : générateur, centre, dispersion, effectif.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Sortie : ndarray de longueur size.</a:t>
            </a:r>
            <a:endParaRPr/>
          </a:p>
        </p:txBody>
      </p:sp>
      <p:sp>
        <p:nvSpPr>
          <p:cNvPr id="923" name="Google Shape;923;p39"/>
          <p:cNvSpPr/>
          <p:nvPr/>
        </p:nvSpPr>
        <p:spPr>
          <a:xfrm>
            <a:off x="7095744" y="3803904"/>
            <a:ext cx="4169663" cy="1243584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24" name="Google Shape;924;p39"/>
          <p:cNvSpPr/>
          <p:nvPr/>
        </p:nvSpPr>
        <p:spPr>
          <a:xfrm>
            <a:off x="7095744" y="3803904"/>
            <a:ext cx="50292" cy="1243584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25" name="Google Shape;925;p39"/>
          <p:cNvSpPr txBox="1"/>
          <p:nvPr/>
        </p:nvSpPr>
        <p:spPr>
          <a:xfrm>
            <a:off x="7278624" y="3941064"/>
            <a:ext cx="380390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PREUVE</a:t>
            </a:r>
            <a:endParaRPr/>
          </a:p>
        </p:txBody>
      </p:sp>
      <p:sp>
        <p:nvSpPr>
          <p:cNvPr id="926" name="Google Shape;926;p39"/>
          <p:cNvSpPr txBox="1"/>
          <p:nvPr/>
        </p:nvSpPr>
        <p:spPr>
          <a:xfrm>
            <a:off x="7278624" y="4462272"/>
            <a:ext cx="3803903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Seed 7 → forme (5,) et valeurs reproductibles.</a:t>
            </a:r>
            <a:endParaRPr/>
          </a:p>
        </p:txBody>
      </p:sp>
      <p:sp>
        <p:nvSpPr>
          <p:cNvPr id="927" name="Google Shape;927;p39"/>
          <p:cNvSpPr/>
          <p:nvPr/>
        </p:nvSpPr>
        <p:spPr>
          <a:xfrm>
            <a:off x="704088" y="5541264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28" name="Google Shape;928;p39"/>
          <p:cNvSpPr txBox="1"/>
          <p:nvPr/>
        </p:nvSpPr>
        <p:spPr>
          <a:xfrm>
            <a:off x="896112" y="5541264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Notebook 03 · cellules 4–6 : la fonction renvoie une valeur ; elle ne l’affiche pas.</a:t>
            </a:r>
            <a:endParaRPr/>
          </a:p>
        </p:txBody>
      </p:sp>
      <p:sp>
        <p:nvSpPr>
          <p:cNvPr id="929" name="Google Shape;929;p39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30" name="Google Shape;930;p39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931" name="Google Shape;931;p39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39 / 62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40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ATELIER GAUSSIEN · ÉTAPE 3 / 12</a:t>
            </a:r>
            <a:endParaRPr/>
          </a:p>
        </p:txBody>
      </p:sp>
      <p:sp>
        <p:nvSpPr>
          <p:cNvPr id="937" name="Google Shape;937;p40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Construire la table longue</a:t>
            </a:r>
            <a:endParaRPr/>
          </a:p>
        </p:txBody>
      </p:sp>
      <p:sp>
        <p:nvSpPr>
          <p:cNvPr id="938" name="Google Shape;938;p40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39" name="Google Shape;939;p40"/>
          <p:cNvSpPr/>
          <p:nvPr/>
        </p:nvSpPr>
        <p:spPr>
          <a:xfrm>
            <a:off x="731520" y="1856231"/>
            <a:ext cx="5980176" cy="2322576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40" name="Google Shape;940;p40"/>
          <p:cNvSpPr txBox="1"/>
          <p:nvPr/>
        </p:nvSpPr>
        <p:spPr>
          <a:xfrm>
            <a:off x="923544" y="1975103"/>
            <a:ext cx="5596128" cy="2075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def combine_components(values_a, values_b):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# TODO: concatenate the values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# TODO: create labels A and B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# TODO: return a DataFrame</a:t>
            </a:r>
            <a:endParaRPr/>
          </a:p>
        </p:txBody>
      </p:sp>
      <p:sp>
        <p:nvSpPr>
          <p:cNvPr id="941" name="Google Shape;941;p40"/>
          <p:cNvSpPr txBox="1"/>
          <p:nvPr/>
        </p:nvSpPr>
        <p:spPr>
          <a:xfrm>
            <a:off x="7031736" y="1764792"/>
            <a:ext cx="42336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Cas de contrôle</a:t>
            </a:r>
            <a:endParaRPr/>
          </a:p>
        </p:txBody>
      </p:sp>
      <p:sp>
        <p:nvSpPr>
          <p:cNvPr id="942" name="Google Shape;942;p40"/>
          <p:cNvSpPr/>
          <p:nvPr/>
        </p:nvSpPr>
        <p:spPr>
          <a:xfrm>
            <a:off x="7031736" y="2221992"/>
            <a:ext cx="4233672" cy="25146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43" name="Google Shape;943;p40"/>
          <p:cNvSpPr txBox="1"/>
          <p:nvPr/>
        </p:nvSpPr>
        <p:spPr>
          <a:xfrm>
            <a:off x="7223760" y="2340864"/>
            <a:ext cx="3849624" cy="2267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 = [1.0, 2.0]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B = [3.0]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value  component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1.0      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2.0      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3.0      B</a:t>
            </a:r>
            <a:endParaRPr/>
          </a:p>
        </p:txBody>
      </p:sp>
      <p:sp>
        <p:nvSpPr>
          <p:cNvPr id="944" name="Google Shape;944;p40"/>
          <p:cNvSpPr/>
          <p:nvPr/>
        </p:nvSpPr>
        <p:spPr>
          <a:xfrm>
            <a:off x="704088" y="5522976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45" name="Google Shape;945;p40"/>
          <p:cNvSpPr txBox="1"/>
          <p:nvPr/>
        </p:nvSpPr>
        <p:spPr>
          <a:xfrm>
            <a:off x="896112" y="5522976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Notebook 03 · cellules 7–9 : colonnes attendues dans cet ordre : value, component.</a:t>
            </a:r>
            <a:endParaRPr/>
          </a:p>
        </p:txBody>
      </p:sp>
      <p:sp>
        <p:nvSpPr>
          <p:cNvPr id="946" name="Google Shape;946;p40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47" name="Google Shape;947;p40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948" name="Google Shape;948;p40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40 / 62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1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ATELIER GAUSSIEN · ÉTAPE 4 / 12</a:t>
            </a:r>
            <a:endParaRPr/>
          </a:p>
        </p:txBody>
      </p:sp>
      <p:sp>
        <p:nvSpPr>
          <p:cNvPr id="954" name="Google Shape;954;p41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Concevoir l’état avant d’écrire la classe</a:t>
            </a:r>
            <a:endParaRPr/>
          </a:p>
        </p:txBody>
      </p:sp>
      <p:sp>
        <p:nvSpPr>
          <p:cNvPr id="955" name="Google Shape;955;p41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56" name="Google Shape;956;p41"/>
          <p:cNvSpPr txBox="1"/>
          <p:nvPr/>
        </p:nvSpPr>
        <p:spPr>
          <a:xfrm>
            <a:off x="731520" y="1746504"/>
            <a:ext cx="10561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Plusieurs opérations doivent partager les paramètres et le même échantillon.</a:t>
            </a:r>
            <a:endParaRPr/>
          </a:p>
        </p:txBody>
      </p:sp>
      <p:sp>
        <p:nvSpPr>
          <p:cNvPr id="957" name="Google Shape;957;p41"/>
          <p:cNvSpPr/>
          <p:nvPr/>
        </p:nvSpPr>
        <p:spPr>
          <a:xfrm>
            <a:off x="731520" y="2542032"/>
            <a:ext cx="5184648" cy="1975104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58" name="Google Shape;958;p41"/>
          <p:cNvSpPr/>
          <p:nvPr/>
        </p:nvSpPr>
        <p:spPr>
          <a:xfrm>
            <a:off x="731520" y="2542032"/>
            <a:ext cx="50292" cy="1975104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59" name="Google Shape;959;p41"/>
          <p:cNvSpPr txBox="1"/>
          <p:nvPr/>
        </p:nvSpPr>
        <p:spPr>
          <a:xfrm>
            <a:off x="914400" y="2679191"/>
            <a:ext cx="48188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ÉTAT À CONSERVER</a:t>
            </a:r>
            <a:endParaRPr/>
          </a:p>
        </p:txBody>
      </p:sp>
      <p:sp>
        <p:nvSpPr>
          <p:cNvPr id="960" name="Google Shape;960;p41"/>
          <p:cNvSpPr txBox="1"/>
          <p:nvPr/>
        </p:nvSpPr>
        <p:spPr>
          <a:xfrm>
            <a:off x="914400" y="3200400"/>
            <a:ext cx="4818888" cy="1197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mean_a · std_a · mean_b · std_b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weight_a · samples</a:t>
            </a:r>
            <a:endParaRPr/>
          </a:p>
        </p:txBody>
      </p:sp>
      <p:sp>
        <p:nvSpPr>
          <p:cNvPr id="961" name="Google Shape;961;p41"/>
          <p:cNvSpPr/>
          <p:nvPr/>
        </p:nvSpPr>
        <p:spPr>
          <a:xfrm>
            <a:off x="6153912" y="2542032"/>
            <a:ext cx="5111496" cy="1975104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62" name="Google Shape;962;p41"/>
          <p:cNvSpPr/>
          <p:nvPr/>
        </p:nvSpPr>
        <p:spPr>
          <a:xfrm>
            <a:off x="6153912" y="2542032"/>
            <a:ext cx="50292" cy="1975104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63" name="Google Shape;963;p41"/>
          <p:cNvSpPr txBox="1"/>
          <p:nvPr/>
        </p:nvSpPr>
        <p:spPr>
          <a:xfrm>
            <a:off x="6336792" y="2679191"/>
            <a:ext cx="47457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OPÉRATIONS</a:t>
            </a:r>
            <a:endParaRPr/>
          </a:p>
        </p:txBody>
      </p:sp>
      <p:sp>
        <p:nvSpPr>
          <p:cNvPr id="964" name="Google Shape;964;p41"/>
          <p:cNvSpPr txBox="1"/>
          <p:nvPr/>
        </p:nvSpPr>
        <p:spPr>
          <a:xfrm>
            <a:off x="6336792" y="3200400"/>
            <a:ext cx="4745736" cy="1197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sample()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plot_components() · plot_mixture() · plot_box()</a:t>
            </a:r>
            <a:endParaRPr/>
          </a:p>
        </p:txBody>
      </p:sp>
      <p:sp>
        <p:nvSpPr>
          <p:cNvPr id="965" name="Google Shape;965;p41"/>
          <p:cNvSpPr/>
          <p:nvPr/>
        </p:nvSpPr>
        <p:spPr>
          <a:xfrm>
            <a:off x="704088" y="5230368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66" name="Google Shape;966;p41"/>
          <p:cNvSpPr txBox="1"/>
          <p:nvPr/>
        </p:nvSpPr>
        <p:spPr>
          <a:xfrm>
            <a:off x="896112" y="5230368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Décision à justifier : pourquoi samples appartient-il à l’instance ?</a:t>
            </a:r>
            <a:endParaRPr/>
          </a:p>
        </p:txBody>
      </p:sp>
      <p:sp>
        <p:nvSpPr>
          <p:cNvPr id="967" name="Google Shape;967;p41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68" name="Google Shape;968;p41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969" name="Google Shape;969;p41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41 / 62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42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ATELIER GAUSSIEN · ÉTAPE 5 / 12</a:t>
            </a:r>
            <a:endParaRPr/>
          </a:p>
        </p:txBody>
      </p:sp>
      <p:sp>
        <p:nvSpPr>
          <p:cNvPr id="975" name="Google Shape;975;p42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Compléter __init__ et créer une instance</a:t>
            </a:r>
            <a:endParaRPr/>
          </a:p>
        </p:txBody>
      </p:sp>
      <p:sp>
        <p:nvSpPr>
          <p:cNvPr id="976" name="Google Shape;976;p42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77" name="Google Shape;977;p42"/>
          <p:cNvSpPr/>
          <p:nvPr/>
        </p:nvSpPr>
        <p:spPr>
          <a:xfrm>
            <a:off x="731520" y="1792224"/>
            <a:ext cx="6437376" cy="3602736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78" name="Google Shape;978;p42"/>
          <p:cNvSpPr txBox="1"/>
          <p:nvPr/>
        </p:nvSpPr>
        <p:spPr>
          <a:xfrm>
            <a:off x="923544" y="1911095"/>
            <a:ext cx="6053328" cy="3355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class GaussianMixture: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def __init__(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self, mean_a, std_a, mean_b,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std_b, weight_a=0.6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self.mean_a = mean_a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# TODO: store four parameters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    self.samples = None</a:t>
            </a:r>
            <a:endParaRPr/>
          </a:p>
        </p:txBody>
      </p:sp>
      <p:sp>
        <p:nvSpPr>
          <p:cNvPr id="979" name="Google Shape;979;p42"/>
          <p:cNvSpPr/>
          <p:nvPr/>
        </p:nvSpPr>
        <p:spPr>
          <a:xfrm>
            <a:off x="7443216" y="1965960"/>
            <a:ext cx="3822191" cy="1993392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80" name="Google Shape;980;p42"/>
          <p:cNvSpPr/>
          <p:nvPr/>
        </p:nvSpPr>
        <p:spPr>
          <a:xfrm>
            <a:off x="7443216" y="1965960"/>
            <a:ext cx="50292" cy="19933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81" name="Google Shape;981;p42"/>
          <p:cNvSpPr txBox="1"/>
          <p:nvPr/>
        </p:nvSpPr>
        <p:spPr>
          <a:xfrm>
            <a:off x="7626096" y="2103120"/>
            <a:ext cx="3456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CONTRÔLES</a:t>
            </a:r>
            <a:endParaRPr/>
          </a:p>
        </p:txBody>
      </p:sp>
      <p:sp>
        <p:nvSpPr>
          <p:cNvPr id="982" name="Google Shape;982;p42"/>
          <p:cNvSpPr txBox="1"/>
          <p:nvPr/>
        </p:nvSpPr>
        <p:spPr>
          <a:xfrm>
            <a:off x="7626096" y="2624328"/>
            <a:ext cx="3456432" cy="1216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model.std_b == 24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model.weight_a == 0.6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model.samples is None</a:t>
            </a:r>
            <a:endParaRPr/>
          </a:p>
        </p:txBody>
      </p:sp>
      <p:sp>
        <p:nvSpPr>
          <p:cNvPr id="983" name="Google Shape;983;p42"/>
          <p:cNvSpPr/>
          <p:nvPr/>
        </p:nvSpPr>
        <p:spPr>
          <a:xfrm>
            <a:off x="704088" y="5596128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84" name="Google Shape;984;p42"/>
          <p:cNvSpPr txBox="1"/>
          <p:nvPr/>
        </p:nvSpPr>
        <p:spPr>
          <a:xfrm>
            <a:off x="896112" y="5596128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Relancer la cellule de classe, puis recréer model après chaque modification.</a:t>
            </a:r>
            <a:endParaRPr/>
          </a:p>
        </p:txBody>
      </p:sp>
      <p:sp>
        <p:nvSpPr>
          <p:cNvPr id="985" name="Google Shape;985;p42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86" name="Google Shape;986;p42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987" name="Google Shape;987;p42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42 / 62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43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ATELIER GAUSSIEN · ÉTAPE 6 / 12</a:t>
            </a:r>
            <a:endParaRPr/>
          </a:p>
        </p:txBody>
      </p:sp>
      <p:sp>
        <p:nvSpPr>
          <p:cNvPr id="993" name="Google Shape;993;p43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Implémenter sample comme une chaîne de calcul</a:t>
            </a:r>
            <a:endParaRPr/>
          </a:p>
        </p:txBody>
      </p:sp>
      <p:sp>
        <p:nvSpPr>
          <p:cNvPr id="994" name="Google Shape;994;p43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95" name="Google Shape;995;p43"/>
          <p:cNvSpPr/>
          <p:nvPr/>
        </p:nvSpPr>
        <p:spPr>
          <a:xfrm>
            <a:off x="731520" y="1965960"/>
            <a:ext cx="1865376" cy="1444752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96" name="Google Shape;996;p43"/>
          <p:cNvSpPr/>
          <p:nvPr/>
        </p:nvSpPr>
        <p:spPr>
          <a:xfrm>
            <a:off x="731520" y="1965960"/>
            <a:ext cx="50292" cy="1444752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997" name="Google Shape;997;p43"/>
          <p:cNvSpPr txBox="1"/>
          <p:nvPr/>
        </p:nvSpPr>
        <p:spPr>
          <a:xfrm>
            <a:off x="914400" y="2103120"/>
            <a:ext cx="14996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98" name="Google Shape;998;p43"/>
          <p:cNvSpPr txBox="1"/>
          <p:nvPr/>
        </p:nvSpPr>
        <p:spPr>
          <a:xfrm>
            <a:off x="914400" y="2624328"/>
            <a:ext cx="1499616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Créer rng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avec seed</a:t>
            </a:r>
            <a:endParaRPr/>
          </a:p>
        </p:txBody>
      </p:sp>
      <p:sp>
        <p:nvSpPr>
          <p:cNvPr id="999" name="Google Shape;999;p43"/>
          <p:cNvSpPr/>
          <p:nvPr/>
        </p:nvSpPr>
        <p:spPr>
          <a:xfrm>
            <a:off x="2651760" y="2487168"/>
            <a:ext cx="201168" cy="329184"/>
          </a:xfrm>
          <a:prstGeom prst="chevron">
            <a:avLst>
              <a:gd fmla="val 50000" name="adj"/>
            </a:avLst>
          </a:prstGeom>
          <a:solidFill>
            <a:srgbClr val="5267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00" name="Google Shape;1000;p43"/>
          <p:cNvSpPr/>
          <p:nvPr/>
        </p:nvSpPr>
        <p:spPr>
          <a:xfrm>
            <a:off x="2944368" y="1965960"/>
            <a:ext cx="1865376" cy="1444752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01" name="Google Shape;1001;p43"/>
          <p:cNvSpPr/>
          <p:nvPr/>
        </p:nvSpPr>
        <p:spPr>
          <a:xfrm>
            <a:off x="2944368" y="1965960"/>
            <a:ext cx="50292" cy="144475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02" name="Google Shape;1002;p43"/>
          <p:cNvSpPr txBox="1"/>
          <p:nvPr/>
        </p:nvSpPr>
        <p:spPr>
          <a:xfrm>
            <a:off x="3127248" y="2103120"/>
            <a:ext cx="14996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03" name="Google Shape;1003;p43"/>
          <p:cNvSpPr txBox="1"/>
          <p:nvPr/>
        </p:nvSpPr>
        <p:spPr>
          <a:xfrm>
            <a:off x="3127248" y="2624328"/>
            <a:ext cx="1499616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Calculer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n_a et n_b</a:t>
            </a:r>
            <a:endParaRPr/>
          </a:p>
        </p:txBody>
      </p:sp>
      <p:sp>
        <p:nvSpPr>
          <p:cNvPr id="1004" name="Google Shape;1004;p43"/>
          <p:cNvSpPr/>
          <p:nvPr/>
        </p:nvSpPr>
        <p:spPr>
          <a:xfrm>
            <a:off x="4864608" y="2487168"/>
            <a:ext cx="201168" cy="329184"/>
          </a:xfrm>
          <a:prstGeom prst="chevron">
            <a:avLst>
              <a:gd fmla="val 50000" name="adj"/>
            </a:avLst>
          </a:prstGeom>
          <a:solidFill>
            <a:srgbClr val="5267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05" name="Google Shape;1005;p43"/>
          <p:cNvSpPr/>
          <p:nvPr/>
        </p:nvSpPr>
        <p:spPr>
          <a:xfrm>
            <a:off x="5157216" y="1965960"/>
            <a:ext cx="1865376" cy="1444752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06" name="Google Shape;1006;p43"/>
          <p:cNvSpPr/>
          <p:nvPr/>
        </p:nvSpPr>
        <p:spPr>
          <a:xfrm>
            <a:off x="5157216" y="1965960"/>
            <a:ext cx="50292" cy="1444752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07" name="Google Shape;1007;p43"/>
          <p:cNvSpPr txBox="1"/>
          <p:nvPr/>
        </p:nvSpPr>
        <p:spPr>
          <a:xfrm>
            <a:off x="5340096" y="2103120"/>
            <a:ext cx="14996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008" name="Google Shape;1008;p43"/>
          <p:cNvSpPr txBox="1"/>
          <p:nvPr/>
        </p:nvSpPr>
        <p:spPr>
          <a:xfrm>
            <a:off x="5340096" y="2624328"/>
            <a:ext cx="1499616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Tirer 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et B</a:t>
            </a:r>
            <a:endParaRPr/>
          </a:p>
        </p:txBody>
      </p:sp>
      <p:sp>
        <p:nvSpPr>
          <p:cNvPr id="1009" name="Google Shape;1009;p43"/>
          <p:cNvSpPr/>
          <p:nvPr/>
        </p:nvSpPr>
        <p:spPr>
          <a:xfrm>
            <a:off x="7077456" y="2487168"/>
            <a:ext cx="201168" cy="329184"/>
          </a:xfrm>
          <a:prstGeom prst="chevron">
            <a:avLst>
              <a:gd fmla="val 50000" name="adj"/>
            </a:avLst>
          </a:prstGeom>
          <a:solidFill>
            <a:srgbClr val="5267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10" name="Google Shape;1010;p43"/>
          <p:cNvSpPr/>
          <p:nvPr/>
        </p:nvSpPr>
        <p:spPr>
          <a:xfrm>
            <a:off x="7370064" y="1965960"/>
            <a:ext cx="1865376" cy="1444752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11" name="Google Shape;1011;p43"/>
          <p:cNvSpPr/>
          <p:nvPr/>
        </p:nvSpPr>
        <p:spPr>
          <a:xfrm>
            <a:off x="7370064" y="1965960"/>
            <a:ext cx="50292" cy="144475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12" name="Google Shape;1012;p43"/>
          <p:cNvSpPr txBox="1"/>
          <p:nvPr/>
        </p:nvSpPr>
        <p:spPr>
          <a:xfrm>
            <a:off x="7552944" y="2103120"/>
            <a:ext cx="14996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013" name="Google Shape;1013;p43"/>
          <p:cNvSpPr txBox="1"/>
          <p:nvPr/>
        </p:nvSpPr>
        <p:spPr>
          <a:xfrm>
            <a:off x="7552944" y="2624328"/>
            <a:ext cx="1499616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Combiner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les tableaux</a:t>
            </a:r>
            <a:endParaRPr/>
          </a:p>
        </p:txBody>
      </p:sp>
      <p:sp>
        <p:nvSpPr>
          <p:cNvPr id="1014" name="Google Shape;1014;p43"/>
          <p:cNvSpPr/>
          <p:nvPr/>
        </p:nvSpPr>
        <p:spPr>
          <a:xfrm>
            <a:off x="9290304" y="2487168"/>
            <a:ext cx="201168" cy="329184"/>
          </a:xfrm>
          <a:prstGeom prst="chevron">
            <a:avLst>
              <a:gd fmla="val 50000" name="adj"/>
            </a:avLst>
          </a:prstGeom>
          <a:solidFill>
            <a:srgbClr val="5267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15" name="Google Shape;1015;p43"/>
          <p:cNvSpPr/>
          <p:nvPr/>
        </p:nvSpPr>
        <p:spPr>
          <a:xfrm>
            <a:off x="9582912" y="1965960"/>
            <a:ext cx="1865376" cy="1444752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16" name="Google Shape;1016;p43"/>
          <p:cNvSpPr/>
          <p:nvPr/>
        </p:nvSpPr>
        <p:spPr>
          <a:xfrm>
            <a:off x="9582912" y="1965960"/>
            <a:ext cx="50292" cy="1444752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17" name="Google Shape;1017;p43"/>
          <p:cNvSpPr txBox="1"/>
          <p:nvPr/>
        </p:nvSpPr>
        <p:spPr>
          <a:xfrm>
            <a:off x="9765792" y="2103120"/>
            <a:ext cx="14996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018" name="Google Shape;1018;p43"/>
          <p:cNvSpPr txBox="1"/>
          <p:nvPr/>
        </p:nvSpPr>
        <p:spPr>
          <a:xfrm>
            <a:off x="9765792" y="2624328"/>
            <a:ext cx="1499616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Stocker puis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renvoyer</a:t>
            </a:r>
            <a:endParaRPr/>
          </a:p>
        </p:txBody>
      </p:sp>
      <p:sp>
        <p:nvSpPr>
          <p:cNvPr id="1019" name="Google Shape;1019;p43"/>
          <p:cNvSpPr/>
          <p:nvPr/>
        </p:nvSpPr>
        <p:spPr>
          <a:xfrm>
            <a:off x="2112264" y="3922776"/>
            <a:ext cx="7955279" cy="1133856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20" name="Google Shape;1020;p43"/>
          <p:cNvSpPr txBox="1"/>
          <p:nvPr/>
        </p:nvSpPr>
        <p:spPr>
          <a:xfrm>
            <a:off x="2304288" y="4041648"/>
            <a:ext cx="7571231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def sample(self, n, seed=404):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# TODO: complete the five steps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return self.samples</a:t>
            </a:r>
            <a:endParaRPr/>
          </a:p>
        </p:txBody>
      </p:sp>
      <p:sp>
        <p:nvSpPr>
          <p:cNvPr id="1021" name="Google Shape;1021;p43"/>
          <p:cNvSpPr/>
          <p:nvPr/>
        </p:nvSpPr>
        <p:spPr>
          <a:xfrm>
            <a:off x="704088" y="5541264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22" name="Google Shape;1022;p43"/>
          <p:cNvSpPr txBox="1"/>
          <p:nvPr/>
        </p:nvSpPr>
        <p:spPr>
          <a:xfrm>
            <a:off x="896112" y="5541264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Réutiliser draw_component et combine_components ; ne pas recopier leurs calculs.</a:t>
            </a:r>
            <a:endParaRPr/>
          </a:p>
        </p:txBody>
      </p:sp>
      <p:sp>
        <p:nvSpPr>
          <p:cNvPr id="1023" name="Google Shape;1023;p43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24" name="Google Shape;1024;p43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1025" name="Google Shape;1025;p43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43 / 62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44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ATELIER GAUSSIEN · ÉTAPE 7 / 12</a:t>
            </a:r>
            <a:endParaRPr/>
          </a:p>
        </p:txBody>
      </p:sp>
      <p:sp>
        <p:nvSpPr>
          <p:cNvPr id="1031" name="Google Shape;1031;p44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Valider sample avant les graphiques</a:t>
            </a:r>
            <a:endParaRPr/>
          </a:p>
        </p:txBody>
      </p:sp>
      <p:sp>
        <p:nvSpPr>
          <p:cNvPr id="1032" name="Google Shape;1032;p44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33" name="Google Shape;1033;p44"/>
          <p:cNvSpPr/>
          <p:nvPr/>
        </p:nvSpPr>
        <p:spPr>
          <a:xfrm>
            <a:off x="731520" y="1847088"/>
            <a:ext cx="6784848" cy="2980944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34" name="Google Shape;1034;p44"/>
          <p:cNvSpPr txBox="1"/>
          <p:nvPr/>
        </p:nvSpPr>
        <p:spPr>
          <a:xfrm>
            <a:off x="923544" y="1965960"/>
            <a:ext cx="6400800" cy="2734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sample = model.sample(2000, seed=404)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FCFCF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assert sample is model.samples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assert sample.shape == (2000, 2)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counts = sample["component"].value_counts().to_dict()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assert counts == {"A": 1200, "B": 800}</a:t>
            </a:r>
            <a:endParaRPr/>
          </a:p>
        </p:txBody>
      </p:sp>
      <p:sp>
        <p:nvSpPr>
          <p:cNvPr id="1035" name="Google Shape;1035;p44"/>
          <p:cNvSpPr/>
          <p:nvPr/>
        </p:nvSpPr>
        <p:spPr>
          <a:xfrm>
            <a:off x="7790688" y="1847088"/>
            <a:ext cx="3474720" cy="16459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36" name="Google Shape;1036;p44"/>
          <p:cNvSpPr/>
          <p:nvPr/>
        </p:nvSpPr>
        <p:spPr>
          <a:xfrm>
            <a:off x="7790688" y="1847088"/>
            <a:ext cx="50292" cy="164592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37" name="Google Shape;1037;p44"/>
          <p:cNvSpPr txBox="1"/>
          <p:nvPr/>
        </p:nvSpPr>
        <p:spPr>
          <a:xfrm>
            <a:off x="7973567" y="198424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SI UN CONTRÔLE ÉCHOUE</a:t>
            </a:r>
            <a:endParaRPr/>
          </a:p>
        </p:txBody>
      </p:sp>
      <p:sp>
        <p:nvSpPr>
          <p:cNvPr id="1038" name="Google Shape;1038;p44"/>
          <p:cNvSpPr txBox="1"/>
          <p:nvPr/>
        </p:nvSpPr>
        <p:spPr>
          <a:xfrm>
            <a:off x="7973567" y="2505456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Inspecter d’abord n_a, n_b, puis les colonnes et les étiquettes.</a:t>
            </a:r>
            <a:endParaRPr/>
          </a:p>
        </p:txBody>
      </p:sp>
      <p:sp>
        <p:nvSpPr>
          <p:cNvPr id="1039" name="Google Shape;1039;p44"/>
          <p:cNvSpPr/>
          <p:nvPr/>
        </p:nvSpPr>
        <p:spPr>
          <a:xfrm>
            <a:off x="7790688" y="3730752"/>
            <a:ext cx="3474720" cy="16459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40" name="Google Shape;1040;p44"/>
          <p:cNvSpPr/>
          <p:nvPr/>
        </p:nvSpPr>
        <p:spPr>
          <a:xfrm>
            <a:off x="7790688" y="3730752"/>
            <a:ext cx="50292" cy="164592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41" name="Google Shape;1041;p44"/>
          <p:cNvSpPr txBox="1"/>
          <p:nvPr/>
        </p:nvSpPr>
        <p:spPr>
          <a:xfrm>
            <a:off x="7973567" y="386791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APRÈS LE PREMIER PASSAGE</a:t>
            </a:r>
            <a:endParaRPr/>
          </a:p>
        </p:txBody>
      </p:sp>
      <p:sp>
        <p:nvSpPr>
          <p:cNvPr id="1042" name="Google Shape;1042;p44"/>
          <p:cNvSpPr txBox="1"/>
          <p:nvPr/>
        </p:nvSpPr>
        <p:spPr>
          <a:xfrm>
            <a:off x="7973567" y="438912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Ajouter les préconditions : n ≥ 2, écarts-types positifs, poids entre 0 et 1.</a:t>
            </a:r>
            <a:endParaRPr/>
          </a:p>
        </p:txBody>
      </p:sp>
      <p:sp>
        <p:nvSpPr>
          <p:cNvPr id="1043" name="Google Shape;1043;p44"/>
          <p:cNvSpPr/>
          <p:nvPr/>
        </p:nvSpPr>
        <p:spPr>
          <a:xfrm>
            <a:off x="704088" y="5669280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44" name="Google Shape;1044;p44"/>
          <p:cNvSpPr txBox="1"/>
          <p:nvPr/>
        </p:nvSpPr>
        <p:spPr>
          <a:xfrm>
            <a:off x="896112" y="5669280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Les graphiques commencent seulement quand ces trois assertions passent.</a:t>
            </a:r>
            <a:endParaRPr/>
          </a:p>
        </p:txBody>
      </p:sp>
      <p:sp>
        <p:nvSpPr>
          <p:cNvPr id="1045" name="Google Shape;1045;p44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46" name="Google Shape;1046;p44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1047" name="Google Shape;1047;p44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44 / 62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45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ATELIER GAUSSIEN · ÉTAPE 8 / 12</a:t>
            </a:r>
            <a:endParaRPr/>
          </a:p>
        </p:txBody>
      </p:sp>
      <p:sp>
        <p:nvSpPr>
          <p:cNvPr id="1053" name="Google Shape;1053;p45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Ajouter les graphiques un par un</a:t>
            </a:r>
            <a:endParaRPr/>
          </a:p>
        </p:txBody>
      </p:sp>
      <p:sp>
        <p:nvSpPr>
          <p:cNvPr id="1054" name="Google Shape;1054;p45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55" name="Google Shape;1055;p45"/>
          <p:cNvSpPr/>
          <p:nvPr/>
        </p:nvSpPr>
        <p:spPr>
          <a:xfrm>
            <a:off x="731520" y="1975104"/>
            <a:ext cx="3172968" cy="21031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56" name="Google Shape;1056;p45"/>
          <p:cNvSpPr/>
          <p:nvPr/>
        </p:nvSpPr>
        <p:spPr>
          <a:xfrm>
            <a:off x="731520" y="1975104"/>
            <a:ext cx="50292" cy="210312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57" name="Google Shape;1057;p45"/>
          <p:cNvSpPr txBox="1"/>
          <p:nvPr/>
        </p:nvSpPr>
        <p:spPr>
          <a:xfrm>
            <a:off x="914400" y="2112264"/>
            <a:ext cx="28072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plot_components</a:t>
            </a:r>
            <a:endParaRPr/>
          </a:p>
        </p:txBody>
      </p:sp>
      <p:sp>
        <p:nvSpPr>
          <p:cNvPr id="1058" name="Google Shape;1058;p45"/>
          <p:cNvSpPr txBox="1"/>
          <p:nvPr/>
        </p:nvSpPr>
        <p:spPr>
          <a:xfrm>
            <a:off x="914400" y="2633472"/>
            <a:ext cx="2807208" cy="1325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 et B superposés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Comparer les formes</a:t>
            </a:r>
            <a:endParaRPr/>
          </a:p>
        </p:txBody>
      </p:sp>
      <p:sp>
        <p:nvSpPr>
          <p:cNvPr id="1059" name="Google Shape;1059;p45"/>
          <p:cNvSpPr/>
          <p:nvPr/>
        </p:nvSpPr>
        <p:spPr>
          <a:xfrm>
            <a:off x="4407407" y="1975104"/>
            <a:ext cx="3172968" cy="21031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60" name="Google Shape;1060;p45"/>
          <p:cNvSpPr/>
          <p:nvPr/>
        </p:nvSpPr>
        <p:spPr>
          <a:xfrm>
            <a:off x="4407407" y="1975104"/>
            <a:ext cx="50292" cy="210312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61" name="Google Shape;1061;p45"/>
          <p:cNvSpPr txBox="1"/>
          <p:nvPr/>
        </p:nvSpPr>
        <p:spPr>
          <a:xfrm>
            <a:off x="4590288" y="2112264"/>
            <a:ext cx="28072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plot_mixture</a:t>
            </a:r>
            <a:endParaRPr/>
          </a:p>
        </p:txBody>
      </p:sp>
      <p:sp>
        <p:nvSpPr>
          <p:cNvPr id="1062" name="Google Shape;1062;p45"/>
          <p:cNvSpPr txBox="1"/>
          <p:nvPr/>
        </p:nvSpPr>
        <p:spPr>
          <a:xfrm>
            <a:off x="4590288" y="2633472"/>
            <a:ext cx="2807208" cy="1325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Toutes les lignes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Masquer l’étiquette</a:t>
            </a:r>
            <a:endParaRPr/>
          </a:p>
        </p:txBody>
      </p:sp>
      <p:sp>
        <p:nvSpPr>
          <p:cNvPr id="1063" name="Google Shape;1063;p45"/>
          <p:cNvSpPr/>
          <p:nvPr/>
        </p:nvSpPr>
        <p:spPr>
          <a:xfrm>
            <a:off x="8083296" y="1975104"/>
            <a:ext cx="3172968" cy="21031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64" name="Google Shape;1064;p45"/>
          <p:cNvSpPr/>
          <p:nvPr/>
        </p:nvSpPr>
        <p:spPr>
          <a:xfrm>
            <a:off x="8083296" y="1975104"/>
            <a:ext cx="50292" cy="210312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65" name="Google Shape;1065;p45"/>
          <p:cNvSpPr txBox="1"/>
          <p:nvPr/>
        </p:nvSpPr>
        <p:spPr>
          <a:xfrm>
            <a:off x="8266175" y="2112264"/>
            <a:ext cx="28072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plot_box</a:t>
            </a:r>
            <a:endParaRPr/>
          </a:p>
        </p:txBody>
      </p:sp>
      <p:sp>
        <p:nvSpPr>
          <p:cNvPr id="1066" name="Google Shape;1066;p45"/>
          <p:cNvSpPr txBox="1"/>
          <p:nvPr/>
        </p:nvSpPr>
        <p:spPr>
          <a:xfrm>
            <a:off x="8266175" y="2633472"/>
            <a:ext cx="2807208" cy="1325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Une boîte par groupe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Comparer centre et dispersion</a:t>
            </a:r>
            <a:endParaRPr/>
          </a:p>
        </p:txBody>
      </p:sp>
      <p:sp>
        <p:nvSpPr>
          <p:cNvPr id="1067" name="Google Shape;1067;p45"/>
          <p:cNvSpPr/>
          <p:nvPr/>
        </p:nvSpPr>
        <p:spPr>
          <a:xfrm>
            <a:off x="1005840" y="4498848"/>
            <a:ext cx="10149840" cy="7315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68" name="Google Shape;1068;p45"/>
          <p:cNvSpPr txBox="1"/>
          <p:nvPr/>
        </p:nvSpPr>
        <p:spPr>
          <a:xfrm>
            <a:off x="1197864" y="4617720"/>
            <a:ext cx="976579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assert all(isinstance(figure, go.Figure) for figure in figures.values())</a:t>
            </a:r>
            <a:endParaRPr/>
          </a:p>
        </p:txBody>
      </p:sp>
      <p:sp>
        <p:nvSpPr>
          <p:cNvPr id="1069" name="Google Shape;1069;p45"/>
          <p:cNvSpPr/>
          <p:nvPr/>
        </p:nvSpPr>
        <p:spPr>
          <a:xfrm>
            <a:off x="704088" y="5586984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70" name="Google Shape;1070;p45"/>
          <p:cNvSpPr txBox="1"/>
          <p:nvPr/>
        </p:nvSpPr>
        <p:spPr>
          <a:xfrm>
            <a:off x="896112" y="5586984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Chaque méthode renvoie une Figure ; le notebook décide quand appeler show().</a:t>
            </a:r>
            <a:endParaRPr/>
          </a:p>
        </p:txBody>
      </p:sp>
      <p:sp>
        <p:nvSpPr>
          <p:cNvPr id="1071" name="Google Shape;1071;p45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72" name="Google Shape;1072;p45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1073" name="Google Shape;1073;p45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45 / 62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6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ATELIER GAUSSIEN · ÉTAPE 9 / 12</a:t>
            </a:r>
            <a:endParaRPr/>
          </a:p>
        </p:txBody>
      </p:sp>
      <p:sp>
        <p:nvSpPr>
          <p:cNvPr id="1079" name="Google Shape;1079;p46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Comparer deux instances indépendantes</a:t>
            </a:r>
            <a:endParaRPr/>
          </a:p>
        </p:txBody>
      </p:sp>
      <p:sp>
        <p:nvSpPr>
          <p:cNvPr id="1080" name="Google Shape;1080;p46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81" name="Google Shape;1081;p46"/>
          <p:cNvSpPr/>
          <p:nvPr/>
        </p:nvSpPr>
        <p:spPr>
          <a:xfrm>
            <a:off x="731520" y="1764792"/>
            <a:ext cx="6035040" cy="3840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82" name="Google Shape;1082;p46"/>
          <p:cNvSpPr txBox="1"/>
          <p:nvPr/>
        </p:nvSpPr>
        <p:spPr>
          <a:xfrm>
            <a:off x="923544" y="1883664"/>
            <a:ext cx="5650992" cy="3593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first = GaussianMixture(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100, 18, 106, 24, weight_a=0.6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second = GaussianMixture(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    100, 18, 106, 30, weight_a=0.3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first.sample(2000, seed=404)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second.sample(2000, seed=404)</a:t>
            </a:r>
            <a:endParaRPr/>
          </a:p>
        </p:txBody>
      </p:sp>
      <p:sp>
        <p:nvSpPr>
          <p:cNvPr id="1083" name="Google Shape;1083;p46"/>
          <p:cNvSpPr/>
          <p:nvPr/>
        </p:nvSpPr>
        <p:spPr>
          <a:xfrm>
            <a:off x="7040880" y="1874519"/>
            <a:ext cx="4224528" cy="1490472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84" name="Google Shape;1084;p46"/>
          <p:cNvSpPr/>
          <p:nvPr/>
        </p:nvSpPr>
        <p:spPr>
          <a:xfrm>
            <a:off x="7040880" y="1874519"/>
            <a:ext cx="50292" cy="149047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85" name="Google Shape;1085;p46"/>
          <p:cNvSpPr txBox="1"/>
          <p:nvPr/>
        </p:nvSpPr>
        <p:spPr>
          <a:xfrm>
            <a:off x="7223760" y="2011679"/>
            <a:ext cx="38587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PRÉDIRE</a:t>
            </a:r>
            <a:endParaRPr/>
          </a:p>
        </p:txBody>
      </p:sp>
      <p:sp>
        <p:nvSpPr>
          <p:cNvPr id="1086" name="Google Shape;1086;p46"/>
          <p:cNvSpPr txBox="1"/>
          <p:nvPr/>
        </p:nvSpPr>
        <p:spPr>
          <a:xfrm>
            <a:off x="7223760" y="2532887"/>
            <a:ext cx="3858768" cy="71323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Combien de lignes A dans first ? dans second ?</a:t>
            </a:r>
            <a:endParaRPr/>
          </a:p>
        </p:txBody>
      </p:sp>
      <p:sp>
        <p:nvSpPr>
          <p:cNvPr id="1087" name="Google Shape;1087;p46"/>
          <p:cNvSpPr/>
          <p:nvPr/>
        </p:nvSpPr>
        <p:spPr>
          <a:xfrm>
            <a:off x="7040880" y="3685032"/>
            <a:ext cx="4224528" cy="1490472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88" name="Google Shape;1088;p46"/>
          <p:cNvSpPr/>
          <p:nvPr/>
        </p:nvSpPr>
        <p:spPr>
          <a:xfrm>
            <a:off x="7040880" y="3685032"/>
            <a:ext cx="50292" cy="1490472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89" name="Google Shape;1089;p46"/>
          <p:cNvSpPr txBox="1"/>
          <p:nvPr/>
        </p:nvSpPr>
        <p:spPr>
          <a:xfrm>
            <a:off x="7223760" y="3822192"/>
            <a:ext cx="38587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EXPLIQUER</a:t>
            </a:r>
            <a:endParaRPr/>
          </a:p>
        </p:txBody>
      </p:sp>
      <p:sp>
        <p:nvSpPr>
          <p:cNvPr id="1090" name="Google Shape;1090;p46"/>
          <p:cNvSpPr txBox="1"/>
          <p:nvPr/>
        </p:nvSpPr>
        <p:spPr>
          <a:xfrm>
            <a:off x="7223760" y="4343400"/>
            <a:ext cx="3858768" cy="71323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Pourquoi first.samples is not second.samples ?</a:t>
            </a:r>
            <a:endParaRPr/>
          </a:p>
        </p:txBody>
      </p:sp>
      <p:sp>
        <p:nvSpPr>
          <p:cNvPr id="1091" name="Google Shape;1091;p46"/>
          <p:cNvSpPr/>
          <p:nvPr/>
        </p:nvSpPr>
        <p:spPr>
          <a:xfrm>
            <a:off x="704088" y="5650992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92" name="Google Shape;1092;p46"/>
          <p:cNvSpPr txBox="1"/>
          <p:nvPr/>
        </p:nvSpPr>
        <p:spPr>
          <a:xfrm>
            <a:off x="896112" y="5650992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Comparer aussi les figures : weight_a change les effectifs ; std_b change la dispersion.</a:t>
            </a:r>
            <a:endParaRPr/>
          </a:p>
        </p:txBody>
      </p:sp>
      <p:sp>
        <p:nvSpPr>
          <p:cNvPr id="1093" name="Google Shape;1093;p46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094" name="Google Shape;1094;p46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1095" name="Google Shape;1095;p46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46 / 62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47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ATELIER GAUSSIEN · ÉTAPE 10 / 12</a:t>
            </a:r>
            <a:endParaRPr/>
          </a:p>
        </p:txBody>
      </p:sp>
      <p:sp>
        <p:nvSpPr>
          <p:cNvPr id="1101" name="Google Shape;1101;p47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Créer le module personnel</a:t>
            </a:r>
            <a:endParaRPr/>
          </a:p>
        </p:txBody>
      </p:sp>
      <p:sp>
        <p:nvSpPr>
          <p:cNvPr id="1102" name="Google Shape;1102;p47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03" name="Google Shape;1103;p47"/>
          <p:cNvSpPr/>
          <p:nvPr/>
        </p:nvSpPr>
        <p:spPr>
          <a:xfrm>
            <a:off x="731520" y="1883664"/>
            <a:ext cx="5102352" cy="2624328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04" name="Google Shape;1104;p47"/>
          <p:cNvSpPr/>
          <p:nvPr/>
        </p:nvSpPr>
        <p:spPr>
          <a:xfrm>
            <a:off x="731520" y="1883664"/>
            <a:ext cx="50292" cy="2624328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05" name="Google Shape;1105;p47"/>
          <p:cNvSpPr txBox="1"/>
          <p:nvPr/>
        </p:nvSpPr>
        <p:spPr>
          <a:xfrm>
            <a:off x="914400" y="2020824"/>
            <a:ext cx="47365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my_gaussian_mixture.py</a:t>
            </a:r>
            <a:endParaRPr/>
          </a:p>
        </p:txBody>
      </p:sp>
      <p:sp>
        <p:nvSpPr>
          <p:cNvPr id="1106" name="Google Shape;1106;p47"/>
          <p:cNvSpPr txBox="1"/>
          <p:nvPr/>
        </p:nvSpPr>
        <p:spPr>
          <a:xfrm>
            <a:off x="914400" y="2542032"/>
            <a:ext cx="4736592" cy="1847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Imports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draw_component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combine_components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GaussianMixture</a:t>
            </a:r>
            <a:endParaRPr/>
          </a:p>
        </p:txBody>
      </p:sp>
      <p:sp>
        <p:nvSpPr>
          <p:cNvPr id="1107" name="Google Shape;1107;p47"/>
          <p:cNvSpPr/>
          <p:nvPr/>
        </p:nvSpPr>
        <p:spPr>
          <a:xfrm>
            <a:off x="6153912" y="1883664"/>
            <a:ext cx="5111496" cy="2624328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08" name="Google Shape;1108;p47"/>
          <p:cNvSpPr/>
          <p:nvPr/>
        </p:nvSpPr>
        <p:spPr>
          <a:xfrm>
            <a:off x="6153912" y="1883664"/>
            <a:ext cx="50292" cy="2624328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09" name="Google Shape;1109;p47"/>
          <p:cNvSpPr txBox="1"/>
          <p:nvPr/>
        </p:nvSpPr>
        <p:spPr>
          <a:xfrm>
            <a:off x="6336792" y="2020824"/>
            <a:ext cx="47457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01_...ipynb</a:t>
            </a:r>
            <a:endParaRPr/>
          </a:p>
        </p:txBody>
      </p:sp>
      <p:sp>
        <p:nvSpPr>
          <p:cNvPr id="1110" name="Google Shape;1110;p47"/>
          <p:cNvSpPr txBox="1"/>
          <p:nvPr/>
        </p:nvSpPr>
        <p:spPr>
          <a:xfrm>
            <a:off x="6336792" y="2542032"/>
            <a:ext cx="4745736" cy="1847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Paramètres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Instances et appels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Figures et interprétation</a:t>
            </a:r>
            <a:endParaRPr/>
          </a:p>
        </p:txBody>
      </p:sp>
      <p:sp>
        <p:nvSpPr>
          <p:cNvPr id="1111" name="Google Shape;1111;p47"/>
          <p:cNvSpPr/>
          <p:nvPr/>
        </p:nvSpPr>
        <p:spPr>
          <a:xfrm>
            <a:off x="1252728" y="4837176"/>
            <a:ext cx="9628632" cy="84124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12" name="Google Shape;1112;p47"/>
          <p:cNvSpPr txBox="1"/>
          <p:nvPr/>
        </p:nvSpPr>
        <p:spPr>
          <a:xfrm>
            <a:off x="1444752" y="4956048"/>
            <a:ext cx="924458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import my_gaussian_mixture as gm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model = gm.GaussianMixture(100, 18, 106, 24)</a:t>
            </a:r>
            <a:endParaRPr/>
          </a:p>
        </p:txBody>
      </p:sp>
      <p:sp>
        <p:nvSpPr>
          <p:cNvPr id="1113" name="Google Shape;1113;p47"/>
          <p:cNvSpPr/>
          <p:nvPr/>
        </p:nvSpPr>
        <p:spPr>
          <a:xfrm>
            <a:off x="704088" y="5724144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14" name="Google Shape;1114;p47"/>
          <p:cNvSpPr txBox="1"/>
          <p:nvPr/>
        </p:nvSpPr>
        <p:spPr>
          <a:xfrm>
            <a:off x="896112" y="5724144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Ne pas copier les données d’essai ni les appels figure.show() dans le module.</a:t>
            </a:r>
            <a:endParaRPr/>
          </a:p>
        </p:txBody>
      </p:sp>
      <p:sp>
        <p:nvSpPr>
          <p:cNvPr id="1115" name="Google Shape;1115;p47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16" name="Google Shape;1116;p47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1117" name="Google Shape;1117;p47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47 / 62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48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ATELIER GAUSSIEN · ÉTAPE 11 / 12</a:t>
            </a:r>
            <a:endParaRPr/>
          </a:p>
        </p:txBody>
      </p:sp>
      <p:sp>
        <p:nvSpPr>
          <p:cNvPr id="1123" name="Google Shape;1123;p48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Tester un import dans un noyau neuf</a:t>
            </a:r>
            <a:endParaRPr/>
          </a:p>
        </p:txBody>
      </p:sp>
      <p:sp>
        <p:nvSpPr>
          <p:cNvPr id="1124" name="Google Shape;1124;p48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25" name="Google Shape;1125;p48"/>
          <p:cNvSpPr/>
          <p:nvPr/>
        </p:nvSpPr>
        <p:spPr>
          <a:xfrm>
            <a:off x="731520" y="1883664"/>
            <a:ext cx="2423160" cy="14173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26" name="Google Shape;1126;p48"/>
          <p:cNvSpPr/>
          <p:nvPr/>
        </p:nvSpPr>
        <p:spPr>
          <a:xfrm>
            <a:off x="731520" y="1883664"/>
            <a:ext cx="50292" cy="141732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27" name="Google Shape;1127;p48"/>
          <p:cNvSpPr txBox="1"/>
          <p:nvPr/>
        </p:nvSpPr>
        <p:spPr>
          <a:xfrm>
            <a:off x="914400" y="2020824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28" name="Google Shape;1128;p48"/>
          <p:cNvSpPr txBox="1"/>
          <p:nvPr/>
        </p:nvSpPr>
        <p:spPr>
          <a:xfrm>
            <a:off x="914400" y="2542032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Enregistrer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 module</a:t>
            </a:r>
            <a:endParaRPr/>
          </a:p>
        </p:txBody>
      </p:sp>
      <p:sp>
        <p:nvSpPr>
          <p:cNvPr id="1129" name="Google Shape;1129;p48"/>
          <p:cNvSpPr/>
          <p:nvPr/>
        </p:nvSpPr>
        <p:spPr>
          <a:xfrm>
            <a:off x="3502152" y="1883664"/>
            <a:ext cx="2423160" cy="14173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30" name="Google Shape;1130;p48"/>
          <p:cNvSpPr/>
          <p:nvPr/>
        </p:nvSpPr>
        <p:spPr>
          <a:xfrm>
            <a:off x="3502152" y="1883664"/>
            <a:ext cx="50292" cy="141732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31" name="Google Shape;1131;p48"/>
          <p:cNvSpPr txBox="1"/>
          <p:nvPr/>
        </p:nvSpPr>
        <p:spPr>
          <a:xfrm>
            <a:off x="3685032" y="2020824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32" name="Google Shape;1132;p48"/>
          <p:cNvSpPr txBox="1"/>
          <p:nvPr/>
        </p:nvSpPr>
        <p:spPr>
          <a:xfrm>
            <a:off x="3685032" y="2542032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Redémarrer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 noyau</a:t>
            </a:r>
            <a:endParaRPr/>
          </a:p>
        </p:txBody>
      </p:sp>
      <p:sp>
        <p:nvSpPr>
          <p:cNvPr id="1133" name="Google Shape;1133;p48"/>
          <p:cNvSpPr/>
          <p:nvPr/>
        </p:nvSpPr>
        <p:spPr>
          <a:xfrm>
            <a:off x="6272783" y="1883664"/>
            <a:ext cx="2423160" cy="14173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34" name="Google Shape;1134;p48"/>
          <p:cNvSpPr/>
          <p:nvPr/>
        </p:nvSpPr>
        <p:spPr>
          <a:xfrm>
            <a:off x="6272783" y="1883664"/>
            <a:ext cx="50292" cy="141732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35" name="Google Shape;1135;p48"/>
          <p:cNvSpPr txBox="1"/>
          <p:nvPr/>
        </p:nvSpPr>
        <p:spPr>
          <a:xfrm>
            <a:off x="6455664" y="2020824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36" name="Google Shape;1136;p48"/>
          <p:cNvSpPr txBox="1"/>
          <p:nvPr/>
        </p:nvSpPr>
        <p:spPr>
          <a:xfrm>
            <a:off x="6455664" y="2542032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Tout exécuter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dans l’ordre</a:t>
            </a:r>
            <a:endParaRPr/>
          </a:p>
        </p:txBody>
      </p:sp>
      <p:sp>
        <p:nvSpPr>
          <p:cNvPr id="1137" name="Google Shape;1137;p48"/>
          <p:cNvSpPr/>
          <p:nvPr/>
        </p:nvSpPr>
        <p:spPr>
          <a:xfrm>
            <a:off x="9043416" y="1883664"/>
            <a:ext cx="2423160" cy="14173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38" name="Google Shape;1138;p48"/>
          <p:cNvSpPr/>
          <p:nvPr/>
        </p:nvSpPr>
        <p:spPr>
          <a:xfrm>
            <a:off x="9043416" y="1883664"/>
            <a:ext cx="50292" cy="141732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39" name="Google Shape;1139;p48"/>
          <p:cNvSpPr txBox="1"/>
          <p:nvPr/>
        </p:nvSpPr>
        <p:spPr>
          <a:xfrm>
            <a:off x="9226296" y="2020824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140" name="Google Shape;1140;p48"/>
          <p:cNvSpPr txBox="1"/>
          <p:nvPr/>
        </p:nvSpPr>
        <p:spPr>
          <a:xfrm>
            <a:off x="9226296" y="2542032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Contrôler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gm.__file__</a:t>
            </a:r>
            <a:endParaRPr/>
          </a:p>
        </p:txBody>
      </p:sp>
      <p:sp>
        <p:nvSpPr>
          <p:cNvPr id="1141" name="Google Shape;1141;p48"/>
          <p:cNvSpPr/>
          <p:nvPr/>
        </p:nvSpPr>
        <p:spPr>
          <a:xfrm>
            <a:off x="960120" y="3813048"/>
            <a:ext cx="10268712" cy="1554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42" name="Google Shape;1142;p48"/>
          <p:cNvSpPr txBox="1"/>
          <p:nvPr/>
        </p:nvSpPr>
        <p:spPr>
          <a:xfrm>
            <a:off x="1152144" y="3931920"/>
            <a:ext cx="9884664" cy="1307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assert imported_sample.shape == (2000, 2)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assert isinstance(imported.plot_components(), go.Figure)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print("Imported from:", gm.__file__)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print("Module validé:", module_build_ok)</a:t>
            </a:r>
            <a:endParaRPr/>
          </a:p>
        </p:txBody>
      </p:sp>
      <p:sp>
        <p:nvSpPr>
          <p:cNvPr id="1143" name="Google Shape;1143;p48"/>
          <p:cNvSpPr/>
          <p:nvPr/>
        </p:nvSpPr>
        <p:spPr>
          <a:xfrm>
            <a:off x="704088" y="5669280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44" name="Google Shape;1144;p48"/>
          <p:cNvSpPr txBox="1"/>
          <p:nvPr/>
        </p:nvSpPr>
        <p:spPr>
          <a:xfrm>
            <a:off x="896112" y="5669280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Un import répété dans un noyau actif peut conserver une ancienne définition.</a:t>
            </a:r>
            <a:endParaRPr/>
          </a:p>
        </p:txBody>
      </p:sp>
      <p:sp>
        <p:nvSpPr>
          <p:cNvPr id="1145" name="Google Shape;1145;p48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46" name="Google Shape;1146;p48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1147" name="Google Shape;1147;p48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48 / 62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49"/>
          <p:cNvSpPr txBox="1"/>
          <p:nvPr/>
        </p:nvSpPr>
        <p:spPr>
          <a:xfrm>
            <a:off x="658368" y="2468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ATELIER GAUSSIEN · ÉTAPE 12 / 12</a:t>
            </a:r>
            <a:endParaRPr/>
          </a:p>
        </p:txBody>
      </p:sp>
      <p:sp>
        <p:nvSpPr>
          <p:cNvPr id="1153" name="Google Shape;1153;p49"/>
          <p:cNvSpPr txBox="1"/>
          <p:nvPr/>
        </p:nvSpPr>
        <p:spPr>
          <a:xfrm>
            <a:off x="658368" y="667512"/>
            <a:ext cx="108996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Défendre l’architecture obtenue</a:t>
            </a:r>
            <a:endParaRPr/>
          </a:p>
        </p:txBody>
      </p:sp>
      <p:sp>
        <p:nvSpPr>
          <p:cNvPr id="1154" name="Google Shape;1154;p49"/>
          <p:cNvSpPr/>
          <p:nvPr/>
        </p:nvSpPr>
        <p:spPr>
          <a:xfrm>
            <a:off x="658368" y="1508760"/>
            <a:ext cx="10872216" cy="228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55" name="Google Shape;1155;p49"/>
          <p:cNvSpPr/>
          <p:nvPr/>
        </p:nvSpPr>
        <p:spPr>
          <a:xfrm>
            <a:off x="731520" y="1847088"/>
            <a:ext cx="5166360" cy="12801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56" name="Google Shape;1156;p49"/>
          <p:cNvSpPr/>
          <p:nvPr/>
        </p:nvSpPr>
        <p:spPr>
          <a:xfrm>
            <a:off x="731520" y="1847088"/>
            <a:ext cx="50292" cy="128016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57" name="Google Shape;1157;p49"/>
          <p:cNvSpPr txBox="1"/>
          <p:nvPr/>
        </p:nvSpPr>
        <p:spPr>
          <a:xfrm>
            <a:off x="914400" y="1984248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FONCTIONS</a:t>
            </a:r>
            <a:endParaRPr/>
          </a:p>
        </p:txBody>
      </p:sp>
      <p:sp>
        <p:nvSpPr>
          <p:cNvPr id="1158" name="Google Shape;1158;p49"/>
          <p:cNvSpPr txBox="1"/>
          <p:nvPr/>
        </p:nvSpPr>
        <p:spPr>
          <a:xfrm>
            <a:off x="914400" y="2505456"/>
            <a:ext cx="4800600" cy="502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Deux contrats testés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sans affichage caché</a:t>
            </a:r>
            <a:endParaRPr/>
          </a:p>
        </p:txBody>
      </p:sp>
      <p:sp>
        <p:nvSpPr>
          <p:cNvPr id="1159" name="Google Shape;1159;p49"/>
          <p:cNvSpPr/>
          <p:nvPr/>
        </p:nvSpPr>
        <p:spPr>
          <a:xfrm>
            <a:off x="6236207" y="1847088"/>
            <a:ext cx="5166360" cy="12801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60" name="Google Shape;1160;p49"/>
          <p:cNvSpPr/>
          <p:nvPr/>
        </p:nvSpPr>
        <p:spPr>
          <a:xfrm>
            <a:off x="6236207" y="1847088"/>
            <a:ext cx="50292" cy="128016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61" name="Google Shape;1161;p49"/>
          <p:cNvSpPr txBox="1"/>
          <p:nvPr/>
        </p:nvSpPr>
        <p:spPr>
          <a:xfrm>
            <a:off x="6419088" y="1984248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CLASSE</a:t>
            </a:r>
            <a:endParaRPr/>
          </a:p>
        </p:txBody>
      </p:sp>
      <p:sp>
        <p:nvSpPr>
          <p:cNvPr id="1162" name="Google Shape;1162;p49"/>
          <p:cNvSpPr txBox="1"/>
          <p:nvPr/>
        </p:nvSpPr>
        <p:spPr>
          <a:xfrm>
            <a:off x="6419088" y="2505456"/>
            <a:ext cx="4800600" cy="502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État explicite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échantillon contrôlé</a:t>
            </a:r>
            <a:endParaRPr/>
          </a:p>
        </p:txBody>
      </p:sp>
      <p:sp>
        <p:nvSpPr>
          <p:cNvPr id="1163" name="Google Shape;1163;p49"/>
          <p:cNvSpPr/>
          <p:nvPr/>
        </p:nvSpPr>
        <p:spPr>
          <a:xfrm>
            <a:off x="731520" y="3419856"/>
            <a:ext cx="5166360" cy="12801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64" name="Google Shape;1164;p49"/>
          <p:cNvSpPr/>
          <p:nvPr/>
        </p:nvSpPr>
        <p:spPr>
          <a:xfrm>
            <a:off x="731520" y="3419856"/>
            <a:ext cx="50292" cy="128016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65" name="Google Shape;1165;p49"/>
          <p:cNvSpPr txBox="1"/>
          <p:nvPr/>
        </p:nvSpPr>
        <p:spPr>
          <a:xfrm>
            <a:off x="914400" y="3557016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FIGURES</a:t>
            </a:r>
            <a:endParaRPr/>
          </a:p>
        </p:txBody>
      </p:sp>
      <p:sp>
        <p:nvSpPr>
          <p:cNvPr id="1166" name="Google Shape;1166;p49"/>
          <p:cNvSpPr txBox="1"/>
          <p:nvPr/>
        </p:nvSpPr>
        <p:spPr>
          <a:xfrm>
            <a:off x="914400" y="4078224"/>
            <a:ext cx="4800600" cy="502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Trois objets Figure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renvoyés au notebook</a:t>
            </a:r>
            <a:endParaRPr/>
          </a:p>
        </p:txBody>
      </p:sp>
      <p:sp>
        <p:nvSpPr>
          <p:cNvPr id="1167" name="Google Shape;1167;p49"/>
          <p:cNvSpPr/>
          <p:nvPr/>
        </p:nvSpPr>
        <p:spPr>
          <a:xfrm>
            <a:off x="6236207" y="3419856"/>
            <a:ext cx="5166360" cy="12801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68" name="Google Shape;1168;p49"/>
          <p:cNvSpPr/>
          <p:nvPr/>
        </p:nvSpPr>
        <p:spPr>
          <a:xfrm>
            <a:off x="6236207" y="3419856"/>
            <a:ext cx="50292" cy="128016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69" name="Google Shape;1169;p49"/>
          <p:cNvSpPr txBox="1"/>
          <p:nvPr/>
        </p:nvSpPr>
        <p:spPr>
          <a:xfrm>
            <a:off x="6419088" y="3557016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/>
          </a:p>
        </p:txBody>
      </p:sp>
      <p:sp>
        <p:nvSpPr>
          <p:cNvPr id="1170" name="Google Shape;1170;p49"/>
          <p:cNvSpPr txBox="1"/>
          <p:nvPr/>
        </p:nvSpPr>
        <p:spPr>
          <a:xfrm>
            <a:off x="6419088" y="4078224"/>
            <a:ext cx="4800600" cy="502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Import neuf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et chemin vérifié</a:t>
            </a:r>
            <a:endParaRPr/>
          </a:p>
        </p:txBody>
      </p:sp>
      <p:sp>
        <p:nvSpPr>
          <p:cNvPr id="1171" name="Google Shape;1171;p49"/>
          <p:cNvSpPr/>
          <p:nvPr/>
        </p:nvSpPr>
        <p:spPr>
          <a:xfrm>
            <a:off x="704088" y="5230368"/>
            <a:ext cx="50292" cy="621792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72" name="Google Shape;1172;p49"/>
          <p:cNvSpPr txBox="1"/>
          <p:nvPr/>
        </p:nvSpPr>
        <p:spPr>
          <a:xfrm>
            <a:off x="896112" y="5230368"/>
            <a:ext cx="10561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À expliquer : qui crée self.samples, pourquoi renvoyer les figures, quel fichier modifier ?</a:t>
            </a:r>
            <a:endParaRPr/>
          </a:p>
        </p:txBody>
      </p:sp>
      <p:sp>
        <p:nvSpPr>
          <p:cNvPr id="1173" name="Google Shape;1173;p49"/>
          <p:cNvSpPr/>
          <p:nvPr/>
        </p:nvSpPr>
        <p:spPr>
          <a:xfrm>
            <a:off x="658368" y="6382512"/>
            <a:ext cx="10863072" cy="16459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174" name="Google Shape;1174;p49"/>
          <p:cNvSpPr txBox="1"/>
          <p:nvPr/>
        </p:nvSpPr>
        <p:spPr>
          <a:xfrm>
            <a:off x="667512" y="64465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/>
          </a:p>
        </p:txBody>
      </p:sp>
      <p:sp>
        <p:nvSpPr>
          <p:cNvPr id="1175" name="Google Shape;1175;p49"/>
          <p:cNvSpPr txBox="1"/>
          <p:nvPr/>
        </p:nvSpPr>
        <p:spPr>
          <a:xfrm>
            <a:off x="10625328" y="6437376"/>
            <a:ext cx="8961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9125" spcFirstLastPara="1" rIns="91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49 / 62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50"/>
          <p:cNvSpPr/>
          <p:nvPr/>
        </p:nvSpPr>
        <p:spPr>
          <a:xfrm>
            <a:off x="749880" y="777240"/>
            <a:ext cx="996624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PARTIE IV · B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50"/>
          <p:cNvSpPr/>
          <p:nvPr/>
        </p:nvSpPr>
        <p:spPr>
          <a:xfrm>
            <a:off x="749880" y="1508760"/>
            <a:ext cx="749160" cy="5868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14400" lIns="90000" spcFirstLastPara="1" rIns="90000" wrap="square" tIns="14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50"/>
          <p:cNvSpPr/>
          <p:nvPr/>
        </p:nvSpPr>
        <p:spPr>
          <a:xfrm>
            <a:off x="749880" y="1828800"/>
            <a:ext cx="10697760" cy="123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Fonctions et paquets</a:t>
            </a:r>
            <a:endParaRPr b="0" i="0" sz="4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50"/>
          <p:cNvSpPr/>
          <p:nvPr/>
        </p:nvSpPr>
        <p:spPr>
          <a:xfrm>
            <a:off x="749880" y="4023360"/>
            <a:ext cx="10514880" cy="1096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Lire les données, interpréter les types et choisir l’opération adaptée.</a:t>
            </a:r>
            <a:endParaRPr b="0" i="0" sz="2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50"/>
          <p:cNvSpPr/>
          <p:nvPr/>
        </p:nvSpPr>
        <p:spPr>
          <a:xfrm>
            <a:off x="658440" y="6382440"/>
            <a:ext cx="10862280" cy="15840"/>
          </a:xfrm>
          <a:prstGeom prst="rect">
            <a:avLst/>
          </a:prstGeom>
          <a:solidFill>
            <a:srgbClr val="557086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50"/>
          <p:cNvSpPr/>
          <p:nvPr/>
        </p:nvSpPr>
        <p:spPr>
          <a:xfrm>
            <a:off x="667440" y="6446520"/>
            <a:ext cx="85946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50"/>
          <p:cNvSpPr/>
          <p:nvPr/>
        </p:nvSpPr>
        <p:spPr>
          <a:xfrm>
            <a:off x="10625400" y="6437520"/>
            <a:ext cx="895320" cy="24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50 / 62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51"/>
          <p:cNvSpPr/>
          <p:nvPr/>
        </p:nvSpPr>
        <p:spPr>
          <a:xfrm>
            <a:off x="658440" y="246960"/>
            <a:ext cx="9874080" cy="29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FONCTIONS ET PAQUETS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51"/>
          <p:cNvSpPr/>
          <p:nvPr/>
        </p:nvSpPr>
        <p:spPr>
          <a:xfrm>
            <a:off x="658440" y="667440"/>
            <a:ext cx="10898280" cy="75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read_csv : du texte CSV au tableau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51"/>
          <p:cNvSpPr/>
          <p:nvPr/>
        </p:nvSpPr>
        <p:spPr>
          <a:xfrm>
            <a:off x="658440" y="1508760"/>
            <a:ext cx="1087092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51"/>
          <p:cNvSpPr/>
          <p:nvPr/>
        </p:nvSpPr>
        <p:spPr>
          <a:xfrm>
            <a:off x="694800" y="1856160"/>
            <a:ext cx="10788480" cy="1617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51"/>
          <p:cNvSpPr/>
          <p:nvPr/>
        </p:nvSpPr>
        <p:spPr>
          <a:xfrm>
            <a:off x="887040" y="1974960"/>
            <a:ext cx="10404360" cy="137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from io import StringIO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import pandas as pd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csv_text = "id,value\n001,30\n002,NA\n003,\n"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frame = pd.read_csv(StringIO(csv_text))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51"/>
          <p:cNvSpPr/>
          <p:nvPr/>
        </p:nvSpPr>
        <p:spPr>
          <a:xfrm>
            <a:off x="722520" y="3675960"/>
            <a:ext cx="5164920" cy="15530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51"/>
          <p:cNvSpPr/>
          <p:nvPr/>
        </p:nvSpPr>
        <p:spPr>
          <a:xfrm>
            <a:off x="722520" y="3675960"/>
            <a:ext cx="48960" cy="15530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51"/>
          <p:cNvSpPr/>
          <p:nvPr/>
        </p:nvSpPr>
        <p:spPr>
          <a:xfrm>
            <a:off x="905400" y="3813120"/>
            <a:ext cx="4799160" cy="41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StringIO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51"/>
          <p:cNvSpPr/>
          <p:nvPr/>
        </p:nvSpPr>
        <p:spPr>
          <a:xfrm>
            <a:off x="905400" y="4334400"/>
            <a:ext cx="4799160" cy="7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Présente une chaîne comme un flux de texte.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51"/>
          <p:cNvSpPr/>
          <p:nvPr/>
        </p:nvSpPr>
        <p:spPr>
          <a:xfrm>
            <a:off x="6144840" y="3675960"/>
            <a:ext cx="5183280" cy="15530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51"/>
          <p:cNvSpPr/>
          <p:nvPr/>
        </p:nvSpPr>
        <p:spPr>
          <a:xfrm>
            <a:off x="6144840" y="3675960"/>
            <a:ext cx="48960" cy="1553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51"/>
          <p:cNvSpPr/>
          <p:nvPr/>
        </p:nvSpPr>
        <p:spPr>
          <a:xfrm>
            <a:off x="6327720" y="3813120"/>
            <a:ext cx="4817520" cy="41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pd.read_csv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51"/>
          <p:cNvSpPr/>
          <p:nvPr/>
        </p:nvSpPr>
        <p:spPr>
          <a:xfrm>
            <a:off x="6327720" y="4334400"/>
            <a:ext cx="4817520" cy="7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Interprète séparateur, types et marqueurs manquants.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51"/>
          <p:cNvSpPr/>
          <p:nvPr/>
        </p:nvSpPr>
        <p:spPr>
          <a:xfrm>
            <a:off x="704160" y="5669280"/>
            <a:ext cx="48960" cy="62028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51"/>
          <p:cNvSpPr/>
          <p:nvPr/>
        </p:nvSpPr>
        <p:spPr>
          <a:xfrm>
            <a:off x="896040" y="5669280"/>
            <a:ext cx="10559880" cy="62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Notebook 02 : comparer les valeurs ET les dtypes après chaque lecture.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51"/>
          <p:cNvSpPr/>
          <p:nvPr/>
        </p:nvSpPr>
        <p:spPr>
          <a:xfrm>
            <a:off x="658440" y="6382440"/>
            <a:ext cx="10861560" cy="151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51"/>
          <p:cNvSpPr/>
          <p:nvPr/>
        </p:nvSpPr>
        <p:spPr>
          <a:xfrm>
            <a:off x="667440" y="6446520"/>
            <a:ext cx="8593920" cy="22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51"/>
          <p:cNvSpPr/>
          <p:nvPr/>
        </p:nvSpPr>
        <p:spPr>
          <a:xfrm>
            <a:off x="10625400" y="6437520"/>
            <a:ext cx="8946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51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52"/>
          <p:cNvSpPr/>
          <p:nvPr/>
        </p:nvSpPr>
        <p:spPr>
          <a:xfrm>
            <a:off x="658440" y="246960"/>
            <a:ext cx="98744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FONCTIONS ET PAQUETS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52"/>
          <p:cNvSpPr/>
          <p:nvPr/>
        </p:nvSpPr>
        <p:spPr>
          <a:xfrm>
            <a:off x="658440" y="667440"/>
            <a:ext cx="1089864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dtype : préserver le sens d’une colonne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52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52"/>
          <p:cNvSpPr/>
          <p:nvPr/>
        </p:nvSpPr>
        <p:spPr>
          <a:xfrm>
            <a:off x="786240" y="1865520"/>
            <a:ext cx="10514520" cy="68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Un identifiant comme 001 doit conserver ses zéros.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52"/>
          <p:cNvSpPr/>
          <p:nvPr/>
        </p:nvSpPr>
        <p:spPr>
          <a:xfrm>
            <a:off x="694800" y="2779920"/>
            <a:ext cx="10788840" cy="23032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52"/>
          <p:cNvSpPr/>
          <p:nvPr/>
        </p:nvSpPr>
        <p:spPr>
          <a:xfrm>
            <a:off x="887040" y="2898720"/>
            <a:ext cx="10404720" cy="205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frame = pd.read_csv(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StringIO(csv_text),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dtype={"id": "string", "value": "Float64"}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52"/>
          <p:cNvSpPr/>
          <p:nvPr/>
        </p:nvSpPr>
        <p:spPr>
          <a:xfrm>
            <a:off x="704160" y="5568840"/>
            <a:ext cx="49320" cy="62064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52"/>
          <p:cNvSpPr/>
          <p:nvPr/>
        </p:nvSpPr>
        <p:spPr>
          <a:xfrm>
            <a:off x="896040" y="5568840"/>
            <a:ext cx="10560240" cy="6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Déclarer un type évite une inférence indésirable.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52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52"/>
          <p:cNvSpPr/>
          <p:nvPr/>
        </p:nvSpPr>
        <p:spPr>
          <a:xfrm>
            <a:off x="667440" y="6446520"/>
            <a:ext cx="8594280" cy="22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52"/>
          <p:cNvSpPr/>
          <p:nvPr/>
        </p:nvSpPr>
        <p:spPr>
          <a:xfrm>
            <a:off x="10625400" y="6437520"/>
            <a:ext cx="89496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52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53"/>
          <p:cNvSpPr/>
          <p:nvPr/>
        </p:nvSpPr>
        <p:spPr>
          <a:xfrm>
            <a:off x="658440" y="246960"/>
            <a:ext cx="98744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FONCTIONS ET PAQUETS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53"/>
          <p:cNvSpPr/>
          <p:nvPr/>
        </p:nvSpPr>
        <p:spPr>
          <a:xfrm>
            <a:off x="658440" y="667440"/>
            <a:ext cx="1089864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Déclarer les textes qui signifient « manquant »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53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53"/>
          <p:cNvSpPr/>
          <p:nvPr/>
        </p:nvSpPr>
        <p:spPr>
          <a:xfrm>
            <a:off x="694800" y="2075760"/>
            <a:ext cx="10788840" cy="27147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53"/>
          <p:cNvSpPr/>
          <p:nvPr/>
        </p:nvSpPr>
        <p:spPr>
          <a:xfrm>
            <a:off x="887040" y="2194560"/>
            <a:ext cx="10404720" cy="24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pd.read_csv(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StringIO(csv_text),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keep_default_na=False,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na_values={"value": ["", "NA"]}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53"/>
          <p:cNvSpPr/>
          <p:nvPr/>
        </p:nvSpPr>
        <p:spPr>
          <a:xfrm>
            <a:off x="704160" y="5495400"/>
            <a:ext cx="49320" cy="62064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53"/>
          <p:cNvSpPr/>
          <p:nvPr/>
        </p:nvSpPr>
        <p:spPr>
          <a:xfrm>
            <a:off x="896040" y="5495400"/>
            <a:ext cx="10560240" cy="6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Ici, seuls les marqueurs déclarés deviennent des valeurs manquantes.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53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53"/>
          <p:cNvSpPr/>
          <p:nvPr/>
        </p:nvSpPr>
        <p:spPr>
          <a:xfrm>
            <a:off x="667440" y="6446520"/>
            <a:ext cx="8594280" cy="22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53"/>
          <p:cNvSpPr/>
          <p:nvPr/>
        </p:nvSpPr>
        <p:spPr>
          <a:xfrm>
            <a:off x="10625400" y="6437520"/>
            <a:ext cx="89496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53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54"/>
          <p:cNvSpPr/>
          <p:nvPr/>
        </p:nvSpPr>
        <p:spPr>
          <a:xfrm>
            <a:off x="658440" y="246960"/>
            <a:ext cx="98744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FONCTIONS ET PAQUETS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54"/>
          <p:cNvSpPr/>
          <p:nvPr/>
        </p:nvSpPr>
        <p:spPr>
          <a:xfrm>
            <a:off x="658440" y="667440"/>
            <a:ext cx="1089864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type décrit l’objet ; dtype décrit la colonne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54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54"/>
          <p:cNvSpPr/>
          <p:nvPr/>
        </p:nvSpPr>
        <p:spPr>
          <a:xfrm>
            <a:off x="777240" y="2221920"/>
            <a:ext cx="5073840" cy="23490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54"/>
          <p:cNvSpPr/>
          <p:nvPr/>
        </p:nvSpPr>
        <p:spPr>
          <a:xfrm>
            <a:off x="777240" y="2221920"/>
            <a:ext cx="49320" cy="234900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54"/>
          <p:cNvSpPr/>
          <p:nvPr/>
        </p:nvSpPr>
        <p:spPr>
          <a:xfrm>
            <a:off x="960120" y="2359080"/>
            <a:ext cx="470808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OBJET PYTHON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54"/>
          <p:cNvSpPr/>
          <p:nvPr/>
        </p:nvSpPr>
        <p:spPr>
          <a:xfrm>
            <a:off x="960120" y="2880360"/>
            <a:ext cx="4708080" cy="157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type(frame) → DataFrame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type(frame["value"]) → Series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54"/>
          <p:cNvSpPr/>
          <p:nvPr/>
        </p:nvSpPr>
        <p:spPr>
          <a:xfrm>
            <a:off x="6099120" y="2221920"/>
            <a:ext cx="5073840" cy="23490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54"/>
          <p:cNvSpPr/>
          <p:nvPr/>
        </p:nvSpPr>
        <p:spPr>
          <a:xfrm>
            <a:off x="6099120" y="2221920"/>
            <a:ext cx="49320" cy="234900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54"/>
          <p:cNvSpPr/>
          <p:nvPr/>
        </p:nvSpPr>
        <p:spPr>
          <a:xfrm>
            <a:off x="6282000" y="2359080"/>
            <a:ext cx="470808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TYPE DES VALEURS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54"/>
          <p:cNvSpPr/>
          <p:nvPr/>
        </p:nvSpPr>
        <p:spPr>
          <a:xfrm>
            <a:off x="6282000" y="2880360"/>
            <a:ext cx="4708080" cy="157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frame["value"].dtype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→ Float64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54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54"/>
          <p:cNvSpPr/>
          <p:nvPr/>
        </p:nvSpPr>
        <p:spPr>
          <a:xfrm>
            <a:off x="667440" y="6446520"/>
            <a:ext cx="8594280" cy="22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54"/>
          <p:cNvSpPr/>
          <p:nvPr/>
        </p:nvSpPr>
        <p:spPr>
          <a:xfrm>
            <a:off x="10625400" y="6437520"/>
            <a:ext cx="89496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54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55"/>
          <p:cNvSpPr/>
          <p:nvPr/>
        </p:nvSpPr>
        <p:spPr>
          <a:xfrm>
            <a:off x="658440" y="246960"/>
            <a:ext cx="98744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FONCTIONS ET PAQUETS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55"/>
          <p:cNvSpPr/>
          <p:nvPr/>
        </p:nvSpPr>
        <p:spPr>
          <a:xfrm>
            <a:off x="658440" y="667440"/>
            <a:ext cx="1089864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Une valeur manquante n’est pas zéro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55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55"/>
          <p:cNvSpPr/>
          <p:nvPr/>
        </p:nvSpPr>
        <p:spPr>
          <a:xfrm>
            <a:off x="795600" y="2286000"/>
            <a:ext cx="3199320" cy="18093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55"/>
          <p:cNvSpPr/>
          <p:nvPr/>
        </p:nvSpPr>
        <p:spPr>
          <a:xfrm>
            <a:off x="795600" y="2286000"/>
            <a:ext cx="49320" cy="180936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55"/>
          <p:cNvSpPr/>
          <p:nvPr/>
        </p:nvSpPr>
        <p:spPr>
          <a:xfrm>
            <a:off x="978480" y="2423160"/>
            <a:ext cx="283356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float64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55"/>
          <p:cNvSpPr/>
          <p:nvPr/>
        </p:nvSpPr>
        <p:spPr>
          <a:xfrm>
            <a:off x="978480" y="2944440"/>
            <a:ext cx="2833560" cy="103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NaN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55"/>
          <p:cNvSpPr/>
          <p:nvPr/>
        </p:nvSpPr>
        <p:spPr>
          <a:xfrm>
            <a:off x="4489560" y="2286000"/>
            <a:ext cx="3199320" cy="18093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55"/>
          <p:cNvSpPr/>
          <p:nvPr/>
        </p:nvSpPr>
        <p:spPr>
          <a:xfrm>
            <a:off x="4489560" y="2286000"/>
            <a:ext cx="49320" cy="180936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55"/>
          <p:cNvSpPr/>
          <p:nvPr/>
        </p:nvSpPr>
        <p:spPr>
          <a:xfrm>
            <a:off x="4672440" y="2423160"/>
            <a:ext cx="283356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Int64 / Float64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55"/>
          <p:cNvSpPr/>
          <p:nvPr/>
        </p:nvSpPr>
        <p:spPr>
          <a:xfrm>
            <a:off x="4672440" y="2944440"/>
            <a:ext cx="2833560" cy="103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pd.NA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55"/>
          <p:cNvSpPr/>
          <p:nvPr/>
        </p:nvSpPr>
        <p:spPr>
          <a:xfrm>
            <a:off x="8183880" y="2286000"/>
            <a:ext cx="3199320" cy="180936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55"/>
          <p:cNvSpPr/>
          <p:nvPr/>
        </p:nvSpPr>
        <p:spPr>
          <a:xfrm>
            <a:off x="8183880" y="2286000"/>
            <a:ext cx="49320" cy="1809360"/>
          </a:xfrm>
          <a:prstGeom prst="rect">
            <a:avLst/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55"/>
          <p:cNvSpPr/>
          <p:nvPr/>
        </p:nvSpPr>
        <p:spPr>
          <a:xfrm>
            <a:off x="8366760" y="2423160"/>
            <a:ext cx="283356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dates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55"/>
          <p:cNvSpPr/>
          <p:nvPr/>
        </p:nvSpPr>
        <p:spPr>
          <a:xfrm>
            <a:off x="8366760" y="2944440"/>
            <a:ext cx="2833560" cy="103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NaT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55"/>
          <p:cNvSpPr/>
          <p:nvPr/>
        </p:nvSpPr>
        <p:spPr>
          <a:xfrm>
            <a:off x="704160" y="5148000"/>
            <a:ext cx="49320" cy="62064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55"/>
          <p:cNvSpPr/>
          <p:nvPr/>
        </p:nvSpPr>
        <p:spPr>
          <a:xfrm>
            <a:off x="896040" y="5148000"/>
            <a:ext cx="10560240" cy="6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Zéro est observé. Une valeur manquante modifie le dénominateur.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55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55"/>
          <p:cNvSpPr/>
          <p:nvPr/>
        </p:nvSpPr>
        <p:spPr>
          <a:xfrm>
            <a:off x="667440" y="6446520"/>
            <a:ext cx="8594280" cy="22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55"/>
          <p:cNvSpPr/>
          <p:nvPr/>
        </p:nvSpPr>
        <p:spPr>
          <a:xfrm>
            <a:off x="10625400" y="6437520"/>
            <a:ext cx="89496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55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56"/>
          <p:cNvSpPr/>
          <p:nvPr/>
        </p:nvSpPr>
        <p:spPr>
          <a:xfrm>
            <a:off x="658440" y="246960"/>
            <a:ext cx="9874080" cy="29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FONCTIONS ET PAQUETS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56"/>
          <p:cNvSpPr/>
          <p:nvPr/>
        </p:nvSpPr>
        <p:spPr>
          <a:xfrm>
            <a:off x="658440" y="667440"/>
            <a:ext cx="10898280" cy="75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NumPy et pandas : quels objets calculent ?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56"/>
          <p:cNvSpPr/>
          <p:nvPr/>
        </p:nvSpPr>
        <p:spPr>
          <a:xfrm>
            <a:off x="658440" y="1508760"/>
            <a:ext cx="1087092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56"/>
          <p:cNvSpPr/>
          <p:nvPr/>
        </p:nvSpPr>
        <p:spPr>
          <a:xfrm>
            <a:off x="694800" y="1865520"/>
            <a:ext cx="10788480" cy="2193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56"/>
          <p:cNvSpPr/>
          <p:nvPr/>
        </p:nvSpPr>
        <p:spPr>
          <a:xfrm>
            <a:off x="887040" y="1984320"/>
            <a:ext cx="10404360" cy="194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array = np.array([30, 60, 90])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series = pd.Series([30, 60, 90], index=['a', 'b', 'c'])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array / 60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series / 60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56"/>
          <p:cNvSpPr/>
          <p:nvPr/>
        </p:nvSpPr>
        <p:spPr>
          <a:xfrm>
            <a:off x="722520" y="4370760"/>
            <a:ext cx="5155920" cy="129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56"/>
          <p:cNvSpPr/>
          <p:nvPr/>
        </p:nvSpPr>
        <p:spPr>
          <a:xfrm>
            <a:off x="722520" y="4370760"/>
            <a:ext cx="48960" cy="129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56"/>
          <p:cNvSpPr/>
          <p:nvPr/>
        </p:nvSpPr>
        <p:spPr>
          <a:xfrm>
            <a:off x="905400" y="4507920"/>
            <a:ext cx="4790160" cy="41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56"/>
          <p:cNvSpPr/>
          <p:nvPr/>
        </p:nvSpPr>
        <p:spPr>
          <a:xfrm>
            <a:off x="905400" y="5029200"/>
            <a:ext cx="4790160" cy="519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ndarray : dtype, forme, positions.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56"/>
          <p:cNvSpPr/>
          <p:nvPr/>
        </p:nvSpPr>
        <p:spPr>
          <a:xfrm>
            <a:off x="6144840" y="4370760"/>
            <a:ext cx="5183280" cy="129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56"/>
          <p:cNvSpPr/>
          <p:nvPr/>
        </p:nvSpPr>
        <p:spPr>
          <a:xfrm>
            <a:off x="6144840" y="4370760"/>
            <a:ext cx="48960" cy="129708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56"/>
          <p:cNvSpPr/>
          <p:nvPr/>
        </p:nvSpPr>
        <p:spPr>
          <a:xfrm>
            <a:off x="6327720" y="4507920"/>
            <a:ext cx="4817520" cy="41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56"/>
          <p:cNvSpPr/>
          <p:nvPr/>
        </p:nvSpPr>
        <p:spPr>
          <a:xfrm>
            <a:off x="6327720" y="5029200"/>
            <a:ext cx="4817520" cy="519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Series/DataFrame : labels, index, NA.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56"/>
          <p:cNvSpPr/>
          <p:nvPr/>
        </p:nvSpPr>
        <p:spPr>
          <a:xfrm>
            <a:off x="704160" y="5733360"/>
            <a:ext cx="48960" cy="62028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56"/>
          <p:cNvSpPr/>
          <p:nvPr/>
        </p:nvSpPr>
        <p:spPr>
          <a:xfrm>
            <a:off x="896040" y="5733360"/>
            <a:ext cx="10559880" cy="62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L'opération vectorisée évite une boucle Python écrite valeur par valeur.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56"/>
          <p:cNvSpPr/>
          <p:nvPr/>
        </p:nvSpPr>
        <p:spPr>
          <a:xfrm>
            <a:off x="658440" y="6382440"/>
            <a:ext cx="10861560" cy="151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56"/>
          <p:cNvSpPr/>
          <p:nvPr/>
        </p:nvSpPr>
        <p:spPr>
          <a:xfrm>
            <a:off x="667440" y="6446520"/>
            <a:ext cx="8593920" cy="22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56"/>
          <p:cNvSpPr/>
          <p:nvPr/>
        </p:nvSpPr>
        <p:spPr>
          <a:xfrm>
            <a:off x="10625400" y="6437520"/>
            <a:ext cx="8946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56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57"/>
          <p:cNvSpPr/>
          <p:nvPr/>
        </p:nvSpPr>
        <p:spPr>
          <a:xfrm>
            <a:off x="658440" y="246960"/>
            <a:ext cx="98744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FONCTIONS ET PAQUETS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57"/>
          <p:cNvSpPr/>
          <p:nvPr/>
        </p:nvSpPr>
        <p:spPr>
          <a:xfrm>
            <a:off x="658440" y="667440"/>
            <a:ext cx="1089864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lambda : une courte fonction passée à map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57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57"/>
          <p:cNvSpPr/>
          <p:nvPr/>
        </p:nvSpPr>
        <p:spPr>
          <a:xfrm>
            <a:off x="694800" y="2286000"/>
            <a:ext cx="10788840" cy="15534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57"/>
          <p:cNvSpPr/>
          <p:nvPr/>
        </p:nvSpPr>
        <p:spPr>
          <a:xfrm>
            <a:off x="887040" y="2404800"/>
            <a:ext cx="10404720" cy="130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to_hours = lambda x: x / 60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list(map(to_hours, [30, 60, 90]))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57"/>
          <p:cNvSpPr/>
          <p:nvPr/>
        </p:nvSpPr>
        <p:spPr>
          <a:xfrm>
            <a:off x="822960" y="4343400"/>
            <a:ext cx="10423080" cy="59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Résultat : [0.5, 1.0, 1.5]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57"/>
          <p:cNvSpPr/>
          <p:nvPr/>
        </p:nvSpPr>
        <p:spPr>
          <a:xfrm>
            <a:off x="704160" y="5513760"/>
            <a:ext cx="49320" cy="62064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57"/>
          <p:cNvSpPr/>
          <p:nvPr/>
        </p:nvSpPr>
        <p:spPr>
          <a:xfrm>
            <a:off x="896040" y="5513760"/>
            <a:ext cx="10560240" cy="6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map appelle la fonction pour chaque valeur.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57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57"/>
          <p:cNvSpPr/>
          <p:nvPr/>
        </p:nvSpPr>
        <p:spPr>
          <a:xfrm>
            <a:off x="667440" y="6446520"/>
            <a:ext cx="8594280" cy="22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57"/>
          <p:cNvSpPr/>
          <p:nvPr/>
        </p:nvSpPr>
        <p:spPr>
          <a:xfrm>
            <a:off x="10625400" y="6437520"/>
            <a:ext cx="89496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57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58"/>
          <p:cNvSpPr/>
          <p:nvPr/>
        </p:nvSpPr>
        <p:spPr>
          <a:xfrm>
            <a:off x="658440" y="246960"/>
            <a:ext cx="98744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FONCTIONS ET PAQUETS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58"/>
          <p:cNvSpPr/>
          <p:nvPr/>
        </p:nvSpPr>
        <p:spPr>
          <a:xfrm>
            <a:off x="658440" y="667440"/>
            <a:ext cx="1089864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Sur une Series, préférer l’opération vectorisée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58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58"/>
          <p:cNvSpPr/>
          <p:nvPr/>
        </p:nvSpPr>
        <p:spPr>
          <a:xfrm>
            <a:off x="694800" y="2350080"/>
            <a:ext cx="10788840" cy="10047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58"/>
          <p:cNvSpPr/>
          <p:nvPr/>
        </p:nvSpPr>
        <p:spPr>
          <a:xfrm>
            <a:off x="887040" y="2468880"/>
            <a:ext cx="1040472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series.map(lambda x: x / 60)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58"/>
          <p:cNvSpPr/>
          <p:nvPr/>
        </p:nvSpPr>
        <p:spPr>
          <a:xfrm>
            <a:off x="694800" y="3867840"/>
            <a:ext cx="10788840" cy="10047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58"/>
          <p:cNvSpPr/>
          <p:nvPr/>
        </p:nvSpPr>
        <p:spPr>
          <a:xfrm>
            <a:off x="887040" y="3986640"/>
            <a:ext cx="1040472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series / 60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58"/>
          <p:cNvSpPr/>
          <p:nvPr/>
        </p:nvSpPr>
        <p:spPr>
          <a:xfrm>
            <a:off x="704160" y="5513760"/>
            <a:ext cx="49320" cy="62064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58"/>
          <p:cNvSpPr/>
          <p:nvPr/>
        </p:nvSpPr>
        <p:spPr>
          <a:xfrm>
            <a:off x="896040" y="5513760"/>
            <a:ext cx="10560240" cy="6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Même calcul ; la seconde expression délègue la boucle numérique.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58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58"/>
          <p:cNvSpPr/>
          <p:nvPr/>
        </p:nvSpPr>
        <p:spPr>
          <a:xfrm>
            <a:off x="667440" y="6446520"/>
            <a:ext cx="8594280" cy="22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58"/>
          <p:cNvSpPr/>
          <p:nvPr/>
        </p:nvSpPr>
        <p:spPr>
          <a:xfrm>
            <a:off x="10625400" y="6437520"/>
            <a:ext cx="89496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58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59"/>
          <p:cNvSpPr/>
          <p:nvPr/>
        </p:nvSpPr>
        <p:spPr>
          <a:xfrm>
            <a:off x="658440" y="246960"/>
            <a:ext cx="987444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FONCTIONS ET PAQUETS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59"/>
          <p:cNvSpPr/>
          <p:nvPr/>
        </p:nvSpPr>
        <p:spPr>
          <a:xfrm>
            <a:off x="658440" y="667440"/>
            <a:ext cx="10898640" cy="7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lambda peut aussi définir une clé de tri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59"/>
          <p:cNvSpPr/>
          <p:nvPr/>
        </p:nvSpPr>
        <p:spPr>
          <a:xfrm>
            <a:off x="658440" y="1508760"/>
            <a:ext cx="10871280" cy="2196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59"/>
          <p:cNvSpPr/>
          <p:nvPr/>
        </p:nvSpPr>
        <p:spPr>
          <a:xfrm>
            <a:off x="694800" y="2359080"/>
            <a:ext cx="10788840" cy="16722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59"/>
          <p:cNvSpPr/>
          <p:nvPr/>
        </p:nvSpPr>
        <p:spPr>
          <a:xfrm>
            <a:off x="887040" y="2477880"/>
            <a:ext cx="10404720" cy="1425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names = ["Alice", "Bo", "Charlie"]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sorted(names, key=lambda name: len(name))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59"/>
          <p:cNvSpPr/>
          <p:nvPr/>
        </p:nvSpPr>
        <p:spPr>
          <a:xfrm>
            <a:off x="795600" y="4507920"/>
            <a:ext cx="1056024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Résultat : ["Bo", "Alice", "Charlie"]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59"/>
          <p:cNvSpPr/>
          <p:nvPr/>
        </p:nvSpPr>
        <p:spPr>
          <a:xfrm>
            <a:off x="704160" y="5550480"/>
            <a:ext cx="49320" cy="62064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59"/>
          <p:cNvSpPr/>
          <p:nvPr/>
        </p:nvSpPr>
        <p:spPr>
          <a:xfrm>
            <a:off x="896040" y="5550480"/>
            <a:ext cx="10560240" cy="6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La fonction calcule ici une clé : la longueur du nom.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59"/>
          <p:cNvSpPr/>
          <p:nvPr/>
        </p:nvSpPr>
        <p:spPr>
          <a:xfrm>
            <a:off x="658440" y="6382440"/>
            <a:ext cx="10861920" cy="154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59"/>
          <p:cNvSpPr/>
          <p:nvPr/>
        </p:nvSpPr>
        <p:spPr>
          <a:xfrm>
            <a:off x="667440" y="6446520"/>
            <a:ext cx="8594280" cy="22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59"/>
          <p:cNvSpPr/>
          <p:nvPr/>
        </p:nvSpPr>
        <p:spPr>
          <a:xfrm>
            <a:off x="10625400" y="6437520"/>
            <a:ext cx="894960" cy="24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59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60"/>
          <p:cNvSpPr/>
          <p:nvPr/>
        </p:nvSpPr>
        <p:spPr>
          <a:xfrm>
            <a:off x="658440" y="246960"/>
            <a:ext cx="9874080" cy="29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FONCTIONS ET PAQUETS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60"/>
          <p:cNvSpPr/>
          <p:nvPr/>
        </p:nvSpPr>
        <p:spPr>
          <a:xfrm>
            <a:off x="658440" y="667440"/>
            <a:ext cx="10898280" cy="75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API à reconnaître et à choisir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60"/>
          <p:cNvSpPr/>
          <p:nvPr/>
        </p:nvSpPr>
        <p:spPr>
          <a:xfrm>
            <a:off x="658440" y="1508760"/>
            <a:ext cx="1087092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60"/>
          <p:cNvSpPr/>
          <p:nvPr/>
        </p:nvSpPr>
        <p:spPr>
          <a:xfrm>
            <a:off x="722520" y="1865520"/>
            <a:ext cx="5164920" cy="26960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60"/>
          <p:cNvSpPr/>
          <p:nvPr/>
        </p:nvSpPr>
        <p:spPr>
          <a:xfrm>
            <a:off x="722520" y="1865520"/>
            <a:ext cx="48960" cy="26960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60"/>
          <p:cNvSpPr/>
          <p:nvPr/>
        </p:nvSpPr>
        <p:spPr>
          <a:xfrm>
            <a:off x="905400" y="2002680"/>
            <a:ext cx="4799160" cy="41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LECTURE / TYPES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60"/>
          <p:cNvSpPr/>
          <p:nvPr/>
        </p:nvSpPr>
        <p:spPr>
          <a:xfrm>
            <a:off x="905400" y="2523600"/>
            <a:ext cx="4799160" cy="19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StringIO · pd.read_csv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type · .dtype · .isna()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pd.to_numeric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60"/>
          <p:cNvSpPr/>
          <p:nvPr/>
        </p:nvSpPr>
        <p:spPr>
          <a:xfrm>
            <a:off x="6144840" y="1865520"/>
            <a:ext cx="5183280" cy="26960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60"/>
          <p:cNvSpPr/>
          <p:nvPr/>
        </p:nvSpPr>
        <p:spPr>
          <a:xfrm>
            <a:off x="6144840" y="1865520"/>
            <a:ext cx="48960" cy="2696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60"/>
          <p:cNvSpPr/>
          <p:nvPr/>
        </p:nvSpPr>
        <p:spPr>
          <a:xfrm>
            <a:off x="6327720" y="2002680"/>
            <a:ext cx="4817520" cy="41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6D3A"/>
                </a:solidFill>
                <a:latin typeface="Arial"/>
                <a:ea typeface="Arial"/>
                <a:cs typeface="Arial"/>
                <a:sym typeface="Arial"/>
              </a:rPr>
              <a:t>CALCUL / SORTIE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60"/>
          <p:cNvSpPr/>
          <p:nvPr/>
        </p:nvSpPr>
        <p:spPr>
          <a:xfrm>
            <a:off x="6327720" y="2523600"/>
            <a:ext cx="4817520" cy="19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np.random.default_rng · .normal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np.concatenate · pd.DataFrame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px.histogram · px.box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60"/>
          <p:cNvSpPr/>
          <p:nvPr/>
        </p:nvSpPr>
        <p:spPr>
          <a:xfrm>
            <a:off x="704160" y="5303520"/>
            <a:ext cx="48960" cy="62028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60"/>
          <p:cNvSpPr/>
          <p:nvPr/>
        </p:nvSpPr>
        <p:spPr>
          <a:xfrm>
            <a:off x="896040" y="5303520"/>
            <a:ext cx="10559880" cy="62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Consulter la fiche API pour les paramètres ; expliquer entrées, sorties et hypothèses.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60"/>
          <p:cNvSpPr/>
          <p:nvPr/>
        </p:nvSpPr>
        <p:spPr>
          <a:xfrm>
            <a:off x="658440" y="6382440"/>
            <a:ext cx="10861560" cy="151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60"/>
          <p:cNvSpPr/>
          <p:nvPr/>
        </p:nvSpPr>
        <p:spPr>
          <a:xfrm>
            <a:off x="667440" y="6446520"/>
            <a:ext cx="8593920" cy="22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60"/>
          <p:cNvSpPr/>
          <p:nvPr/>
        </p:nvSpPr>
        <p:spPr>
          <a:xfrm>
            <a:off x="10625400" y="6437520"/>
            <a:ext cx="8946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60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61"/>
          <p:cNvSpPr/>
          <p:nvPr/>
        </p:nvSpPr>
        <p:spPr>
          <a:xfrm>
            <a:off x="658440" y="246960"/>
            <a:ext cx="9874080" cy="29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TP AUTONOME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61"/>
          <p:cNvSpPr/>
          <p:nvPr/>
        </p:nvSpPr>
        <p:spPr>
          <a:xfrm>
            <a:off x="658440" y="667440"/>
            <a:ext cx="10898280" cy="75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Après-midi : choisir un exercice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61"/>
          <p:cNvSpPr/>
          <p:nvPr/>
        </p:nvSpPr>
        <p:spPr>
          <a:xfrm>
            <a:off x="658440" y="1508760"/>
            <a:ext cx="1087092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61"/>
          <p:cNvSpPr/>
          <p:nvPr/>
        </p:nvSpPr>
        <p:spPr>
          <a:xfrm>
            <a:off x="731520" y="1874520"/>
            <a:ext cx="10697040" cy="71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Quatre options indépendantes : fonctions, module, unittest ou performance.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61"/>
          <p:cNvSpPr/>
          <p:nvPr/>
        </p:nvSpPr>
        <p:spPr>
          <a:xfrm>
            <a:off x="768240" y="2797920"/>
            <a:ext cx="106056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A. Deux fonctions et des valeurs manquantes.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61"/>
          <p:cNvSpPr/>
          <p:nvPr/>
        </p:nvSpPr>
        <p:spPr>
          <a:xfrm>
            <a:off x="768240" y="3511440"/>
            <a:ext cx="106056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B. Une classe déplacée dans un module.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61"/>
          <p:cNvSpPr/>
          <p:nvPr/>
        </p:nvSpPr>
        <p:spPr>
          <a:xfrm>
            <a:off x="768240" y="4224600"/>
            <a:ext cx="106056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C. Une fonction vérifiée par trois tests unittest.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61"/>
          <p:cNvSpPr/>
          <p:nvPr/>
        </p:nvSpPr>
        <p:spPr>
          <a:xfrm>
            <a:off x="768240" y="4937760"/>
            <a:ext cx="106056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D. Une boucle Python comparée à NumPy.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61"/>
          <p:cNvSpPr/>
          <p:nvPr/>
        </p:nvSpPr>
        <p:spPr>
          <a:xfrm>
            <a:off x="704160" y="5806440"/>
            <a:ext cx="48960" cy="62028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61"/>
          <p:cNvSpPr/>
          <p:nvPr/>
        </p:nvSpPr>
        <p:spPr>
          <a:xfrm>
            <a:off x="896040" y="5806440"/>
            <a:ext cx="10559880" cy="62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Deck de l’après-midi + notebook 05 : choisir une option principale.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61"/>
          <p:cNvSpPr/>
          <p:nvPr/>
        </p:nvSpPr>
        <p:spPr>
          <a:xfrm>
            <a:off x="658440" y="6382440"/>
            <a:ext cx="10861560" cy="151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61"/>
          <p:cNvSpPr/>
          <p:nvPr/>
        </p:nvSpPr>
        <p:spPr>
          <a:xfrm>
            <a:off x="667440" y="6446520"/>
            <a:ext cx="8593920" cy="22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61"/>
          <p:cNvSpPr/>
          <p:nvPr/>
        </p:nvSpPr>
        <p:spPr>
          <a:xfrm>
            <a:off x="10625400" y="6437520"/>
            <a:ext cx="8946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61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62"/>
          <p:cNvSpPr/>
          <p:nvPr/>
        </p:nvSpPr>
        <p:spPr>
          <a:xfrm>
            <a:off x="658440" y="246960"/>
            <a:ext cx="9874080" cy="29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TP AUTONOME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62"/>
          <p:cNvSpPr/>
          <p:nvPr/>
        </p:nvSpPr>
        <p:spPr>
          <a:xfrm>
            <a:off x="658440" y="667440"/>
            <a:ext cx="10898280" cy="75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Critère de réussite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62"/>
          <p:cNvSpPr/>
          <p:nvPr/>
        </p:nvSpPr>
        <p:spPr>
          <a:xfrm>
            <a:off x="658440" y="1508760"/>
            <a:ext cx="1087092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62"/>
          <p:cNvSpPr/>
          <p:nvPr/>
        </p:nvSpPr>
        <p:spPr>
          <a:xfrm>
            <a:off x="768240" y="1984320"/>
            <a:ext cx="106056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 résultat attendu de l’option choisie est obtenu.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62"/>
          <p:cNvSpPr/>
          <p:nvPr/>
        </p:nvSpPr>
        <p:spPr>
          <a:xfrm>
            <a:off x="768240" y="2816280"/>
            <a:ext cx="106056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Conserver la preuve attendue : assertions, import, tests ou médianes.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62"/>
          <p:cNvSpPr/>
          <p:nvPr/>
        </p:nvSpPr>
        <p:spPr>
          <a:xfrm>
            <a:off x="768240" y="3648600"/>
            <a:ext cx="106056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Relancer dans un noyau ou processus neuf si l’option le demande.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62"/>
          <p:cNvSpPr/>
          <p:nvPr/>
        </p:nvSpPr>
        <p:spPr>
          <a:xfrm>
            <a:off x="768240" y="4480560"/>
            <a:ext cx="106056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Expliquer le résultat et sa limite en une phrase.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62"/>
          <p:cNvSpPr/>
          <p:nvPr/>
        </p:nvSpPr>
        <p:spPr>
          <a:xfrm>
            <a:off x="704160" y="5724000"/>
            <a:ext cx="48960" cy="62028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62"/>
          <p:cNvSpPr/>
          <p:nvPr/>
        </p:nvSpPr>
        <p:spPr>
          <a:xfrm>
            <a:off x="896040" y="5724000"/>
            <a:ext cx="10559880" cy="62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Aucune option n’exige l’architecture complète du projet.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62"/>
          <p:cNvSpPr/>
          <p:nvPr/>
        </p:nvSpPr>
        <p:spPr>
          <a:xfrm>
            <a:off x="658440" y="6382440"/>
            <a:ext cx="10861560" cy="1512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62"/>
          <p:cNvSpPr/>
          <p:nvPr/>
        </p:nvSpPr>
        <p:spPr>
          <a:xfrm>
            <a:off x="667440" y="6446520"/>
            <a:ext cx="8593920" cy="22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PYTHON  /  22.09.2026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62"/>
          <p:cNvSpPr/>
          <p:nvPr/>
        </p:nvSpPr>
        <p:spPr>
          <a:xfrm>
            <a:off x="10625400" y="6437520"/>
            <a:ext cx="894600" cy="24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000" lIns="9000" spcFirstLastPara="1" rIns="9000" wrap="square" tIns="9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62 / 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Olivier Delrieu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