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5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90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241280" y="347472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des données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DAX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Relations, cardinalité et premiers calculs avec le langage DAX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664208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868680" y="4754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propres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47548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07208" y="4754880"/>
            <a:ext cx="1664208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2852928" y="4754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47548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91456" y="4754880"/>
            <a:ext cx="1664208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4837176" y="4754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47548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75704" y="4754880"/>
            <a:ext cx="1664208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821424" y="4754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47548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59952" y="4754880"/>
            <a:ext cx="1664208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805672" y="4754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Les objectifs du module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143000" y="1938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Comprendre le rôle d'un modèle de données dans Power BI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43000" y="26243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Construire un modèle en étoile avec tables de faits et dimensions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43000" y="3310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Maîtriser les notions de relation et de cardinalité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43000" y="39959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Comprendre la direction du filtre entre les tables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43000" y="4681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Écrire des mesures DAX simples et des mesures avec CALCULATE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143000" y="5367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Distinguer colonne calculée, mesure et contexte de filtre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Rappel : où en </a:t>
            </a:r>
            <a:r>
              <a:rPr lang="en-US" sz="3000" b="1" dirty="0" err="1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sommes</a:t>
            </a: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-nous ?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EEF6F5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76072" y="237744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011680" y="237744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148840" y="23774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EEF6F5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176272" y="237744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Importation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611880" y="237744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49040" y="23774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EEF6F5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776472" y="237744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5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212080" y="237744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49240" y="23774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376672" y="237744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Modèle de</a:t>
            </a:r>
            <a:endParaRPr lang="en-US" sz="105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812280" y="237744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49440" y="23774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976872" y="237744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412480" y="237744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49640" y="23774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EEF6F5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577072" y="237744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Visuali-</a:t>
            </a:r>
            <a:endParaRPr lang="en-US" sz="105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sation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0012680" y="237744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149840" y="237744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EEF6F5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177272" y="237744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>
              <a:latin typeface="Arial Black" panose="020B0A04020102020204" pitchFamily="34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1 · MODÉLISATION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Pourquoi modéliser les données ?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5596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Une table unique et large devient vite difficile à maintenir et à interroger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5596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Le modèle organise les données en tables reliées par des clés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429000"/>
            <a:ext cx="5596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Il permet des calculs cohérents, réutilisables et plus rapides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2336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4672" y="4114800"/>
            <a:ext cx="5596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Il conditionne directement la fiabilité des futurs visuels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0" y="210312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F6EDEA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1228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Table plate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81228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Toutes les infos mélangées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81228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Répétitions et incohérences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81228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Calculs difficiles à fiabiliser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235440" y="210312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4640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Modèle relationnel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46404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Données organisées par thème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46404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Pas de répétition inutile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4640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Calculs fiables et homogènes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MODÉLISATION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en étoile vs flocon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Étoile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0" y="33832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2194560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3154680"/>
            <a:ext cx="868680" cy="5486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0292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3154680"/>
            <a:ext cx="868680" cy="5486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160520" y="237744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16052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0240" y="4251960"/>
            <a:ext cx="868680" cy="5486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02920" y="4572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4251960"/>
            <a:ext cx="868680" cy="5486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160520" y="457200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4160520" y="4572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55280" y="33832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7955280" y="3383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3291840"/>
            <a:ext cx="822960" cy="4114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492240" y="2578608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492240" y="25786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200400"/>
            <a:ext cx="548640" cy="457200"/>
          </a:xfrm>
          <a:prstGeom prst="line">
            <a:avLst/>
          </a:prstGeom>
          <a:noFill/>
          <a:ln w="1524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349240" y="3529584"/>
            <a:ext cx="1005840" cy="438912"/>
          </a:xfrm>
          <a:prstGeom prst="roundRect">
            <a:avLst>
              <a:gd name="adj" fmla="val 12500"/>
            </a:avLst>
          </a:prstGeom>
          <a:solidFill>
            <a:srgbClr val="6FB3A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5349240" y="352958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Sous-dim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18320" y="3291840"/>
            <a:ext cx="822960" cy="4114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9784080" y="2578608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9784080" y="25786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81360" y="3200400"/>
            <a:ext cx="548640" cy="457200"/>
          </a:xfrm>
          <a:prstGeom prst="line">
            <a:avLst/>
          </a:prstGeom>
          <a:noFill/>
          <a:ln w="1524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1018520" y="3529584"/>
            <a:ext cx="1005840" cy="438912"/>
          </a:xfrm>
          <a:prstGeom prst="roundRect">
            <a:avLst>
              <a:gd name="adj" fmla="val 12500"/>
            </a:avLst>
          </a:prstGeom>
          <a:solidFill>
            <a:srgbClr val="6FB3A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11018520" y="352958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Sous-dim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1 · MODÉLISATION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Tables de faits vs dimensions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Table de faits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Contient les mesures numériques (ventes, quantités)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Une ligne par événement / transaction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Grande volumétrie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EF6F5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Table de dimension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4652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Contient les axes d'analyse (client, produit, date)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4652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Une ligne par élément descriptif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4652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Volumétrie plus faible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Exemple : « Ventes » est une table de faits ; « Clients », « Produits » et « Dates » sont des dimensions.</a:t>
            </a:r>
            <a:endParaRPr lang="en-US" sz="130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1 · MODÉLISATION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Qu'est-ce qu'une relation ?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Un lien entre deux tables, basé sur une colonne commune (clé)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Permet à un visuel de croiser des informations issues de plusieurs tables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429000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Se configure dans la Vue Modèle, en glissant une colonne vers l'autre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92240" y="310896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9224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Ventes</a:t>
            </a:r>
            <a:endParaRPr lang="en-US" sz="120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(ClientID)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01200" y="310896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601200" y="3108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(ClientID)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3474720"/>
            <a:ext cx="1463040" cy="0"/>
          </a:xfrm>
          <a:prstGeom prst="line">
            <a:avLst/>
          </a:prstGeom>
          <a:noFill/>
          <a:ln w="19050">
            <a:solidFill>
              <a:srgbClr val="5C6B6E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1 · MODÉLISATION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Cardinalité : un vers plusieurs (1 : N)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5413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La cardinalité décrit combien de lignes se correspondent entre deux tables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5413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 : N - un client peut avoir plusieurs ventes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429000"/>
            <a:ext cx="5413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C'est la cardinalité la plus fréquente entre une dimension et une table de faits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0" y="329184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858000" y="3291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(1)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418320" y="292608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41832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Vente 1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418320" y="370332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418320" y="3703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Vente 2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503920" y="3246120"/>
            <a:ext cx="914400" cy="0"/>
          </a:xfrm>
          <a:prstGeom prst="line">
            <a:avLst/>
          </a:prstGeom>
          <a:noFill/>
          <a:ln w="15240">
            <a:solidFill>
              <a:srgbClr val="5C6B6E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03920" y="4023360"/>
            <a:ext cx="914400" cy="0"/>
          </a:xfrm>
          <a:prstGeom prst="line">
            <a:avLst/>
          </a:prstGeom>
          <a:noFill/>
          <a:ln w="15240">
            <a:solidFill>
              <a:srgbClr val="5C6B6E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1 · MODÉLISATION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Cardinalité : plusieurs vers plusieurs (N : N)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10716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Un élément d'une table peut correspondre à plusieurs éléments de l'autre, et réciproquement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788920"/>
            <a:ext cx="10716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Exemple : un produit peut être vendu par plusieurs magasins, un magasin vend plusieurs produits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520440"/>
            <a:ext cx="10716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Cardinalité plus complexe à gérer : à éviter en modélisation simple, sauf nécessité réelle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28800" y="42062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828800" y="4206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0" y="42062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0" y="4206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Magasins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0" y="4434840"/>
            <a:ext cx="365760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dash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84632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04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N : 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1 · MODÉLISATION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Direction du filtre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Détermine dans quel sens un filtre appliqué à une table se propage à l'autre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Sens unique - le plus courant : la dimension filtre la table de faits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4290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Sens </a:t>
            </a:r>
            <a:r>
              <a:rPr lang="en-US" sz="1350" dirty="0" err="1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bidirectionnel</a:t>
            </a: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- les deux tables se filtrent mutuellement, à utiliser avec prudence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394960" cy="2148840"/>
          </a:xfrm>
          <a:prstGeom prst="roundRect">
            <a:avLst>
              <a:gd name="adj" fmla="val 381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7724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Sens unique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4983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Dimension → Faits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Comportement prévisible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77240" y="5989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Recommandé par défaut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4297680"/>
            <a:ext cx="5394960" cy="2103120"/>
          </a:xfrm>
          <a:prstGeom prst="roundRect">
            <a:avLst>
              <a:gd name="adj" fmla="val 3810"/>
            </a:avLst>
          </a:prstGeom>
          <a:solidFill>
            <a:srgbClr val="F6EDEA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4652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Bidirectionnel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46520" y="4983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Dimension ↔ Faits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4652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Peut créer des ambiguïtés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46520" y="5989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Réservé aux cas spécifiques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1 · MODÉLISATION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Bonnes pratiques de modélisation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6EDEA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Une seule table plate géante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Relations N:N sans nécessité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Filtres bidirectionnels par défaut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Noms de colonnes ambigus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À privilégier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4652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Modèle en étoile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4652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Cardinalité 1:N claire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4652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Sens de filtre unique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4652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Noms de tables et colonnes explicites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Qu'est-ce que DAX ?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Data Analysis </a:t>
            </a:r>
            <a:r>
              <a:rPr lang="en-US" sz="1350" dirty="0" err="1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eXpressions</a:t>
            </a: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- le langage de calcul de Power BI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Permet de créer des colonnes calculées et des mesures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4290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S'appuie directement sur le modèle de données construit précédemment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EF6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1520" y="42062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Note formateur : un modèle mal construit rend les formules DAX plus complexes et moins </a:t>
            </a:r>
            <a:r>
              <a:rPr lang="en-US" sz="1100" i="1" dirty="0" err="1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fiables</a:t>
            </a:r>
            <a:r>
              <a:rPr lang="en-US" sz="1100" i="1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- d'où l'importance de la partie 1.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Colonnes calculées vs mesures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EEF6F5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Colonne calculée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Calculée ligne par ligne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Stockée dans le modèle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Utile pour catégoriser ou segmenter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Mesure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4652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Calculée à l'affichage, selon le contexte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4652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Non stockée, plus légère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4652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•  Utile pour les agrégats (totaux, ratios)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Règle simple : si le résultat dépend des filtres appliqués au rapport, c'est une mesure.</a:t>
            </a:r>
            <a:endParaRPr lang="en-US" sz="130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Syntaxe de base DAX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035040" cy="1463040"/>
          </a:xfrm>
          <a:prstGeom prst="roundRect">
            <a:avLst>
              <a:gd name="adj" fmla="val 375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Total Ventes = SUM(Ventes[CA])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49440" y="2221992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949440" y="2221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26948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Nom de la mesure, suivi de "="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949440" y="2606040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949440" y="2606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269480" y="25328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Fonction DAX appliquée à une colonne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49440" y="2990088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949440" y="2990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269480" y="29169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Référence Table[Colonne]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09651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04672" y="397764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Une mesure se crée via Modélisation → Nouvelle mesure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64515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04672" y="452628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Le résultat s'affiche dans le volet Champs, prêt à être glissé dans un visuel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Les fonctions d'agrégation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78992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21792" y="210312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Fonction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218432" y="210312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15072" y="210312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789920" cy="502920"/>
          </a:xfrm>
          <a:prstGeom prst="rect">
            <a:avLst/>
          </a:prstGeom>
          <a:solidFill>
            <a:srgbClr val="EEF6F5"/>
          </a:solidFill>
          <a:ln w="6350">
            <a:solidFill>
              <a:srgbClr val="DCE8E7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218432" y="260604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Somme des valeurs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815072" y="260604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SUM(Ventes[CA])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E7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1792" y="310896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218432" y="310896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Moyenne des valeurs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815072" y="310896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AVERAGE(Ventes[CA])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0789920" cy="502920"/>
          </a:xfrm>
          <a:prstGeom prst="rect">
            <a:avLst/>
          </a:prstGeom>
          <a:solidFill>
            <a:srgbClr val="EEF6F5"/>
          </a:solidFill>
          <a:ln w="6350">
            <a:solidFill>
              <a:srgbClr val="DCE8E7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1792" y="361188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218432" y="361188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Compte les valeurs numériques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815072" y="361188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COUNT(Ventes[ID])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E7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21792" y="411480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COUNTROWS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218432" y="411480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Compte les lignes d'une table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815072" y="411480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COUNTROWS(Ventes)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0789920" cy="502920"/>
          </a:xfrm>
          <a:prstGeom prst="rect">
            <a:avLst/>
          </a:prstGeom>
          <a:solidFill>
            <a:srgbClr val="EEF6F5"/>
          </a:solidFill>
          <a:ln w="6350">
            <a:solidFill>
              <a:srgbClr val="DCE8E7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21792" y="461772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MIN / MAX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218432" y="461772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Valeur minimale / maximale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815072" y="4617720"/>
            <a:ext cx="3450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MAX(Ventes[CA])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Le contexte de ligne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5596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S'applique lors du calcul d'une colonne calculée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5596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DAX évalue la formule ligne par ligne, avec les valeurs de cette ligne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5478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429000"/>
            <a:ext cx="5596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Exemple : une colonne "Marge" calculée pour chaque ligne de la table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0" y="21031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812280" y="22860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Marge = Ventes[CA] - Ventes[Coût]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EF6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" y="51206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Note formateur : chaque ligne de la table "Ventes" reçoit sa propre valeur de Marge.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Le contexte de filtre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10716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S'applique lors du calcul d'une mesure, dans un visuel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788920"/>
            <a:ext cx="10716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Les filtres, segments et lignes/colonnes d'une table ou d'un graphique définissent le contexte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520440"/>
            <a:ext cx="10716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Une même mesure renvoie des résultats différents selon le contexte du visuel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EF6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1520" y="4572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Note formateur : c'est la notion la plus structurante de DAX : une mesure n'a pas de valeur fixe, elle se recalcule selon le contexte.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CALCULATE - modifier le contexte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1071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Fonction centrale de DAX : elle modifie le contexte de filtre d'une mesure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697480"/>
            <a:ext cx="1071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Permet de comparer, isoler ou étendre un calcul par rapport au contexte initial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0789920" cy="1463040"/>
          </a:xfrm>
          <a:prstGeom prst="roundRect">
            <a:avLst>
              <a:gd name="adj" fmla="val 375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3566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CALCULATE(&lt;expression&gt;, &lt;filtre 1&gt;, &lt;filtre 2&gt;, ...)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Exemple : CALCULATE en pratique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789920" cy="1737360"/>
          </a:xfrm>
          <a:prstGeom prst="roundRect">
            <a:avLst>
              <a:gd name="adj" fmla="val 3158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Ventes Paris = 
</a:t>
            </a:r>
            <a:endParaRPr lang="en-US" sz="1200" dirty="0">
              <a:latin typeface="Arial Black" panose="020B0A040201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CALCULATE([Total Ventes], Clients[Ville] = "Paris")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437083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425196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[Total Ventes] est recalculé en ne gardant que les lignes où la ville est "Paris"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9194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480060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Le filtre ajouté s'ajoute (ou remplace) le contexte existant du visuel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Variables en DAX (VAR / RETURN)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789920" cy="2194560"/>
          </a:xfrm>
          <a:prstGeom prst="roundRect">
            <a:avLst>
              <a:gd name="adj" fmla="val 25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Taux Marge = 
</a:t>
            </a:r>
            <a:endParaRPr lang="en-US" sz="1200" dirty="0">
              <a:latin typeface="Arial Black" panose="020B0A040201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VAR CA = SUM(Ventes[CA])
</a:t>
            </a:r>
            <a:endParaRPr lang="en-US" sz="1200" dirty="0">
              <a:latin typeface="Arial Black" panose="020B0A040201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VAR Cout = SUM(Ventes[Coût])
</a:t>
            </a:r>
            <a:endParaRPr lang="en-US" sz="1200" dirty="0">
              <a:latin typeface="Arial Black" panose="020B0A040201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RETURN DIVIDE(CA - Cout, CA)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473659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4617720"/>
            <a:ext cx="10533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Rend les formules plus lisibles et plus faciles à corriger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523951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5120640"/>
            <a:ext cx="10533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Évite de recalculer plusieurs fois la même expression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Time Intelligence - introduction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10716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Ensemble de fonctions DAX dédiées aux calculs sur le temps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788920"/>
            <a:ext cx="10716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Nécessite une table de dates correctement marquée comme table de dates dans le modèle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520440"/>
            <a:ext cx="10716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Permet cumuls, comparaisons N-1, moyennes mobiles, etc.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EF6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1520" y="44805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Note formateur : sans table de dates correcte dans le modèle, ces fonctions ne fonctionnent pas </a:t>
            </a:r>
            <a:r>
              <a:rPr lang="en-US" sz="1100" i="1" dirty="0" err="1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correctement</a:t>
            </a:r>
            <a:r>
              <a:rPr lang="en-US" sz="1100" i="1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- lien direct avec la partie 1.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Exemple : comparaison N-1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789920" cy="1828800"/>
          </a:xfrm>
          <a:prstGeom prst="roundRect">
            <a:avLst>
              <a:gd name="adj" fmla="val 3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Ventes N-1 = 
</a:t>
            </a:r>
            <a:endParaRPr lang="en-US" sz="1200" dirty="0">
              <a:latin typeface="Arial Black" panose="020B0A040201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CALCULATE([Total Ventes], SAMEPERIODLASTYEAR(Dates[Date]))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437083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425196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Recalcule la mesure sur la même période, un an plus tôt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9194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480060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Base pour créer ensuite un indicateur d'évolution (Ventes - Ventes N-1)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Cumuls avec TOTALYTD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789920" cy="1737360"/>
          </a:xfrm>
          <a:prstGeom prst="roundRect">
            <a:avLst>
              <a:gd name="adj" fmla="val 3158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CA Cumulé = 
</a:t>
            </a:r>
            <a:endParaRPr lang="en-US" sz="1200" dirty="0">
              <a:latin typeface="Arial Black" panose="020B0A040201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Arial Black" panose="020B0A04020102020204" pitchFamily="34" charset="0"/>
                <a:ea typeface="Courier New" pitchFamily="34" charset="-122"/>
                <a:cs typeface="Courier New" pitchFamily="34" charset="-120"/>
              </a:rPr>
              <a:t>TOTALYTD([Total Ventes], Dates[Date])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437083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425196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Calcule le cumul depuis le début de l'année en cours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9194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480060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Il existe des équivalents mensuels et trimestriels (TOTALMTD, TOTALQTD)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Mesure ou colonne calculée : quand utiliser quoi ?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78992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21792" y="210312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16752" y="210312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Solution recommandée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0789920" cy="502920"/>
          </a:xfrm>
          <a:prstGeom prst="rect">
            <a:avLst/>
          </a:prstGeom>
          <a:solidFill>
            <a:srgbClr val="EEF6F5"/>
          </a:solidFill>
          <a:ln w="6350">
            <a:solidFill>
              <a:srgbClr val="DCE8E7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1792" y="260604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Segmenter les clients par tranche d'âge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016752" y="260604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Colonne calculée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E7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1792" y="310896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Calculer un total de ventes filtrable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016752" y="310896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Mesure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0789920" cy="502920"/>
          </a:xfrm>
          <a:prstGeom prst="rect">
            <a:avLst/>
          </a:prstGeom>
          <a:solidFill>
            <a:srgbClr val="EEF6F5"/>
          </a:solidFill>
          <a:ln w="6350">
            <a:solidFill>
              <a:srgbClr val="DCE8E7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1792" y="361188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Créer une clé de tri personnalisée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016752" y="361188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Colonne calculée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0789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E7"/>
            </a:solidFill>
            <a:prstDash val="solid"/>
          </a:ln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1792" y="411480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Calculer un ratio ou une moyenne dans un visuel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016752" y="4114800"/>
            <a:ext cx="5248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Mesure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Bonnes pratiques DAX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057400"/>
            <a:ext cx="1071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Toujours nommer les mesures de façon explicite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697480"/>
            <a:ext cx="1071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Privilégier les mesures aux colonnes calculées quand c'est possible (plus léger)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3337560"/>
            <a:ext cx="1071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Utiliser DIVIDE() plutôt que "/" pour éviter les erreurs de division par zéro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09651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4672" y="3977640"/>
            <a:ext cx="10716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Organiser les mesures dans un dossier ou une table dédiée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PARTIE 2 · DAX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Erreurs fréquentes à éviter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6EDEA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Erreurs courantes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Confondre colonne calculée et mesure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Oublier CALCULATE pour changer de contexte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Diviser sans DIVIDE()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✕  Table de dates non déclarée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Réflexe à adopter</a:t>
            </a:r>
            <a:endParaRPr lang="en-US" sz="15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4652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Se demander : "le résultat dépend-il des filtres ?"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4652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Vérifier le contexte avant d'écrire CALCULATE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4652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Utiliser DIVIDE(num, den, 0)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4652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✓  Marquer la table de dates dans le modèle</a:t>
            </a:r>
            <a:endParaRPr lang="en-US" sz="1250" dirty="0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Arial Black" panose="020B0A04020102020204" pitchFamily="34" charset="0"/>
                <a:ea typeface="Cambria" pitchFamily="34" charset="-122"/>
                <a:cs typeface="Cambria" pitchFamily="34" charset="-120"/>
              </a:rPr>
              <a:t>Modèle + DAX = dashboard fiable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15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en étoile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505456" y="237744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25496" y="237744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871216" y="23774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Relations &amp;</a:t>
            </a:r>
            <a:endParaRPr lang="en-US" sz="115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cardinalité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782312" y="237744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02352" y="237744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148072" y="23774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Mesures</a:t>
            </a:r>
            <a:endParaRPr lang="en-US" sz="115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059168" y="237744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79208" y="237744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424928" y="23774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5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de filtre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336024" y="237744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56064" y="237744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701784" y="23774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fiable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18795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04672" y="406908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Un modèle mal construit produit des mesures DAX fausses ou instables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FR">
              <a:latin typeface="Arial Black" panose="020B0A04020102020204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04672" y="4617720"/>
            <a:ext cx="10533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2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Une mesure DAX bien écrite s'appuie toujours sur un modèle clair et une cardinalité maîtrisée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E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modèle solide, des mesures DAX fiables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1632</Words>
  <Application>Microsoft Office PowerPoint</Application>
  <PresentationFormat>Grand écran</PresentationFormat>
  <Paragraphs>337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Arial</vt:lpstr>
      <vt:lpstr>Arial Black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Klaus KUEKOU</cp:lastModifiedBy>
  <cp:revision>2</cp:revision>
  <dcterms:created xsi:type="dcterms:W3CDTF">2026-09-14T11:54:52Z</dcterms:created>
  <dcterms:modified xsi:type="dcterms:W3CDTF">2026-09-15T08:10:42Z</dcterms:modified>
</cp:coreProperties>
</file>